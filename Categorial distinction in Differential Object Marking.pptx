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9" r:id="rId6"/>
    <p:sldId id="259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48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69AED-6C9D-A593-37C6-9A6B0D054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BB194F-3838-38A0-14FA-2EA2940EC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8A1DA-72D1-C879-8174-5B796D03D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7099-7AE8-4B0C-9059-94EF3DACAEEF}" type="datetimeFigureOut">
              <a:rPr lang="en-GB" smtClean="0"/>
              <a:t>29/10/2023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C1272-0676-138E-49F8-D8E34280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58F0F-5987-18F1-6D43-C29F542A7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6373-7465-4B52-AB2D-2B19E7C43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833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E3815-DDC4-CB56-91E5-52CEB6186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A6E91-DE79-0E6E-9F63-FAA02408A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EA939-BEEC-8228-6979-7D1523CA3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7099-7AE8-4B0C-9059-94EF3DACAEEF}" type="datetimeFigureOut">
              <a:rPr lang="en-GB" smtClean="0"/>
              <a:t>29/10/2023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04E6E-8249-C09A-D022-9791C260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9AFAC-9334-6D69-9A5D-3F8E74D65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6373-7465-4B52-AB2D-2B19E7C43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95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938EC-650B-AC50-D7CB-A309895EA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B4B27-FEE1-F6BD-8D97-CEF44D99F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8DD34-4183-5758-A61F-139E33B62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7099-7AE8-4B0C-9059-94EF3DACAEEF}" type="datetimeFigureOut">
              <a:rPr lang="en-GB" smtClean="0"/>
              <a:t>29/10/2023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1C19F-E642-B67A-FB27-D0011BBFA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CD34B-F5A7-9B42-641E-14721ED1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6373-7465-4B52-AB2D-2B19E7C43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896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87AC8-B531-327F-CE42-3023BF565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5B6F3-5EB7-EF9C-AFDF-B437242B4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E2EA8-D450-3BC1-348D-8DC3DBF85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A3EAF-E94E-09D3-04F1-98C41163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7099-7AE8-4B0C-9059-94EF3DACAEEF}" type="datetimeFigureOut">
              <a:rPr lang="en-GB" smtClean="0"/>
              <a:t>29/10/2023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F20CD-EA94-1F66-2590-618329EA3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E5ABF-2A1E-0ACA-F5B2-630EDF169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6373-7465-4B52-AB2D-2B19E7C43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2799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CFA83-C92D-6192-719C-0FC51CEF1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47C2B-7750-D889-DD25-810C2F69B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ABFDA-A561-E6FB-20E8-777A34302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1479F6-966C-1966-B548-A8A7F0873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C6E266-9957-C147-0AAB-B9EBC6717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9361D2-E804-287B-3FFD-6C556BD2F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7099-7AE8-4B0C-9059-94EF3DACAEEF}" type="datetimeFigureOut">
              <a:rPr lang="en-GB" smtClean="0"/>
              <a:t>29/10/2023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00FEDA-4B6C-4550-AAF9-B45C0DFBB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B758F1-69FD-EB41-EF41-8BEC5A96D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6373-7465-4B52-AB2D-2B19E7C43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820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F19C7-1338-CAFA-799F-5202E635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7C28DF-6B76-EC7F-3E82-2D24AA68E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7099-7AE8-4B0C-9059-94EF3DACAEEF}" type="datetimeFigureOut">
              <a:rPr lang="en-GB" smtClean="0"/>
              <a:t>29/10/2023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F6087F-2B50-48F9-2445-BC6ADF8E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3A5C4-86F2-556D-9EAC-6EB38EE63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6373-7465-4B52-AB2D-2B19E7C43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08B07A-6A2F-28F0-2B61-9703195AD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7099-7AE8-4B0C-9059-94EF3DACAEEF}" type="datetimeFigureOut">
              <a:rPr lang="en-GB" smtClean="0"/>
              <a:t>29/10/2023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5325-5CF0-0636-3A34-5E3874202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8B202-6C87-34C3-70F6-576D815DD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6373-7465-4B52-AB2D-2B19E7C43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689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7D393-6CF0-199D-B77B-3C2EFC499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5A505-AE10-4E2B-8FB4-E2298F5C9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4C4DE-CD9D-DD41-2189-3147A0512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54A5D-022E-3251-D0A4-845FFFD8C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7099-7AE8-4B0C-9059-94EF3DACAEEF}" type="datetimeFigureOut">
              <a:rPr lang="en-GB" smtClean="0"/>
              <a:t>29/10/2023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2F246-7734-0BF1-CF1D-CB37CF2C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C835D-73FF-B850-C3E5-2C9D6E888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6373-7465-4B52-AB2D-2B19E7C43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026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C8BBC-6AA4-3DE3-0DE6-1C4F3C08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B0E564-68E2-BF1D-F084-DF3D700D5D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5A284-D2E5-6D31-81C8-160B0DB2F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07202-66FE-00E6-48D6-1F3483C71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7099-7AE8-4B0C-9059-94EF3DACAEEF}" type="datetimeFigureOut">
              <a:rPr lang="en-GB" smtClean="0"/>
              <a:t>29/10/2023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E1725-5703-D601-9CE4-AF2FFC432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2FF0C-2103-6EC2-0C0C-371069E1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6373-7465-4B52-AB2D-2B19E7C43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9543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B3AF7-95F8-0477-A671-63E2DDD4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259F0-92A2-AB6D-FEF2-AABE7C445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8F4E8-8084-13AE-7262-74FFE155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7099-7AE8-4B0C-9059-94EF3DACAEEF}" type="datetimeFigureOut">
              <a:rPr lang="en-GB" smtClean="0"/>
              <a:t>29/10/2023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50907-4763-09E2-A708-758350C51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1EB3F-AA05-6C60-C19C-B6171DC3E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6373-7465-4B52-AB2D-2B19E7C43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657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2981A6-6E09-A875-0CB2-E1C04E8F3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AFE6DE-99A7-AA64-1031-8D359AEEC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BD9E9-6800-69D0-7734-696EF6475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7099-7AE8-4B0C-9059-94EF3DACAEEF}" type="datetimeFigureOut">
              <a:rPr lang="en-GB" smtClean="0"/>
              <a:t>29/10/2023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5F9CB-CEAE-58FE-37E6-EC9C5D3C3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28B53-8678-28C4-8E5C-A82B9C3D2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6373-7465-4B52-AB2D-2B19E7C43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278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7AC8E4-D1EB-5788-2C60-CFBFD69B2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35C2B-1D31-0F8A-583D-9EA9E81E3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4FA7F-48A8-5184-6904-DAD6F1392E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17099-7AE8-4B0C-9059-94EF3DACAEEF}" type="datetimeFigureOut">
              <a:rPr lang="en-GB" smtClean="0"/>
              <a:t>29/10/2023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D9466-7FF0-7B21-903C-75BCE6FB4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61759-CDB3-5B03-E2CA-6C34B0EA5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96373-7465-4B52-AB2D-2B19E7C43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19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DBB01-D0DA-B5FF-24A6-4F0884DBEB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Categorial distinction in Differential Object Marking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83402C-FE46-0499-CE14-B7904392D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Keith Tse (</a:t>
            </a:r>
            <a:r>
              <a:rPr lang="zh-CN" altLang="en-US" dirty="0"/>
              <a:t>謝嘉麒</a:t>
            </a:r>
            <a:r>
              <a:rPr lang="en-GB" altLang="zh-CN" dirty="0"/>
              <a:t>)</a:t>
            </a:r>
          </a:p>
          <a:p>
            <a:r>
              <a:rPr lang="en-GB" dirty="0"/>
              <a:t>Ronin Institute (</a:t>
            </a:r>
            <a:r>
              <a:rPr lang="zh-CN" altLang="en-US" dirty="0"/>
              <a:t>浪人學會</a:t>
            </a:r>
            <a:r>
              <a:rPr lang="en-GB" altLang="zh-CN" dirty="0"/>
              <a:t>)/IGDORE (</a:t>
            </a:r>
            <a:r>
              <a:rPr lang="zh-CN" altLang="en-US" dirty="0"/>
              <a:t>國際通行開放研究與教育學會</a:t>
            </a:r>
            <a:r>
              <a:rPr lang="en-GB" altLang="zh-CN" dirty="0"/>
              <a:t>)</a:t>
            </a:r>
          </a:p>
          <a:p>
            <a:r>
              <a:rPr lang="en-GB" altLang="zh-CN" dirty="0"/>
              <a:t>International Workshop in Syntactic Cartography (IWSC-5)</a:t>
            </a:r>
          </a:p>
          <a:p>
            <a:r>
              <a:rPr lang="en-GB" altLang="zh-CN" dirty="0"/>
              <a:t>Beijing Language and Culture University(</a:t>
            </a:r>
            <a:r>
              <a:rPr lang="zh-CN" altLang="en-US" dirty="0"/>
              <a:t>北京語言大學</a:t>
            </a:r>
            <a:r>
              <a:rPr lang="en-GB" altLang="zh-CN" dirty="0"/>
              <a:t>)</a:t>
            </a:r>
          </a:p>
          <a:p>
            <a:r>
              <a:rPr lang="en-GB" dirty="0"/>
              <a:t>29</a:t>
            </a:r>
            <a:r>
              <a:rPr lang="en-GB" baseline="30000" dirty="0"/>
              <a:t>th</a:t>
            </a:r>
            <a:r>
              <a:rPr lang="en-GB" dirty="0"/>
              <a:t> October 2023</a:t>
            </a:r>
          </a:p>
        </p:txBody>
      </p:sp>
    </p:spTree>
    <p:extLst>
      <p:ext uri="{BB962C8B-B14F-4D97-AF65-F5344CB8AC3E}">
        <p14:creationId xmlns:p14="http://schemas.microsoft.com/office/powerpoint/2010/main" val="2736400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B3C6D-AC62-29E9-55F1-BDBA9183D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IWSC-5: C-letter themes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E0724-4A7E-07AF-C9D5-D470FAC00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C</a:t>
            </a:r>
            <a:r>
              <a:rPr lang="en-GB" dirty="0"/>
              <a:t>all For Papers (</a:t>
            </a:r>
            <a:r>
              <a:rPr lang="en-GB" b="1" dirty="0"/>
              <a:t>C</a:t>
            </a:r>
            <a:r>
              <a:rPr lang="en-GB" dirty="0"/>
              <a:t>FP):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E16269-94BC-4C37-4A14-64665AAAD3F3}"/>
              </a:ext>
            </a:extLst>
          </p:cNvPr>
          <p:cNvSpPr txBox="1">
            <a:spLocks/>
          </p:cNvSpPr>
          <p:nvPr/>
        </p:nvSpPr>
        <p:spPr>
          <a:xfrm>
            <a:off x="4150896" y="132556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 dirty="0"/>
              <a:t>C</a:t>
            </a:r>
            <a:r>
              <a:rPr lang="en-GB" dirty="0"/>
              <a:t>/</a:t>
            </a:r>
            <a:r>
              <a:rPr lang="en-GB" b="1" dirty="0"/>
              <a:t>c</a:t>
            </a:r>
            <a:r>
              <a:rPr lang="en-GB" dirty="0"/>
              <a:t>ase (and agree)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b="1" dirty="0"/>
              <a:t>C</a:t>
            </a:r>
            <a:r>
              <a:rPr lang="en-GB" dirty="0"/>
              <a:t>hinese linguistics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b="1" dirty="0"/>
              <a:t>C</a:t>
            </a:r>
            <a:r>
              <a:rPr lang="en-GB" dirty="0"/>
              <a:t>inque hierarchy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b="1" dirty="0"/>
              <a:t>C</a:t>
            </a:r>
            <a:r>
              <a:rPr lang="en-GB" dirty="0"/>
              <a:t>ross-linguistic variation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37902E0-9AC3-8805-C1B5-DCD13B6E8CDB}"/>
              </a:ext>
            </a:extLst>
          </p:cNvPr>
          <p:cNvSpPr txBox="1">
            <a:spLocks/>
          </p:cNvSpPr>
          <p:nvPr/>
        </p:nvSpPr>
        <p:spPr>
          <a:xfrm>
            <a:off x="4150896" y="5316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 dirty="0"/>
              <a:t>C</a:t>
            </a:r>
            <a:r>
              <a:rPr lang="en-GB" dirty="0"/>
              <a:t>ategories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C8A8E9E-3B95-6111-554C-30BA069636EF}"/>
              </a:ext>
            </a:extLst>
          </p:cNvPr>
          <p:cNvSpPr txBox="1">
            <a:spLocks/>
          </p:cNvSpPr>
          <p:nvPr/>
        </p:nvSpPr>
        <p:spPr>
          <a:xfrm>
            <a:off x="7696205" y="132556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Case: Differential Object </a:t>
            </a:r>
            <a:r>
              <a:rPr lang="en-GB" dirty="0" err="1"/>
              <a:t>Markig</a:t>
            </a:r>
            <a:r>
              <a:rPr lang="en-GB" dirty="0"/>
              <a:t> (DOM)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E291D80-B3F2-4A01-A4E8-84B6FD6B3693}"/>
              </a:ext>
            </a:extLst>
          </p:cNvPr>
          <p:cNvSpPr txBox="1">
            <a:spLocks/>
          </p:cNvSpPr>
          <p:nvPr/>
        </p:nvSpPr>
        <p:spPr>
          <a:xfrm>
            <a:off x="7730792" y="230419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Chinese </a:t>
            </a:r>
            <a:r>
              <a:rPr lang="en-US" altLang="zh-CN" i="1" dirty="0" err="1"/>
              <a:t>ba</a:t>
            </a:r>
            <a:r>
              <a:rPr lang="en-US" altLang="zh-CN" dirty="0"/>
              <a:t> (</a:t>
            </a:r>
            <a:r>
              <a:rPr lang="zh-CN" altLang="en-US" dirty="0"/>
              <a:t>把</a:t>
            </a:r>
            <a:r>
              <a:rPr lang="en-GB" altLang="zh-CN" dirty="0"/>
              <a:t>) and </a:t>
            </a:r>
            <a:r>
              <a:rPr lang="en-GB" altLang="zh-CN" i="1" dirty="0" err="1"/>
              <a:t>bei</a:t>
            </a:r>
            <a:r>
              <a:rPr lang="en-GB" altLang="zh-CN" dirty="0"/>
              <a:t> (</a:t>
            </a:r>
            <a:r>
              <a:rPr lang="zh-CN" altLang="en-US" dirty="0"/>
              <a:t>被</a:t>
            </a:r>
            <a:r>
              <a:rPr lang="en-GB" altLang="zh-CN" dirty="0"/>
              <a:t>)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D686EF9-3BE3-5E7E-6E12-0E93F47B22B8}"/>
              </a:ext>
            </a:extLst>
          </p:cNvPr>
          <p:cNvSpPr txBox="1">
            <a:spLocks/>
          </p:cNvSpPr>
          <p:nvPr/>
        </p:nvSpPr>
        <p:spPr>
          <a:xfrm>
            <a:off x="7719263" y="435123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Romance </a:t>
            </a:r>
            <a:r>
              <a:rPr lang="en-US" altLang="zh-CN" i="1" dirty="0"/>
              <a:t>ad</a:t>
            </a:r>
            <a:r>
              <a:rPr lang="en-US" altLang="zh-CN" dirty="0"/>
              <a:t> vs Chinese </a:t>
            </a:r>
            <a:r>
              <a:rPr lang="en-US" altLang="zh-CN" i="1" dirty="0" err="1"/>
              <a:t>ba</a:t>
            </a:r>
            <a:r>
              <a:rPr lang="en-US" altLang="zh-CN" dirty="0"/>
              <a:t>/</a:t>
            </a:r>
            <a:r>
              <a:rPr lang="en-US" altLang="zh-CN" i="1" dirty="0" err="1"/>
              <a:t>bei</a:t>
            </a:r>
            <a:endParaRPr lang="en-GB" i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C29B6EA-2BA7-3F04-F07C-A34DDB683D03}"/>
              </a:ext>
            </a:extLst>
          </p:cNvPr>
          <p:cNvSpPr txBox="1">
            <a:spLocks/>
          </p:cNvSpPr>
          <p:nvPr/>
        </p:nvSpPr>
        <p:spPr>
          <a:xfrm>
            <a:off x="7742320" y="337259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 dirty="0"/>
              <a:t>C</a:t>
            </a:r>
            <a:r>
              <a:rPr lang="en-GB" dirty="0"/>
              <a:t>artography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61B6CFA-08CB-7B81-C86F-EF27630AA33F}"/>
              </a:ext>
            </a:extLst>
          </p:cNvPr>
          <p:cNvSpPr txBox="1">
            <a:spLocks/>
          </p:cNvSpPr>
          <p:nvPr/>
        </p:nvSpPr>
        <p:spPr>
          <a:xfrm>
            <a:off x="800610" y="59755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Abstract writing workshop, Manchester Graduate Programme (MA) in Linguistics: </a:t>
            </a:r>
            <a:r>
              <a:rPr lang="en-GB" b="1" dirty="0"/>
              <a:t>Follow the submission guidelines!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523298-7A0A-4388-ACE1-8DB45737A3B1}"/>
              </a:ext>
            </a:extLst>
          </p:cNvPr>
          <p:cNvSpPr txBox="1">
            <a:spLocks/>
          </p:cNvSpPr>
          <p:nvPr/>
        </p:nvSpPr>
        <p:spPr>
          <a:xfrm>
            <a:off x="7684676" y="527899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Ad (P &gt; K) / </a:t>
            </a:r>
            <a:r>
              <a:rPr lang="en-GB" dirty="0" err="1"/>
              <a:t>ba</a:t>
            </a:r>
            <a:r>
              <a:rPr lang="en-GB" dirty="0"/>
              <a:t>/</a:t>
            </a:r>
            <a:r>
              <a:rPr lang="en-GB" dirty="0" err="1"/>
              <a:t>bei</a:t>
            </a:r>
            <a:r>
              <a:rPr lang="en-GB" dirty="0"/>
              <a:t> (V &gt; Voice)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	Tse (IWSC-3 (2019))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7E3E420-C6DB-725F-2448-67B175601523}"/>
              </a:ext>
            </a:extLst>
          </p:cNvPr>
          <p:cNvSpPr txBox="1">
            <a:spLocks/>
          </p:cNvSpPr>
          <p:nvPr/>
        </p:nvSpPr>
        <p:spPr>
          <a:xfrm>
            <a:off x="1037221" y="442446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 dirty="0"/>
              <a:t>C</a:t>
            </a:r>
            <a:r>
              <a:rPr lang="en-GB" dirty="0"/>
              <a:t>all For Papers (</a:t>
            </a:r>
            <a:r>
              <a:rPr lang="en-GB" b="1" dirty="0"/>
              <a:t>C</a:t>
            </a:r>
            <a:r>
              <a:rPr lang="en-GB" dirty="0"/>
              <a:t>FP):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0D4C5C6-A765-7BAE-D84A-B8CDDBD75131}"/>
              </a:ext>
            </a:extLst>
          </p:cNvPr>
          <p:cNvSpPr txBox="1">
            <a:spLocks/>
          </p:cNvSpPr>
          <p:nvPr/>
        </p:nvSpPr>
        <p:spPr>
          <a:xfrm>
            <a:off x="803613" y="345880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 dirty="0"/>
              <a:t>C</a:t>
            </a:r>
            <a:r>
              <a:rPr lang="en-GB" dirty="0"/>
              <a:t>all For Papers (</a:t>
            </a:r>
            <a:r>
              <a:rPr lang="en-GB" b="1" dirty="0"/>
              <a:t>C</a:t>
            </a:r>
            <a:r>
              <a:rPr lang="en-GB" dirty="0"/>
              <a:t>FP):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0251495-933C-F0EA-EE05-3FFE98538C9D}"/>
              </a:ext>
            </a:extLst>
          </p:cNvPr>
          <p:cNvSpPr txBox="1">
            <a:spLocks/>
          </p:cNvSpPr>
          <p:nvPr/>
        </p:nvSpPr>
        <p:spPr>
          <a:xfrm>
            <a:off x="789082" y="243283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 dirty="0"/>
              <a:t>C</a:t>
            </a:r>
            <a:r>
              <a:rPr lang="en-GB" dirty="0"/>
              <a:t>all For Papers (</a:t>
            </a:r>
            <a:r>
              <a:rPr lang="en-GB" b="1" dirty="0"/>
              <a:t>C</a:t>
            </a:r>
            <a:r>
              <a:rPr lang="en-GB" dirty="0"/>
              <a:t>FP): </a:t>
            </a:r>
          </a:p>
        </p:txBody>
      </p:sp>
    </p:spTree>
    <p:extLst>
      <p:ext uri="{BB962C8B-B14F-4D97-AF65-F5344CB8AC3E}">
        <p14:creationId xmlns:p14="http://schemas.microsoft.com/office/powerpoint/2010/main" val="4009068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E587-E659-8A23-D283-CDDB7C92D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r>
              <a:rPr lang="en-GB" sz="3950" dirty="0"/>
              <a:t>Differential Object Marking (Differential Argument Marking)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E7C8A-EA62-BD4F-4348-0ABC5CA0C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Case-marking is sensitive to different types of ‘markedness’: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0AC5169-8FD6-104A-02D6-02540C0432CA}"/>
              </a:ext>
            </a:extLst>
          </p:cNvPr>
          <p:cNvSpPr txBox="1">
            <a:spLocks/>
          </p:cNvSpPr>
          <p:nvPr/>
        </p:nvSpPr>
        <p:spPr>
          <a:xfrm>
            <a:off x="838200" y="183089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Marked categories are likelier than unmarked ones to be Case-marked (</a:t>
            </a:r>
            <a:r>
              <a:rPr lang="en-GB" dirty="0" err="1"/>
              <a:t>Aissen</a:t>
            </a:r>
            <a:r>
              <a:rPr lang="en-GB" dirty="0"/>
              <a:t> (2003)) (</a:t>
            </a:r>
            <a:r>
              <a:rPr lang="en-GB" dirty="0" err="1"/>
              <a:t>cf</a:t>
            </a:r>
            <a:r>
              <a:rPr lang="en-GB" dirty="0"/>
              <a:t> Silverstein (1974, 1976))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E5A56AB-309F-2C71-7D55-EE4AE7C91BDB}"/>
              </a:ext>
            </a:extLst>
          </p:cNvPr>
          <p:cNvSpPr txBox="1">
            <a:spLocks/>
          </p:cNvSpPr>
          <p:nvPr/>
        </p:nvSpPr>
        <p:spPr>
          <a:xfrm>
            <a:off x="838200" y="26511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Nominal: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C2E90F9-CFD2-92A1-E739-3F0A491762B7}"/>
              </a:ext>
            </a:extLst>
          </p:cNvPr>
          <p:cNvSpPr txBox="1">
            <a:spLocks/>
          </p:cNvSpPr>
          <p:nvPr/>
        </p:nvSpPr>
        <p:spPr>
          <a:xfrm>
            <a:off x="2322095" y="26511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Human &gt; Animate &gt; Inanimate (lexical semantics of object)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6ABF03F-A90A-7AA4-44B0-AD0ED870D811}"/>
              </a:ext>
            </a:extLst>
          </p:cNvPr>
          <p:cNvSpPr txBox="1">
            <a:spLocks/>
          </p:cNvSpPr>
          <p:nvPr/>
        </p:nvSpPr>
        <p:spPr>
          <a:xfrm>
            <a:off x="2221832" y="315645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Definite &gt; Indefinite/Specific &gt; Non-specific (Referentiality of object)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A47C0C-52AF-8220-9C2B-BB407104CF07}"/>
              </a:ext>
            </a:extLst>
          </p:cNvPr>
          <p:cNvSpPr txBox="1">
            <a:spLocks/>
          </p:cNvSpPr>
          <p:nvPr/>
        </p:nvSpPr>
        <p:spPr>
          <a:xfrm>
            <a:off x="938463" y="425567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Verbal: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D0E89F9-DFD4-D57C-4B1D-1979E4C98179}"/>
              </a:ext>
            </a:extLst>
          </p:cNvPr>
          <p:cNvSpPr txBox="1">
            <a:spLocks/>
          </p:cNvSpPr>
          <p:nvPr/>
        </p:nvSpPr>
        <p:spPr>
          <a:xfrm>
            <a:off x="2719137" y="561110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Transitivity/affectedness (</a:t>
            </a:r>
            <a:r>
              <a:rPr lang="en-GB" i="1" dirty="0" err="1"/>
              <a:t>aktionsart</a:t>
            </a:r>
            <a:r>
              <a:rPr lang="en-GB" dirty="0"/>
              <a:t>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8C14120-151F-3776-A66F-BBF64938780C}"/>
              </a:ext>
            </a:extLst>
          </p:cNvPr>
          <p:cNvSpPr txBox="1">
            <a:spLocks/>
          </p:cNvSpPr>
          <p:nvPr/>
        </p:nvSpPr>
        <p:spPr>
          <a:xfrm>
            <a:off x="838200" y="460041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Clausal: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5B0FC87-C461-0CD9-DFE4-8AA13E6BCA69}"/>
              </a:ext>
            </a:extLst>
          </p:cNvPr>
          <p:cNvSpPr txBox="1">
            <a:spLocks/>
          </p:cNvSpPr>
          <p:nvPr/>
        </p:nvSpPr>
        <p:spPr>
          <a:xfrm>
            <a:off x="2221832" y="4682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Topic &gt; Non-topic (position of object (raised to left-periphery or not))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CDDCB0A-2411-0A30-0120-954183BC6A91}"/>
              </a:ext>
            </a:extLst>
          </p:cNvPr>
          <p:cNvSpPr txBox="1">
            <a:spLocks/>
          </p:cNvSpPr>
          <p:nvPr/>
        </p:nvSpPr>
        <p:spPr>
          <a:xfrm>
            <a:off x="2322095" y="425922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err="1"/>
              <a:t>Agentivity</a:t>
            </a:r>
            <a:r>
              <a:rPr lang="en-GB" dirty="0"/>
              <a:t> (subject) + affectedness (object)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68ABB7E-FDD5-A640-5C9C-CD872EC0A959}"/>
              </a:ext>
            </a:extLst>
          </p:cNvPr>
          <p:cNvSpPr txBox="1">
            <a:spLocks/>
          </p:cNvSpPr>
          <p:nvPr/>
        </p:nvSpPr>
        <p:spPr>
          <a:xfrm>
            <a:off x="2221832" y="366178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Singular &gt; Plural (Number of the object)</a:t>
            </a:r>
          </a:p>
        </p:txBody>
      </p:sp>
    </p:spTree>
    <p:extLst>
      <p:ext uri="{BB962C8B-B14F-4D97-AF65-F5344CB8AC3E}">
        <p14:creationId xmlns:p14="http://schemas.microsoft.com/office/powerpoint/2010/main" val="2664855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6E8D-56C5-4FAD-A539-A2CE1C065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/>
              <a:t>Cartographic/Featural Markedness (Verbal/Clausal)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4AC8-8A95-4A86-8F3C-0F07E9A48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9355" y="1973118"/>
            <a:ext cx="57109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Topic (left-periphery) and transitive projections (Initiate + Result) are relatively high in the verbal/clausal cartography </a:t>
            </a:r>
            <a:r>
              <a:rPr lang="en-GB" sz="2400" dirty="0" err="1"/>
              <a:t>arkedness</a:t>
            </a:r>
            <a:r>
              <a:rPr lang="en-GB" sz="2400" dirty="0"/>
              <a:t> (Light Verb projections for thematic roles (Rappaport </a:t>
            </a:r>
            <a:r>
              <a:rPr lang="en-GB" sz="2400" dirty="0" err="1"/>
              <a:t>Hovav</a:t>
            </a:r>
            <a:r>
              <a:rPr lang="en-GB" sz="2400" dirty="0"/>
              <a:t> and Levin (2005), </a:t>
            </a:r>
            <a:r>
              <a:rPr lang="en-GB" sz="2400" dirty="0" err="1"/>
              <a:t>Ramchand</a:t>
            </a:r>
            <a:r>
              <a:rPr lang="en-GB" sz="2400" dirty="0"/>
              <a:t> (2008)):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C6D436-B3DD-4523-A61E-A26193A2EE1F}"/>
              </a:ext>
            </a:extLst>
          </p:cNvPr>
          <p:cNvSpPr txBox="1">
            <a:spLocks/>
          </p:cNvSpPr>
          <p:nvPr/>
        </p:nvSpPr>
        <p:spPr>
          <a:xfrm>
            <a:off x="0" y="916378"/>
            <a:ext cx="12192000" cy="5941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</a:t>
            </a:r>
            <a:r>
              <a:rPr lang="en-GB" sz="2400" dirty="0" err="1"/>
              <a:t>TopP</a:t>
            </a:r>
            <a:endParaRPr lang="en-GB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 err="1"/>
              <a:t>SpecTop</a:t>
            </a:r>
            <a:r>
              <a:rPr lang="en-GB" sz="2400" dirty="0"/>
              <a:t>	Top’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Top		TP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</a:t>
            </a:r>
            <a:r>
              <a:rPr lang="en-GB" sz="2400" dirty="0" err="1"/>
              <a:t>SpecTP</a:t>
            </a:r>
            <a:r>
              <a:rPr lang="en-GB" sz="2400" dirty="0"/>
              <a:t>	T’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T	</a:t>
            </a:r>
            <a:r>
              <a:rPr lang="en-GB" sz="2400" dirty="0" err="1"/>
              <a:t>InitP</a:t>
            </a:r>
            <a:endParaRPr lang="en-GB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</a:t>
            </a:r>
            <a:r>
              <a:rPr lang="en-GB" sz="2400" dirty="0" err="1"/>
              <a:t>SpecInit</a:t>
            </a:r>
            <a:r>
              <a:rPr lang="en-US" altLang="zh-CN" sz="2400" dirty="0"/>
              <a:t>P	Init’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				Initiate		</a:t>
            </a:r>
            <a:r>
              <a:rPr lang="en-US" sz="2400" dirty="0" err="1"/>
              <a:t>AffP</a:t>
            </a: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					</a:t>
            </a:r>
            <a:r>
              <a:rPr lang="en-US" sz="2400" dirty="0" err="1"/>
              <a:t>SpecAff</a:t>
            </a:r>
            <a:r>
              <a:rPr lang="en-US" sz="2400" dirty="0"/>
              <a:t>	</a:t>
            </a:r>
            <a:r>
              <a:rPr lang="en-US" sz="2400" dirty="0" err="1"/>
              <a:t>Aff</a:t>
            </a:r>
            <a:r>
              <a:rPr lang="en-US" sz="2400" dirty="0"/>
              <a:t>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						Affect		</a:t>
            </a:r>
            <a:r>
              <a:rPr lang="en-US" sz="2400" dirty="0" err="1"/>
              <a:t>vP</a:t>
            </a: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				</a:t>
            </a:r>
            <a:r>
              <a:rPr lang="en-GB" sz="2400" dirty="0" err="1"/>
              <a:t>SpecvP</a:t>
            </a:r>
            <a:r>
              <a:rPr lang="en-GB" sz="2400" dirty="0"/>
              <a:t>		v’												v		VP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						</a:t>
            </a:r>
            <a:r>
              <a:rPr lang="en-GB" sz="2400" dirty="0" err="1"/>
              <a:t>SpecV</a:t>
            </a:r>
            <a:r>
              <a:rPr lang="en-GB" sz="2400" dirty="0"/>
              <a:t>		V’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							V	         KP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EE6FE-9AC3-4499-94A4-0A847E3D28C5}"/>
              </a:ext>
            </a:extLst>
          </p:cNvPr>
          <p:cNvSpPr txBox="1"/>
          <p:nvPr/>
        </p:nvSpPr>
        <p:spPr>
          <a:xfrm>
            <a:off x="0" y="2948458"/>
            <a:ext cx="21166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 err="1"/>
              <a:t>Topicalised</a:t>
            </a:r>
            <a:r>
              <a:rPr lang="en-GB" sz="2400" dirty="0"/>
              <a:t> objects raised to </a:t>
            </a:r>
            <a:r>
              <a:rPr lang="en-GB" sz="2400" dirty="0" err="1"/>
              <a:t>SpecTopP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D500F-51EA-4CE4-816E-CB7812A0C095}"/>
              </a:ext>
            </a:extLst>
          </p:cNvPr>
          <p:cNvSpPr txBox="1"/>
          <p:nvPr/>
        </p:nvSpPr>
        <p:spPr>
          <a:xfrm>
            <a:off x="1185669" y="4718563"/>
            <a:ext cx="41190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Kinesis: </a:t>
            </a:r>
            <a:r>
              <a:rPr lang="en-GB" sz="2400" dirty="0" err="1"/>
              <a:t>agentivity</a:t>
            </a:r>
            <a:r>
              <a:rPr lang="en-GB" sz="2400" dirty="0"/>
              <a:t> (</a:t>
            </a:r>
            <a:r>
              <a:rPr lang="en-GB" sz="2400" dirty="0" err="1"/>
              <a:t>SpecInitP</a:t>
            </a:r>
            <a:r>
              <a:rPr lang="en-GB" sz="2400" dirty="0"/>
              <a:t>)/ </a:t>
            </a:r>
          </a:p>
          <a:p>
            <a:r>
              <a:rPr lang="en-GB" sz="2400" dirty="0"/>
              <a:t>              affectedness (</a:t>
            </a:r>
            <a:r>
              <a:rPr lang="en-GB" sz="2400" dirty="0" err="1"/>
              <a:t>SpecAffP</a:t>
            </a:r>
            <a:r>
              <a:rPr lang="en-GB" sz="2400" dirty="0"/>
              <a:t>)</a:t>
            </a:r>
          </a:p>
          <a:p>
            <a:r>
              <a:rPr lang="en-US" altLang="zh-CN" sz="2400" dirty="0"/>
              <a:t>Initiate – Process – Result (</a:t>
            </a:r>
            <a:r>
              <a:rPr lang="en-US" altLang="zh-CN" sz="2400" dirty="0" err="1"/>
              <a:t>Folli</a:t>
            </a:r>
            <a:r>
              <a:rPr lang="en-US" altLang="zh-CN" sz="2400" dirty="0"/>
              <a:t> (2002), </a:t>
            </a:r>
            <a:r>
              <a:rPr lang="en-US" altLang="zh-CN" sz="2400" dirty="0" err="1"/>
              <a:t>Ramchand</a:t>
            </a:r>
            <a:r>
              <a:rPr lang="en-US" altLang="zh-CN" sz="2400" dirty="0"/>
              <a:t> (2008))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89E742-E19B-4956-A79F-00813888CEE0}"/>
              </a:ext>
            </a:extLst>
          </p:cNvPr>
          <p:cNvSpPr txBox="1"/>
          <p:nvPr/>
        </p:nvSpPr>
        <p:spPr>
          <a:xfrm>
            <a:off x="654831" y="2198954"/>
            <a:ext cx="10616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 err="1"/>
              <a:t>i</a:t>
            </a:r>
            <a:r>
              <a:rPr lang="en-GB" sz="2400" dirty="0"/>
              <a:t>-Topic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BA16DE-103C-47DC-A35B-EE5A12BBC362}"/>
              </a:ext>
            </a:extLst>
          </p:cNvPr>
          <p:cNvSpPr txBox="1"/>
          <p:nvPr/>
        </p:nvSpPr>
        <p:spPr>
          <a:xfrm>
            <a:off x="2755304" y="3567877"/>
            <a:ext cx="2116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Agent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8A19D7-42B4-2E0C-FABD-C51F68EAE6AA}"/>
              </a:ext>
            </a:extLst>
          </p:cNvPr>
          <p:cNvCxnSpPr/>
          <p:nvPr/>
        </p:nvCxnSpPr>
        <p:spPr>
          <a:xfrm flipV="1">
            <a:off x="282804" y="1751197"/>
            <a:ext cx="0" cy="1257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397FF65-3DB8-D864-FFFE-45519524EEF3}"/>
              </a:ext>
            </a:extLst>
          </p:cNvPr>
          <p:cNvSpPr txBox="1"/>
          <p:nvPr/>
        </p:nvSpPr>
        <p:spPr>
          <a:xfrm>
            <a:off x="5682848" y="6288222"/>
            <a:ext cx="2116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94D967-4D55-BF1F-82DC-77FDC9A88BFA}"/>
              </a:ext>
            </a:extLst>
          </p:cNvPr>
          <p:cNvSpPr txBox="1"/>
          <p:nvPr/>
        </p:nvSpPr>
        <p:spPr>
          <a:xfrm>
            <a:off x="5304702" y="4903228"/>
            <a:ext cx="14364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 err="1"/>
              <a:t>Affectee</a:t>
            </a:r>
            <a:r>
              <a:rPr lang="en-GB" sz="2400" dirty="0"/>
              <a:t> (Affected object)</a:t>
            </a:r>
          </a:p>
        </p:txBody>
      </p:sp>
    </p:spTree>
    <p:extLst>
      <p:ext uri="{BB962C8B-B14F-4D97-AF65-F5344CB8AC3E}">
        <p14:creationId xmlns:p14="http://schemas.microsoft.com/office/powerpoint/2010/main" val="109987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  <p:bldP spid="8" grpId="0"/>
      <p:bldP spid="10" grpId="0"/>
      <p:bldP spid="11" grpId="0"/>
      <p:bldP spid="9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6E8D-56C5-4FAD-A539-A2CE1C065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1325563"/>
          </a:xfrm>
        </p:spPr>
        <p:txBody>
          <a:bodyPr/>
          <a:lstStyle/>
          <a:p>
            <a:r>
              <a:rPr lang="en-GB" dirty="0"/>
              <a:t>Cartographic/Featural Markedness (Nominal)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4AC8-8A95-4A86-8F3C-0F07E9A48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30424"/>
            <a:ext cx="1135380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Nominal markedness (DP-hypothesis (Valois (1986), </a:t>
            </a:r>
            <a:r>
              <a:rPr lang="en-GB" sz="2400" dirty="0" err="1"/>
              <a:t>Longobardi</a:t>
            </a:r>
            <a:r>
              <a:rPr lang="en-GB" sz="2400" dirty="0"/>
              <a:t> and Silvestri (2013)):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C6D436-B3DD-4523-A61E-A26193A2EE1F}"/>
              </a:ext>
            </a:extLst>
          </p:cNvPr>
          <p:cNvSpPr txBox="1">
            <a:spLocks/>
          </p:cNvSpPr>
          <p:nvPr/>
        </p:nvSpPr>
        <p:spPr>
          <a:xfrm>
            <a:off x="0" y="1185333"/>
            <a:ext cx="12192000" cy="56726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VP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 err="1"/>
              <a:t>SpecV</a:t>
            </a:r>
            <a:r>
              <a:rPr lang="en-GB" sz="2400" dirty="0"/>
              <a:t>		V’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V		KP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</a:t>
            </a:r>
            <a:r>
              <a:rPr lang="en-GB" sz="2400" dirty="0" err="1"/>
              <a:t>SpecKP</a:t>
            </a:r>
            <a:r>
              <a:rPr lang="en-GB" sz="2400" dirty="0"/>
              <a:t>		K’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K(</a:t>
            </a:r>
            <a:r>
              <a:rPr lang="en-GB" sz="2400" dirty="0" err="1"/>
              <a:t>ase</a:t>
            </a:r>
            <a:r>
              <a:rPr lang="en-GB" sz="2400" dirty="0"/>
              <a:t>)		DP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	</a:t>
            </a:r>
            <a:r>
              <a:rPr lang="en-GB" sz="2400" dirty="0" err="1"/>
              <a:t>SpecD</a:t>
            </a:r>
            <a:r>
              <a:rPr lang="en-US" altLang="zh-CN" sz="2400" dirty="0"/>
              <a:t>P	D’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					D		</a:t>
            </a:r>
            <a:r>
              <a:rPr lang="en-US" sz="2400" dirty="0" err="1"/>
              <a:t>PhiP</a:t>
            </a: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						</a:t>
            </a:r>
            <a:r>
              <a:rPr lang="en-US" sz="2400" dirty="0" err="1"/>
              <a:t>SpecPhi</a:t>
            </a:r>
            <a:r>
              <a:rPr lang="en-US" sz="2400" dirty="0"/>
              <a:t>	Phi’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							Phi		</a:t>
            </a:r>
            <a:r>
              <a:rPr lang="en-US" sz="2400" dirty="0" err="1"/>
              <a:t>vP</a:t>
            </a: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					</a:t>
            </a:r>
            <a:r>
              <a:rPr lang="en-GB" sz="2400" dirty="0" err="1"/>
              <a:t>SpecvP</a:t>
            </a:r>
            <a:r>
              <a:rPr lang="en-GB" sz="2400" dirty="0"/>
              <a:t>		n’												n		NP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							</a:t>
            </a:r>
            <a:r>
              <a:rPr lang="en-GB" sz="2400" dirty="0" err="1"/>
              <a:t>SpecNP</a:t>
            </a:r>
            <a:r>
              <a:rPr lang="en-GB" sz="2400" dirty="0"/>
              <a:t>     	N’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								       	N	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EE6FE-9AC3-4499-94A4-0A847E3D28C5}"/>
              </a:ext>
            </a:extLst>
          </p:cNvPr>
          <p:cNvSpPr txBox="1"/>
          <p:nvPr/>
        </p:nvSpPr>
        <p:spPr>
          <a:xfrm>
            <a:off x="5113865" y="4773143"/>
            <a:ext cx="28024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Personal pronouns </a:t>
            </a:r>
          </a:p>
          <a:p>
            <a:r>
              <a:rPr lang="en-GB" sz="2000" dirty="0"/>
              <a:t>(bare Ds) (Postal (1969))</a:t>
            </a:r>
          </a:p>
          <a:p>
            <a:r>
              <a:rPr lang="en-GB" sz="2000" dirty="0"/>
              <a:t>Person: 1</a:t>
            </a:r>
            <a:r>
              <a:rPr lang="en-GB" sz="2000" baseline="30000" dirty="0"/>
              <a:t>st</a:t>
            </a:r>
            <a:r>
              <a:rPr lang="en-GB" sz="2000" dirty="0"/>
              <a:t>/2</a:t>
            </a:r>
            <a:r>
              <a:rPr lang="en-GB" sz="2000" baseline="30000" dirty="0"/>
              <a:t>nd</a:t>
            </a:r>
            <a:r>
              <a:rPr lang="en-GB" sz="2000" dirty="0"/>
              <a:t>/3</a:t>
            </a:r>
            <a:r>
              <a:rPr lang="en-GB" sz="2000" baseline="30000" dirty="0"/>
              <a:t>rd</a:t>
            </a:r>
            <a:endParaRPr lang="en-GB" sz="2000" dirty="0"/>
          </a:p>
          <a:p>
            <a:r>
              <a:rPr lang="en-GB" sz="2000" dirty="0"/>
              <a:t>Number: sg/pl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D500F-51EA-4CE4-816E-CB7812A0C095}"/>
              </a:ext>
            </a:extLst>
          </p:cNvPr>
          <p:cNvSpPr txBox="1"/>
          <p:nvPr/>
        </p:nvSpPr>
        <p:spPr>
          <a:xfrm>
            <a:off x="8564033" y="6396335"/>
            <a:ext cx="36279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Semantic features: animacy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25F3C9-D10A-41D9-99A8-63B30B6A3494}"/>
              </a:ext>
            </a:extLst>
          </p:cNvPr>
          <p:cNvSpPr txBox="1">
            <a:spLocks/>
          </p:cNvSpPr>
          <p:nvPr/>
        </p:nvSpPr>
        <p:spPr>
          <a:xfrm>
            <a:off x="3822169" y="3968384"/>
            <a:ext cx="1745192" cy="160951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Definiteness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Specificity (Lyons (1991), Zamparelli (1994))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A92B52-DF07-4D8F-831F-B48EEF9AB280}"/>
              </a:ext>
            </a:extLst>
          </p:cNvPr>
          <p:cNvSpPr txBox="1"/>
          <p:nvPr/>
        </p:nvSpPr>
        <p:spPr>
          <a:xfrm>
            <a:off x="1944421" y="3534100"/>
            <a:ext cx="21166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AD </a:t>
            </a:r>
          </a:p>
          <a:p>
            <a:r>
              <a:rPr lang="en-GB" sz="2400" dirty="0"/>
              <a:t>(</a:t>
            </a:r>
            <a:r>
              <a:rPr lang="en-GB" sz="2400" dirty="0" err="1"/>
              <a:t>Brugè</a:t>
            </a:r>
            <a:r>
              <a:rPr lang="en-GB" sz="2400" dirty="0"/>
              <a:t> (1996))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3F9C86-AB40-4F84-8F5D-B5A49D7391DC}"/>
              </a:ext>
            </a:extLst>
          </p:cNvPr>
          <p:cNvSpPr txBox="1"/>
          <p:nvPr/>
        </p:nvSpPr>
        <p:spPr>
          <a:xfrm>
            <a:off x="2183339" y="5304300"/>
            <a:ext cx="36279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Proper names (D) </a:t>
            </a:r>
          </a:p>
          <a:p>
            <a:r>
              <a:rPr lang="en-GB" sz="2000" dirty="0"/>
              <a:t>(</a:t>
            </a:r>
            <a:r>
              <a:rPr lang="en-GB" sz="2000" dirty="0" err="1"/>
              <a:t>Longobardi</a:t>
            </a:r>
            <a:r>
              <a:rPr lang="en-GB" sz="2000" dirty="0"/>
              <a:t> (1994, 1996))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E91EA8-84B1-48EC-986E-85EC97014D15}"/>
              </a:ext>
            </a:extLst>
          </p:cNvPr>
          <p:cNvSpPr txBox="1"/>
          <p:nvPr/>
        </p:nvSpPr>
        <p:spPr>
          <a:xfrm>
            <a:off x="6096000" y="165914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N-root features are lexical semantic (N); </a:t>
            </a:r>
          </a:p>
          <a:p>
            <a:r>
              <a:rPr lang="en-GB" sz="2400" dirty="0"/>
              <a:t>D-features are formal (N-D Move/Agree)</a:t>
            </a:r>
          </a:p>
        </p:txBody>
      </p:sp>
    </p:spTree>
    <p:extLst>
      <p:ext uri="{BB962C8B-B14F-4D97-AF65-F5344CB8AC3E}">
        <p14:creationId xmlns:p14="http://schemas.microsoft.com/office/powerpoint/2010/main" val="133006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  <p:bldP spid="8" grpId="0"/>
      <p:bldP spid="7" grpId="0"/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2635C-AAF9-B168-DDB6-08B495038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GB" dirty="0"/>
              <a:t>Categorial Markedness (Nominal vs Verbal/Clausal)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A9C6F-75E4-94D9-41F7-A1B92A1F0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Romance DOM (</a:t>
            </a:r>
            <a:r>
              <a:rPr lang="en-GB" i="1" dirty="0"/>
              <a:t>ad</a:t>
            </a:r>
            <a:r>
              <a:rPr lang="en-GB" dirty="0"/>
              <a:t>) &lt; Latin AD (directional preposition) ‘to(wards)’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35DE12-97DA-F933-AF3C-8849EB639A4D}"/>
              </a:ext>
            </a:extLst>
          </p:cNvPr>
          <p:cNvSpPr txBox="1"/>
          <p:nvPr/>
        </p:nvSpPr>
        <p:spPr>
          <a:xfrm>
            <a:off x="2313402" y="1932481"/>
            <a:ext cx="39751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K(</a:t>
            </a:r>
            <a:r>
              <a:rPr lang="en-GB" sz="2800" dirty="0" err="1"/>
              <a:t>ase</a:t>
            </a:r>
            <a:r>
              <a:rPr lang="en-GB" sz="2800" dirty="0"/>
              <a:t>) &lt; </a:t>
            </a:r>
            <a:r>
              <a:rPr lang="en-GB" sz="2800" dirty="0" err="1"/>
              <a:t>P</a:t>
            </a:r>
            <a:r>
              <a:rPr lang="en-GB" sz="2400" dirty="0" err="1"/>
              <a:t>allative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79E01D-726C-B008-3D3E-C84C0C593B46}"/>
              </a:ext>
            </a:extLst>
          </p:cNvPr>
          <p:cNvSpPr txBox="1"/>
          <p:nvPr/>
        </p:nvSpPr>
        <p:spPr>
          <a:xfrm>
            <a:off x="838200" y="2611147"/>
            <a:ext cx="11353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Chinese </a:t>
            </a:r>
            <a:r>
              <a:rPr lang="en-GB" sz="2800" i="1" dirty="0" err="1"/>
              <a:t>ba</a:t>
            </a:r>
            <a:r>
              <a:rPr lang="en-GB" sz="2800" dirty="0"/>
              <a:t> (Active) &lt; Verb ‘take/hold’ / </a:t>
            </a:r>
            <a:r>
              <a:rPr lang="en-GB" sz="2800" i="1" dirty="0" err="1"/>
              <a:t>bei</a:t>
            </a:r>
            <a:r>
              <a:rPr lang="en-GB" sz="2800" dirty="0"/>
              <a:t> (Passive) &lt; Verb ‘receive/undergo’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55F9F2-A8D9-7E71-EE33-ADD4A96C35CD}"/>
              </a:ext>
            </a:extLst>
          </p:cNvPr>
          <p:cNvSpPr txBox="1"/>
          <p:nvPr/>
        </p:nvSpPr>
        <p:spPr>
          <a:xfrm>
            <a:off x="2313402" y="3278589"/>
            <a:ext cx="2116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Voice &lt; 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0653B0-93D3-0C49-615B-941ABCB54C46}"/>
              </a:ext>
            </a:extLst>
          </p:cNvPr>
          <p:cNvSpPr txBox="1"/>
          <p:nvPr/>
        </p:nvSpPr>
        <p:spPr>
          <a:xfrm>
            <a:off x="838200" y="3819430"/>
            <a:ext cx="11353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V(</a:t>
            </a:r>
            <a:r>
              <a:rPr lang="en-GB" sz="2800" dirty="0" err="1"/>
              <a:t>erb</a:t>
            </a:r>
            <a:r>
              <a:rPr lang="en-GB" sz="2800" dirty="0"/>
              <a:t>)s and P(reposition)s as Case-assigners ([-N] in Chomsky (1965))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B110F3-00B4-67CB-B967-EB451401F943}"/>
              </a:ext>
            </a:extLst>
          </p:cNvPr>
          <p:cNvSpPr txBox="1"/>
          <p:nvPr/>
        </p:nvSpPr>
        <p:spPr>
          <a:xfrm>
            <a:off x="838200" y="4514291"/>
            <a:ext cx="11353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Ad: K + DP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3D7CA3-8F52-5944-495B-00F6CCCB80B7}"/>
              </a:ext>
            </a:extLst>
          </p:cNvPr>
          <p:cNvSpPr txBox="1"/>
          <p:nvPr/>
        </p:nvSpPr>
        <p:spPr>
          <a:xfrm>
            <a:off x="4430069" y="4544887"/>
            <a:ext cx="11353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Ba/</a:t>
            </a:r>
            <a:r>
              <a:rPr lang="en-GB" sz="2800" dirty="0" err="1"/>
              <a:t>bei</a:t>
            </a:r>
            <a:r>
              <a:rPr lang="en-GB" sz="2800" dirty="0"/>
              <a:t>: Voice + VP</a:t>
            </a:r>
          </a:p>
        </p:txBody>
      </p:sp>
    </p:spTree>
    <p:extLst>
      <p:ext uri="{BB962C8B-B14F-4D97-AF65-F5344CB8AC3E}">
        <p14:creationId xmlns:p14="http://schemas.microsoft.com/office/powerpoint/2010/main" val="262889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A9D4F-0460-9263-AF96-C78E2BDEE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/>
              <a:t>Romance </a:t>
            </a:r>
            <a:r>
              <a:rPr lang="en-GB" i="1" dirty="0"/>
              <a:t>ad</a:t>
            </a:r>
            <a:r>
              <a:rPr lang="en-GB" dirty="0"/>
              <a:t> (P &gt; K)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B9AD5-D0D0-AB88-E5D9-55FFA084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3730"/>
            <a:ext cx="113538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Historical-comparative distribution of DOM (ad) &gt; proto-Romance/Latin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F1D9D2-60A2-4E24-7319-FDFE98B659AA}"/>
              </a:ext>
            </a:extLst>
          </p:cNvPr>
          <p:cNvSpPr txBox="1"/>
          <p:nvPr/>
        </p:nvSpPr>
        <p:spPr>
          <a:xfrm>
            <a:off x="838200" y="2429293"/>
            <a:ext cx="11353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Various types of verbs collocated with Latin AD ‘to(wards)’: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FEE5AA-E765-7AD0-C228-93AA3FC8BBBA}"/>
              </a:ext>
            </a:extLst>
          </p:cNvPr>
          <p:cNvSpPr txBox="1"/>
          <p:nvPr/>
        </p:nvSpPr>
        <p:spPr>
          <a:xfrm>
            <a:off x="838200" y="1504902"/>
            <a:ext cx="11353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Latin AD ‘to(wards)’ has </a:t>
            </a:r>
            <a:r>
              <a:rPr lang="en-GB" sz="2800" dirty="0" err="1"/>
              <a:t>selectional</a:t>
            </a:r>
            <a:r>
              <a:rPr lang="en-GB" sz="2800" dirty="0"/>
              <a:t> restrictions on </a:t>
            </a:r>
            <a:r>
              <a:rPr lang="en-GB" sz="2800"/>
              <a:t>the object (</a:t>
            </a:r>
            <a:r>
              <a:rPr lang="en-GB" sz="2800" dirty="0"/>
              <a:t>inherent Case): </a:t>
            </a:r>
            <a:r>
              <a:rPr lang="en-GB" sz="2800"/>
              <a:t>[animate] / [D] 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66990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20478</TotalTime>
  <Words>835</Words>
  <Application>Microsoft Office PowerPoint</Application>
  <PresentationFormat>Widescreen</PresentationFormat>
  <Paragraphs>99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Categorial distinction in Differential Object Marking</vt:lpstr>
      <vt:lpstr>IWSC-5: C-letter themes</vt:lpstr>
      <vt:lpstr>Differential Object Marking (Differential Argument Marking)</vt:lpstr>
      <vt:lpstr>Cartographic/Featural Markedness (Verbal/Clausal)</vt:lpstr>
      <vt:lpstr>Cartographic/Featural Markedness (Nominal)</vt:lpstr>
      <vt:lpstr>Categorial Markedness (Nominal vs Verbal/Clausal)</vt:lpstr>
      <vt:lpstr>Romance ad (P &gt; K)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Categorial distinction in Differential Object Marking</dc:title>
  <dc:creator>Keith Tse</dc:creator>
  <cp:lastModifiedBy>Keith Tse</cp:lastModifiedBy>
  <cp:revision>3</cp:revision>
  <dcterms:created xsi:type="dcterms:W3CDTF">2023-10-14T07:14:59Z</dcterms:created>
  <dcterms:modified xsi:type="dcterms:W3CDTF">2023-10-29T06:52:51Z</dcterms:modified>
</cp:coreProperties>
</file>