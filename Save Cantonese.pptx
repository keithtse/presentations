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F849-F93B-4835-A6C8-C0B7C87EC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3CEC96-5B50-42F1-8B15-BE3CD23A63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1446DE9-FAB2-4BD2-B29C-AFA55699C247}"/>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A7B16CEC-3993-4EC6-B5F8-69973B1C1C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0FB162-718A-4543-81D8-757FD4E5FF09}"/>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1207969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7A9E9-A2DF-4D70-9EA9-8533F79E029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341E8F-D056-465F-BD06-7F85555954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48A70DE-EFF3-42BE-B8D0-2FB2CC537CCC}"/>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6A910960-D84A-409A-9B56-FCB1077B8F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08E356-19AB-400B-8D99-CBD2A800C579}"/>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260843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C1591-7499-4572-B6E5-8F6741839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5B5B0FC-162C-46C4-9A74-81C902A305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6B5DFE-AF4C-4483-A838-86A03E7C5CEB}"/>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78F7A806-881C-4FE1-8713-E56C4885DD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D5E57B-FC6C-458A-A707-139BB51C7580}"/>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3841443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5E422-9F6B-4342-A9CD-39140C9A15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F213A8C-170F-4786-A7B4-B1032FF166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24C4B4-8689-483E-A236-D7424C6E1B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16C7418-0D11-4CF3-9C40-ABBBCB716DBE}"/>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6" name="Footer Placeholder 5">
            <a:extLst>
              <a:ext uri="{FF2B5EF4-FFF2-40B4-BE49-F238E27FC236}">
                <a16:creationId xmlns:a16="http://schemas.microsoft.com/office/drawing/2014/main" id="{8C3610E5-3D52-4FC8-8D3B-34D7AAFFAB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6BD93-DA25-4D52-BB05-64661C7CC7D7}"/>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1983879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555A4-CF2A-44A6-AD79-3C6C8B03DF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C76309-7ECA-4B64-9AEE-8DB9B71381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51DB4-28A5-4797-81B5-B0F99C8C5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A906E94-0228-45CA-BC0C-22D83131B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B7374F-0FF4-417E-B13C-0E82020D8A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BDF3227-FEFA-47A1-BBE6-2E2F8837D007}"/>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8" name="Footer Placeholder 7">
            <a:extLst>
              <a:ext uri="{FF2B5EF4-FFF2-40B4-BE49-F238E27FC236}">
                <a16:creationId xmlns:a16="http://schemas.microsoft.com/office/drawing/2014/main" id="{34150315-98B2-4432-A080-E229463040F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AAE393-79C9-4122-9F51-CE9B00A27AEF}"/>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61947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35DD-931A-4A24-8ADB-44A4416BF7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B142718-F294-4301-95FC-208B3B854059}"/>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4" name="Footer Placeholder 3">
            <a:extLst>
              <a:ext uri="{FF2B5EF4-FFF2-40B4-BE49-F238E27FC236}">
                <a16:creationId xmlns:a16="http://schemas.microsoft.com/office/drawing/2014/main" id="{69481944-1549-4ECA-A2FD-E917C97F555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3ED1DDB-A29F-4283-847B-6AEBC94D1871}"/>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2729566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EDEFAC-E409-4359-A88D-4C0AA06B6A10}"/>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3" name="Footer Placeholder 2">
            <a:extLst>
              <a:ext uri="{FF2B5EF4-FFF2-40B4-BE49-F238E27FC236}">
                <a16:creationId xmlns:a16="http://schemas.microsoft.com/office/drawing/2014/main" id="{9D7B5D97-3471-421C-AC3D-870F7CD73D8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6BB5A30-CFDB-4F94-98D4-8F0072D62E90}"/>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747758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841AA-7C97-46CF-B3D2-D194E6032F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55B1AD-A8C4-47B4-83B4-F74047C86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9D38521-15C0-41B8-8638-6717BEFE86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F2D722-822B-4F6E-A663-1A5727D09951}"/>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6" name="Footer Placeholder 5">
            <a:extLst>
              <a:ext uri="{FF2B5EF4-FFF2-40B4-BE49-F238E27FC236}">
                <a16:creationId xmlns:a16="http://schemas.microsoft.com/office/drawing/2014/main" id="{188F6147-123E-4790-865B-AFBE3134CA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2796C8-7939-4D8D-87AA-D6295A084445}"/>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2486459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B1456-4F7F-475A-B1EE-32F31C66D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A3DE31B-DB28-4B0A-942D-5C39F07E13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1450A09-7BA0-488B-80EC-DF34CC439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BCB03B-BF21-46E6-A698-6E2DB5582080}"/>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6" name="Footer Placeholder 5">
            <a:extLst>
              <a:ext uri="{FF2B5EF4-FFF2-40B4-BE49-F238E27FC236}">
                <a16:creationId xmlns:a16="http://schemas.microsoft.com/office/drawing/2014/main" id="{7EE54120-A92F-465A-A54B-F9F96E6DD7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7E48A5-E8D3-4F31-BCA9-5A36EFFA2A7C}"/>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465140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0DBCC-6F69-4BD2-8243-6204E97BEF3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CDDE81F-2C52-47EC-9AFB-676BB62571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E66BD5-8B81-42AE-9790-7A505F552E7F}"/>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68802803-E88D-4DEC-912B-728C46CDE1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8DE4FF-8090-4981-AC64-A8385CFD7F0F}"/>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4192559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092BBC-6B10-4991-8A65-AE11EEC697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716608-C0B0-479E-B239-DD587DFCEB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52F886-3DAB-43BB-94E5-537876471C5C}"/>
              </a:ext>
            </a:extLst>
          </p:cNvPr>
          <p:cNvSpPr>
            <a:spLocks noGrp="1"/>
          </p:cNvSpPr>
          <p:nvPr>
            <p:ph type="dt" sz="half" idx="10"/>
          </p:nvPr>
        </p:nvSpPr>
        <p:spPr/>
        <p:txBody>
          <a:body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ED9E8D43-CD62-4CA7-93DE-8C278E69FA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63FED6-975F-49C7-9E00-ACB2DB409B11}"/>
              </a:ext>
            </a:extLst>
          </p:cNvPr>
          <p:cNvSpPr>
            <a:spLocks noGrp="1"/>
          </p:cNvSpPr>
          <p:nvPr>
            <p:ph type="sldNum" sz="quarter" idx="12"/>
          </p:nvPr>
        </p:nvSpPr>
        <p:spPr/>
        <p:txBody>
          <a:bodyPr/>
          <a:lstStyle/>
          <a:p>
            <a:fld id="{31603EAA-D4D4-4663-83EF-76FACC2FFCA3}" type="slidenum">
              <a:rPr lang="en-GB" smtClean="0"/>
              <a:t>‹#›</a:t>
            </a:fld>
            <a:endParaRPr lang="en-GB"/>
          </a:p>
        </p:txBody>
      </p:sp>
    </p:spTree>
    <p:extLst>
      <p:ext uri="{BB962C8B-B14F-4D97-AF65-F5344CB8AC3E}">
        <p14:creationId xmlns:p14="http://schemas.microsoft.com/office/powerpoint/2010/main" val="1400398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C94E34-ECA6-4335-9A56-94F8C8FF74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BEC77D-AC92-4A76-9F30-7D7423B16A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8018BF-E1B7-492B-AF67-6FAB338E0C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7BA92-78F6-45B3-BA98-4E695A6AC579}" type="datetimeFigureOut">
              <a:rPr lang="en-GB" smtClean="0"/>
              <a:t>28/02/2022</a:t>
            </a:fld>
            <a:endParaRPr lang="en-GB"/>
          </a:p>
        </p:txBody>
      </p:sp>
      <p:sp>
        <p:nvSpPr>
          <p:cNvPr id="5" name="Footer Placeholder 4">
            <a:extLst>
              <a:ext uri="{FF2B5EF4-FFF2-40B4-BE49-F238E27FC236}">
                <a16:creationId xmlns:a16="http://schemas.microsoft.com/office/drawing/2014/main" id="{896D4455-B4FE-4674-BA98-733EF1EE9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BB3A5F2-EE8F-49B1-ADA5-EF721CAF37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603EAA-D4D4-4663-83EF-76FACC2FFCA3}" type="slidenum">
              <a:rPr lang="en-GB" smtClean="0"/>
              <a:t>‹#›</a:t>
            </a:fld>
            <a:endParaRPr lang="en-GB"/>
          </a:p>
        </p:txBody>
      </p:sp>
    </p:spTree>
    <p:extLst>
      <p:ext uri="{BB962C8B-B14F-4D97-AF65-F5344CB8AC3E}">
        <p14:creationId xmlns:p14="http://schemas.microsoft.com/office/powerpoint/2010/main" val="425551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inyurl.com/savecantonese" TargetMode="External"/><Relationship Id="rId2" Type="http://schemas.openxmlformats.org/officeDocument/2006/relationships/hyperlink" Target="https://www.savecantonese.org/" TargetMode="External"/><Relationship Id="rId1" Type="http://schemas.openxmlformats.org/officeDocument/2006/relationships/slideLayout" Target="../slideLayouts/slideLayout2.xml"/><Relationship Id="rId4" Type="http://schemas.openxmlformats.org/officeDocument/2006/relationships/hyperlink" Target="http://www.twitter.com/savecantones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ongjyuhok.hk/articles/9864" TargetMode="External"/><Relationship Id="rId2" Type="http://schemas.openxmlformats.org/officeDocument/2006/relationships/hyperlink" Target="https://asiatimes.com/2021/04/importance-of-teaching-cantonese-at-us-universities/" TargetMode="External"/><Relationship Id="rId1" Type="http://schemas.openxmlformats.org/officeDocument/2006/relationships/slideLayout" Target="../slideLayouts/slideLayout2.xml"/><Relationship Id="rId5" Type="http://schemas.openxmlformats.org/officeDocument/2006/relationships/hyperlink" Target="http://www.medium.com/@keithtse" TargetMode="External"/><Relationship Id="rId4" Type="http://schemas.openxmlformats.org/officeDocument/2006/relationships/hyperlink" Target="http://www.asiatimes.com/author/keith-tse"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asiatimes.com/2018/02/chinese-language-myths-misconception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endangeredlanguagefund.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6FA1D-6877-4238-BED7-BD9F0C88BF2A}"/>
              </a:ext>
            </a:extLst>
          </p:cNvPr>
          <p:cNvSpPr>
            <a:spLocks noGrp="1"/>
          </p:cNvSpPr>
          <p:nvPr>
            <p:ph type="ctrTitle"/>
          </p:nvPr>
        </p:nvSpPr>
        <p:spPr>
          <a:xfrm>
            <a:off x="1523998" y="1252111"/>
            <a:ext cx="9144000" cy="2850748"/>
          </a:xfrm>
        </p:spPr>
        <p:txBody>
          <a:bodyPr>
            <a:normAutofit fontScale="90000"/>
          </a:bodyPr>
          <a:lstStyle/>
          <a:p>
            <a:r>
              <a:rPr lang="en-US" altLang="zh-CN" i="1" dirty="0"/>
              <a:t>Save Cantonese</a:t>
            </a:r>
            <a:r>
              <a:rPr lang="en-US" altLang="zh-CN" dirty="0"/>
              <a:t>: A Project to Preserve Cantonese in the West and A Case of Language Advocacy (Personal and Academic Perspectives)</a:t>
            </a:r>
            <a:endParaRPr lang="en-GB" dirty="0"/>
          </a:p>
        </p:txBody>
      </p:sp>
      <p:sp>
        <p:nvSpPr>
          <p:cNvPr id="3" name="Subtitle 2">
            <a:extLst>
              <a:ext uri="{FF2B5EF4-FFF2-40B4-BE49-F238E27FC236}">
                <a16:creationId xmlns:a16="http://schemas.microsoft.com/office/drawing/2014/main" id="{E6AB616F-6C21-4F4A-B9EE-5E4503A7CCC6}"/>
              </a:ext>
            </a:extLst>
          </p:cNvPr>
          <p:cNvSpPr>
            <a:spLocks noGrp="1"/>
          </p:cNvSpPr>
          <p:nvPr>
            <p:ph type="subTitle" idx="1"/>
          </p:nvPr>
        </p:nvSpPr>
        <p:spPr>
          <a:xfrm>
            <a:off x="1523998" y="4295585"/>
            <a:ext cx="9144000" cy="1846469"/>
          </a:xfrm>
        </p:spPr>
        <p:txBody>
          <a:bodyPr>
            <a:normAutofit fontScale="92500" lnSpcReduction="20000"/>
          </a:bodyPr>
          <a:lstStyle/>
          <a:p>
            <a:r>
              <a:rPr lang="en-GB" dirty="0"/>
              <a:t>Keith Tse (MCIL CL)</a:t>
            </a:r>
          </a:p>
          <a:p>
            <a:r>
              <a:rPr lang="en-GB" dirty="0"/>
              <a:t>Lancaster University/Ronin Institute/IGDORE</a:t>
            </a:r>
          </a:p>
          <a:p>
            <a:r>
              <a:rPr lang="en-GB" dirty="0"/>
              <a:t>keith.tse@ronininstitute.org</a:t>
            </a:r>
          </a:p>
          <a:p>
            <a:r>
              <a:rPr lang="en-GB" dirty="0"/>
              <a:t>Ronin Lightning Talk (</a:t>
            </a:r>
            <a:r>
              <a:rPr lang="en-US" dirty="0"/>
              <a:t>February </a:t>
            </a:r>
            <a:r>
              <a:rPr lang="en-US" altLang="zh-CN" dirty="0"/>
              <a:t>2022)</a:t>
            </a:r>
            <a:endParaRPr lang="en-GB" dirty="0"/>
          </a:p>
          <a:p>
            <a:r>
              <a:rPr lang="en-GB" dirty="0"/>
              <a:t>28</a:t>
            </a:r>
            <a:r>
              <a:rPr lang="en-GB" baseline="30000" dirty="0"/>
              <a:t>th</a:t>
            </a:r>
            <a:r>
              <a:rPr lang="en-GB" dirty="0"/>
              <a:t> February 2022</a:t>
            </a:r>
          </a:p>
        </p:txBody>
      </p:sp>
      <p:sp>
        <p:nvSpPr>
          <p:cNvPr id="5" name="TextBox 4">
            <a:extLst>
              <a:ext uri="{FF2B5EF4-FFF2-40B4-BE49-F238E27FC236}">
                <a16:creationId xmlns:a16="http://schemas.microsoft.com/office/drawing/2014/main" id="{2870B928-1C36-4241-BAA1-479DD5C2816B}"/>
              </a:ext>
            </a:extLst>
          </p:cNvPr>
          <p:cNvSpPr txBox="1"/>
          <p:nvPr/>
        </p:nvSpPr>
        <p:spPr>
          <a:xfrm>
            <a:off x="2478503" y="6142054"/>
            <a:ext cx="7234989" cy="523220"/>
          </a:xfrm>
          <a:prstGeom prst="rect">
            <a:avLst/>
          </a:prstGeom>
          <a:noFill/>
        </p:spPr>
        <p:txBody>
          <a:bodyPr wrap="square">
            <a:spAutoFit/>
          </a:bodyPr>
          <a:lstStyle/>
          <a:p>
            <a:r>
              <a:rPr lang="en-GB" sz="2800" dirty="0"/>
              <a:t>‘I am a human being!’ (</a:t>
            </a:r>
            <a:r>
              <a:rPr lang="en-GB" sz="2800" i="1" dirty="0"/>
              <a:t>The Elephant Man</a:t>
            </a:r>
            <a:r>
              <a:rPr lang="en-GB" sz="2800" dirty="0"/>
              <a:t>)</a:t>
            </a:r>
          </a:p>
        </p:txBody>
      </p:sp>
      <p:pic>
        <p:nvPicPr>
          <p:cNvPr id="6" name="Picture 5">
            <a:extLst>
              <a:ext uri="{FF2B5EF4-FFF2-40B4-BE49-F238E27FC236}">
                <a16:creationId xmlns:a16="http://schemas.microsoft.com/office/drawing/2014/main" id="{839E229E-D044-4504-BD53-3828F1E9E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324" y="4920978"/>
            <a:ext cx="3919676" cy="1221076"/>
          </a:xfrm>
          <a:prstGeom prst="rect">
            <a:avLst/>
          </a:prstGeom>
        </p:spPr>
      </p:pic>
      <p:pic>
        <p:nvPicPr>
          <p:cNvPr id="7" name="Picture 6">
            <a:extLst>
              <a:ext uri="{FF2B5EF4-FFF2-40B4-BE49-F238E27FC236}">
                <a16:creationId xmlns:a16="http://schemas.microsoft.com/office/drawing/2014/main" id="{4780C098-58BE-4B3E-915C-9EDD55452D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 y="4406719"/>
            <a:ext cx="2383891" cy="2249594"/>
          </a:xfrm>
          <a:prstGeom prst="rect">
            <a:avLst/>
          </a:prstGeom>
        </p:spPr>
      </p:pic>
    </p:spTree>
    <p:extLst>
      <p:ext uri="{BB962C8B-B14F-4D97-AF65-F5344CB8AC3E}">
        <p14:creationId xmlns:p14="http://schemas.microsoft.com/office/powerpoint/2010/main" val="118146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AADE-95A5-4393-84C9-40E0F4452803}"/>
              </a:ext>
            </a:extLst>
          </p:cNvPr>
          <p:cNvSpPr>
            <a:spLocks noGrp="1"/>
          </p:cNvSpPr>
          <p:nvPr>
            <p:ph type="title"/>
          </p:nvPr>
        </p:nvSpPr>
        <p:spPr>
          <a:xfrm>
            <a:off x="838200" y="18255"/>
            <a:ext cx="10515600" cy="1325563"/>
          </a:xfrm>
        </p:spPr>
        <p:txBody>
          <a:bodyPr/>
          <a:lstStyle/>
          <a:p>
            <a:r>
              <a:rPr lang="en-GB" dirty="0"/>
              <a:t>How it all began and how is it going? </a:t>
            </a:r>
            <a:br>
              <a:rPr lang="en-GB" dirty="0"/>
            </a:br>
            <a:r>
              <a:rPr lang="en-GB" dirty="0"/>
              <a:t>Brief timeline: </a:t>
            </a:r>
          </a:p>
        </p:txBody>
      </p:sp>
      <p:sp>
        <p:nvSpPr>
          <p:cNvPr id="3" name="Content Placeholder 2">
            <a:extLst>
              <a:ext uri="{FF2B5EF4-FFF2-40B4-BE49-F238E27FC236}">
                <a16:creationId xmlns:a16="http://schemas.microsoft.com/office/drawing/2014/main" id="{4457EBF2-2EEC-45DC-901D-9DFF30F7E58C}"/>
              </a:ext>
            </a:extLst>
          </p:cNvPr>
          <p:cNvSpPr>
            <a:spLocks noGrp="1"/>
          </p:cNvSpPr>
          <p:nvPr>
            <p:ph idx="1"/>
          </p:nvPr>
        </p:nvSpPr>
        <p:spPr>
          <a:xfrm>
            <a:off x="838093" y="1262376"/>
            <a:ext cx="10515600" cy="4351338"/>
          </a:xfrm>
        </p:spPr>
        <p:txBody>
          <a:bodyPr>
            <a:normAutofit/>
          </a:bodyPr>
          <a:lstStyle/>
          <a:p>
            <a:pPr marL="0" indent="0">
              <a:buNone/>
            </a:pPr>
            <a:r>
              <a:rPr lang="en-GB" sz="2400" dirty="0"/>
              <a:t>(July 2020) Stanford University’s termination of the contract/full-time position of their Cantonese language instructor (Dr </a:t>
            </a:r>
            <a:r>
              <a:rPr lang="en-GB" sz="2400" dirty="0" err="1"/>
              <a:t>Sik</a:t>
            </a:r>
            <a:r>
              <a:rPr lang="en-GB" sz="2400" dirty="0"/>
              <a:t> Lee </a:t>
            </a:r>
            <a:r>
              <a:rPr lang="en-GB" sz="2400" dirty="0" err="1"/>
              <a:t>Dennig</a:t>
            </a:r>
            <a:r>
              <a:rPr lang="en-GB" sz="2400" dirty="0"/>
              <a:t> / </a:t>
            </a:r>
            <a:r>
              <a:rPr lang="zh-CN" altLang="en-US" sz="2400" dirty="0"/>
              <a:t>張</a:t>
            </a:r>
            <a:r>
              <a:rPr lang="zh-CN" altLang="en-US" sz="2400" i="0" dirty="0">
                <a:effectLst/>
                <a:ea typeface="PMingLiU" panose="02020500000000000000" pitchFamily="18" charset="-120"/>
              </a:rPr>
              <a:t>錫莉 </a:t>
            </a:r>
            <a:r>
              <a:rPr lang="en-GB" altLang="zh-CN" sz="2400" i="1" dirty="0" err="1">
                <a:ea typeface="PMingLiU" panose="02020500000000000000" pitchFamily="18" charset="-120"/>
              </a:rPr>
              <a:t>z</a:t>
            </a:r>
            <a:r>
              <a:rPr lang="en-GB" altLang="zh-CN" sz="2400" i="1" dirty="0" err="1">
                <a:effectLst/>
                <a:ea typeface="PMingLiU" panose="02020500000000000000" pitchFamily="18" charset="-120"/>
              </a:rPr>
              <a:t>eong</a:t>
            </a:r>
            <a:r>
              <a:rPr lang="en-GB" altLang="zh-CN" sz="2400" i="1" dirty="0">
                <a:effectLst/>
                <a:ea typeface="PMingLiU" panose="02020500000000000000" pitchFamily="18" charset="-120"/>
              </a:rPr>
              <a:t> </a:t>
            </a:r>
            <a:r>
              <a:rPr lang="en-GB" altLang="zh-CN" sz="2400" i="1" dirty="0" err="1">
                <a:effectLst/>
                <a:ea typeface="PMingLiU" panose="02020500000000000000" pitchFamily="18" charset="-120"/>
              </a:rPr>
              <a:t>sik</a:t>
            </a:r>
            <a:r>
              <a:rPr lang="en-GB" altLang="zh-CN" sz="2400" i="1" dirty="0">
                <a:effectLst/>
                <a:ea typeface="PMingLiU" panose="02020500000000000000" pitchFamily="18" charset="-120"/>
              </a:rPr>
              <a:t> lei </a:t>
            </a:r>
            <a:r>
              <a:rPr lang="en-GB" altLang="zh-CN" sz="2400" i="1" dirty="0" err="1">
                <a:effectLst/>
                <a:ea typeface="PMingLiU" panose="02020500000000000000" pitchFamily="18" charset="-120"/>
              </a:rPr>
              <a:t>lousi</a:t>
            </a:r>
            <a:r>
              <a:rPr lang="en-GB" altLang="zh-CN" sz="2400" i="1" dirty="0">
                <a:effectLst/>
                <a:ea typeface="PMingLiU" panose="02020500000000000000" pitchFamily="18" charset="-120"/>
              </a:rPr>
              <a:t> </a:t>
            </a:r>
            <a:r>
              <a:rPr lang="en-GB" altLang="zh-CN" sz="2400" i="0" dirty="0">
                <a:effectLst/>
                <a:ea typeface="PMingLiU" panose="02020500000000000000" pitchFamily="18" charset="-120"/>
              </a:rPr>
              <a:t>(literally ‘Teacher Cheung </a:t>
            </a:r>
            <a:r>
              <a:rPr lang="en-GB" altLang="zh-CN" sz="2400" i="0" dirty="0" err="1">
                <a:effectLst/>
                <a:ea typeface="PMingLiU" panose="02020500000000000000" pitchFamily="18" charset="-120"/>
              </a:rPr>
              <a:t>Sik</a:t>
            </a:r>
            <a:r>
              <a:rPr lang="en-GB" altLang="zh-CN" sz="2400" i="0" dirty="0">
                <a:effectLst/>
                <a:ea typeface="PMingLiU" panose="02020500000000000000" pitchFamily="18" charset="-120"/>
              </a:rPr>
              <a:t> Lei’ (her Chinese name))</a:t>
            </a:r>
            <a:endParaRPr lang="zh-CN" altLang="en-US" sz="2400" i="0" dirty="0">
              <a:effectLst/>
              <a:ea typeface="PMingLiU" panose="02020500000000000000" pitchFamily="18" charset="-120"/>
            </a:endParaRPr>
          </a:p>
        </p:txBody>
      </p:sp>
      <p:sp>
        <p:nvSpPr>
          <p:cNvPr id="4" name="Content Placeholder 2">
            <a:extLst>
              <a:ext uri="{FF2B5EF4-FFF2-40B4-BE49-F238E27FC236}">
                <a16:creationId xmlns:a16="http://schemas.microsoft.com/office/drawing/2014/main" id="{DFF202B7-0BC1-411C-8883-460EF50F488B}"/>
              </a:ext>
            </a:extLst>
          </p:cNvPr>
          <p:cNvSpPr txBox="1">
            <a:spLocks/>
          </p:cNvSpPr>
          <p:nvPr/>
        </p:nvSpPr>
        <p:spPr>
          <a:xfrm>
            <a:off x="837878" y="229283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t>(October 2020) </a:t>
            </a:r>
            <a:r>
              <a:rPr lang="en-GB" sz="2400" i="1" dirty="0"/>
              <a:t>Save Cantonese at Stanford: </a:t>
            </a:r>
            <a:r>
              <a:rPr lang="en-GB" sz="2400" dirty="0"/>
              <a:t>petition to ask Stanford to reverse the decision (4000+ signatures from signatories both within and beyond Stanford), testimonials (former students of Dr </a:t>
            </a:r>
            <a:r>
              <a:rPr lang="en-GB" sz="2400" dirty="0" err="1"/>
              <a:t>Dennig</a:t>
            </a:r>
            <a:r>
              <a:rPr lang="en-GB" sz="2400" dirty="0"/>
              <a:t>))</a:t>
            </a:r>
          </a:p>
          <a:p>
            <a:pPr marL="0" indent="0">
              <a:buFont typeface="Arial" panose="020B0604020202020204" pitchFamily="34" charset="0"/>
              <a:buNone/>
            </a:pPr>
            <a:endParaRPr lang="en-US" altLang="zh-CN" sz="2400" dirty="0"/>
          </a:p>
        </p:txBody>
      </p:sp>
      <p:sp>
        <p:nvSpPr>
          <p:cNvPr id="5" name="TextBox 4">
            <a:extLst>
              <a:ext uri="{FF2B5EF4-FFF2-40B4-BE49-F238E27FC236}">
                <a16:creationId xmlns:a16="http://schemas.microsoft.com/office/drawing/2014/main" id="{D23F9275-53B2-4EB7-A58B-3A436437BA56}"/>
              </a:ext>
            </a:extLst>
          </p:cNvPr>
          <p:cNvSpPr txBox="1"/>
          <p:nvPr/>
        </p:nvSpPr>
        <p:spPr>
          <a:xfrm>
            <a:off x="838142" y="6044012"/>
            <a:ext cx="10776284" cy="1200329"/>
          </a:xfrm>
          <a:prstGeom prst="rect">
            <a:avLst/>
          </a:prstGeom>
          <a:noFill/>
        </p:spPr>
        <p:txBody>
          <a:bodyPr wrap="square">
            <a:spAutoFit/>
          </a:bodyPr>
          <a:lstStyle/>
          <a:p>
            <a:r>
              <a:rPr lang="en-GB" sz="2400" dirty="0">
                <a:hlinkClick r:id="rId2"/>
              </a:rPr>
              <a:t>https://www.savecantonese.org/</a:t>
            </a:r>
            <a:r>
              <a:rPr lang="en-GB" sz="2400" dirty="0"/>
              <a:t> </a:t>
            </a:r>
          </a:p>
          <a:p>
            <a:r>
              <a:rPr lang="en-GB" sz="2400" dirty="0">
                <a:hlinkClick r:id="rId3"/>
              </a:rPr>
              <a:t>https://tinyurl.com/savecantonese</a:t>
            </a:r>
            <a:endParaRPr lang="en-GB" sz="2400" dirty="0"/>
          </a:p>
          <a:p>
            <a:endParaRPr lang="en-GB" sz="2400" dirty="0"/>
          </a:p>
        </p:txBody>
      </p:sp>
      <p:sp>
        <p:nvSpPr>
          <p:cNvPr id="7" name="TextBox 6">
            <a:extLst>
              <a:ext uri="{FF2B5EF4-FFF2-40B4-BE49-F238E27FC236}">
                <a16:creationId xmlns:a16="http://schemas.microsoft.com/office/drawing/2014/main" id="{0875518B-EB23-49CD-84C6-0F1F11382C27}"/>
              </a:ext>
            </a:extLst>
          </p:cNvPr>
          <p:cNvSpPr txBox="1"/>
          <p:nvPr/>
        </p:nvSpPr>
        <p:spPr>
          <a:xfrm>
            <a:off x="837353" y="3989366"/>
            <a:ext cx="10515600" cy="461665"/>
          </a:xfrm>
          <a:prstGeom prst="rect">
            <a:avLst/>
          </a:prstGeom>
          <a:noFill/>
        </p:spPr>
        <p:txBody>
          <a:bodyPr wrap="square">
            <a:spAutoFit/>
          </a:bodyPr>
          <a:lstStyle/>
          <a:p>
            <a:r>
              <a:rPr lang="en-GB" sz="2400" dirty="0"/>
              <a:t>(May 2021) </a:t>
            </a:r>
            <a:r>
              <a:rPr lang="en-GB" sz="2400" i="1" dirty="0"/>
              <a:t>Save Cantonese at CCSF </a:t>
            </a:r>
            <a:r>
              <a:rPr lang="en-GB" sz="2400" dirty="0"/>
              <a:t>(City College San Francisco)</a:t>
            </a:r>
          </a:p>
        </p:txBody>
      </p:sp>
      <p:sp>
        <p:nvSpPr>
          <p:cNvPr id="9" name="TextBox 8">
            <a:extLst>
              <a:ext uri="{FF2B5EF4-FFF2-40B4-BE49-F238E27FC236}">
                <a16:creationId xmlns:a16="http://schemas.microsoft.com/office/drawing/2014/main" id="{8B7E758C-11E2-44DE-AD8D-7DDB8DDBD3AA}"/>
              </a:ext>
            </a:extLst>
          </p:cNvPr>
          <p:cNvSpPr txBox="1"/>
          <p:nvPr/>
        </p:nvSpPr>
        <p:spPr>
          <a:xfrm>
            <a:off x="838141" y="5237939"/>
            <a:ext cx="10515599" cy="830997"/>
          </a:xfrm>
          <a:prstGeom prst="rect">
            <a:avLst/>
          </a:prstGeom>
          <a:noFill/>
        </p:spPr>
        <p:txBody>
          <a:bodyPr wrap="square">
            <a:spAutoFit/>
          </a:bodyPr>
          <a:lstStyle/>
          <a:p>
            <a:r>
              <a:rPr lang="en-GB" sz="2400" i="1" dirty="0"/>
              <a:t>Save Cantonese </a:t>
            </a:r>
            <a:r>
              <a:rPr lang="en-GB" sz="2400" dirty="0"/>
              <a:t>(renamed and rebranded: new logo introduced last month (21</a:t>
            </a:r>
            <a:r>
              <a:rPr lang="en-GB" sz="2400" baseline="30000" dirty="0"/>
              <a:t>st</a:t>
            </a:r>
            <a:r>
              <a:rPr lang="en-GB" sz="2400" dirty="0"/>
              <a:t> January 2022))): </a:t>
            </a:r>
            <a:r>
              <a:rPr lang="en-GB" sz="2400" dirty="0">
                <a:hlinkClick r:id="rId4"/>
              </a:rPr>
              <a:t>www.twitter.com/savecantonese</a:t>
            </a:r>
            <a:r>
              <a:rPr lang="en-GB" sz="2400" dirty="0"/>
              <a:t> </a:t>
            </a:r>
            <a:r>
              <a:rPr lang="en-GB" sz="2400" i="1" dirty="0"/>
              <a:t> </a:t>
            </a:r>
          </a:p>
        </p:txBody>
      </p:sp>
      <p:sp>
        <p:nvSpPr>
          <p:cNvPr id="11" name="TextBox 10">
            <a:extLst>
              <a:ext uri="{FF2B5EF4-FFF2-40B4-BE49-F238E27FC236}">
                <a16:creationId xmlns:a16="http://schemas.microsoft.com/office/drawing/2014/main" id="{AA7EC7E4-00BF-4E86-B860-C344B2361FC0}"/>
              </a:ext>
            </a:extLst>
          </p:cNvPr>
          <p:cNvSpPr txBox="1"/>
          <p:nvPr/>
        </p:nvSpPr>
        <p:spPr>
          <a:xfrm>
            <a:off x="838142" y="4478194"/>
            <a:ext cx="10776284" cy="830997"/>
          </a:xfrm>
          <a:prstGeom prst="rect">
            <a:avLst/>
          </a:prstGeom>
          <a:noFill/>
        </p:spPr>
        <p:txBody>
          <a:bodyPr wrap="square">
            <a:spAutoFit/>
          </a:bodyPr>
          <a:lstStyle/>
          <a:p>
            <a:r>
              <a:rPr lang="en-GB" sz="2400" dirty="0"/>
              <a:t>(January 2022) Board Meeting with CCSF; Endowment ($1M) from S. J. </a:t>
            </a:r>
            <a:r>
              <a:rPr lang="en-US" sz="2400" dirty="0"/>
              <a:t>Distributors to support Cantonese course at Stanford</a:t>
            </a:r>
            <a:r>
              <a:rPr lang="en-GB" sz="2400" dirty="0"/>
              <a:t>  </a:t>
            </a:r>
          </a:p>
        </p:txBody>
      </p:sp>
      <p:sp>
        <p:nvSpPr>
          <p:cNvPr id="13" name="TextBox 12">
            <a:extLst>
              <a:ext uri="{FF2B5EF4-FFF2-40B4-BE49-F238E27FC236}">
                <a16:creationId xmlns:a16="http://schemas.microsoft.com/office/drawing/2014/main" id="{E6D51C5A-CD42-4670-8DEC-07FEF2A12EAD}"/>
              </a:ext>
            </a:extLst>
          </p:cNvPr>
          <p:cNvSpPr txBox="1"/>
          <p:nvPr/>
        </p:nvSpPr>
        <p:spPr>
          <a:xfrm>
            <a:off x="836828" y="3253743"/>
            <a:ext cx="10515599" cy="830997"/>
          </a:xfrm>
          <a:prstGeom prst="rect">
            <a:avLst/>
          </a:prstGeom>
          <a:noFill/>
        </p:spPr>
        <p:txBody>
          <a:bodyPr wrap="square">
            <a:spAutoFit/>
          </a:bodyPr>
          <a:lstStyle/>
          <a:p>
            <a:r>
              <a:rPr lang="en-GB" sz="2400" dirty="0"/>
              <a:t>(Around the same time) Social Media channels (Facebook, Twitter, Instagram, website (@savecantonese))</a:t>
            </a:r>
          </a:p>
        </p:txBody>
      </p:sp>
    </p:spTree>
    <p:extLst>
      <p:ext uri="{BB962C8B-B14F-4D97-AF65-F5344CB8AC3E}">
        <p14:creationId xmlns:p14="http://schemas.microsoft.com/office/powerpoint/2010/main" val="381156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P spid="9" grpId="0"/>
      <p:bldP spid="11"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36FD-7B82-4C35-B286-13F321B51ED3}"/>
              </a:ext>
            </a:extLst>
          </p:cNvPr>
          <p:cNvSpPr>
            <a:spLocks noGrp="1"/>
          </p:cNvSpPr>
          <p:nvPr>
            <p:ph type="title"/>
          </p:nvPr>
        </p:nvSpPr>
        <p:spPr>
          <a:xfrm>
            <a:off x="838200" y="18255"/>
            <a:ext cx="10515600" cy="938605"/>
          </a:xfrm>
        </p:spPr>
        <p:txBody>
          <a:bodyPr/>
          <a:lstStyle/>
          <a:p>
            <a:r>
              <a:rPr lang="en-GB" dirty="0"/>
              <a:t>How it all began and how is it going (for me)? </a:t>
            </a:r>
          </a:p>
        </p:txBody>
      </p:sp>
      <p:sp>
        <p:nvSpPr>
          <p:cNvPr id="3" name="Content Placeholder 2">
            <a:extLst>
              <a:ext uri="{FF2B5EF4-FFF2-40B4-BE49-F238E27FC236}">
                <a16:creationId xmlns:a16="http://schemas.microsoft.com/office/drawing/2014/main" id="{CE09A43B-E6B0-4978-915E-9AC379E49334}"/>
              </a:ext>
            </a:extLst>
          </p:cNvPr>
          <p:cNvSpPr>
            <a:spLocks noGrp="1"/>
          </p:cNvSpPr>
          <p:nvPr>
            <p:ph idx="1"/>
          </p:nvPr>
        </p:nvSpPr>
        <p:spPr>
          <a:xfrm>
            <a:off x="838200" y="956860"/>
            <a:ext cx="11353800" cy="4351338"/>
          </a:xfrm>
        </p:spPr>
        <p:txBody>
          <a:bodyPr>
            <a:normAutofit/>
          </a:bodyPr>
          <a:lstStyle/>
          <a:p>
            <a:pPr marL="0" indent="0">
              <a:buNone/>
            </a:pPr>
            <a:r>
              <a:rPr lang="en-GB" sz="2400" dirty="0"/>
              <a:t>I joined </a:t>
            </a:r>
            <a:r>
              <a:rPr lang="en-GB" sz="2400" i="1" dirty="0"/>
              <a:t>Save Cantonese at Stanford </a:t>
            </a:r>
            <a:r>
              <a:rPr lang="en-GB" sz="2400" dirty="0"/>
              <a:t>on 7</a:t>
            </a:r>
            <a:r>
              <a:rPr lang="en-GB" sz="2400" baseline="30000" dirty="0"/>
              <a:t>th</a:t>
            </a:r>
            <a:r>
              <a:rPr lang="en-GB" sz="2400" dirty="0"/>
              <a:t> January 2021 (date of joining their Slack space) after signing petition on social media (Facebook)</a:t>
            </a:r>
          </a:p>
        </p:txBody>
      </p:sp>
      <p:sp>
        <p:nvSpPr>
          <p:cNvPr id="4" name="Content Placeholder 2">
            <a:extLst>
              <a:ext uri="{FF2B5EF4-FFF2-40B4-BE49-F238E27FC236}">
                <a16:creationId xmlns:a16="http://schemas.microsoft.com/office/drawing/2014/main" id="{98AB9081-092F-45CD-A6CD-B9F40C3CD8F2}"/>
              </a:ext>
            </a:extLst>
          </p:cNvPr>
          <p:cNvSpPr txBox="1">
            <a:spLocks/>
          </p:cNvSpPr>
          <p:nvPr/>
        </p:nvSpPr>
        <p:spPr>
          <a:xfrm>
            <a:off x="838200" y="3132529"/>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dirty="0"/>
              <a:t>Opinion article on Asia Times Online (‘Importance of teaching Cantonese at US universities’) and Cantonese blog </a:t>
            </a:r>
            <a:r>
              <a:rPr lang="zh-CN" altLang="en-US" sz="2400" dirty="0"/>
              <a:t>港語學 </a:t>
            </a:r>
            <a:r>
              <a:rPr lang="en-GB" altLang="zh-CN" sz="2400" dirty="0"/>
              <a:t>(</a:t>
            </a:r>
            <a:r>
              <a:rPr lang="en-GB" altLang="zh-CN" sz="2400" i="1" dirty="0" err="1"/>
              <a:t>gongjyuhok</a:t>
            </a:r>
            <a:r>
              <a:rPr lang="en-GB" altLang="zh-CN" sz="2400" dirty="0"/>
              <a:t>) (‘</a:t>
            </a:r>
            <a:r>
              <a:rPr lang="zh-CN" altLang="en-US" sz="2400" dirty="0"/>
              <a:t>保衛海外粵語</a:t>
            </a:r>
            <a:r>
              <a:rPr lang="en-GB" altLang="zh-CN" sz="2400" dirty="0"/>
              <a:t>’ ‘Preserve overseas Cantonese’)</a:t>
            </a:r>
            <a:endParaRPr lang="en-US" altLang="zh-CN" sz="2400" dirty="0"/>
          </a:p>
          <a:p>
            <a:pPr marL="0" indent="0">
              <a:buFont typeface="Arial" panose="020B0604020202020204" pitchFamily="34" charset="0"/>
              <a:buNone/>
            </a:pPr>
            <a:r>
              <a:rPr lang="en-US" altLang="zh-CN" sz="2400" dirty="0">
                <a:hlinkClick r:id="rId2"/>
              </a:rPr>
              <a:t>https://asiatimes.com/2021/04/importance-of-teaching-cantonese-at-us-universities/</a:t>
            </a:r>
            <a:r>
              <a:rPr lang="en-US" altLang="zh-CN" sz="2400" dirty="0"/>
              <a:t> </a:t>
            </a:r>
          </a:p>
          <a:p>
            <a:pPr marL="0" indent="0">
              <a:buFont typeface="Arial" panose="020B0604020202020204" pitchFamily="34" charset="0"/>
              <a:buNone/>
            </a:pPr>
            <a:r>
              <a:rPr lang="en-US" altLang="zh-CN" sz="2400" dirty="0"/>
              <a:t>(6</a:t>
            </a:r>
            <a:r>
              <a:rPr lang="en-US" altLang="zh-CN" sz="2400" baseline="30000" dirty="0"/>
              <a:t>th</a:t>
            </a:r>
            <a:r>
              <a:rPr lang="en-US" altLang="zh-CN" sz="2400" dirty="0"/>
              <a:t> April 2021)</a:t>
            </a:r>
          </a:p>
          <a:p>
            <a:pPr marL="0" indent="0">
              <a:buFont typeface="Arial" panose="020B0604020202020204" pitchFamily="34" charset="0"/>
              <a:buNone/>
            </a:pPr>
            <a:r>
              <a:rPr lang="en-US" altLang="zh-CN" sz="2400" dirty="0">
                <a:hlinkClick r:id="rId3"/>
              </a:rPr>
              <a:t>https://gongjyuhok.hk/articles/9864</a:t>
            </a:r>
            <a:r>
              <a:rPr lang="en-US" altLang="zh-CN" sz="2400" dirty="0"/>
              <a:t> (24th December 2021)</a:t>
            </a:r>
          </a:p>
        </p:txBody>
      </p:sp>
      <p:sp>
        <p:nvSpPr>
          <p:cNvPr id="5" name="Content Placeholder 2">
            <a:extLst>
              <a:ext uri="{FF2B5EF4-FFF2-40B4-BE49-F238E27FC236}">
                <a16:creationId xmlns:a16="http://schemas.microsoft.com/office/drawing/2014/main" id="{5B5EF153-0171-4CA6-99F3-0CAC9B91A576}"/>
              </a:ext>
            </a:extLst>
          </p:cNvPr>
          <p:cNvSpPr txBox="1">
            <a:spLocks/>
          </p:cNvSpPr>
          <p:nvPr/>
        </p:nvSpPr>
        <p:spPr>
          <a:xfrm>
            <a:off x="838198" y="166427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Personal: Hong Kong (where I am from) where Cantonese is the predominant language variety </a:t>
            </a:r>
          </a:p>
          <a:p>
            <a:pPr marL="0" indent="0">
              <a:buFont typeface="Arial" panose="020B0604020202020204" pitchFamily="34" charset="0"/>
              <a:buNone/>
            </a:pPr>
            <a:endParaRPr lang="en-GB" sz="2400" dirty="0"/>
          </a:p>
        </p:txBody>
      </p:sp>
      <p:sp>
        <p:nvSpPr>
          <p:cNvPr id="6" name="Content Placeholder 2">
            <a:extLst>
              <a:ext uri="{FF2B5EF4-FFF2-40B4-BE49-F238E27FC236}">
                <a16:creationId xmlns:a16="http://schemas.microsoft.com/office/drawing/2014/main" id="{60F008BB-ECA2-46A2-ADAA-C1003BE709E2}"/>
              </a:ext>
            </a:extLst>
          </p:cNvPr>
          <p:cNvSpPr txBox="1">
            <a:spLocks/>
          </p:cNvSpPr>
          <p:nvPr/>
        </p:nvSpPr>
        <p:spPr>
          <a:xfrm>
            <a:off x="838198" y="237169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Academic: Chinese linguistics (formal study of Chinese syntax, </a:t>
            </a:r>
            <a:r>
              <a:rPr lang="en-GB" sz="2400" dirty="0" err="1"/>
              <a:t>esp</a:t>
            </a:r>
            <a:r>
              <a:rPr lang="en-GB" sz="2400" dirty="0"/>
              <a:t> microvariation between and among Chinese dialects)</a:t>
            </a:r>
            <a:endParaRPr lang="en-US" altLang="zh-CN" sz="2400" dirty="0"/>
          </a:p>
        </p:txBody>
      </p:sp>
      <p:sp>
        <p:nvSpPr>
          <p:cNvPr id="7" name="Content Placeholder 2">
            <a:extLst>
              <a:ext uri="{FF2B5EF4-FFF2-40B4-BE49-F238E27FC236}">
                <a16:creationId xmlns:a16="http://schemas.microsoft.com/office/drawing/2014/main" id="{75847E8E-0143-4735-BDE8-E770A62E50D0}"/>
              </a:ext>
            </a:extLst>
          </p:cNvPr>
          <p:cNvSpPr txBox="1">
            <a:spLocks/>
          </p:cNvSpPr>
          <p:nvPr/>
        </p:nvSpPr>
        <p:spPr>
          <a:xfrm>
            <a:off x="838194" y="6359976"/>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dirty="0"/>
              <a:t>Online writings (blogs/Op-ed’s) for linguistic analysis and language advocacy</a:t>
            </a:r>
          </a:p>
        </p:txBody>
      </p:sp>
      <p:sp>
        <p:nvSpPr>
          <p:cNvPr id="9" name="TextBox 8">
            <a:extLst>
              <a:ext uri="{FF2B5EF4-FFF2-40B4-BE49-F238E27FC236}">
                <a16:creationId xmlns:a16="http://schemas.microsoft.com/office/drawing/2014/main" id="{FD1F85E7-2EDE-4E67-81A1-9D80B33DDF0D}"/>
              </a:ext>
            </a:extLst>
          </p:cNvPr>
          <p:cNvSpPr txBox="1"/>
          <p:nvPr/>
        </p:nvSpPr>
        <p:spPr>
          <a:xfrm>
            <a:off x="838188" y="5461973"/>
            <a:ext cx="11353800" cy="1569660"/>
          </a:xfrm>
          <a:prstGeom prst="rect">
            <a:avLst/>
          </a:prstGeom>
          <a:noFill/>
        </p:spPr>
        <p:txBody>
          <a:bodyPr wrap="square">
            <a:spAutoFit/>
          </a:bodyPr>
          <a:lstStyle/>
          <a:p>
            <a:r>
              <a:rPr lang="en-GB" sz="2400" dirty="0"/>
              <a:t>Asia Times Op-ed’s on Chinese sociolinguistics (</a:t>
            </a:r>
            <a:r>
              <a:rPr lang="en-GB" sz="2400" dirty="0">
                <a:hlinkClick r:id="rId4"/>
              </a:rPr>
              <a:t>www.asiatimes.com/author/keith-tse</a:t>
            </a:r>
            <a:r>
              <a:rPr lang="en-GB" sz="2400" dirty="0"/>
              <a:t>)</a:t>
            </a:r>
          </a:p>
          <a:p>
            <a:r>
              <a:rPr lang="en-GB" sz="2400" dirty="0"/>
              <a:t>Various blogs and online writings (</a:t>
            </a:r>
            <a:r>
              <a:rPr lang="en-GB" sz="2400" dirty="0">
                <a:hlinkClick r:id="rId5"/>
              </a:rPr>
              <a:t>www.medium.com/@keithtse</a:t>
            </a:r>
            <a:r>
              <a:rPr lang="en-GB" sz="2400" dirty="0"/>
              <a:t>)</a:t>
            </a:r>
          </a:p>
          <a:p>
            <a:endParaRPr lang="en-GB" sz="2400" dirty="0"/>
          </a:p>
          <a:p>
            <a:endParaRPr lang="en-GB" sz="2400" dirty="0"/>
          </a:p>
        </p:txBody>
      </p:sp>
    </p:spTree>
    <p:extLst>
      <p:ext uri="{BB962C8B-B14F-4D97-AF65-F5344CB8AC3E}">
        <p14:creationId xmlns:p14="http://schemas.microsoft.com/office/powerpoint/2010/main" val="423533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84E2-64CF-4039-A83F-03E2B1BC016F}"/>
              </a:ext>
            </a:extLst>
          </p:cNvPr>
          <p:cNvSpPr>
            <a:spLocks noGrp="1"/>
          </p:cNvSpPr>
          <p:nvPr>
            <p:ph type="title"/>
          </p:nvPr>
        </p:nvSpPr>
        <p:spPr>
          <a:xfrm>
            <a:off x="838200" y="18256"/>
            <a:ext cx="10515600" cy="1235076"/>
          </a:xfrm>
        </p:spPr>
        <p:txBody>
          <a:bodyPr/>
          <a:lstStyle/>
          <a:p>
            <a:r>
              <a:rPr lang="en-GB" dirty="0"/>
              <a:t>Sociolinguistic background: Chinese dialects</a:t>
            </a:r>
          </a:p>
        </p:txBody>
      </p:sp>
      <p:sp>
        <p:nvSpPr>
          <p:cNvPr id="3" name="Content Placeholder 2">
            <a:extLst>
              <a:ext uri="{FF2B5EF4-FFF2-40B4-BE49-F238E27FC236}">
                <a16:creationId xmlns:a16="http://schemas.microsoft.com/office/drawing/2014/main" id="{48751235-D5E8-41B7-B846-EA2AC71198A0}"/>
              </a:ext>
            </a:extLst>
          </p:cNvPr>
          <p:cNvSpPr>
            <a:spLocks noGrp="1"/>
          </p:cNvSpPr>
          <p:nvPr>
            <p:ph idx="1"/>
          </p:nvPr>
        </p:nvSpPr>
        <p:spPr>
          <a:xfrm>
            <a:off x="874294" y="2968766"/>
            <a:ext cx="10515600" cy="4351338"/>
          </a:xfrm>
        </p:spPr>
        <p:txBody>
          <a:bodyPr>
            <a:normAutofit/>
          </a:bodyPr>
          <a:lstStyle/>
          <a:p>
            <a:pPr marL="0" indent="0">
              <a:buNone/>
            </a:pPr>
            <a:r>
              <a:rPr lang="en-GB" sz="2400" dirty="0"/>
              <a:t>Dialects (</a:t>
            </a:r>
            <a:r>
              <a:rPr lang="zh-CN" altLang="en-US" sz="2400" dirty="0"/>
              <a:t>方言 </a:t>
            </a:r>
            <a:r>
              <a:rPr lang="en-GB" altLang="zh-CN" sz="2400" i="1" dirty="0" err="1"/>
              <a:t>fangyan</a:t>
            </a:r>
            <a:r>
              <a:rPr lang="en-GB" altLang="zh-CN" sz="2400" dirty="0"/>
              <a:t>): </a:t>
            </a:r>
            <a:r>
              <a:rPr lang="en-GB" sz="2400" dirty="0"/>
              <a:t>Topolect (regional variety i.e. language of the place)</a:t>
            </a:r>
          </a:p>
          <a:p>
            <a:pPr marL="0" indent="0">
              <a:buNone/>
            </a:pPr>
            <a:r>
              <a:rPr lang="en-GB" altLang="zh-CN" sz="2400" dirty="0"/>
              <a:t> </a:t>
            </a:r>
            <a:endParaRPr lang="en-GB" sz="2400" dirty="0"/>
          </a:p>
        </p:txBody>
      </p:sp>
      <p:sp>
        <p:nvSpPr>
          <p:cNvPr id="5" name="Content Placeholder 2">
            <a:extLst>
              <a:ext uri="{FF2B5EF4-FFF2-40B4-BE49-F238E27FC236}">
                <a16:creationId xmlns:a16="http://schemas.microsoft.com/office/drawing/2014/main" id="{27E16C4A-5B16-4FC3-B3D6-FAE477601B24}"/>
              </a:ext>
            </a:extLst>
          </p:cNvPr>
          <p:cNvSpPr txBox="1">
            <a:spLocks/>
          </p:cNvSpPr>
          <p:nvPr/>
        </p:nvSpPr>
        <p:spPr>
          <a:xfrm>
            <a:off x="874294" y="9032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Common misconception of Chinese: Mandarin vs Cantonese</a:t>
            </a:r>
          </a:p>
        </p:txBody>
      </p:sp>
      <p:sp>
        <p:nvSpPr>
          <p:cNvPr id="6" name="Content Placeholder 2">
            <a:extLst>
              <a:ext uri="{FF2B5EF4-FFF2-40B4-BE49-F238E27FC236}">
                <a16:creationId xmlns:a16="http://schemas.microsoft.com/office/drawing/2014/main" id="{7F32F918-2054-4451-AB75-A6C2C2914652}"/>
              </a:ext>
            </a:extLst>
          </p:cNvPr>
          <p:cNvSpPr txBox="1">
            <a:spLocks/>
          </p:cNvSpPr>
          <p:nvPr/>
        </p:nvSpPr>
        <p:spPr>
          <a:xfrm>
            <a:off x="838200" y="12533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‘Do you speak Mandarin or Cantonese?’ (Chinese learner/speaker)</a:t>
            </a:r>
          </a:p>
        </p:txBody>
      </p:sp>
      <p:sp>
        <p:nvSpPr>
          <p:cNvPr id="7" name="Content Placeholder 2">
            <a:extLst>
              <a:ext uri="{FF2B5EF4-FFF2-40B4-BE49-F238E27FC236}">
                <a16:creationId xmlns:a16="http://schemas.microsoft.com/office/drawing/2014/main" id="{E527CC09-029D-4C33-888E-4E5C8D4FA2A8}"/>
              </a:ext>
            </a:extLst>
          </p:cNvPr>
          <p:cNvSpPr txBox="1">
            <a:spLocks/>
          </p:cNvSpPr>
          <p:nvPr/>
        </p:nvSpPr>
        <p:spPr>
          <a:xfrm>
            <a:off x="838200" y="335215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a:t>Sinosphere</a:t>
            </a:r>
            <a:r>
              <a:rPr lang="en-GB" sz="2400" dirty="0"/>
              <a:t> (China and beyond) -&gt; hundreds of thousands of (sub)dialects</a:t>
            </a:r>
          </a:p>
        </p:txBody>
      </p:sp>
      <p:sp>
        <p:nvSpPr>
          <p:cNvPr id="8" name="Content Placeholder 2">
            <a:extLst>
              <a:ext uri="{FF2B5EF4-FFF2-40B4-BE49-F238E27FC236}">
                <a16:creationId xmlns:a16="http://schemas.microsoft.com/office/drawing/2014/main" id="{EBFBB0DD-7A73-4980-86C0-24AC3BD9E2F0}"/>
              </a:ext>
            </a:extLst>
          </p:cNvPr>
          <p:cNvSpPr txBox="1">
            <a:spLocks/>
          </p:cNvSpPr>
          <p:nvPr/>
        </p:nvSpPr>
        <p:spPr>
          <a:xfrm>
            <a:off x="874294" y="231890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Sociolinguistics/dialectology: </a:t>
            </a:r>
          </a:p>
        </p:txBody>
      </p:sp>
      <p:sp>
        <p:nvSpPr>
          <p:cNvPr id="10" name="TextBox 9">
            <a:extLst>
              <a:ext uri="{FF2B5EF4-FFF2-40B4-BE49-F238E27FC236}">
                <a16:creationId xmlns:a16="http://schemas.microsoft.com/office/drawing/2014/main" id="{C04F4EF7-1825-4B26-B3F5-6096F955F839}"/>
              </a:ext>
            </a:extLst>
          </p:cNvPr>
          <p:cNvSpPr txBox="1"/>
          <p:nvPr/>
        </p:nvSpPr>
        <p:spPr>
          <a:xfrm>
            <a:off x="911213" y="1574182"/>
            <a:ext cx="11317706" cy="1200329"/>
          </a:xfrm>
          <a:prstGeom prst="rect">
            <a:avLst/>
          </a:prstGeom>
          <a:noFill/>
        </p:spPr>
        <p:txBody>
          <a:bodyPr wrap="square">
            <a:spAutoFit/>
          </a:bodyPr>
          <a:lstStyle/>
          <a:p>
            <a:r>
              <a:rPr lang="en-GB" sz="2400" dirty="0">
                <a:hlinkClick r:id="rId2"/>
              </a:rPr>
              <a:t>https://asiatimes.com/2018/02/chinese-language-myths-misconceptions/</a:t>
            </a:r>
            <a:r>
              <a:rPr lang="en-GB" sz="2400" dirty="0"/>
              <a:t> </a:t>
            </a:r>
          </a:p>
          <a:p>
            <a:r>
              <a:rPr lang="en-GB" sz="2400" dirty="0"/>
              <a:t>(my first ever Asia Times Online Op-ed)</a:t>
            </a:r>
          </a:p>
          <a:p>
            <a:endParaRPr lang="en-GB" sz="2400" dirty="0"/>
          </a:p>
        </p:txBody>
      </p:sp>
      <p:sp>
        <p:nvSpPr>
          <p:cNvPr id="12" name="TextBox 11">
            <a:extLst>
              <a:ext uri="{FF2B5EF4-FFF2-40B4-BE49-F238E27FC236}">
                <a16:creationId xmlns:a16="http://schemas.microsoft.com/office/drawing/2014/main" id="{6B48C336-003B-4806-8DAE-3E4FC417FC70}"/>
              </a:ext>
            </a:extLst>
          </p:cNvPr>
          <p:cNvSpPr txBox="1"/>
          <p:nvPr/>
        </p:nvSpPr>
        <p:spPr>
          <a:xfrm>
            <a:off x="4549585" y="2314194"/>
            <a:ext cx="7679334" cy="830997"/>
          </a:xfrm>
          <a:prstGeom prst="rect">
            <a:avLst/>
          </a:prstGeom>
          <a:noFill/>
        </p:spPr>
        <p:txBody>
          <a:bodyPr wrap="square">
            <a:spAutoFit/>
          </a:bodyPr>
          <a:lstStyle/>
          <a:p>
            <a:r>
              <a:rPr lang="en-GB" sz="2400" dirty="0"/>
              <a:t>A dialect can be regional, social, stylistic (Chambers and        						Trudgill (1998)) </a:t>
            </a:r>
          </a:p>
        </p:txBody>
      </p:sp>
      <p:sp>
        <p:nvSpPr>
          <p:cNvPr id="14" name="TextBox 13">
            <a:extLst>
              <a:ext uri="{FF2B5EF4-FFF2-40B4-BE49-F238E27FC236}">
                <a16:creationId xmlns:a16="http://schemas.microsoft.com/office/drawing/2014/main" id="{B8A8089E-257C-4E91-A3EB-AA35CE0A2667}"/>
              </a:ext>
            </a:extLst>
          </p:cNvPr>
          <p:cNvSpPr txBox="1"/>
          <p:nvPr/>
        </p:nvSpPr>
        <p:spPr>
          <a:xfrm>
            <a:off x="838200" y="3725494"/>
            <a:ext cx="11353800" cy="461665"/>
          </a:xfrm>
          <a:prstGeom prst="rect">
            <a:avLst/>
          </a:prstGeom>
          <a:noFill/>
        </p:spPr>
        <p:txBody>
          <a:bodyPr wrap="square">
            <a:spAutoFit/>
          </a:bodyPr>
          <a:lstStyle/>
          <a:p>
            <a:r>
              <a:rPr lang="en-GB" sz="2400" dirty="0"/>
              <a:t>Classic dialectal classification:</a:t>
            </a:r>
          </a:p>
        </p:txBody>
      </p:sp>
      <p:sp>
        <p:nvSpPr>
          <p:cNvPr id="13" name="TextBox 12">
            <a:extLst>
              <a:ext uri="{FF2B5EF4-FFF2-40B4-BE49-F238E27FC236}">
                <a16:creationId xmlns:a16="http://schemas.microsoft.com/office/drawing/2014/main" id="{73247852-C023-4AE0-BA92-1C7F0E854317}"/>
              </a:ext>
            </a:extLst>
          </p:cNvPr>
          <p:cNvSpPr txBox="1"/>
          <p:nvPr/>
        </p:nvSpPr>
        <p:spPr>
          <a:xfrm>
            <a:off x="4549585" y="3736956"/>
            <a:ext cx="8518358" cy="461665"/>
          </a:xfrm>
          <a:prstGeom prst="rect">
            <a:avLst/>
          </a:prstGeom>
          <a:noFill/>
        </p:spPr>
        <p:txBody>
          <a:bodyPr wrap="square">
            <a:spAutoFit/>
          </a:bodyPr>
          <a:lstStyle/>
          <a:p>
            <a:r>
              <a:rPr lang="en-GB" sz="2400" dirty="0"/>
              <a:t>Mandarin (official dialect) (North/</a:t>
            </a:r>
            <a:r>
              <a:rPr lang="zh-CN" altLang="en-US" sz="2400" dirty="0"/>
              <a:t>北方話</a:t>
            </a:r>
            <a:r>
              <a:rPr lang="en-GB" altLang="zh-CN" sz="2400" dirty="0"/>
              <a:t>) </a:t>
            </a:r>
          </a:p>
        </p:txBody>
      </p:sp>
      <p:sp>
        <p:nvSpPr>
          <p:cNvPr id="15" name="TextBox 14">
            <a:extLst>
              <a:ext uri="{FF2B5EF4-FFF2-40B4-BE49-F238E27FC236}">
                <a16:creationId xmlns:a16="http://schemas.microsoft.com/office/drawing/2014/main" id="{206BB0EB-CAE6-4ED6-B508-1899527505B8}"/>
              </a:ext>
            </a:extLst>
          </p:cNvPr>
          <p:cNvSpPr txBox="1"/>
          <p:nvPr/>
        </p:nvSpPr>
        <p:spPr>
          <a:xfrm>
            <a:off x="4512666" y="4209203"/>
            <a:ext cx="8518358" cy="461665"/>
          </a:xfrm>
          <a:prstGeom prst="rect">
            <a:avLst/>
          </a:prstGeom>
          <a:noFill/>
        </p:spPr>
        <p:txBody>
          <a:bodyPr wrap="square">
            <a:spAutoFit/>
          </a:bodyPr>
          <a:lstStyle/>
          <a:p>
            <a:r>
              <a:rPr lang="en-GB" altLang="zh-CN" sz="2400" dirty="0"/>
              <a:t>Cantonese (Yue/</a:t>
            </a:r>
            <a:r>
              <a:rPr lang="zh-CN" altLang="en-US" sz="2400" dirty="0"/>
              <a:t>粵</a:t>
            </a:r>
            <a:r>
              <a:rPr lang="en-GB" altLang="zh-CN" sz="2400" dirty="0"/>
              <a:t>) (Canton province (South-East China))</a:t>
            </a:r>
          </a:p>
        </p:txBody>
      </p:sp>
      <p:sp>
        <p:nvSpPr>
          <p:cNvPr id="17" name="TextBox 16">
            <a:extLst>
              <a:ext uri="{FF2B5EF4-FFF2-40B4-BE49-F238E27FC236}">
                <a16:creationId xmlns:a16="http://schemas.microsoft.com/office/drawing/2014/main" id="{D25B83ED-F079-48FD-B5B1-8645B947A415}"/>
              </a:ext>
            </a:extLst>
          </p:cNvPr>
          <p:cNvSpPr txBox="1"/>
          <p:nvPr/>
        </p:nvSpPr>
        <p:spPr>
          <a:xfrm>
            <a:off x="4512666" y="4675139"/>
            <a:ext cx="8518358" cy="830997"/>
          </a:xfrm>
          <a:prstGeom prst="rect">
            <a:avLst/>
          </a:prstGeom>
          <a:noFill/>
        </p:spPr>
        <p:txBody>
          <a:bodyPr wrap="square">
            <a:spAutoFit/>
          </a:bodyPr>
          <a:lstStyle/>
          <a:p>
            <a:r>
              <a:rPr lang="en-GB" altLang="zh-CN" sz="2400" dirty="0"/>
              <a:t>Min (</a:t>
            </a:r>
            <a:r>
              <a:rPr lang="zh-CN" altLang="en-US" sz="2400" dirty="0"/>
              <a:t>閩</a:t>
            </a:r>
            <a:r>
              <a:rPr lang="en-GB" altLang="zh-CN" sz="2400" dirty="0"/>
              <a:t>) (Northern/Southern (</a:t>
            </a:r>
            <a:r>
              <a:rPr lang="zh-CN" altLang="en-US" sz="2400" dirty="0"/>
              <a:t>閩南</a:t>
            </a:r>
            <a:r>
              <a:rPr lang="en-GB" altLang="zh-CN" sz="2400" dirty="0"/>
              <a:t>/</a:t>
            </a:r>
            <a:r>
              <a:rPr lang="zh-CN" altLang="en-US" sz="2400" dirty="0"/>
              <a:t>閩北</a:t>
            </a:r>
            <a:r>
              <a:rPr lang="en-GB" altLang="zh-CN" sz="2400" dirty="0"/>
              <a:t>) (Southern China 		    (e.g. </a:t>
            </a:r>
            <a:r>
              <a:rPr lang="en-GB" altLang="zh-CN" sz="2400" dirty="0" err="1"/>
              <a:t>Hokkien</a:t>
            </a:r>
            <a:r>
              <a:rPr lang="en-GB" altLang="zh-CN" sz="2400" dirty="0"/>
              <a:t>) 			+ Taiwan) </a:t>
            </a:r>
          </a:p>
        </p:txBody>
      </p:sp>
      <p:sp>
        <p:nvSpPr>
          <p:cNvPr id="19" name="TextBox 18">
            <a:extLst>
              <a:ext uri="{FF2B5EF4-FFF2-40B4-BE49-F238E27FC236}">
                <a16:creationId xmlns:a16="http://schemas.microsoft.com/office/drawing/2014/main" id="{9D3C71C2-D9DD-43EE-8F53-E7AE7375BAA3}"/>
              </a:ext>
            </a:extLst>
          </p:cNvPr>
          <p:cNvSpPr txBox="1"/>
          <p:nvPr/>
        </p:nvSpPr>
        <p:spPr>
          <a:xfrm>
            <a:off x="4512666" y="5436358"/>
            <a:ext cx="8518358" cy="461665"/>
          </a:xfrm>
          <a:prstGeom prst="rect">
            <a:avLst/>
          </a:prstGeom>
          <a:noFill/>
        </p:spPr>
        <p:txBody>
          <a:bodyPr wrap="square">
            <a:spAutoFit/>
          </a:bodyPr>
          <a:lstStyle/>
          <a:p>
            <a:r>
              <a:rPr lang="en-GB" altLang="zh-CN" sz="2400" dirty="0"/>
              <a:t>Hakka (</a:t>
            </a:r>
            <a:r>
              <a:rPr lang="zh-CN" altLang="en-US" sz="2400" dirty="0"/>
              <a:t>客家</a:t>
            </a:r>
            <a:r>
              <a:rPr lang="en-GB" altLang="zh-CN" sz="2400" dirty="0"/>
              <a:t>) in Southern China </a:t>
            </a:r>
          </a:p>
        </p:txBody>
      </p:sp>
      <p:sp>
        <p:nvSpPr>
          <p:cNvPr id="21" name="TextBox 20">
            <a:extLst>
              <a:ext uri="{FF2B5EF4-FFF2-40B4-BE49-F238E27FC236}">
                <a16:creationId xmlns:a16="http://schemas.microsoft.com/office/drawing/2014/main" id="{12AA9F94-E935-4F44-8225-4E381DFD641C}"/>
              </a:ext>
            </a:extLst>
          </p:cNvPr>
          <p:cNvSpPr txBox="1"/>
          <p:nvPr/>
        </p:nvSpPr>
        <p:spPr>
          <a:xfrm>
            <a:off x="4093153" y="5825350"/>
            <a:ext cx="8518358" cy="461665"/>
          </a:xfrm>
          <a:prstGeom prst="rect">
            <a:avLst/>
          </a:prstGeom>
          <a:noFill/>
        </p:spPr>
        <p:txBody>
          <a:bodyPr wrap="square">
            <a:spAutoFit/>
          </a:bodyPr>
          <a:lstStyle/>
          <a:p>
            <a:r>
              <a:rPr lang="en-GB" altLang="zh-CN" sz="2400" dirty="0"/>
              <a:t>Wu (</a:t>
            </a:r>
            <a:r>
              <a:rPr lang="zh-CN" altLang="en-US" sz="2400" dirty="0"/>
              <a:t>吳</a:t>
            </a:r>
            <a:r>
              <a:rPr lang="en-GB" altLang="zh-CN" sz="2400" dirty="0"/>
              <a:t>) (</a:t>
            </a:r>
            <a:r>
              <a:rPr lang="en-US" altLang="zh-CN" sz="2400" dirty="0"/>
              <a:t>Northern (e.g. Shanghainese), Southern (</a:t>
            </a:r>
            <a:r>
              <a:rPr lang="en-US" altLang="zh-CN" sz="2400" dirty="0" err="1"/>
              <a:t>e.g.Wenzhou</a:t>
            </a:r>
            <a:r>
              <a:rPr lang="en-US" altLang="zh-CN" sz="2400" dirty="0"/>
              <a:t>))</a:t>
            </a:r>
            <a:r>
              <a:rPr lang="en-GB" altLang="zh-CN" sz="2400" dirty="0"/>
              <a:t> </a:t>
            </a:r>
          </a:p>
        </p:txBody>
      </p:sp>
      <p:sp>
        <p:nvSpPr>
          <p:cNvPr id="23" name="TextBox 22">
            <a:extLst>
              <a:ext uri="{FF2B5EF4-FFF2-40B4-BE49-F238E27FC236}">
                <a16:creationId xmlns:a16="http://schemas.microsoft.com/office/drawing/2014/main" id="{3E0643AF-EB5B-4CFC-AC66-9D216DB54292}"/>
              </a:ext>
            </a:extLst>
          </p:cNvPr>
          <p:cNvSpPr txBox="1"/>
          <p:nvPr/>
        </p:nvSpPr>
        <p:spPr>
          <a:xfrm>
            <a:off x="6132094" y="6261966"/>
            <a:ext cx="8518358" cy="461665"/>
          </a:xfrm>
          <a:prstGeom prst="rect">
            <a:avLst/>
          </a:prstGeom>
          <a:noFill/>
        </p:spPr>
        <p:txBody>
          <a:bodyPr wrap="square">
            <a:spAutoFit/>
          </a:bodyPr>
          <a:lstStyle/>
          <a:p>
            <a:r>
              <a:rPr lang="en-GB" altLang="zh-CN" sz="2400" dirty="0"/>
              <a:t>Gan (</a:t>
            </a:r>
            <a:r>
              <a:rPr lang="zh-CN" altLang="en-US" sz="2400" dirty="0"/>
              <a:t>贛</a:t>
            </a:r>
            <a:r>
              <a:rPr lang="en-GB" altLang="zh-CN" sz="2400" dirty="0"/>
              <a:t>) </a:t>
            </a:r>
            <a:endParaRPr lang="en-GB" sz="2400" dirty="0"/>
          </a:p>
        </p:txBody>
      </p:sp>
      <p:sp>
        <p:nvSpPr>
          <p:cNvPr id="25" name="TextBox 24">
            <a:extLst>
              <a:ext uri="{FF2B5EF4-FFF2-40B4-BE49-F238E27FC236}">
                <a16:creationId xmlns:a16="http://schemas.microsoft.com/office/drawing/2014/main" id="{D5D26E75-44A1-4975-9A13-FD997844CE37}"/>
              </a:ext>
            </a:extLst>
          </p:cNvPr>
          <p:cNvSpPr txBox="1"/>
          <p:nvPr/>
        </p:nvSpPr>
        <p:spPr>
          <a:xfrm>
            <a:off x="4549585" y="6257842"/>
            <a:ext cx="8518358" cy="461665"/>
          </a:xfrm>
          <a:prstGeom prst="rect">
            <a:avLst/>
          </a:prstGeom>
          <a:noFill/>
        </p:spPr>
        <p:txBody>
          <a:bodyPr wrap="square">
            <a:spAutoFit/>
          </a:bodyPr>
          <a:lstStyle/>
          <a:p>
            <a:r>
              <a:rPr lang="en-GB" altLang="zh-CN" sz="2400" dirty="0"/>
              <a:t>Xiang (</a:t>
            </a:r>
            <a:r>
              <a:rPr lang="zh-CN" altLang="en-US" sz="2400" dirty="0"/>
              <a:t>湘</a:t>
            </a:r>
            <a:r>
              <a:rPr lang="en-GB" altLang="zh-CN" sz="2400" dirty="0"/>
              <a:t>) </a:t>
            </a:r>
            <a:endParaRPr lang="en-GB" sz="2400" dirty="0"/>
          </a:p>
        </p:txBody>
      </p:sp>
    </p:spTree>
    <p:extLst>
      <p:ext uri="{BB962C8B-B14F-4D97-AF65-F5344CB8AC3E}">
        <p14:creationId xmlns:p14="http://schemas.microsoft.com/office/powerpoint/2010/main" val="366136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10" grpId="0"/>
      <p:bldP spid="12" grpId="0"/>
      <p:bldP spid="14" grpId="0"/>
      <p:bldP spid="13" grpId="0"/>
      <p:bldP spid="15" grpId="0"/>
      <p:bldP spid="17" grpId="0"/>
      <p:bldP spid="19" grpId="0"/>
      <p:bldP spid="21" grpId="0"/>
      <p:bldP spid="23"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ap&#10;&#10;Description automatically generated">
            <a:extLst>
              <a:ext uri="{FF2B5EF4-FFF2-40B4-BE49-F238E27FC236}">
                <a16:creationId xmlns:a16="http://schemas.microsoft.com/office/drawing/2014/main" id="{5DE9E738-73F5-4096-A764-4EB6BBC891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537" y="673769"/>
            <a:ext cx="9496926" cy="6184232"/>
          </a:xfrm>
          <a:prstGeom prst="rect">
            <a:avLst/>
          </a:prstGeom>
        </p:spPr>
      </p:pic>
      <p:sp>
        <p:nvSpPr>
          <p:cNvPr id="2" name="Title 1">
            <a:extLst>
              <a:ext uri="{FF2B5EF4-FFF2-40B4-BE49-F238E27FC236}">
                <a16:creationId xmlns:a16="http://schemas.microsoft.com/office/drawing/2014/main" id="{6FAA717A-0D93-4EA7-BC4A-ACD9C5D07F37}"/>
              </a:ext>
            </a:extLst>
          </p:cNvPr>
          <p:cNvSpPr>
            <a:spLocks noGrp="1"/>
          </p:cNvSpPr>
          <p:nvPr>
            <p:ph type="title"/>
          </p:nvPr>
        </p:nvSpPr>
        <p:spPr>
          <a:xfrm>
            <a:off x="838200" y="18255"/>
            <a:ext cx="10515600" cy="1325563"/>
          </a:xfrm>
        </p:spPr>
        <p:txBody>
          <a:bodyPr/>
          <a:lstStyle/>
          <a:p>
            <a:r>
              <a:rPr lang="en-GB" dirty="0"/>
              <a:t>Chinese topolects (</a:t>
            </a:r>
            <a:r>
              <a:rPr lang="zh-CN" altLang="en-US" dirty="0"/>
              <a:t>方言</a:t>
            </a:r>
            <a:r>
              <a:rPr lang="en-GB" altLang="zh-CN" dirty="0"/>
              <a:t>)</a:t>
            </a:r>
            <a:endParaRPr lang="en-GB" dirty="0"/>
          </a:p>
        </p:txBody>
      </p:sp>
      <p:sp>
        <p:nvSpPr>
          <p:cNvPr id="11" name="TextBox 10">
            <a:extLst>
              <a:ext uri="{FF2B5EF4-FFF2-40B4-BE49-F238E27FC236}">
                <a16:creationId xmlns:a16="http://schemas.microsoft.com/office/drawing/2014/main" id="{638C54C3-FE52-456F-84C4-A55218918265}"/>
              </a:ext>
            </a:extLst>
          </p:cNvPr>
          <p:cNvSpPr txBox="1"/>
          <p:nvPr/>
        </p:nvSpPr>
        <p:spPr>
          <a:xfrm>
            <a:off x="9972739" y="6396335"/>
            <a:ext cx="3240505" cy="461665"/>
          </a:xfrm>
          <a:prstGeom prst="rect">
            <a:avLst/>
          </a:prstGeom>
          <a:noFill/>
        </p:spPr>
        <p:txBody>
          <a:bodyPr wrap="square">
            <a:spAutoFit/>
          </a:bodyPr>
          <a:lstStyle/>
          <a:p>
            <a:r>
              <a:rPr lang="en-GB" sz="2400" dirty="0"/>
              <a:t>Cantonese (Yue)</a:t>
            </a:r>
          </a:p>
        </p:txBody>
      </p:sp>
      <p:cxnSp>
        <p:nvCxnSpPr>
          <p:cNvPr id="13" name="Straight Arrow Connector 12">
            <a:extLst>
              <a:ext uri="{FF2B5EF4-FFF2-40B4-BE49-F238E27FC236}">
                <a16:creationId xmlns:a16="http://schemas.microsoft.com/office/drawing/2014/main" id="{127BE384-5E20-4E5D-859E-CAB8863E9568}"/>
              </a:ext>
            </a:extLst>
          </p:cNvPr>
          <p:cNvCxnSpPr>
            <a:cxnSpLocks/>
          </p:cNvCxnSpPr>
          <p:nvPr/>
        </p:nvCxnSpPr>
        <p:spPr>
          <a:xfrm flipH="1" flipV="1">
            <a:off x="7883371" y="5997557"/>
            <a:ext cx="2089369" cy="700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678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66D99-8B7B-4078-AE59-D9732C128109}"/>
              </a:ext>
            </a:extLst>
          </p:cNvPr>
          <p:cNvSpPr>
            <a:spLocks noGrp="1"/>
          </p:cNvSpPr>
          <p:nvPr>
            <p:ph type="title"/>
          </p:nvPr>
        </p:nvSpPr>
        <p:spPr>
          <a:xfrm>
            <a:off x="838200" y="0"/>
            <a:ext cx="10515600" cy="1325563"/>
          </a:xfrm>
        </p:spPr>
        <p:txBody>
          <a:bodyPr/>
          <a:lstStyle/>
          <a:p>
            <a:r>
              <a:rPr lang="en-GB" dirty="0"/>
              <a:t>What is so special about Cantonese (1 in X number of dialects?)</a:t>
            </a:r>
          </a:p>
        </p:txBody>
      </p:sp>
      <p:sp>
        <p:nvSpPr>
          <p:cNvPr id="3" name="Content Placeholder 2">
            <a:extLst>
              <a:ext uri="{FF2B5EF4-FFF2-40B4-BE49-F238E27FC236}">
                <a16:creationId xmlns:a16="http://schemas.microsoft.com/office/drawing/2014/main" id="{3FBD8651-4F25-4D1E-95EE-775D56101F29}"/>
              </a:ext>
            </a:extLst>
          </p:cNvPr>
          <p:cNvSpPr>
            <a:spLocks noGrp="1"/>
          </p:cNvSpPr>
          <p:nvPr>
            <p:ph idx="1"/>
          </p:nvPr>
        </p:nvSpPr>
        <p:spPr>
          <a:xfrm>
            <a:off x="838196" y="1325563"/>
            <a:ext cx="10515600" cy="4351338"/>
          </a:xfrm>
        </p:spPr>
        <p:txBody>
          <a:bodyPr>
            <a:normAutofit/>
          </a:bodyPr>
          <a:lstStyle/>
          <a:p>
            <a:pPr marL="0" indent="0">
              <a:buNone/>
            </a:pPr>
            <a:r>
              <a:rPr lang="en-GB" sz="2400" dirty="0"/>
              <a:t>Cantonese is not just spoken in SE China (Canton province) (map on previous slide)</a:t>
            </a:r>
          </a:p>
        </p:txBody>
      </p:sp>
      <p:sp>
        <p:nvSpPr>
          <p:cNvPr id="4" name="Content Placeholder 2">
            <a:extLst>
              <a:ext uri="{FF2B5EF4-FFF2-40B4-BE49-F238E27FC236}">
                <a16:creationId xmlns:a16="http://schemas.microsoft.com/office/drawing/2014/main" id="{8D9A6454-C804-4A00-90EB-C8E1555D377C}"/>
              </a:ext>
            </a:extLst>
          </p:cNvPr>
          <p:cNvSpPr txBox="1">
            <a:spLocks/>
          </p:cNvSpPr>
          <p:nvPr/>
        </p:nvSpPr>
        <p:spPr>
          <a:xfrm>
            <a:off x="838199" y="171316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Cantonese has been spoken by generations of Chinese migrants in the West (especially North America) and beyond </a:t>
            </a:r>
          </a:p>
        </p:txBody>
      </p:sp>
      <p:sp>
        <p:nvSpPr>
          <p:cNvPr id="6" name="TextBox 5">
            <a:extLst>
              <a:ext uri="{FF2B5EF4-FFF2-40B4-BE49-F238E27FC236}">
                <a16:creationId xmlns:a16="http://schemas.microsoft.com/office/drawing/2014/main" id="{91319C07-16D4-450B-8856-296ACEC36433}"/>
              </a:ext>
            </a:extLst>
          </p:cNvPr>
          <p:cNvSpPr txBox="1"/>
          <p:nvPr/>
        </p:nvSpPr>
        <p:spPr>
          <a:xfrm>
            <a:off x="838196" y="3217981"/>
            <a:ext cx="10515600" cy="830997"/>
          </a:xfrm>
          <a:prstGeom prst="rect">
            <a:avLst/>
          </a:prstGeom>
          <a:noFill/>
        </p:spPr>
        <p:txBody>
          <a:bodyPr wrap="square">
            <a:spAutoFit/>
          </a:bodyPr>
          <a:lstStyle/>
          <a:p>
            <a:r>
              <a:rPr lang="en-GB" sz="2400" dirty="0"/>
              <a:t>Cantonese is a heritage language in USA/Canada where there are many </a:t>
            </a:r>
            <a:r>
              <a:rPr lang="en-GB" sz="2400" dirty="0" err="1"/>
              <a:t>diasporae</a:t>
            </a:r>
            <a:r>
              <a:rPr lang="en-GB" sz="2400" dirty="0"/>
              <a:t> of Chinese communities who only speak Cantonese -&gt; </a:t>
            </a:r>
          </a:p>
        </p:txBody>
      </p:sp>
      <p:sp>
        <p:nvSpPr>
          <p:cNvPr id="8" name="TextBox 7">
            <a:extLst>
              <a:ext uri="{FF2B5EF4-FFF2-40B4-BE49-F238E27FC236}">
                <a16:creationId xmlns:a16="http://schemas.microsoft.com/office/drawing/2014/main" id="{EAF1E5D4-A0CA-4EE3-850C-B30B2B0BC085}"/>
              </a:ext>
            </a:extLst>
          </p:cNvPr>
          <p:cNvSpPr txBox="1"/>
          <p:nvPr/>
        </p:nvSpPr>
        <p:spPr>
          <a:xfrm>
            <a:off x="838196" y="4053506"/>
            <a:ext cx="10760242" cy="830997"/>
          </a:xfrm>
          <a:prstGeom prst="rect">
            <a:avLst/>
          </a:prstGeom>
          <a:noFill/>
        </p:spPr>
        <p:txBody>
          <a:bodyPr wrap="square">
            <a:spAutoFit/>
          </a:bodyPr>
          <a:lstStyle/>
          <a:p>
            <a:r>
              <a:rPr lang="en-GB" sz="2400" dirty="0"/>
              <a:t>Chinatowns (</a:t>
            </a:r>
            <a:r>
              <a:rPr lang="zh-CN" altLang="en-US" sz="2400" b="1" dirty="0"/>
              <a:t>唐</a:t>
            </a:r>
            <a:r>
              <a:rPr lang="zh-CN" altLang="en-US" sz="2400" dirty="0"/>
              <a:t>人街</a:t>
            </a:r>
            <a:r>
              <a:rPr lang="en-GB" altLang="zh-CN" sz="2400" dirty="0"/>
              <a:t>) (</a:t>
            </a:r>
            <a:r>
              <a:rPr lang="zh-CN" altLang="en-US" sz="2400" dirty="0"/>
              <a:t>唐 </a:t>
            </a:r>
            <a:r>
              <a:rPr lang="en-GB" altLang="zh-CN" sz="2400" i="1" dirty="0"/>
              <a:t>tong</a:t>
            </a:r>
            <a:r>
              <a:rPr lang="en-GB" altLang="zh-CN" sz="2400" dirty="0"/>
              <a:t> is a southern Cantonese ethnic term), </a:t>
            </a:r>
          </a:p>
          <a:p>
            <a:r>
              <a:rPr lang="en-GB" altLang="zh-CN" sz="2400" dirty="0"/>
              <a:t>expats (</a:t>
            </a:r>
            <a:r>
              <a:rPr lang="zh-CN" altLang="en-US" sz="2400" dirty="0"/>
              <a:t>華僑</a:t>
            </a:r>
            <a:r>
              <a:rPr lang="en-GB" altLang="zh-CN" sz="2400" dirty="0"/>
              <a:t>) (</a:t>
            </a:r>
            <a:r>
              <a:rPr lang="zh-CN" altLang="en-US" sz="2400" b="1" dirty="0"/>
              <a:t>華</a:t>
            </a:r>
            <a:r>
              <a:rPr lang="zh-CN" altLang="en-US" sz="2400" dirty="0"/>
              <a:t>人</a:t>
            </a:r>
            <a:r>
              <a:rPr lang="en-GB" altLang="zh-CN" sz="2400" dirty="0"/>
              <a:t> is an inclusive-term for Chinese ethnicities)</a:t>
            </a:r>
            <a:endParaRPr lang="en-GB" sz="2400" dirty="0"/>
          </a:p>
        </p:txBody>
      </p:sp>
      <p:sp>
        <p:nvSpPr>
          <p:cNvPr id="10" name="TextBox 9">
            <a:extLst>
              <a:ext uri="{FF2B5EF4-FFF2-40B4-BE49-F238E27FC236}">
                <a16:creationId xmlns:a16="http://schemas.microsoft.com/office/drawing/2014/main" id="{4CFD641C-C2B3-4843-B1D5-32A55662E679}"/>
              </a:ext>
            </a:extLst>
          </p:cNvPr>
          <p:cNvSpPr txBox="1"/>
          <p:nvPr/>
        </p:nvSpPr>
        <p:spPr>
          <a:xfrm>
            <a:off x="838198" y="2386984"/>
            <a:ext cx="10343147" cy="830997"/>
          </a:xfrm>
          <a:prstGeom prst="rect">
            <a:avLst/>
          </a:prstGeom>
          <a:noFill/>
        </p:spPr>
        <p:txBody>
          <a:bodyPr wrap="square">
            <a:spAutoFit/>
          </a:bodyPr>
          <a:lstStyle/>
          <a:p>
            <a:r>
              <a:rPr lang="en-GB" sz="2400" dirty="0"/>
              <a:t>Leland Stanford, founder of Stanford University,  hired Cantonese-speaking migrants to build the campus (</a:t>
            </a:r>
            <a:r>
              <a:rPr lang="en-GB" sz="2400" i="1" dirty="0"/>
              <a:t>Save Cantonese</a:t>
            </a:r>
            <a:r>
              <a:rPr lang="en-GB" sz="2400" dirty="0"/>
              <a:t>)</a:t>
            </a:r>
          </a:p>
        </p:txBody>
      </p:sp>
      <p:sp>
        <p:nvSpPr>
          <p:cNvPr id="12" name="TextBox 11">
            <a:extLst>
              <a:ext uri="{FF2B5EF4-FFF2-40B4-BE49-F238E27FC236}">
                <a16:creationId xmlns:a16="http://schemas.microsoft.com/office/drawing/2014/main" id="{12623D1A-F736-40E3-81C7-F8828EAFB0CD}"/>
              </a:ext>
            </a:extLst>
          </p:cNvPr>
          <p:cNvSpPr txBox="1"/>
          <p:nvPr/>
        </p:nvSpPr>
        <p:spPr>
          <a:xfrm>
            <a:off x="838197" y="4889031"/>
            <a:ext cx="10515599" cy="830997"/>
          </a:xfrm>
          <a:prstGeom prst="rect">
            <a:avLst/>
          </a:prstGeom>
          <a:noFill/>
        </p:spPr>
        <p:txBody>
          <a:bodyPr wrap="square">
            <a:spAutoFit/>
          </a:bodyPr>
          <a:lstStyle/>
          <a:p>
            <a:r>
              <a:rPr lang="en-GB" sz="2400" dirty="0"/>
              <a:t>Cantonese is a Sinitic variety with international distribution and heritage status in the West: key for Chinese expats’ language communication and cultural connection </a:t>
            </a:r>
          </a:p>
        </p:txBody>
      </p:sp>
      <p:sp>
        <p:nvSpPr>
          <p:cNvPr id="9" name="TextBox 8">
            <a:extLst>
              <a:ext uri="{FF2B5EF4-FFF2-40B4-BE49-F238E27FC236}">
                <a16:creationId xmlns:a16="http://schemas.microsoft.com/office/drawing/2014/main" id="{1ADCBE64-2918-4EFA-96FF-27562A920976}"/>
              </a:ext>
            </a:extLst>
          </p:cNvPr>
          <p:cNvSpPr txBox="1"/>
          <p:nvPr/>
        </p:nvSpPr>
        <p:spPr>
          <a:xfrm>
            <a:off x="838197" y="5676901"/>
            <a:ext cx="10515599" cy="830997"/>
          </a:xfrm>
          <a:prstGeom prst="rect">
            <a:avLst/>
          </a:prstGeom>
          <a:noFill/>
        </p:spPr>
        <p:txBody>
          <a:bodyPr wrap="square">
            <a:spAutoFit/>
          </a:bodyPr>
          <a:lstStyle/>
          <a:p>
            <a:r>
              <a:rPr lang="en-GB" sz="2400" dirty="0"/>
              <a:t>-&gt; Cantonese is not merely a local dialect in southern China but an international heritage language with generations of speakers (</a:t>
            </a:r>
            <a:r>
              <a:rPr lang="en-GB" sz="2400" dirty="0" err="1"/>
              <a:t>cf</a:t>
            </a:r>
            <a:r>
              <a:rPr lang="en-GB" sz="2400" dirty="0"/>
              <a:t> Min, Hakka, </a:t>
            </a:r>
            <a:r>
              <a:rPr lang="en-GB" sz="2400" dirty="0" err="1"/>
              <a:t>Hokkien</a:t>
            </a:r>
            <a:r>
              <a:rPr lang="en-GB" sz="2400" dirty="0"/>
              <a:t>, </a:t>
            </a:r>
            <a:r>
              <a:rPr lang="en-GB" sz="2400" dirty="0" err="1"/>
              <a:t>Teochow</a:t>
            </a:r>
            <a:r>
              <a:rPr lang="en-GB" sz="2400" dirty="0"/>
              <a:t>)</a:t>
            </a:r>
          </a:p>
        </p:txBody>
      </p:sp>
    </p:spTree>
    <p:extLst>
      <p:ext uri="{BB962C8B-B14F-4D97-AF65-F5344CB8AC3E}">
        <p14:creationId xmlns:p14="http://schemas.microsoft.com/office/powerpoint/2010/main" val="156037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8" grpId="0"/>
      <p:bldP spid="10" grpId="0"/>
      <p:bldP spid="12"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187C7-F5FC-4B1A-8764-CAD15D55919C}"/>
              </a:ext>
            </a:extLst>
          </p:cNvPr>
          <p:cNvSpPr>
            <a:spLocks noGrp="1"/>
          </p:cNvSpPr>
          <p:nvPr>
            <p:ph type="title"/>
          </p:nvPr>
        </p:nvSpPr>
        <p:spPr>
          <a:xfrm>
            <a:off x="838200" y="18255"/>
            <a:ext cx="10515600" cy="1325563"/>
          </a:xfrm>
        </p:spPr>
        <p:txBody>
          <a:bodyPr/>
          <a:lstStyle/>
          <a:p>
            <a:r>
              <a:rPr lang="en-GB" dirty="0"/>
              <a:t>Language advocacy: personal and collective</a:t>
            </a:r>
          </a:p>
        </p:txBody>
      </p:sp>
      <p:sp>
        <p:nvSpPr>
          <p:cNvPr id="3" name="Content Placeholder 2">
            <a:extLst>
              <a:ext uri="{FF2B5EF4-FFF2-40B4-BE49-F238E27FC236}">
                <a16:creationId xmlns:a16="http://schemas.microsoft.com/office/drawing/2014/main" id="{17D52438-66FB-450C-958F-3D90F3CA65AE}"/>
              </a:ext>
            </a:extLst>
          </p:cNvPr>
          <p:cNvSpPr>
            <a:spLocks noGrp="1"/>
          </p:cNvSpPr>
          <p:nvPr>
            <p:ph idx="1"/>
          </p:nvPr>
        </p:nvSpPr>
        <p:spPr>
          <a:xfrm>
            <a:off x="838198" y="1253331"/>
            <a:ext cx="10938165" cy="4351338"/>
          </a:xfrm>
        </p:spPr>
        <p:txBody>
          <a:bodyPr>
            <a:normAutofit/>
          </a:bodyPr>
          <a:lstStyle/>
          <a:p>
            <a:pPr marL="0" indent="0">
              <a:buNone/>
            </a:pPr>
            <a:r>
              <a:rPr lang="en-US" sz="2400" dirty="0"/>
              <a:t>Endangered Languages (languages with fewer than a thousand speakers) </a:t>
            </a:r>
            <a:endParaRPr lang="en-GB" sz="2400" dirty="0"/>
          </a:p>
        </p:txBody>
      </p:sp>
      <p:sp>
        <p:nvSpPr>
          <p:cNvPr id="4" name="TextBox 3">
            <a:extLst>
              <a:ext uri="{FF2B5EF4-FFF2-40B4-BE49-F238E27FC236}">
                <a16:creationId xmlns:a16="http://schemas.microsoft.com/office/drawing/2014/main" id="{8EAF6C6F-2358-4A71-BC9D-8437315E20C2}"/>
              </a:ext>
            </a:extLst>
          </p:cNvPr>
          <p:cNvSpPr txBox="1"/>
          <p:nvPr/>
        </p:nvSpPr>
        <p:spPr>
          <a:xfrm>
            <a:off x="838197" y="1641134"/>
            <a:ext cx="11049000" cy="1200329"/>
          </a:xfrm>
          <a:prstGeom prst="rect">
            <a:avLst/>
          </a:prstGeom>
          <a:noFill/>
        </p:spPr>
        <p:txBody>
          <a:bodyPr wrap="square">
            <a:spAutoFit/>
          </a:bodyPr>
          <a:lstStyle/>
          <a:p>
            <a:r>
              <a:rPr lang="en-GB" sz="2400" dirty="0"/>
              <a:t>Endangered Language Fund (</a:t>
            </a:r>
            <a:r>
              <a:rPr lang="en-GB" sz="2400" dirty="0" err="1"/>
              <a:t>cf</a:t>
            </a:r>
            <a:r>
              <a:rPr lang="en-GB" sz="2400" dirty="0"/>
              <a:t> Endangered Species Act)</a:t>
            </a:r>
          </a:p>
          <a:p>
            <a:r>
              <a:rPr lang="en-GB" sz="2400" dirty="0">
                <a:hlinkClick r:id="rId2"/>
              </a:rPr>
              <a:t>http://www.endangeredlanguagefund.org/</a:t>
            </a:r>
            <a:endParaRPr lang="en-GB" sz="2400" dirty="0"/>
          </a:p>
          <a:p>
            <a:r>
              <a:rPr lang="en-GB" sz="2400" dirty="0"/>
              <a:t>(Linguistic Society of America Annual Meeting, 8</a:t>
            </a:r>
            <a:r>
              <a:rPr lang="en-GB" sz="2400" baseline="30000" dirty="0"/>
              <a:t>th</a:t>
            </a:r>
            <a:r>
              <a:rPr lang="en-GB" sz="2400" dirty="0"/>
              <a:t> January 2022)</a:t>
            </a:r>
          </a:p>
        </p:txBody>
      </p:sp>
      <p:sp>
        <p:nvSpPr>
          <p:cNvPr id="5" name="TextBox 4">
            <a:extLst>
              <a:ext uri="{FF2B5EF4-FFF2-40B4-BE49-F238E27FC236}">
                <a16:creationId xmlns:a16="http://schemas.microsoft.com/office/drawing/2014/main" id="{E6811B65-0C69-4F83-B8C6-B1FD19B9C4D8}"/>
              </a:ext>
            </a:extLst>
          </p:cNvPr>
          <p:cNvSpPr txBox="1"/>
          <p:nvPr/>
        </p:nvSpPr>
        <p:spPr>
          <a:xfrm>
            <a:off x="838198" y="3601039"/>
            <a:ext cx="11353802" cy="830997"/>
          </a:xfrm>
          <a:prstGeom prst="rect">
            <a:avLst/>
          </a:prstGeom>
          <a:noFill/>
        </p:spPr>
        <p:txBody>
          <a:bodyPr wrap="square">
            <a:spAutoFit/>
          </a:bodyPr>
          <a:lstStyle/>
          <a:p>
            <a:r>
              <a:rPr lang="en-GB" sz="2400" dirty="0"/>
              <a:t>My contributions: </a:t>
            </a:r>
            <a:r>
              <a:rPr lang="en-GB" sz="2400" b="1" dirty="0"/>
              <a:t>Op-ed’s</a:t>
            </a:r>
            <a:r>
              <a:rPr lang="en-GB" sz="2400" dirty="0"/>
              <a:t> and </a:t>
            </a:r>
            <a:r>
              <a:rPr lang="en-GB" sz="2400" b="1" dirty="0"/>
              <a:t>blogs</a:t>
            </a:r>
            <a:r>
              <a:rPr lang="en-GB" sz="2400" dirty="0"/>
              <a:t> in </a:t>
            </a:r>
            <a:r>
              <a:rPr lang="en-GB" sz="2400" b="1" dirty="0"/>
              <a:t>online news channels </a:t>
            </a:r>
            <a:r>
              <a:rPr lang="en-GB" sz="2400" dirty="0"/>
              <a:t>(Asia Times Online, </a:t>
            </a:r>
            <a:r>
              <a:rPr lang="en-GB" sz="2400" i="1" dirty="0" err="1"/>
              <a:t>gongjyuhok</a:t>
            </a:r>
            <a:r>
              <a:rPr lang="en-GB" sz="2400" dirty="0"/>
              <a:t>) and </a:t>
            </a:r>
            <a:r>
              <a:rPr lang="en-GB" sz="2400" b="1" dirty="0"/>
              <a:t>social media </a:t>
            </a:r>
            <a:r>
              <a:rPr lang="en-GB" sz="2400" dirty="0"/>
              <a:t>(personal blog, Medium) &gt; Language Advocacy</a:t>
            </a:r>
          </a:p>
        </p:txBody>
      </p:sp>
      <p:sp>
        <p:nvSpPr>
          <p:cNvPr id="7" name="TextBox 6">
            <a:extLst>
              <a:ext uri="{FF2B5EF4-FFF2-40B4-BE49-F238E27FC236}">
                <a16:creationId xmlns:a16="http://schemas.microsoft.com/office/drawing/2014/main" id="{D225E8CC-41D6-4E0B-88C1-3659D6918967}"/>
              </a:ext>
            </a:extLst>
          </p:cNvPr>
          <p:cNvSpPr txBox="1"/>
          <p:nvPr/>
        </p:nvSpPr>
        <p:spPr>
          <a:xfrm>
            <a:off x="838200" y="2798972"/>
            <a:ext cx="10515600" cy="830997"/>
          </a:xfrm>
          <a:prstGeom prst="rect">
            <a:avLst/>
          </a:prstGeom>
          <a:noFill/>
        </p:spPr>
        <p:txBody>
          <a:bodyPr wrap="square">
            <a:spAutoFit/>
          </a:bodyPr>
          <a:lstStyle/>
          <a:p>
            <a:r>
              <a:rPr lang="en-GB" sz="2400" dirty="0"/>
              <a:t>Cantonese (far from being endangered) requires preservation from cuts in (higher university/college) education for </a:t>
            </a:r>
            <a:r>
              <a:rPr lang="en-US" sz="2400" dirty="0"/>
              <a:t>heritage Chinese speakers</a:t>
            </a:r>
            <a:endParaRPr lang="en-GB" sz="2400" dirty="0"/>
          </a:p>
        </p:txBody>
      </p:sp>
      <p:sp>
        <p:nvSpPr>
          <p:cNvPr id="10" name="TextBox 9">
            <a:extLst>
              <a:ext uri="{FF2B5EF4-FFF2-40B4-BE49-F238E27FC236}">
                <a16:creationId xmlns:a16="http://schemas.microsoft.com/office/drawing/2014/main" id="{15E15789-EE88-4D1D-80A5-1495D04252C8}"/>
              </a:ext>
            </a:extLst>
          </p:cNvPr>
          <p:cNvSpPr txBox="1"/>
          <p:nvPr/>
        </p:nvSpPr>
        <p:spPr>
          <a:xfrm>
            <a:off x="0" y="4635173"/>
            <a:ext cx="12192000" cy="1938992"/>
          </a:xfrm>
          <a:prstGeom prst="rect">
            <a:avLst/>
          </a:prstGeom>
          <a:noFill/>
        </p:spPr>
        <p:txBody>
          <a:bodyPr wrap="square">
            <a:spAutoFit/>
          </a:bodyPr>
          <a:lstStyle/>
          <a:p>
            <a:pPr algn="l"/>
            <a:r>
              <a:rPr lang="en-US" sz="2400" b="0" i="0" dirty="0">
                <a:effectLst/>
              </a:rPr>
              <a:t>‘Independent scholars, through their academic background and research skills</a:t>
            </a:r>
            <a:r>
              <a:rPr lang="en-US" sz="2400" dirty="0"/>
              <a:t>… </a:t>
            </a:r>
            <a:r>
              <a:rPr lang="en-US" sz="2400" b="0" i="0" dirty="0">
                <a:effectLst/>
              </a:rPr>
              <a:t>can play a pivotal role in creating a multilingual society and world. The role of independent scholars is unique in that they bring both scholarly expertise and their independence as thinkers to the conversation. Let’s make sure all of us have the opportunity to add multilingualism to our skills set! (Kathleen </a:t>
            </a:r>
            <a:r>
              <a:rPr lang="en-US" sz="2400" dirty="0"/>
              <a:t>Stein-Smith (Ronin blog (23</a:t>
            </a:r>
            <a:r>
              <a:rPr lang="en-US" sz="2400" baseline="30000" dirty="0"/>
              <a:t>rd</a:t>
            </a:r>
            <a:r>
              <a:rPr lang="en-US" sz="2400" dirty="0"/>
              <a:t> February 2022))</a:t>
            </a:r>
            <a:endParaRPr lang="en-US" sz="2400" b="0" i="0" dirty="0">
              <a:effectLst/>
            </a:endParaRPr>
          </a:p>
        </p:txBody>
      </p:sp>
      <p:pic>
        <p:nvPicPr>
          <p:cNvPr id="8" name="Picture 7">
            <a:extLst>
              <a:ext uri="{FF2B5EF4-FFF2-40B4-BE49-F238E27FC236}">
                <a16:creationId xmlns:a16="http://schemas.microsoft.com/office/drawing/2014/main" id="{10822DD5-A939-4DE3-849B-D68DF7BFAD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7255" y="6132818"/>
            <a:ext cx="604474" cy="604474"/>
          </a:xfrm>
          <a:prstGeom prst="rect">
            <a:avLst/>
          </a:prstGeom>
        </p:spPr>
      </p:pic>
    </p:spTree>
    <p:extLst>
      <p:ext uri="{BB962C8B-B14F-4D97-AF65-F5344CB8AC3E}">
        <p14:creationId xmlns:p14="http://schemas.microsoft.com/office/powerpoint/2010/main" val="108812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4840</TotalTime>
  <Words>998</Words>
  <Application>Microsoft Office PowerPoint</Application>
  <PresentationFormat>Widescreen</PresentationFormat>
  <Paragraphs>64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Save Cantonese: A Project to Preserve Cantonese in the West and A Case of Language Advocacy (Personal and Academic Perspectives)</vt:lpstr>
      <vt:lpstr>How it all began and how is it going?  Brief timeline: </vt:lpstr>
      <vt:lpstr>How it all began and how is it going (for me)? </vt:lpstr>
      <vt:lpstr>Sociolinguistic background: Chinese dialects</vt:lpstr>
      <vt:lpstr>Chinese topolects (方言)</vt:lpstr>
      <vt:lpstr>What is so special about Cantonese (1 in X number of dialects?)</vt:lpstr>
      <vt:lpstr>Language advocacy: personal and collective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Saving Cantonese:  Personal and Academic Perspectives</dc:title>
  <dc:creator>Tse, Keith (Postgrad Student)</dc:creator>
  <cp:lastModifiedBy>Tse, Keith (Postgrad Student)</cp:lastModifiedBy>
  <cp:revision>33</cp:revision>
  <dcterms:created xsi:type="dcterms:W3CDTF">2022-01-22T11:33:57Z</dcterms:created>
  <dcterms:modified xsi:type="dcterms:W3CDTF">2022-02-28T23:49:37Z</dcterms:modified>
</cp:coreProperties>
</file>