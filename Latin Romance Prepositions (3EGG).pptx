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5" r:id="rId8"/>
    <p:sldId id="262" r:id="rId9"/>
    <p:sldId id="266" r:id="rId10"/>
    <p:sldId id="267" r:id="rId11"/>
    <p:sldId id="268" r:id="rId12"/>
    <p:sldId id="263" r:id="rId13"/>
    <p:sldId id="269" r:id="rId14"/>
    <p:sldId id="272" r:id="rId15"/>
    <p:sldId id="271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7B8F-1DFE-4BCD-A33D-DE8E850A15D2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4DB4-5211-4C0A-B81C-868CAFCC07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7B8F-1DFE-4BCD-A33D-DE8E850A15D2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4DB4-5211-4C0A-B81C-868CAFCC07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7B8F-1DFE-4BCD-A33D-DE8E850A15D2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4DB4-5211-4C0A-B81C-868CAFCC07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7B8F-1DFE-4BCD-A33D-DE8E850A15D2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4DB4-5211-4C0A-B81C-868CAFCC07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7B8F-1DFE-4BCD-A33D-DE8E850A15D2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4DB4-5211-4C0A-B81C-868CAFCC07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7B8F-1DFE-4BCD-A33D-DE8E850A15D2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4DB4-5211-4C0A-B81C-868CAFCC07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7B8F-1DFE-4BCD-A33D-DE8E850A15D2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4DB4-5211-4C0A-B81C-868CAFCC07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7B8F-1DFE-4BCD-A33D-DE8E850A15D2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4DB4-5211-4C0A-B81C-868CAFCC07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7B8F-1DFE-4BCD-A33D-DE8E850A15D2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4DB4-5211-4C0A-B81C-868CAFCC07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7B8F-1DFE-4BCD-A33D-DE8E850A15D2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4DB4-5211-4C0A-B81C-868CAFCC07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17B8F-1DFE-4BCD-A33D-DE8E850A15D2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4DB4-5211-4C0A-B81C-868CAFCC07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17B8F-1DFE-4BCD-A33D-DE8E850A15D2}" type="datetimeFigureOut">
              <a:rPr lang="en-US" smtClean="0"/>
              <a:t>9/3/2021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A4DB4-5211-4C0A-B81C-868CAFCC07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124744"/>
            <a:ext cx="7772400" cy="1470025"/>
          </a:xfrm>
        </p:spPr>
        <p:txBody>
          <a:bodyPr/>
          <a:lstStyle/>
          <a:p>
            <a:r>
              <a:rPr lang="en-US" altLang="zh-CN" dirty="0"/>
              <a:t>Latin/Romance prepositions: </a:t>
            </a:r>
            <a:r>
              <a:rPr lang="en-US" altLang="zh-CN" dirty="0" err="1"/>
              <a:t>sublexical</a:t>
            </a:r>
            <a:r>
              <a:rPr lang="en-US" altLang="zh-CN" dirty="0"/>
              <a:t> </a:t>
            </a:r>
            <a:r>
              <a:rPr lang="en-US" altLang="zh-CN" dirty="0" err="1"/>
              <a:t>featural</a:t>
            </a:r>
            <a:r>
              <a:rPr lang="en-US" altLang="zh-CN" dirty="0"/>
              <a:t> </a:t>
            </a:r>
            <a:r>
              <a:rPr lang="en-US" altLang="zh-CN" dirty="0" err="1"/>
              <a:t>microvariation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3068960"/>
            <a:ext cx="6400800" cy="1752600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Keith </a:t>
            </a:r>
            <a:r>
              <a:rPr lang="en-US" sz="2400" dirty="0" err="1"/>
              <a:t>Tse</a:t>
            </a:r>
            <a:endParaRPr lang="en-US" sz="2400" dirty="0"/>
          </a:p>
          <a:p>
            <a:r>
              <a:rPr lang="en-US" sz="2400" dirty="0"/>
              <a:t>III </a:t>
            </a:r>
            <a:r>
              <a:rPr lang="en-US" sz="2400" dirty="0" err="1"/>
              <a:t>Encontro</a:t>
            </a:r>
            <a:r>
              <a:rPr lang="en-US" sz="2400" dirty="0"/>
              <a:t> de </a:t>
            </a:r>
            <a:r>
              <a:rPr lang="en-US" sz="2400" dirty="0" err="1"/>
              <a:t>Gramática</a:t>
            </a:r>
            <a:r>
              <a:rPr lang="en-US" sz="2400" dirty="0"/>
              <a:t> </a:t>
            </a:r>
            <a:r>
              <a:rPr lang="en-US" sz="2400" dirty="0" err="1"/>
              <a:t>Gerativa</a:t>
            </a:r>
            <a:r>
              <a:rPr lang="en-US" sz="2400" dirty="0"/>
              <a:t> (3EGG)</a:t>
            </a:r>
          </a:p>
          <a:p>
            <a:r>
              <a:rPr lang="pt-BR" sz="2400" dirty="0"/>
              <a:t>Homenagem a Sonia Cyrino e Maria Eugênia Duarte</a:t>
            </a:r>
            <a:endParaRPr lang="en-US" sz="2400" dirty="0"/>
          </a:p>
          <a:p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</a:t>
            </a:r>
            <a:r>
              <a:rPr lang="en-US" sz="2400" dirty="0" err="1"/>
              <a:t>Setembro</a:t>
            </a:r>
            <a:r>
              <a:rPr lang="en-US" sz="2400" dirty="0"/>
              <a:t> 2021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4797152"/>
            <a:ext cx="9144000" cy="2060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kumimoji="0" lang="en-US" altLang="zh-CN" b="0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Man</a:t>
            </a:r>
            <a:r>
              <a:rPr lang="en-US" altLang="zh-CN" dirty="0">
                <a:latin typeface="+mj-lt"/>
                <a:ea typeface="+mj-ea"/>
                <a:cs typeface="+mj-cs"/>
              </a:rPr>
              <a:t>y people have given me a helping hand in writing this piece of research, and I would like to thank especially Professors Nigel Vincent, Ian Roberts, Pino </a:t>
            </a:r>
            <a:r>
              <a:rPr lang="en-US" altLang="zh-CN" dirty="0" err="1">
                <a:latin typeface="+mj-lt"/>
                <a:ea typeface="+mj-ea"/>
                <a:cs typeface="+mj-cs"/>
              </a:rPr>
              <a:t>Longobardi</a:t>
            </a:r>
            <a:r>
              <a:rPr lang="en-US" altLang="zh-CN" dirty="0">
                <a:latin typeface="+mj-lt"/>
                <a:ea typeface="+mj-ea"/>
                <a:cs typeface="+mj-cs"/>
              </a:rPr>
              <a:t>, Chris </a:t>
            </a:r>
            <a:r>
              <a:rPr lang="en-US" altLang="zh-CN" dirty="0" err="1">
                <a:latin typeface="+mj-lt"/>
                <a:ea typeface="+mj-ea"/>
                <a:cs typeface="+mj-cs"/>
              </a:rPr>
              <a:t>Pountain</a:t>
            </a:r>
            <a:r>
              <a:rPr lang="en-US" altLang="zh-CN" dirty="0">
                <a:latin typeface="+mj-lt"/>
                <a:ea typeface="+mj-ea"/>
                <a:cs typeface="+mj-cs"/>
              </a:rPr>
              <a:t> for their ongoing advice and support over the years. Most of all, I would like to congratulate the </a:t>
            </a:r>
            <a:r>
              <a:rPr lang="en-US" altLang="zh-CN" dirty="0" err="1">
                <a:latin typeface="+mj-lt"/>
                <a:ea typeface="+mj-ea"/>
                <a:cs typeface="+mj-cs"/>
              </a:rPr>
              <a:t>honorands</a:t>
            </a:r>
            <a:r>
              <a:rPr lang="en-US" altLang="zh-CN" dirty="0">
                <a:latin typeface="+mj-lt"/>
                <a:ea typeface="+mj-ea"/>
                <a:cs typeface="+mj-cs"/>
              </a:rPr>
              <a:t> of 3EGG, Professors </a:t>
            </a:r>
            <a:r>
              <a:rPr lang="en-GB" altLang="zh-CN" dirty="0" err="1">
                <a:latin typeface="+mj-lt"/>
                <a:ea typeface="+mj-ea"/>
                <a:cs typeface="+mj-cs"/>
              </a:rPr>
              <a:t>Sónia</a:t>
            </a:r>
            <a:r>
              <a:rPr lang="en-GB" altLang="zh-CN" dirty="0">
                <a:latin typeface="+mj-lt"/>
                <a:ea typeface="+mj-ea"/>
                <a:cs typeface="+mj-cs"/>
              </a:rPr>
              <a:t> </a:t>
            </a:r>
            <a:r>
              <a:rPr lang="en-GB" altLang="zh-CN" dirty="0" err="1">
                <a:latin typeface="+mj-lt"/>
                <a:ea typeface="+mj-ea"/>
                <a:cs typeface="+mj-cs"/>
              </a:rPr>
              <a:t>Cyrino</a:t>
            </a:r>
            <a:r>
              <a:rPr lang="en-GB" altLang="zh-CN" dirty="0">
                <a:latin typeface="+mj-lt"/>
                <a:ea typeface="+mj-ea"/>
                <a:cs typeface="+mj-cs"/>
              </a:rPr>
              <a:t> and </a:t>
            </a:r>
            <a:r>
              <a:rPr lang="en-GB" altLang="zh-CN" dirty="0" err="1">
                <a:latin typeface="+mj-lt"/>
                <a:ea typeface="+mj-ea"/>
                <a:cs typeface="+mj-cs"/>
              </a:rPr>
              <a:t>María</a:t>
            </a:r>
            <a:r>
              <a:rPr lang="en-GB" altLang="zh-CN" dirty="0">
                <a:latin typeface="+mj-lt"/>
                <a:ea typeface="+mj-ea"/>
                <a:cs typeface="+mj-cs"/>
              </a:rPr>
              <a:t> </a:t>
            </a:r>
            <a:r>
              <a:rPr lang="pt-BR" dirty="0"/>
              <a:t>Eugênia Duarte</a:t>
            </a:r>
            <a:r>
              <a:rPr lang="en-GB" altLang="zh-CN" dirty="0">
                <a:latin typeface="+mj-lt"/>
                <a:ea typeface="+mj-ea"/>
                <a:cs typeface="+mj-cs"/>
              </a:rPr>
              <a:t>, for their seminal work in generative linguistics over the years. </a:t>
            </a:r>
            <a:r>
              <a:rPr lang="en-GB" altLang="zh-CN" i="1" dirty="0" err="1">
                <a:latin typeface="+mj-lt"/>
                <a:ea typeface="+mj-ea"/>
                <a:cs typeface="+mj-cs"/>
              </a:rPr>
              <a:t>Eu</a:t>
            </a:r>
            <a:r>
              <a:rPr lang="en-GB" altLang="zh-CN" i="1" dirty="0">
                <a:latin typeface="+mj-lt"/>
                <a:ea typeface="+mj-ea"/>
                <a:cs typeface="+mj-cs"/>
              </a:rPr>
              <a:t> </a:t>
            </a:r>
            <a:r>
              <a:rPr lang="en-GB" altLang="zh-CN" i="1" dirty="0" err="1">
                <a:latin typeface="+mj-lt"/>
                <a:ea typeface="+mj-ea"/>
                <a:cs typeface="+mj-cs"/>
              </a:rPr>
              <a:t>parabenizo</a:t>
            </a:r>
            <a:r>
              <a:rPr lang="en-GB" altLang="zh-CN" i="1" dirty="0">
                <a:latin typeface="+mj-lt"/>
                <a:ea typeface="+mj-ea"/>
                <a:cs typeface="+mj-cs"/>
              </a:rPr>
              <a:t> A </a:t>
            </a:r>
            <a:r>
              <a:rPr lang="en-GB" altLang="zh-CN" i="1" dirty="0" err="1">
                <a:latin typeface="+mj-lt"/>
                <a:ea typeface="+mj-ea"/>
                <a:cs typeface="+mj-cs"/>
              </a:rPr>
              <a:t>vocês</a:t>
            </a:r>
            <a:r>
              <a:rPr lang="en-GB" altLang="zh-CN" dirty="0">
                <a:latin typeface="+mj-lt"/>
                <a:ea typeface="+mj-ea"/>
                <a:cs typeface="+mj-cs"/>
              </a:rPr>
              <a:t>! </a:t>
            </a:r>
            <a:endParaRPr kumimoji="0" lang="en-US" b="0" i="0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en-GB" dirty="0"/>
              <a:t>Formal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/>
              <a:t>Major research field: </a:t>
            </a:r>
          </a:p>
          <a:p>
            <a:pPr>
              <a:buNone/>
            </a:pPr>
            <a:r>
              <a:rPr lang="en-GB" sz="2400" dirty="0" err="1"/>
              <a:t>Rizzi</a:t>
            </a:r>
            <a:r>
              <a:rPr lang="en-GB" sz="2400" dirty="0"/>
              <a:t> (1982), Borer (1986), Chomsky (1995), Baker (1996), </a:t>
            </a:r>
            <a:r>
              <a:rPr lang="en-GB" sz="2400" dirty="0" err="1"/>
              <a:t>Kayne</a:t>
            </a:r>
            <a:r>
              <a:rPr lang="en-GB" sz="2400" dirty="0"/>
              <a:t> (2005), </a:t>
            </a:r>
            <a:r>
              <a:rPr lang="en-GB" sz="2400" dirty="0" err="1"/>
              <a:t>Biberauer</a:t>
            </a:r>
            <a:r>
              <a:rPr lang="en-GB" sz="2400" dirty="0"/>
              <a:t> (2008), Roberts and Holmberg (2010)</a:t>
            </a:r>
          </a:p>
          <a:p>
            <a:pPr>
              <a:buNone/>
            </a:pPr>
            <a:r>
              <a:rPr lang="en-GB" sz="2400" dirty="0"/>
              <a:t>Critiques</a:t>
            </a:r>
            <a:r>
              <a:rPr lang="en-US" sz="2400" dirty="0"/>
              <a:t>: </a:t>
            </a:r>
            <a:r>
              <a:rPr lang="en-US" sz="2400" dirty="0" err="1"/>
              <a:t>Newmeyer</a:t>
            </a:r>
            <a:r>
              <a:rPr lang="en-US" sz="2400" dirty="0"/>
              <a:t> (2006)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364502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Historical/Comparative Syntax: Parametric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Variation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Longobardi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(2001, 2005), Roberts and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Roussou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(R&amp;R) (2003), Roberts (2007, forthcoming),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Gianollo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Guardiano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Longobardi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(2008))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9552" y="270892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800" dirty="0"/>
              <a:t>Rethinking Comparative Syntax, University of Cambridge </a:t>
            </a:r>
            <a:r>
              <a:rPr lang="en-US" sz="2800" dirty="0"/>
              <a:t>(Roberts et al.)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11560" y="544522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Formal modelling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Language Variation and Change through Time and Space (Parameters)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GB" dirty="0"/>
              <a:t>Fine-tuning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270892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/>
              <a:t>Typology of Parameters: Parameters are getting ‘smaller’</a:t>
            </a:r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14730" y="599252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Are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lexical parameters ‘small’ enough? Could there be </a:t>
            </a:r>
            <a:r>
              <a:rPr kumimoji="0" lang="en-GB" sz="28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sublexical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parametric variation? 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3568" y="184482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noProof="0" dirty="0"/>
              <a:t>Chomsky-Borer conjecture: parameters are lexical i.e. functional categories (</a:t>
            </a:r>
            <a:r>
              <a:rPr lang="en-GB" sz="2400" noProof="0" dirty="0" err="1"/>
              <a:t>Ouhalla</a:t>
            </a:r>
            <a:r>
              <a:rPr lang="en-GB" sz="2400" noProof="0" dirty="0"/>
              <a:t> (1991): functional categories = grammar)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5576" y="980728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sz="2400" dirty="0"/>
              <a:t>Two key hypotheses: </a:t>
            </a:r>
            <a:endParaRPr lang="pt-BR" sz="2400" i="0" dirty="0"/>
          </a:p>
        </p:txBody>
      </p:sp>
      <p:sp>
        <p:nvSpPr>
          <p:cNvPr id="7" name="Rectangle 6"/>
          <p:cNvSpPr/>
          <p:nvPr/>
        </p:nvSpPr>
        <p:spPr>
          <a:xfrm>
            <a:off x="827584" y="1412776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pt-BR" sz="2400" dirty="0"/>
              <a:t>1) Nature of Parameters: </a:t>
            </a:r>
            <a:endParaRPr lang="pt-BR" sz="2400" i="0" dirty="0"/>
          </a:p>
        </p:txBody>
      </p:sp>
      <p:sp>
        <p:nvSpPr>
          <p:cNvPr id="8" name="Rectangle 7"/>
          <p:cNvSpPr/>
          <p:nvPr/>
        </p:nvSpPr>
        <p:spPr>
          <a:xfrm>
            <a:off x="755576" y="3105835"/>
            <a:ext cx="80648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sz="2400" dirty="0"/>
              <a:t>Roberts and Biberauer (2015): </a:t>
            </a:r>
            <a:r>
              <a:rPr lang="pt-BR" sz="2400" i="1" dirty="0"/>
              <a:t>macroparameters</a:t>
            </a:r>
            <a:r>
              <a:rPr lang="pt-BR" sz="2400" dirty="0"/>
              <a:t>, </a:t>
            </a:r>
            <a:r>
              <a:rPr lang="pt-BR" sz="2400" i="1" dirty="0"/>
              <a:t>mesoparameters</a:t>
            </a:r>
            <a:r>
              <a:rPr lang="pt-BR" sz="2400" dirty="0"/>
              <a:t>, </a:t>
            </a:r>
            <a:r>
              <a:rPr lang="pt-BR" sz="2400" i="1" dirty="0"/>
              <a:t>microparameters</a:t>
            </a:r>
            <a:r>
              <a:rPr lang="pt-BR" sz="2400" dirty="0"/>
              <a:t>, </a:t>
            </a:r>
            <a:r>
              <a:rPr lang="pt-BR" sz="2400" i="1" dirty="0"/>
              <a:t>nanoparameters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11560" y="386104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dirty="0" err="1"/>
              <a:t>Microparameters</a:t>
            </a:r>
            <a:r>
              <a:rPr lang="en-GB" sz="2400" dirty="0"/>
              <a:t> are </a:t>
            </a:r>
            <a:r>
              <a:rPr lang="en-GB" sz="2400" dirty="0" err="1"/>
              <a:t>categorial</a:t>
            </a:r>
            <a:r>
              <a:rPr lang="en-GB" sz="2400" dirty="0"/>
              <a:t>, </a:t>
            </a:r>
            <a:r>
              <a:rPr lang="en-GB" sz="2400" dirty="0" err="1"/>
              <a:t>nanoparameters</a:t>
            </a:r>
            <a:r>
              <a:rPr lang="en-GB" sz="2400" dirty="0"/>
              <a:t> are lexical; </a:t>
            </a:r>
            <a:r>
              <a:rPr lang="en-GB" sz="2400" dirty="0" err="1"/>
              <a:t>macroparameters</a:t>
            </a:r>
            <a:r>
              <a:rPr lang="en-GB" sz="2400" dirty="0"/>
              <a:t> are conglomerates of </a:t>
            </a:r>
            <a:r>
              <a:rPr lang="en-GB" sz="2400" dirty="0" err="1"/>
              <a:t>microparameters</a:t>
            </a:r>
            <a:r>
              <a:rPr lang="en-GB" sz="2400" dirty="0"/>
              <a:t>  (Roberts (2012)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11560" y="4941168"/>
            <a:ext cx="853244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</a:t>
            </a:r>
            <a:r>
              <a:rPr lang="en-GB" sz="2400" dirty="0" err="1"/>
              <a:t>i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ndividual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categories (nano-/microparameters) are basic units of parametric variation which underlie typological change (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macroparameters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Parameter-setting in Language Acquisition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84482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11560" y="112474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2) Nature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Parameter-(Re)setting: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9552" y="16288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L1-acquisition: locus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for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setting parametric values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Language Variation and Change (Lightfoot (1979, 1991, 1999, 2006))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249289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Strong Minimalist Thesis (SMT) (Chomsky (1995, 2000, 2001)):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‘a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(syntactic) operation is necessary if possible’ &gt; no formal/derivational 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optionality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371703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 no-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optionality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really this strong? Could there be optional parametric-setting in language acquisition and change which leads to language/parametric variation?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551723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Goals of this presentation: examine and modify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hypotheses 1) and 2) in the context of Romance prepositions and their Latin antecedents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GB" dirty="0"/>
              <a:t>Prepositions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/>
              <a:t>Prepositions are underexplored (not examined in R&amp;R (2003) (T(</a:t>
            </a:r>
            <a:r>
              <a:rPr lang="en-GB" sz="2400" dirty="0" err="1"/>
              <a:t>ense</a:t>
            </a:r>
            <a:r>
              <a:rPr lang="en-GB" sz="2400" dirty="0"/>
              <a:t>), C(</a:t>
            </a:r>
            <a:r>
              <a:rPr lang="en-GB" sz="2400" dirty="0" err="1"/>
              <a:t>omp</a:t>
            </a:r>
            <a:r>
              <a:rPr lang="en-GB" sz="2400" dirty="0"/>
              <a:t>), D(et))</a:t>
            </a:r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7544" y="314096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Rizzi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lang="en-GB" sz="2400" dirty="0"/>
              <a:t>Cinque (2010) </a:t>
            </a:r>
            <a:r>
              <a:rPr lang="en-GB" sz="2400" i="1" dirty="0"/>
              <a:t>Mapping Spatial PPs: The Cartography of Syntactic Structures, Volume 6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23528" y="1772816"/>
            <a:ext cx="88204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Lexical</a:t>
            </a:r>
            <a:r>
              <a:rPr lang="en-US" sz="2400" dirty="0"/>
              <a:t> </a:t>
            </a:r>
            <a:r>
              <a:rPr lang="en-US" sz="2400" dirty="0" err="1"/>
              <a:t>vs</a:t>
            </a:r>
            <a:r>
              <a:rPr lang="en-US" sz="2400" dirty="0"/>
              <a:t> Functional Prepositions (</a:t>
            </a:r>
            <a:r>
              <a:rPr lang="en-US" sz="2400" dirty="0" err="1"/>
              <a:t>Rauh</a:t>
            </a:r>
            <a:r>
              <a:rPr lang="en-US" sz="2400" dirty="0"/>
              <a:t> (1993, 2002), Cinque (1993)):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544" y="3861048"/>
            <a:ext cx="84969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sz="2400" dirty="0"/>
              <a:t>Svenonius (2006, 2010), den Dikken (2010), Abraham (2010): </a:t>
            </a:r>
          </a:p>
          <a:p>
            <a:pPr fontAlgn="base"/>
            <a:r>
              <a:rPr lang="pt-BR" sz="2400" dirty="0"/>
              <a:t>Spatial cartography: complex vectors (Ps) above eigenpiece (K(ase)) i.e. K serves as foundation/base of the nominal complement from which various spatial and directional vector Ps originate and move </a:t>
            </a:r>
          </a:p>
          <a:p>
            <a:pPr fontAlgn="base"/>
            <a:r>
              <a:rPr lang="pt-BR" sz="2400" dirty="0"/>
              <a:t> </a:t>
            </a:r>
            <a:endParaRPr lang="pt-BR" sz="2400" i="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67544" y="233203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Lexical Ps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denote spatial relations; Functional Ps are grammatical markers (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cf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Huddleston and 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Pullum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(2002))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9552" y="544522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P… K… D… 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763688" y="594928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noun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115616" y="594928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0" y="594928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vectors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/>
              <a:t>Latin/Romance Prepositions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Lexical (spatial) </a:t>
            </a:r>
            <a:r>
              <a:rPr lang="en-US" dirty="0" err="1"/>
              <a:t>vs</a:t>
            </a:r>
            <a:r>
              <a:rPr lang="en-US" dirty="0"/>
              <a:t> Functional (grammatical):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AD: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8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GB" sz="20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allative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‘</a:t>
            </a:r>
            <a:r>
              <a:rPr kumimoji="0" lang="en-GB" sz="28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sz="28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wards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)’ (physical </a:t>
            </a:r>
            <a:r>
              <a:rPr lang="en-GB" altLang="zh-CN" sz="2800" dirty="0"/>
              <a:t>and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metaphorical movement towards a particular location)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67544" y="249289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DE: </a:t>
            </a: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ablative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‘from, regarding, about’ (either movement away from a particular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location or denoting content/theme)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39552" y="378904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Grammaticalization</a:t>
            </a:r>
            <a:r>
              <a:rPr lang="en-US" sz="2400" dirty="0"/>
              <a:t>: Lexical &gt; Functional (</a:t>
            </a:r>
            <a:r>
              <a:rPr lang="en-US" sz="2400" dirty="0" err="1"/>
              <a:t>Janda</a:t>
            </a:r>
            <a:r>
              <a:rPr lang="en-US" sz="2400" dirty="0"/>
              <a:t> and Campbell (2001), Campbell (2001))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39552" y="459501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reanalysed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as Case-marker (K) in Romance (K + DP)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95536" y="5013176"/>
            <a:ext cx="874846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 and DE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are 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reanalysed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as infinitival 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complementisers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(Mood)      (M + TP)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67544" y="580526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&gt; K/M: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915816" y="587727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 &gt; K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if the complement is nominal (DP)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915816" y="630932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/>
              <a:t>P &gt;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if the complement is infinitival (TP)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GB" dirty="0"/>
              <a:t>Latin AD and 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Latin prepositions select certain thematic arguments (inherent/semantic Case): </a:t>
            </a:r>
            <a:endParaRPr lang="en-US" sz="28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851920" y="206084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‘destination’/’direction’ (referential: +D)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987824" y="249289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‘recipient’/’beneficiary’/’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experiencer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’ (animate)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95536" y="198884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GB" sz="28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GB" sz="20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allative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‘</a:t>
            </a:r>
            <a:r>
              <a:rPr kumimoji="0" lang="en-GB" sz="28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sz="28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wards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)’: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563888" y="292494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‘purpose’/’</a:t>
            </a:r>
            <a:r>
              <a:rPr lang="en-GB" sz="2400" dirty="0"/>
              <a:t>outcome’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95536" y="34290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sz="28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GB" sz="20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ablative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‘</a:t>
            </a:r>
            <a:r>
              <a:rPr lang="en-GB" sz="2800" i="1" dirty="0"/>
              <a:t>about, regarding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’: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860032" y="350100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‘theme’/’content’/’proposition’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95536" y="393305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 + noun (animate, referential, purpose/outcome)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95536" y="439583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noun (theme/content/proposition)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95536" y="4858618"/>
            <a:ext cx="867645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 and DE have semantic </a:t>
            </a: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selectional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restrictions which can be represented in terms of uninterpretable features: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800" baseline="0" dirty="0"/>
              <a:t>AD (u-animate/referential/outcome/purpose)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(u-theme/content/proposition)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/>
              <a:t>Differential Object Marking (DOM)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24744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Very well-known, especially in this conference! </a:t>
            </a:r>
          </a:p>
          <a:p>
            <a:pPr>
              <a:buNone/>
            </a:pPr>
            <a:r>
              <a:rPr lang="en-US" sz="2400" dirty="0" err="1"/>
              <a:t>Simões</a:t>
            </a:r>
            <a:r>
              <a:rPr lang="en-US" sz="2400" dirty="0"/>
              <a:t> (</a:t>
            </a:r>
            <a:r>
              <a:rPr lang="en-US" sz="2400" dirty="0" err="1"/>
              <a:t>ontem</a:t>
            </a:r>
            <a:r>
              <a:rPr lang="en-US" sz="2400" dirty="0"/>
              <a:t>), </a:t>
            </a:r>
            <a:r>
              <a:rPr lang="en-US" sz="2400" dirty="0" err="1"/>
              <a:t>Pires</a:t>
            </a:r>
            <a:r>
              <a:rPr lang="en-US" sz="2400" dirty="0"/>
              <a:t> (</a:t>
            </a:r>
            <a:r>
              <a:rPr lang="en-US" sz="2400" dirty="0" err="1"/>
              <a:t>ontem</a:t>
            </a:r>
            <a:r>
              <a:rPr lang="en-US" sz="2400" dirty="0"/>
              <a:t>), </a:t>
            </a:r>
            <a:r>
              <a:rPr lang="en-US" sz="2400" dirty="0" err="1"/>
              <a:t>Cyrino</a:t>
            </a:r>
            <a:r>
              <a:rPr lang="en-US" sz="2400" dirty="0"/>
              <a:t> (</a:t>
            </a:r>
            <a:r>
              <a:rPr lang="en-US" sz="2400" dirty="0" err="1"/>
              <a:t>ontem</a:t>
            </a:r>
            <a:r>
              <a:rPr lang="en-US" sz="2400" dirty="0"/>
              <a:t> et passim), </a:t>
            </a:r>
            <a:r>
              <a:rPr lang="en-US" sz="2400" dirty="0" err="1"/>
              <a:t>Cyrino</a:t>
            </a:r>
            <a:r>
              <a:rPr lang="en-US" sz="2400" dirty="0"/>
              <a:t> and </a:t>
            </a:r>
            <a:r>
              <a:rPr lang="en-US" sz="2400" dirty="0" err="1"/>
              <a:t>Irimia</a:t>
            </a:r>
            <a:r>
              <a:rPr lang="en-US" sz="2400" dirty="0"/>
              <a:t> (2019)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7544" y="2332037"/>
            <a:ext cx="830160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Spanish: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personal </a:t>
            </a:r>
            <a:r>
              <a:rPr kumimoji="0" lang="en-US" sz="22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el </a:t>
            </a:r>
            <a:r>
              <a:rPr kumimoji="0" lang="en-US" sz="2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objeto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directo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preposicional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US" sz="2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Pensado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(1995))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9552" y="278092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Pan-Romance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Rohlfs</a:t>
            </a:r>
            <a:r>
              <a:rPr lang="en-GB" sz="2400" dirty="0"/>
              <a:t> (1971)):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39552" y="594928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Latin/proto-Romance</a:t>
            </a:r>
            <a:r>
              <a:rPr lang="en-GB" sz="2800" dirty="0"/>
              <a:t>: AD (</a:t>
            </a:r>
            <a:r>
              <a:rPr lang="en-GB" sz="2800" dirty="0" err="1"/>
              <a:t>P</a:t>
            </a:r>
            <a:r>
              <a:rPr lang="en-GB" sz="2000" dirty="0" err="1"/>
              <a:t>allative</a:t>
            </a:r>
            <a:r>
              <a:rPr lang="en-GB" sz="2800" dirty="0"/>
              <a:t> &gt; K(</a:t>
            </a:r>
            <a:r>
              <a:rPr lang="en-GB" sz="2800" dirty="0" err="1"/>
              <a:t>ase</a:t>
            </a:r>
            <a:r>
              <a:rPr lang="en-GB" sz="2800" dirty="0"/>
              <a:t>))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1560" y="3244334"/>
            <a:ext cx="8136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‘The Romance area presents the phenomenon (DOM) as an innovation </a:t>
            </a:r>
            <a:r>
              <a:rPr lang="en-US" sz="2400" b="1" dirty="0"/>
              <a:t>phased in time</a:t>
            </a:r>
            <a:r>
              <a:rPr lang="en-US" sz="2400" dirty="0"/>
              <a:t>, </a:t>
            </a:r>
            <a:r>
              <a:rPr lang="en-US" sz="2400" b="1" dirty="0"/>
              <a:t>discontinuous in space</a:t>
            </a:r>
            <a:r>
              <a:rPr lang="en-US" sz="2400" dirty="0"/>
              <a:t>, and </a:t>
            </a:r>
            <a:r>
              <a:rPr lang="en-US" sz="2400" b="1" dirty="0"/>
              <a:t>at an incipient stage in many areas</a:t>
            </a:r>
            <a:r>
              <a:rPr lang="en-US" sz="2400" dirty="0"/>
              <a:t>.’ (</a:t>
            </a:r>
            <a:r>
              <a:rPr lang="en-US" sz="2400" dirty="0" err="1"/>
              <a:t>Nocentini</a:t>
            </a:r>
            <a:r>
              <a:rPr lang="en-US" sz="2400" dirty="0"/>
              <a:t> (1985:303), my translation/brackets/bold)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553" y="4941168"/>
            <a:ext cx="79208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DOM is pan-Romance and has </a:t>
            </a:r>
            <a:r>
              <a:rPr lang="en-US" sz="2400" dirty="0" err="1"/>
              <a:t>microvariation</a:t>
            </a:r>
            <a:r>
              <a:rPr lang="en-US" sz="2400" dirty="0"/>
              <a:t> between Romance varieties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GB" dirty="0"/>
              <a:t>Romance </a:t>
            </a:r>
            <a:r>
              <a:rPr lang="en-GB" i="1" dirty="0"/>
              <a:t>ad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800" dirty="0"/>
              <a:t>Huge </a:t>
            </a:r>
            <a:r>
              <a:rPr lang="en-GB" sz="2800" dirty="0" err="1"/>
              <a:t>microvariation</a:t>
            </a:r>
            <a:r>
              <a:rPr lang="en-GB" sz="2800" dirty="0"/>
              <a:t> (some stronger (&gt;) than others): </a:t>
            </a:r>
            <a:endParaRPr lang="en-US" sz="28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55679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DOM-parameters (nominal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verbal) (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Serzant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Witlack-Makarevich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(2018)):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1560" y="2492896"/>
            <a:ext cx="13917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Nominal: </a:t>
            </a:r>
          </a:p>
        </p:txBody>
      </p:sp>
      <p:sp>
        <p:nvSpPr>
          <p:cNvPr id="6" name="Rectangle 5"/>
          <p:cNvSpPr/>
          <p:nvPr/>
        </p:nvSpPr>
        <p:spPr>
          <a:xfrm>
            <a:off x="683568" y="2924944"/>
            <a:ext cx="78290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Human &gt; Animate &gt; Inanimate (Silverstein (1976:176), </a:t>
            </a:r>
            <a:r>
              <a:rPr lang="en-US" sz="2000" dirty="0" err="1"/>
              <a:t>Aissen</a:t>
            </a:r>
            <a:r>
              <a:rPr lang="en-US" sz="2000" dirty="0"/>
              <a:t> (2003:438))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3568" y="3429000"/>
            <a:ext cx="84604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Personal Pronoun (1</a:t>
            </a:r>
            <a:r>
              <a:rPr lang="en-US" sz="2000" baseline="30000" dirty="0"/>
              <a:t>st</a:t>
            </a:r>
            <a:r>
              <a:rPr lang="en-US" sz="2000" dirty="0"/>
              <a:t> &gt; 2</a:t>
            </a:r>
            <a:r>
              <a:rPr lang="en-US" sz="2000" baseline="30000" dirty="0"/>
              <a:t>nd</a:t>
            </a:r>
            <a:r>
              <a:rPr lang="en-US" sz="2000" dirty="0"/>
              <a:t> &gt; 3</a:t>
            </a:r>
            <a:r>
              <a:rPr lang="en-US" sz="2000" baseline="30000" dirty="0"/>
              <a:t>rd</a:t>
            </a:r>
            <a:r>
              <a:rPr lang="en-US" sz="2000" dirty="0"/>
              <a:t>) &gt; Proper name &gt; Definite NP &gt;              Indefinite Specific NP &gt; Non-specific NP (Lazard (1984:283), </a:t>
            </a:r>
            <a:r>
              <a:rPr lang="en-US" sz="2000" dirty="0" err="1"/>
              <a:t>Laca</a:t>
            </a:r>
            <a:r>
              <a:rPr lang="en-US" sz="2000" dirty="0"/>
              <a:t> (2006:438))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3568" y="4111056"/>
            <a:ext cx="11359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Verbal: 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1880" y="1916832"/>
            <a:ext cx="56521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‘Marked’ categories more likely (&gt;) to be marked (</a:t>
            </a:r>
            <a:r>
              <a:rPr lang="en-US" sz="2400" dirty="0" err="1"/>
              <a:t>Aissen</a:t>
            </a:r>
            <a:r>
              <a:rPr lang="en-US" sz="2400" dirty="0"/>
              <a:t> (2003))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3568" y="4509655"/>
            <a:ext cx="74095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 err="1"/>
              <a:t>matar</a:t>
            </a:r>
            <a:r>
              <a:rPr lang="en-US" sz="2000" dirty="0"/>
              <a:t> ‘to kill’ &gt; </a:t>
            </a:r>
            <a:r>
              <a:rPr lang="en-US" sz="2000" i="1" dirty="0" err="1"/>
              <a:t>ver</a:t>
            </a:r>
            <a:r>
              <a:rPr lang="en-US" sz="2000" dirty="0"/>
              <a:t> ‘to see’ &gt; </a:t>
            </a:r>
            <a:r>
              <a:rPr lang="en-US" sz="2000" i="1" dirty="0" err="1"/>
              <a:t>considerar</a:t>
            </a:r>
            <a:r>
              <a:rPr lang="en-US" sz="2000" i="1" dirty="0"/>
              <a:t> </a:t>
            </a:r>
            <a:r>
              <a:rPr lang="en-US" sz="2000" dirty="0"/>
              <a:t>‘to consider’ &gt; </a:t>
            </a:r>
            <a:r>
              <a:rPr lang="en-US" sz="2000" i="1" dirty="0" err="1"/>
              <a:t>tener</a:t>
            </a:r>
            <a:r>
              <a:rPr lang="en-US" sz="2000" dirty="0"/>
              <a:t> ‘to have’</a:t>
            </a:r>
          </a:p>
          <a:p>
            <a:r>
              <a:rPr lang="en-US" sz="2000" dirty="0"/>
              <a:t>(Pottier (1968:87-88), von Heusinger and Kaiser (2011:609))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GB" dirty="0"/>
              <a:t>Romance DOM (</a:t>
            </a:r>
            <a:r>
              <a:rPr lang="en-GB" i="1" dirty="0"/>
              <a:t>ad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/>
              <a:t>Spanish (</a:t>
            </a:r>
            <a:r>
              <a:rPr lang="en-GB" sz="2400" dirty="0" err="1"/>
              <a:t>animacy</a:t>
            </a:r>
            <a:r>
              <a:rPr lang="en-GB" sz="2400" dirty="0"/>
              <a:t> (human)): </a:t>
            </a:r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270892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Italian-dialects (central-southern)</a:t>
            </a:r>
            <a:r>
              <a:rPr lang="en-GB" sz="2000" noProof="0" dirty="0"/>
              <a:t> (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Human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Referential):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64273" y="479715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(Colloquial)</a:t>
            </a:r>
            <a:r>
              <a:rPr kumimoji="0" lang="en-GB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Catalán</a:t>
            </a:r>
            <a:r>
              <a:rPr lang="en-GB" dirty="0"/>
              <a:t>: Proper Names/Personal Pronouns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Jo</a:t>
            </a:r>
            <a:r>
              <a:rPr kumimoji="0" lang="en-GB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t’ </a:t>
            </a:r>
            <a:r>
              <a:rPr kumimoji="0" lang="en-GB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ajudo</a:t>
            </a:r>
            <a:r>
              <a:rPr kumimoji="0" lang="en-GB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tu</a:t>
            </a:r>
            <a:r>
              <a:rPr kumimoji="0" lang="en-GB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tu</a:t>
            </a:r>
            <a:r>
              <a:rPr kumimoji="0" lang="en-GB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m’ajudaràs</a:t>
            </a:r>
            <a:r>
              <a:rPr kumimoji="0" lang="en-GB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mi / </a:t>
            </a:r>
            <a:r>
              <a:rPr kumimoji="0" lang="en-GB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veur</a:t>
            </a:r>
            <a:r>
              <a:rPr lang="en-GB" dirty="0"/>
              <a:t>é </a:t>
            </a:r>
            <a:r>
              <a:rPr lang="en-GB" b="1" dirty="0"/>
              <a:t>a</a:t>
            </a:r>
            <a:r>
              <a:rPr lang="en-GB" dirty="0"/>
              <a:t> la Maria</a:t>
            </a:r>
            <a:endParaRPr kumimoji="0" lang="en-GB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noProof="0" dirty="0"/>
              <a:t>‘I help you and you will help me’/’I shall see Maria’ (</a:t>
            </a:r>
            <a:r>
              <a:rPr lang="en-GB" noProof="0" dirty="0" err="1"/>
              <a:t>Escandell</a:t>
            </a:r>
            <a:r>
              <a:rPr lang="en-GB" noProof="0" dirty="0"/>
              <a:t>-Vidal (2007, 2009))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0240" y="1184837"/>
            <a:ext cx="820891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Busco</a:t>
            </a:r>
            <a:r>
              <a:rPr lang="en-US" sz="2000" dirty="0"/>
              <a:t> </a:t>
            </a:r>
            <a:r>
              <a:rPr lang="en-US" sz="2000" b="1" dirty="0"/>
              <a:t>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persona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sabe</a:t>
            </a:r>
            <a:r>
              <a:rPr lang="en-US" sz="2000" dirty="0"/>
              <a:t> (</a:t>
            </a:r>
            <a:r>
              <a:rPr lang="en-US" sz="2000" dirty="0" err="1"/>
              <a:t>ind</a:t>
            </a:r>
            <a:r>
              <a:rPr lang="en-US" sz="2000" dirty="0"/>
              <a:t>.) </a:t>
            </a:r>
            <a:r>
              <a:rPr lang="en-US" sz="2000" dirty="0" err="1"/>
              <a:t>usar</a:t>
            </a:r>
            <a:r>
              <a:rPr lang="en-US" sz="2000" dirty="0"/>
              <a:t> la </a:t>
            </a:r>
            <a:r>
              <a:rPr lang="en-US" sz="2000" dirty="0" err="1"/>
              <a:t>computadora</a:t>
            </a:r>
            <a:endParaRPr lang="en-US" sz="2000" dirty="0"/>
          </a:p>
          <a:p>
            <a:r>
              <a:rPr lang="en-US" sz="2000" dirty="0" err="1"/>
              <a:t>Busco</a:t>
            </a:r>
            <a:r>
              <a:rPr lang="en-US" sz="2000" dirty="0"/>
              <a:t> (</a:t>
            </a:r>
            <a:r>
              <a:rPr lang="en-US" sz="2000" b="1" dirty="0"/>
              <a:t>a</a:t>
            </a:r>
            <a:r>
              <a:rPr lang="en-US" sz="2000" dirty="0"/>
              <a:t>) </a:t>
            </a:r>
            <a:r>
              <a:rPr lang="en-US" sz="2000" dirty="0" err="1"/>
              <a:t>una</a:t>
            </a:r>
            <a:r>
              <a:rPr lang="en-US" sz="2000" dirty="0"/>
              <a:t> persona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sepa</a:t>
            </a:r>
            <a:r>
              <a:rPr lang="en-US" sz="2000" dirty="0"/>
              <a:t> (subj.) </a:t>
            </a:r>
            <a:r>
              <a:rPr lang="en-US" sz="2000" dirty="0" err="1"/>
              <a:t>usar</a:t>
            </a:r>
            <a:r>
              <a:rPr lang="en-US" sz="2000" dirty="0"/>
              <a:t> la </a:t>
            </a:r>
            <a:r>
              <a:rPr lang="en-US" sz="2000" dirty="0" err="1"/>
              <a:t>computadora</a:t>
            </a:r>
            <a:endParaRPr lang="en-US" sz="2000" dirty="0"/>
          </a:p>
          <a:p>
            <a:r>
              <a:rPr lang="en-US" sz="2000" dirty="0"/>
              <a:t>‘I am looking for someone who knows how to use the computer.’ </a:t>
            </a:r>
          </a:p>
          <a:p>
            <a:r>
              <a:rPr lang="en-US" sz="2000" dirty="0"/>
              <a:t>(</a:t>
            </a:r>
            <a:r>
              <a:rPr lang="en-US" sz="2000" dirty="0" err="1"/>
              <a:t>Leonetti</a:t>
            </a:r>
            <a:r>
              <a:rPr lang="en-US" sz="2000" dirty="0"/>
              <a:t> (2004): </a:t>
            </a:r>
            <a:r>
              <a:rPr lang="en-US" sz="2000" i="1" dirty="0"/>
              <a:t>a</a:t>
            </a:r>
            <a:r>
              <a:rPr lang="en-US" sz="2000" dirty="0"/>
              <a:t> becomes optional (though still grammatical) if the object is non-specific  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240" y="2965293"/>
            <a:ext cx="85324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Ammazzaru</a:t>
            </a:r>
            <a:r>
              <a:rPr lang="en-US" sz="2000" dirty="0"/>
              <a:t> (*</a:t>
            </a:r>
            <a:r>
              <a:rPr lang="en-US" sz="2000" b="1" dirty="0"/>
              <a:t>a</a:t>
            </a:r>
            <a:r>
              <a:rPr lang="en-US" sz="2000" dirty="0"/>
              <a:t>) un </a:t>
            </a:r>
            <a:r>
              <a:rPr lang="en-US" sz="2000" dirty="0" err="1"/>
              <a:t>cristianu</a:t>
            </a:r>
            <a:r>
              <a:rPr lang="en-US" sz="2000" dirty="0"/>
              <a:t> a </a:t>
            </a:r>
            <a:r>
              <a:rPr lang="en-US" sz="2000" dirty="0" err="1"/>
              <a:t>Giurgenti</a:t>
            </a:r>
            <a:r>
              <a:rPr lang="en-US" sz="2000" dirty="0"/>
              <a:t> (indefinite)</a:t>
            </a:r>
          </a:p>
          <a:p>
            <a:r>
              <a:rPr lang="en-US" sz="2000" dirty="0"/>
              <a:t>‘They killed a person in </a:t>
            </a:r>
            <a:r>
              <a:rPr lang="en-US" sz="2000" dirty="0" err="1"/>
              <a:t>Gargento</a:t>
            </a:r>
            <a:r>
              <a:rPr lang="en-US" sz="2000" dirty="0"/>
              <a:t>’ (Sicilian) (</a:t>
            </a:r>
            <a:r>
              <a:rPr lang="en-US" sz="2000" dirty="0" err="1"/>
              <a:t>Iemmolo</a:t>
            </a:r>
            <a:r>
              <a:rPr lang="en-US" sz="2000" dirty="0"/>
              <a:t> (2007:5))</a:t>
            </a:r>
          </a:p>
          <a:p>
            <a:r>
              <a:rPr lang="en-US" sz="2000" dirty="0" err="1"/>
              <a:t>Cercave</a:t>
            </a:r>
            <a:r>
              <a:rPr lang="en-US" sz="2000" dirty="0"/>
              <a:t> (*</a:t>
            </a:r>
            <a:r>
              <a:rPr lang="en-US" sz="2000" b="1" dirty="0"/>
              <a:t>a</a:t>
            </a:r>
            <a:r>
              <a:rPr lang="en-US" sz="2000" dirty="0"/>
              <a:t>) nu </a:t>
            </a:r>
            <a:r>
              <a:rPr lang="en-US" sz="2000" dirty="0" err="1"/>
              <a:t>crestiene</a:t>
            </a:r>
            <a:r>
              <a:rPr lang="en-US" sz="2000" dirty="0"/>
              <a:t> ca </a:t>
            </a:r>
            <a:r>
              <a:rPr lang="en-US" sz="2000" dirty="0" err="1"/>
              <a:t>sape</a:t>
            </a:r>
            <a:r>
              <a:rPr lang="en-US" sz="2000" dirty="0"/>
              <a:t> </a:t>
            </a:r>
            <a:r>
              <a:rPr lang="en-US" sz="2000" dirty="0" err="1"/>
              <a:t>lesca</a:t>
            </a:r>
            <a:r>
              <a:rPr lang="en-US" sz="2000" dirty="0"/>
              <a:t> u </a:t>
            </a:r>
            <a:r>
              <a:rPr lang="en-US" sz="2000" dirty="0" err="1"/>
              <a:t>Bbarese</a:t>
            </a:r>
            <a:r>
              <a:rPr lang="en-US" sz="2000" dirty="0"/>
              <a:t> (non-specific)</a:t>
            </a:r>
          </a:p>
          <a:p>
            <a:r>
              <a:rPr lang="en-US" sz="2000" dirty="0"/>
              <a:t>‘I was looking for a(</a:t>
            </a:r>
            <a:r>
              <a:rPr lang="en-US" sz="2000" dirty="0" err="1"/>
              <a:t>ny</a:t>
            </a:r>
            <a:r>
              <a:rPr lang="en-US" sz="2000" dirty="0"/>
              <a:t>) person who can read </a:t>
            </a:r>
            <a:r>
              <a:rPr lang="en-US" sz="2000" dirty="0" err="1"/>
              <a:t>Barese</a:t>
            </a:r>
            <a:r>
              <a:rPr lang="en-US" sz="2000" dirty="0"/>
              <a:t>’ (</a:t>
            </a:r>
            <a:r>
              <a:rPr lang="en-US" sz="2000" dirty="0" err="1"/>
              <a:t>Barese</a:t>
            </a:r>
            <a:r>
              <a:rPr lang="en-US" sz="2000" dirty="0"/>
              <a:t>) (</a:t>
            </a:r>
            <a:r>
              <a:rPr lang="en-US" sz="2000" dirty="0" err="1"/>
              <a:t>Andriani</a:t>
            </a:r>
            <a:r>
              <a:rPr lang="en-US" sz="2000" dirty="0"/>
              <a:t> (2015))</a:t>
            </a:r>
          </a:p>
          <a:p>
            <a:r>
              <a:rPr lang="en-US" sz="2000" dirty="0" err="1"/>
              <a:t>Arrubbaru</a:t>
            </a:r>
            <a:r>
              <a:rPr lang="en-US" sz="2000" dirty="0"/>
              <a:t> (</a:t>
            </a:r>
            <a:r>
              <a:rPr lang="en-US" sz="2000" b="1" dirty="0"/>
              <a:t>a</a:t>
            </a:r>
            <a:r>
              <a:rPr lang="en-US" sz="2000" dirty="0"/>
              <a:t>) </a:t>
            </a:r>
            <a:r>
              <a:rPr lang="en-US" sz="2000" dirty="0" err="1"/>
              <a:t>i</a:t>
            </a:r>
            <a:r>
              <a:rPr lang="en-US" sz="2000" dirty="0"/>
              <a:t> so </a:t>
            </a:r>
            <a:r>
              <a:rPr lang="en-US" sz="2000" dirty="0" err="1"/>
              <a:t>cuscini</a:t>
            </a:r>
            <a:r>
              <a:rPr lang="en-US" sz="2000" dirty="0"/>
              <a:t> (plural)</a:t>
            </a:r>
          </a:p>
          <a:p>
            <a:r>
              <a:rPr lang="en-US" sz="2000" dirty="0"/>
              <a:t>They snatched his cousins.’ (Sicilian) (</a:t>
            </a:r>
            <a:r>
              <a:rPr lang="en-US" sz="2000" dirty="0" err="1"/>
              <a:t>Iemmolo</a:t>
            </a:r>
            <a:r>
              <a:rPr lang="en-US" sz="2000" dirty="0"/>
              <a:t> (2007:5))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240" y="5710800"/>
            <a:ext cx="86044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Portuguese (BP/EP): Proper Names (Divine/Superior)/Marked Personal Pronouns</a:t>
            </a:r>
          </a:p>
          <a:p>
            <a:r>
              <a:rPr lang="en-GB" dirty="0" err="1"/>
              <a:t>Devemos</a:t>
            </a:r>
            <a:r>
              <a:rPr lang="en-GB" dirty="0"/>
              <a:t> </a:t>
            </a:r>
            <a:r>
              <a:rPr lang="en-GB" dirty="0" err="1"/>
              <a:t>amar</a:t>
            </a:r>
            <a:r>
              <a:rPr lang="en-GB" dirty="0"/>
              <a:t> </a:t>
            </a:r>
            <a:r>
              <a:rPr lang="en-GB" b="1" dirty="0"/>
              <a:t>a</a:t>
            </a:r>
            <a:r>
              <a:rPr lang="en-GB" dirty="0"/>
              <a:t> Deus / tem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respeitar</a:t>
            </a:r>
            <a:r>
              <a:rPr lang="en-GB" dirty="0"/>
              <a:t> </a:t>
            </a:r>
            <a:r>
              <a:rPr lang="en-GB" b="1" dirty="0" err="1"/>
              <a:t>a</a:t>
            </a:r>
            <a:r>
              <a:rPr lang="en-GB" dirty="0" err="1"/>
              <a:t>o</a:t>
            </a:r>
            <a:r>
              <a:rPr lang="en-GB" dirty="0"/>
              <a:t> </a:t>
            </a:r>
            <a:r>
              <a:rPr lang="en-GB" dirty="0" err="1"/>
              <a:t>pai</a:t>
            </a:r>
            <a:r>
              <a:rPr lang="en-GB" dirty="0"/>
              <a:t> / </a:t>
            </a:r>
            <a:r>
              <a:rPr lang="en-GB" dirty="0" err="1"/>
              <a:t>ela</a:t>
            </a:r>
            <a:r>
              <a:rPr lang="en-GB" dirty="0"/>
              <a:t> </a:t>
            </a:r>
            <a:r>
              <a:rPr lang="en-GB" dirty="0" err="1"/>
              <a:t>odeia</a:t>
            </a:r>
            <a:r>
              <a:rPr lang="en-GB" dirty="0"/>
              <a:t> </a:t>
            </a:r>
            <a:r>
              <a:rPr lang="en-GB" b="1" dirty="0"/>
              <a:t>a</a:t>
            </a:r>
            <a:r>
              <a:rPr lang="en-GB" dirty="0"/>
              <a:t> </a:t>
            </a:r>
            <a:r>
              <a:rPr lang="en-GB" dirty="0" err="1"/>
              <a:t>mim</a:t>
            </a:r>
            <a:r>
              <a:rPr lang="en-GB" dirty="0"/>
              <a:t> e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odeio</a:t>
            </a:r>
            <a:r>
              <a:rPr lang="en-GB" dirty="0"/>
              <a:t> </a:t>
            </a:r>
            <a:r>
              <a:rPr lang="en-GB" b="1" dirty="0"/>
              <a:t>a</a:t>
            </a:r>
            <a:r>
              <a:rPr lang="en-GB" dirty="0"/>
              <a:t> </a:t>
            </a:r>
            <a:r>
              <a:rPr lang="en-GB" dirty="0" err="1"/>
              <a:t>ti</a:t>
            </a:r>
            <a:endParaRPr lang="en-GB" dirty="0"/>
          </a:p>
          <a:p>
            <a:r>
              <a:rPr lang="en-GB" dirty="0"/>
              <a:t>‘We must love God’/’one has to respect one’s father/’she hates me and I hate you’ (</a:t>
            </a:r>
            <a:r>
              <a:rPr lang="en-GB" dirty="0" err="1"/>
              <a:t>Schwenter</a:t>
            </a:r>
            <a:r>
              <a:rPr lang="en-GB" dirty="0"/>
              <a:t> (2014))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8772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800" dirty="0"/>
              <a:t>		VP</a:t>
            </a:r>
          </a:p>
          <a:p>
            <a:pPr>
              <a:buNone/>
            </a:pPr>
            <a:r>
              <a:rPr lang="en-GB" sz="2800" dirty="0" err="1"/>
              <a:t>SpecV</a:t>
            </a:r>
            <a:r>
              <a:rPr lang="en-GB" sz="2800" dirty="0"/>
              <a:t>		V’</a:t>
            </a:r>
          </a:p>
          <a:p>
            <a:pPr>
              <a:buNone/>
            </a:pPr>
            <a:r>
              <a:rPr lang="en-GB" sz="2000" dirty="0"/>
              <a:t>AD	</a:t>
            </a:r>
            <a:r>
              <a:rPr lang="en-GB" sz="2800" dirty="0"/>
              <a:t>	V		PP</a:t>
            </a:r>
          </a:p>
          <a:p>
            <a:pPr>
              <a:buNone/>
            </a:pPr>
            <a:r>
              <a:rPr lang="en-GB" sz="2800" dirty="0"/>
              <a:t>			</a:t>
            </a:r>
            <a:r>
              <a:rPr lang="en-GB" sz="2800" dirty="0" err="1"/>
              <a:t>Pallative</a:t>
            </a:r>
            <a:r>
              <a:rPr lang="en-GB" sz="2800" dirty="0"/>
              <a:t>	KP</a:t>
            </a:r>
          </a:p>
          <a:p>
            <a:pPr>
              <a:buNone/>
            </a:pPr>
            <a:r>
              <a:rPr lang="en-GB" sz="2800" dirty="0"/>
              <a:t>			</a:t>
            </a:r>
            <a:r>
              <a:rPr lang="en-GB" sz="2000" dirty="0"/>
              <a:t>AD</a:t>
            </a:r>
            <a:r>
              <a:rPr lang="en-GB" sz="2800" dirty="0"/>
              <a:t>	K		DP</a:t>
            </a:r>
          </a:p>
          <a:p>
            <a:pPr>
              <a:buNone/>
            </a:pPr>
            <a:r>
              <a:rPr lang="en-GB" sz="2800" dirty="0"/>
              <a:t>		      		</a:t>
            </a:r>
            <a:r>
              <a:rPr lang="en-GB" sz="2000" dirty="0"/>
              <a:t>ad</a:t>
            </a:r>
            <a:r>
              <a:rPr lang="en-GB" sz="2800" dirty="0"/>
              <a:t>	    D		</a:t>
            </a:r>
            <a:r>
              <a:rPr lang="en-GB" sz="2800" dirty="0" err="1"/>
              <a:t>PhiP</a:t>
            </a:r>
            <a:endParaRPr lang="en-GB" sz="2800" dirty="0"/>
          </a:p>
          <a:p>
            <a:pPr>
              <a:buNone/>
            </a:pPr>
            <a:r>
              <a:rPr lang="en-GB" sz="2800" dirty="0"/>
              <a:t>			   		   </a:t>
            </a:r>
            <a:r>
              <a:rPr lang="en-GB" sz="2000" dirty="0"/>
              <a:t>[+D]</a:t>
            </a:r>
            <a:r>
              <a:rPr lang="en-GB" sz="2800" dirty="0"/>
              <a:t>	Phi		       </a:t>
            </a:r>
            <a:r>
              <a:rPr lang="en-GB" sz="2800" dirty="0" err="1"/>
              <a:t>ProperP</a:t>
            </a:r>
            <a:endParaRPr lang="en-GB" sz="2800" dirty="0"/>
          </a:p>
          <a:p>
            <a:pPr>
              <a:buNone/>
            </a:pPr>
            <a:r>
              <a:rPr lang="en-GB" sz="2800" dirty="0"/>
              <a:t>						</a:t>
            </a:r>
            <a:r>
              <a:rPr lang="en-GB" sz="2000" dirty="0" err="1"/>
              <a:t>Pers</a:t>
            </a:r>
            <a:r>
              <a:rPr lang="en-GB" sz="2000" dirty="0"/>
              <a:t>:[1</a:t>
            </a:r>
            <a:r>
              <a:rPr lang="en-GB" sz="2000" baseline="30000" dirty="0"/>
              <a:t>st</a:t>
            </a:r>
            <a:r>
              <a:rPr lang="en-GB" sz="2000" dirty="0"/>
              <a:t>/2</a:t>
            </a:r>
            <a:r>
              <a:rPr lang="en-GB" sz="2000" baseline="30000" dirty="0"/>
              <a:t>nd</a:t>
            </a:r>
            <a:r>
              <a:rPr lang="en-GB" sz="2000" dirty="0"/>
              <a:t>/3</a:t>
            </a:r>
            <a:r>
              <a:rPr lang="en-GB" sz="2000" baseline="30000" dirty="0"/>
              <a:t>rd</a:t>
            </a:r>
            <a:r>
              <a:rPr lang="en-GB" sz="2000" dirty="0"/>
              <a:t>]</a:t>
            </a:r>
            <a:r>
              <a:rPr lang="en-GB" sz="2800" dirty="0"/>
              <a:t>	Proper	NP</a:t>
            </a:r>
          </a:p>
          <a:p>
            <a:pPr>
              <a:buNone/>
            </a:pPr>
            <a:r>
              <a:rPr lang="en-GB" sz="2800" dirty="0"/>
              <a:t>								</a:t>
            </a:r>
            <a:r>
              <a:rPr lang="en-GB" sz="2000" dirty="0"/>
              <a:t>[+Name]</a:t>
            </a:r>
            <a:r>
              <a:rPr lang="en-GB" sz="2800" dirty="0"/>
              <a:t>		N 						   </a:t>
            </a:r>
            <a:r>
              <a:rPr lang="en-GB" sz="1800" dirty="0"/>
              <a:t>[human/animate/divine/superior]</a:t>
            </a: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Formation of proto-Romance DOM (</a:t>
            </a:r>
            <a:r>
              <a:rPr lang="en-GB" i="1" dirty="0"/>
              <a:t>ad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976525" y="5877272"/>
            <a:ext cx="19880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Spanish: </a:t>
            </a:r>
            <a:r>
              <a:rPr lang="en-US" sz="2000" dirty="0" err="1"/>
              <a:t>animacy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379717" y="6253711"/>
            <a:ext cx="276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Italian dialects: human [+D]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78" y="5445976"/>
            <a:ext cx="2248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Catalán</a:t>
            </a:r>
            <a:r>
              <a:rPr lang="en-US" dirty="0"/>
              <a:t>: Proper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4326" y="5007573"/>
            <a:ext cx="2751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Catalán</a:t>
            </a:r>
            <a:r>
              <a:rPr lang="en-US" dirty="0"/>
              <a:t>: Personal Pronouns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55843" y="5888695"/>
            <a:ext cx="2568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Portuguese: Divine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2575" y="6477228"/>
            <a:ext cx="58142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Portuguese: Superior Noun (e.g. o </a:t>
            </a:r>
            <a:r>
              <a:rPr lang="en-US" dirty="0" err="1"/>
              <a:t>pai</a:t>
            </a:r>
            <a:r>
              <a:rPr lang="en-US" dirty="0"/>
              <a:t>/</a:t>
            </a:r>
            <a:r>
              <a:rPr lang="en-US" dirty="0" err="1"/>
              <a:t>chefe</a:t>
            </a:r>
            <a:r>
              <a:rPr lang="en-US" dirty="0"/>
              <a:t>/</a:t>
            </a:r>
            <a:r>
              <a:rPr lang="en-US" dirty="0" err="1"/>
              <a:t>presidente</a:t>
            </a:r>
            <a:r>
              <a:rPr lang="en-US" dirty="0"/>
              <a:t> etc)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4326" y="5311529"/>
            <a:ext cx="2212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Portuguese: 1</a:t>
            </a:r>
            <a:r>
              <a:rPr lang="en-GB" baseline="30000" dirty="0"/>
              <a:t>st</a:t>
            </a:r>
            <a:r>
              <a:rPr lang="en-GB" dirty="0"/>
              <a:t>/2</a:t>
            </a:r>
            <a:r>
              <a:rPr lang="en-GB" baseline="30000" dirty="0"/>
              <a:t>nd</a:t>
            </a:r>
            <a:r>
              <a:rPr lang="en-GB" dirty="0"/>
              <a:t> </a:t>
            </a:r>
            <a:r>
              <a:rPr lang="en-GB" dirty="0" err="1"/>
              <a:t>sg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dirty="0"/>
              <a:t>Prepositional Infinitives (PI)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Prepositional Infinitives: infinitives marked by prepositions (P + </a:t>
            </a:r>
            <a:r>
              <a:rPr lang="en-US" sz="2800" dirty="0" err="1"/>
              <a:t>inf</a:t>
            </a:r>
            <a:r>
              <a:rPr lang="en-US" sz="2800" dirty="0"/>
              <a:t>) (Sheehan and </a:t>
            </a:r>
            <a:r>
              <a:rPr lang="en-US" sz="2800" dirty="0" err="1"/>
              <a:t>Cyrino</a:t>
            </a:r>
            <a:r>
              <a:rPr lang="en-US" sz="2800" dirty="0"/>
              <a:t> (2018))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7544" y="206084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PIs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(PPs) </a:t>
            </a:r>
            <a:r>
              <a:rPr kumimoji="0" lang="en-GB" sz="28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vs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PIs (M(</a:t>
            </a:r>
            <a:r>
              <a:rPr kumimoji="0" lang="en-GB" sz="28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ood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)Ps):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67544" y="26369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PP: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 + DP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707904" y="26369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MP: M + TP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(M as Low C element (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cf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Rizzi’s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(1997) Fin)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39552" y="306896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Italian: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dirty="0"/>
              <a:t>m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vanto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di fare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questo</a:t>
            </a:r>
            <a:endParaRPr kumimoji="0" lang="en-GB" sz="24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dirty="0"/>
              <a:t>m</a:t>
            </a:r>
            <a:r>
              <a:rPr lang="en-GB" sz="2400" baseline="0" dirty="0"/>
              <a:t>i</a:t>
            </a:r>
            <a:r>
              <a:rPr lang="en-GB" sz="2400" dirty="0"/>
              <a:t> </a:t>
            </a:r>
            <a:r>
              <a:rPr lang="en-GB" sz="2400" dirty="0" err="1"/>
              <a:t>vanto</a:t>
            </a:r>
            <a:r>
              <a:rPr lang="en-GB" sz="2400" dirty="0"/>
              <a:t> di </a:t>
            </a:r>
            <a:r>
              <a:rPr lang="en-GB" sz="2400" dirty="0" err="1"/>
              <a:t>questo</a:t>
            </a:r>
            <a:endParaRPr lang="en-GB" sz="24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dirty="0"/>
              <a:t>m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ne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vanto</a:t>
            </a:r>
            <a:endParaRPr kumimoji="0" lang="en-GB" sz="24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baseline="0" dirty="0"/>
              <a:t>‘I boast of doing this’/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baseline="0" dirty="0"/>
              <a:t>’I boast of this’/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baseline="0" dirty="0"/>
              <a:t>’I boast of it.’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baseline="0" dirty="0"/>
              <a:t>(</a:t>
            </a:r>
            <a:r>
              <a:rPr lang="en-GB" sz="2400" baseline="0" dirty="0" err="1"/>
              <a:t>Benucci</a:t>
            </a:r>
            <a:r>
              <a:rPr lang="en-GB" sz="2400" dirty="0"/>
              <a:t> (1992:24-30))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779912" y="350100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ffermo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di fare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questo</a:t>
            </a:r>
            <a:endParaRPr kumimoji="0" lang="en-GB" sz="24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dirty="0" err="1"/>
              <a:t>a</a:t>
            </a:r>
            <a:r>
              <a:rPr lang="en-GB" sz="2400" baseline="0" dirty="0" err="1"/>
              <a:t>ffermo</a:t>
            </a:r>
            <a:r>
              <a:rPr lang="en-GB" sz="2400" baseline="0" dirty="0"/>
              <a:t> (*di)</a:t>
            </a:r>
            <a:r>
              <a:rPr lang="en-GB" sz="2400" dirty="0"/>
              <a:t> </a:t>
            </a:r>
            <a:r>
              <a:rPr lang="en-GB" sz="2400" dirty="0" err="1"/>
              <a:t>questo</a:t>
            </a:r>
            <a:endParaRPr lang="en-GB" sz="24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dirty="0"/>
              <a:t>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affermo</a:t>
            </a:r>
            <a:endParaRPr kumimoji="0" lang="en-GB" sz="24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baseline="0" dirty="0"/>
              <a:t>‘I assert doing</a:t>
            </a:r>
            <a:r>
              <a:rPr lang="en-GB" sz="2400" dirty="0"/>
              <a:t> this’/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‘I assert this’/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dirty="0"/>
              <a:t>‘I assert it’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Benucci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(1992:24))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GB" dirty="0"/>
              <a:t>Prepositional Infinitives (MP)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000" dirty="0"/>
              <a:t>Like DOM, there is huge </a:t>
            </a:r>
            <a:r>
              <a:rPr lang="en-GB" sz="2000" dirty="0" err="1"/>
              <a:t>microvariation</a:t>
            </a:r>
            <a:r>
              <a:rPr lang="en-GB" sz="2000" dirty="0"/>
              <a:t> (interestingly, Italian and French &gt; </a:t>
            </a:r>
            <a:r>
              <a:rPr lang="en-GB" sz="2000" dirty="0" err="1"/>
              <a:t>Ibero</a:t>
            </a:r>
            <a:r>
              <a:rPr lang="en-GB" sz="2000" dirty="0"/>
              <a:t>-Romance): </a:t>
            </a:r>
            <a:endParaRPr lang="en-US" sz="20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7544" y="155679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Italian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GB" sz="2000" b="0" i="1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</a:t>
            </a:r>
            <a:r>
              <a:rPr lang="en-GB" sz="2000" dirty="0"/>
              <a:t>-</a:t>
            </a:r>
            <a:r>
              <a:rPr lang="en-GB" sz="2000" dirty="0" err="1"/>
              <a:t>inf</a:t>
            </a:r>
            <a:r>
              <a:rPr lang="en-GB" sz="2000" dirty="0"/>
              <a:t> selected by declarative/</a:t>
            </a:r>
            <a:r>
              <a:rPr lang="en-GB" sz="2000" dirty="0" err="1"/>
              <a:t>prolative</a:t>
            </a:r>
            <a:r>
              <a:rPr lang="en-GB" sz="2000" dirty="0"/>
              <a:t>/jussive verbs; </a:t>
            </a:r>
            <a:r>
              <a:rPr lang="en-GB" sz="2000" i="1" dirty="0"/>
              <a:t>a</a:t>
            </a:r>
            <a:r>
              <a:rPr lang="en-GB" sz="2000" dirty="0"/>
              <a:t>-</a:t>
            </a:r>
            <a:r>
              <a:rPr lang="en-GB" sz="2000" dirty="0" err="1"/>
              <a:t>inf</a:t>
            </a:r>
            <a:r>
              <a:rPr lang="en-GB" sz="2000" dirty="0"/>
              <a:t> selected by future/purposive </a:t>
            </a:r>
            <a:r>
              <a:rPr lang="en-GB" sz="2000" dirty="0" err="1"/>
              <a:t>prolative</a:t>
            </a:r>
            <a:r>
              <a:rPr lang="en-GB" sz="2000" dirty="0"/>
              <a:t> and jussive verbs: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000" dirty="0" err="1"/>
              <a:t>Crederai</a:t>
            </a:r>
            <a:r>
              <a:rPr lang="en-GB" sz="2000" dirty="0"/>
              <a:t> </a:t>
            </a:r>
            <a:r>
              <a:rPr lang="en-GB" sz="2000" b="1" dirty="0" err="1"/>
              <a:t>d</a:t>
            </a:r>
            <a:r>
              <a:rPr lang="en-GB" sz="2000" dirty="0" err="1"/>
              <a:t>’averli</a:t>
            </a:r>
            <a:r>
              <a:rPr lang="en-GB" sz="2000" dirty="0"/>
              <a:t> </a:t>
            </a:r>
            <a:r>
              <a:rPr lang="en-GB" sz="2000" dirty="0" err="1"/>
              <a:t>trovati</a:t>
            </a:r>
            <a:r>
              <a:rPr lang="en-GB" sz="2000" dirty="0"/>
              <a:t>/</a:t>
            </a:r>
            <a:r>
              <a:rPr lang="en-GB" sz="2000" dirty="0" err="1"/>
              <a:t>ordinò</a:t>
            </a:r>
            <a:r>
              <a:rPr lang="en-GB" sz="2000" dirty="0"/>
              <a:t> </a:t>
            </a:r>
            <a:r>
              <a:rPr lang="en-GB" sz="2000" dirty="0" err="1"/>
              <a:t>alla</a:t>
            </a:r>
            <a:r>
              <a:rPr lang="en-GB" sz="2000" dirty="0"/>
              <a:t> </a:t>
            </a:r>
            <a:r>
              <a:rPr lang="en-GB" sz="2000" dirty="0" err="1"/>
              <a:t>cugina</a:t>
            </a:r>
            <a:r>
              <a:rPr lang="en-GB" sz="2000" dirty="0"/>
              <a:t> </a:t>
            </a:r>
            <a:r>
              <a:rPr lang="en-GB" sz="2000" b="1" dirty="0" err="1"/>
              <a:t>di</a:t>
            </a:r>
            <a:r>
              <a:rPr lang="en-GB" sz="2000" dirty="0"/>
              <a:t> </a:t>
            </a:r>
            <a:r>
              <a:rPr lang="en-GB" sz="2000" dirty="0" err="1"/>
              <a:t>restituirgli</a:t>
            </a:r>
            <a:r>
              <a:rPr lang="en-GB" sz="2000" dirty="0"/>
              <a:t> </a:t>
            </a:r>
            <a:r>
              <a:rPr lang="en-GB" sz="2000" dirty="0" err="1"/>
              <a:t>il</a:t>
            </a:r>
            <a:r>
              <a:rPr lang="en-GB" sz="2000" dirty="0"/>
              <a:t> </a:t>
            </a:r>
            <a:r>
              <a:rPr lang="en-GB" sz="2000" dirty="0" err="1"/>
              <a:t>suo</a:t>
            </a:r>
            <a:r>
              <a:rPr lang="en-GB" sz="2000" dirty="0"/>
              <a:t> </a:t>
            </a:r>
            <a:r>
              <a:rPr lang="en-GB" sz="2000" dirty="0" err="1"/>
              <a:t>vestito</a:t>
            </a:r>
            <a:r>
              <a:rPr lang="en-GB" sz="2000" dirty="0"/>
              <a:t>/</a:t>
            </a:r>
            <a:r>
              <a:rPr lang="en-GB" sz="2000" dirty="0" err="1"/>
              <a:t>consigliò</a:t>
            </a:r>
            <a:r>
              <a:rPr lang="en-GB" sz="2000" dirty="0"/>
              <a:t> </a:t>
            </a:r>
            <a:r>
              <a:rPr lang="en-GB" sz="2000" dirty="0" err="1"/>
              <a:t>Damiano</a:t>
            </a:r>
            <a:r>
              <a:rPr lang="en-GB" sz="2000" dirty="0"/>
              <a:t> </a:t>
            </a:r>
            <a:r>
              <a:rPr lang="en-GB" sz="2000" b="1" dirty="0"/>
              <a:t>a</a:t>
            </a:r>
            <a:r>
              <a:rPr lang="en-GB" sz="2000" dirty="0"/>
              <a:t> </a:t>
            </a:r>
            <a:r>
              <a:rPr lang="en-GB" sz="2000" dirty="0" err="1"/>
              <a:t>mandarlo</a:t>
            </a:r>
            <a:r>
              <a:rPr lang="en-GB" sz="2000" dirty="0"/>
              <a:t> al </a:t>
            </a:r>
            <a:r>
              <a:rPr lang="en-GB" sz="2000" dirty="0" err="1"/>
              <a:t>gimnasio</a:t>
            </a:r>
            <a:endParaRPr lang="en-GB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000" dirty="0"/>
              <a:t>‘You will think to have found them’/’he ordered his cousin to return him his clothes’ (</a:t>
            </a:r>
            <a:r>
              <a:rPr lang="en-GB" sz="2000" dirty="0" err="1"/>
              <a:t>Skytte</a:t>
            </a:r>
            <a:r>
              <a:rPr lang="en-GB" sz="2000" dirty="0"/>
              <a:t> (1984))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67544" y="3501008"/>
            <a:ext cx="867645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French (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inf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selected by </a:t>
            </a:r>
            <a:r>
              <a:rPr kumimoji="0" lang="en-GB" sz="20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prolative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/jussive verbs)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000" baseline="0" dirty="0"/>
              <a:t>Pierre </a:t>
            </a:r>
            <a:r>
              <a:rPr lang="en-GB" sz="2000" baseline="0" dirty="0" err="1"/>
              <a:t>craint</a:t>
            </a:r>
            <a:r>
              <a:rPr lang="en-GB" sz="2000" baseline="0" dirty="0"/>
              <a:t> </a:t>
            </a:r>
            <a:r>
              <a:rPr lang="en-GB" sz="2000" b="1" baseline="0" dirty="0"/>
              <a:t>de </a:t>
            </a:r>
            <a:r>
              <a:rPr lang="en-GB" sz="2000" baseline="0" dirty="0" err="1"/>
              <a:t>perdre</a:t>
            </a:r>
            <a:r>
              <a:rPr lang="en-GB" sz="2000" baseline="0" dirty="0"/>
              <a:t> </a:t>
            </a:r>
            <a:r>
              <a:rPr lang="en-GB" sz="2000" baseline="0" dirty="0" err="1"/>
              <a:t>sa</a:t>
            </a:r>
            <a:r>
              <a:rPr lang="en-GB" sz="2000" baseline="0" dirty="0"/>
              <a:t> situation/</a:t>
            </a:r>
            <a:r>
              <a:rPr lang="en-GB" sz="2000" baseline="0" dirty="0" err="1"/>
              <a:t>elle</a:t>
            </a:r>
            <a:r>
              <a:rPr lang="en-GB" sz="2000" dirty="0"/>
              <a:t> </a:t>
            </a:r>
            <a:r>
              <a:rPr lang="en-GB" sz="2000" dirty="0" err="1"/>
              <a:t>ordonnait</a:t>
            </a:r>
            <a:r>
              <a:rPr lang="en-GB" sz="2000" dirty="0"/>
              <a:t> à </a:t>
            </a:r>
            <a:r>
              <a:rPr lang="en-GB" sz="2000" dirty="0" err="1"/>
              <a:t>sa</a:t>
            </a:r>
            <a:r>
              <a:rPr lang="en-GB" sz="2000" dirty="0"/>
              <a:t> femme de </a:t>
            </a:r>
            <a:r>
              <a:rPr lang="en-GB" sz="2000" dirty="0" err="1"/>
              <a:t>chambre</a:t>
            </a:r>
            <a:r>
              <a:rPr lang="en-GB" sz="2000" dirty="0"/>
              <a:t> </a:t>
            </a:r>
            <a:r>
              <a:rPr lang="en-GB" sz="2000" b="1" dirty="0"/>
              <a:t>de</a:t>
            </a:r>
            <a:r>
              <a:rPr lang="en-GB" sz="2000" dirty="0"/>
              <a:t> me </a:t>
            </a:r>
            <a:r>
              <a:rPr lang="en-GB" sz="2000" dirty="0" err="1"/>
              <a:t>téléphoner</a:t>
            </a:r>
            <a:endParaRPr lang="en-GB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000" dirty="0"/>
              <a:t>‘Pierre fears losing his situation’/’she ordered her maid to phone me’ (</a:t>
            </a:r>
            <a:r>
              <a:rPr lang="en-GB" sz="2000" dirty="0" err="1"/>
              <a:t>Sandfeld</a:t>
            </a:r>
            <a:r>
              <a:rPr lang="en-GB" sz="2000" dirty="0"/>
              <a:t> (1978))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9348" y="511591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000" dirty="0"/>
              <a:t>Spanish/Portuguese (</a:t>
            </a:r>
            <a:r>
              <a:rPr lang="en-GB" sz="2000" i="1" dirty="0"/>
              <a:t>a</a:t>
            </a:r>
            <a:r>
              <a:rPr lang="en-GB" sz="2000" dirty="0"/>
              <a:t>-</a:t>
            </a:r>
            <a:r>
              <a:rPr lang="en-GB" sz="2000" dirty="0" err="1"/>
              <a:t>inf</a:t>
            </a:r>
            <a:r>
              <a:rPr lang="en-GB" sz="2000" dirty="0"/>
              <a:t> selected by certain jussive verbs like persuading and urging):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000" dirty="0"/>
              <a:t>la </a:t>
            </a:r>
            <a:r>
              <a:rPr lang="en-GB" sz="2000" dirty="0" err="1"/>
              <a:t>han</a:t>
            </a:r>
            <a:r>
              <a:rPr lang="en-GB" sz="2000" dirty="0"/>
              <a:t> </a:t>
            </a:r>
            <a:r>
              <a:rPr lang="en-GB" sz="2000" dirty="0" err="1"/>
              <a:t>obligado</a:t>
            </a:r>
            <a:r>
              <a:rPr lang="en-GB" sz="2000" dirty="0"/>
              <a:t> </a:t>
            </a:r>
            <a:r>
              <a:rPr lang="en-GB" sz="2000" b="1" dirty="0"/>
              <a:t>a</a:t>
            </a:r>
            <a:r>
              <a:rPr lang="en-GB" sz="2000" dirty="0"/>
              <a:t> </a:t>
            </a:r>
            <a:r>
              <a:rPr lang="en-GB" sz="2000" dirty="0" err="1"/>
              <a:t>firmar</a:t>
            </a:r>
            <a:r>
              <a:rPr lang="en-GB" sz="2000" dirty="0"/>
              <a:t> el </a:t>
            </a:r>
            <a:r>
              <a:rPr lang="en-GB" sz="2000" dirty="0" err="1"/>
              <a:t>contrato</a:t>
            </a:r>
            <a:r>
              <a:rPr lang="en-GB" sz="2000" dirty="0"/>
              <a:t> /</a:t>
            </a:r>
            <a:r>
              <a:rPr lang="en-GB" sz="2000" dirty="0" err="1"/>
              <a:t>eu</a:t>
            </a:r>
            <a:r>
              <a:rPr lang="en-GB" sz="2000" dirty="0"/>
              <a:t> </a:t>
            </a:r>
            <a:r>
              <a:rPr lang="en-GB" sz="2000" dirty="0" err="1"/>
              <a:t>persuadi</a:t>
            </a:r>
            <a:r>
              <a:rPr lang="en-GB" sz="2000" dirty="0"/>
              <a:t> </a:t>
            </a:r>
            <a:r>
              <a:rPr lang="en-GB" sz="2000" dirty="0" err="1"/>
              <a:t>os</a:t>
            </a:r>
            <a:r>
              <a:rPr lang="en-GB" sz="2000" dirty="0"/>
              <a:t> </a:t>
            </a:r>
            <a:r>
              <a:rPr lang="en-GB" sz="2000" dirty="0" err="1"/>
              <a:t>meninos</a:t>
            </a:r>
            <a:r>
              <a:rPr lang="en-GB" sz="2000" dirty="0"/>
              <a:t> </a:t>
            </a:r>
            <a:r>
              <a:rPr lang="en-GB" sz="2000" b="1" dirty="0"/>
              <a:t>a</a:t>
            </a:r>
            <a:r>
              <a:rPr lang="en-GB" sz="2000" dirty="0"/>
              <a:t> </a:t>
            </a:r>
            <a:r>
              <a:rPr lang="en-GB" sz="2000" dirty="0" err="1"/>
              <a:t>ler</a:t>
            </a:r>
            <a:r>
              <a:rPr lang="en-GB" sz="2000" dirty="0"/>
              <a:t>(</a:t>
            </a:r>
            <a:r>
              <a:rPr lang="en-GB" sz="2000" dirty="0" err="1"/>
              <a:t>em</a:t>
            </a:r>
            <a:r>
              <a:rPr lang="en-GB" sz="2000" dirty="0"/>
              <a:t>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‘They have forced her to sign the contract’/’I persuaded the kids to read.’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000" noProof="0" dirty="0"/>
              <a:t>(Sheehan (2015))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GB" dirty="0"/>
              <a:t>Formation of proto-Romance PIs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800" dirty="0"/>
              <a:t>		VP</a:t>
            </a:r>
          </a:p>
          <a:p>
            <a:pPr>
              <a:buNone/>
            </a:pPr>
            <a:r>
              <a:rPr lang="en-GB" sz="2800" dirty="0"/>
              <a:t>V				PP</a:t>
            </a:r>
          </a:p>
          <a:p>
            <a:pPr>
              <a:buNone/>
            </a:pPr>
            <a:r>
              <a:rPr lang="en-GB" sz="2800" dirty="0"/>
              <a:t>			</a:t>
            </a:r>
            <a:r>
              <a:rPr lang="en-GB" sz="2800" dirty="0" err="1"/>
              <a:t>P</a:t>
            </a:r>
            <a:r>
              <a:rPr lang="en-GB" sz="2000" dirty="0" err="1"/>
              <a:t>ablative</a:t>
            </a:r>
            <a:r>
              <a:rPr lang="en-GB" sz="2800" dirty="0"/>
              <a:t>			PP</a:t>
            </a:r>
          </a:p>
          <a:p>
            <a:pPr>
              <a:buNone/>
            </a:pPr>
            <a:r>
              <a:rPr lang="en-GB" sz="2800" dirty="0"/>
              <a:t>			</a:t>
            </a:r>
            <a:r>
              <a:rPr lang="en-GB" sz="2000" dirty="0"/>
              <a:t>DE</a:t>
            </a:r>
            <a:r>
              <a:rPr lang="en-GB" sz="2800" dirty="0"/>
              <a:t>		</a:t>
            </a:r>
            <a:r>
              <a:rPr lang="en-GB" sz="2800" dirty="0" err="1"/>
              <a:t>P</a:t>
            </a:r>
            <a:r>
              <a:rPr lang="en-GB" sz="2000" dirty="0" err="1"/>
              <a:t>allative</a:t>
            </a:r>
            <a:r>
              <a:rPr lang="en-GB" sz="2800" dirty="0"/>
              <a:t>			MP</a:t>
            </a:r>
          </a:p>
          <a:p>
            <a:pPr>
              <a:buNone/>
            </a:pPr>
            <a:r>
              <a:rPr lang="en-GB" sz="2800" dirty="0"/>
              <a:t>			</a:t>
            </a:r>
            <a:r>
              <a:rPr lang="en-GB" sz="2000" dirty="0"/>
              <a:t>[u-proposition]</a:t>
            </a:r>
            <a:r>
              <a:rPr lang="en-GB" sz="2800" dirty="0"/>
              <a:t>	</a:t>
            </a:r>
            <a:r>
              <a:rPr lang="en-GB" sz="2000" dirty="0"/>
              <a:t>AD</a:t>
            </a:r>
            <a:r>
              <a:rPr lang="en-GB" sz="2800" dirty="0"/>
              <a:t>			M		TP</a:t>
            </a:r>
          </a:p>
          <a:p>
            <a:pPr>
              <a:buNone/>
            </a:pPr>
            <a:r>
              <a:rPr lang="en-GB" sz="2800" dirty="0"/>
              <a:t>		      			</a:t>
            </a:r>
            <a:r>
              <a:rPr lang="en-GB" sz="2000" dirty="0"/>
              <a:t>[u-purpose]</a:t>
            </a:r>
            <a:r>
              <a:rPr lang="en-GB" sz="2800" dirty="0"/>
              <a:t>		</a:t>
            </a:r>
            <a:r>
              <a:rPr lang="en-GB" sz="2000" dirty="0"/>
              <a:t>de/ad</a:t>
            </a:r>
            <a:r>
              <a:rPr lang="en-GB" sz="2800" dirty="0"/>
              <a:t>	    	</a:t>
            </a:r>
            <a:r>
              <a:rPr lang="en-GB" sz="2800" dirty="0" err="1"/>
              <a:t>inf</a:t>
            </a:r>
            <a:endParaRPr lang="en-GB" sz="2800" dirty="0"/>
          </a:p>
          <a:p>
            <a:pPr>
              <a:buNone/>
            </a:pPr>
            <a:r>
              <a:rPr lang="en-GB" sz="2800" dirty="0"/>
              <a:t>		</a:t>
            </a:r>
            <a:endParaRPr lang="en-US" sz="28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932040" y="3933056"/>
            <a:ext cx="421196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Italian: u-declarative/command (</a:t>
            </a:r>
            <a:r>
              <a:rPr kumimoji="0" lang="en-GB" sz="20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  u-command (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860032" y="4595018"/>
            <a:ext cx="42839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French: u-declarative/command (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860032" y="5013176"/>
            <a:ext cx="42839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Spanish/Portuguese:                                u-forcing/persuading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GB" sz="20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0" y="5661248"/>
            <a:ext cx="9144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Since the Romance infinitive (TP) does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not inflect for morphology, these </a:t>
            </a:r>
            <a:r>
              <a:rPr kumimoji="0" lang="en-GB" sz="20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selectional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features agree upwards with the lexical verb, which is different from DOM where </a:t>
            </a:r>
            <a:r>
              <a:rPr kumimoji="0" lang="en-GB" sz="20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selectional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features of </a:t>
            </a:r>
            <a:r>
              <a:rPr kumimoji="0" lang="en-GB" sz="20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</a:t>
            </a:r>
            <a:r>
              <a:rPr kumimoji="0" lang="en-GB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agree downwards with the object noun.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Conclusions: Parametric Variation in Latin/Romance Prepositions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/>
              <a:t>Lexical &gt; Functional prepositions (P &gt; K/M): </a:t>
            </a:r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1628800"/>
            <a:ext cx="860444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Formal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‘simplicity’: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sz="2400" noProof="0" dirty="0" err="1"/>
              <a:t>F</a:t>
            </a:r>
            <a:r>
              <a:rPr lang="en-GB" noProof="0" dirty="0" err="1"/>
              <a:t>Move</a:t>
            </a:r>
            <a:r>
              <a:rPr lang="en-GB" sz="2400" noProof="0" dirty="0"/>
              <a:t> &gt; F</a:t>
            </a:r>
            <a:r>
              <a:rPr lang="en-GB" dirty="0"/>
              <a:t>Ag</a:t>
            </a:r>
            <a:r>
              <a:rPr lang="en-GB" noProof="0" dirty="0" err="1"/>
              <a:t>ree</a:t>
            </a:r>
            <a:r>
              <a:rPr lang="en-GB" sz="2400" noProof="0" dirty="0"/>
              <a:t> &gt; F</a:t>
            </a:r>
            <a:r>
              <a:rPr lang="en-GB" dirty="0" err="1"/>
              <a:t>M</a:t>
            </a:r>
            <a:r>
              <a:rPr lang="en-GB" noProof="0" dirty="0" err="1"/>
              <a:t>erge</a:t>
            </a:r>
            <a:r>
              <a:rPr lang="en-GB" sz="2400" noProof="0" dirty="0"/>
              <a:t> &gt; ø (R&amp;R (2003:218))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9552" y="2636912"/>
            <a:ext cx="860444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Agree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&gt;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Merge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/M</a:t>
            </a:r>
            <a:r>
              <a:rPr lang="en-GB" dirty="0"/>
              <a:t>M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erge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lang="en-GB" sz="2400" dirty="0"/>
              <a:t>(Loss of semantic Case agreement)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39552" y="3140968"/>
            <a:ext cx="860444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Sublexical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parametric cline (optional parametric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(re)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setting):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39552" y="3573016"/>
            <a:ext cx="860444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DOM (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9552" y="3933056"/>
            <a:ext cx="860444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Spanish (u-animate) &gt; Italian dialects (u-human/referential)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&gt;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Catalán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(u-Proper, u-Pronoun) &gt; Portuguese (u-Divine/Superior, u-Pronoun (1</a:t>
            </a:r>
            <a:r>
              <a:rPr kumimoji="0" lang="en-GB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/2</a:t>
            </a:r>
            <a:r>
              <a:rPr kumimoji="0" lang="en-GB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nd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sg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39552" y="5002635"/>
            <a:ext cx="860444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PIs (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):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9552" y="5362675"/>
            <a:ext cx="860444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Italian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GB" sz="24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u-declarative, u-command; </a:t>
            </a:r>
            <a:r>
              <a:rPr kumimoji="0" lang="en-GB" sz="24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u-command) &gt; French (</a:t>
            </a:r>
            <a:r>
              <a:rPr kumimoji="0" lang="en-GB" sz="24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u-declarative, u-command) &gt; Spanish/Portuguese (</a:t>
            </a:r>
            <a:r>
              <a:rPr kumimoji="0" lang="en-GB" sz="24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u-forcing/persuading)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39552" y="6381095"/>
            <a:ext cx="860444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Semantic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selectional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features entail parametric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optionalit</a:t>
            </a:r>
            <a:r>
              <a:rPr lang="en-GB" sz="2400" dirty="0"/>
              <a:t>y.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GB" dirty="0" err="1"/>
              <a:t>Homenagem</a:t>
            </a:r>
            <a:r>
              <a:rPr lang="en-GB" dirty="0"/>
              <a:t> e </a:t>
            </a:r>
            <a:r>
              <a:rPr lang="en-GB" dirty="0" err="1"/>
              <a:t>agradecimento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agradeço</a:t>
            </a:r>
            <a:r>
              <a:rPr lang="en-GB" dirty="0"/>
              <a:t> A </a:t>
            </a:r>
            <a:r>
              <a:rPr lang="en-GB" dirty="0" err="1"/>
              <a:t>todos</a:t>
            </a:r>
            <a:r>
              <a:rPr lang="en-GB" dirty="0"/>
              <a:t> </a:t>
            </a:r>
            <a:r>
              <a:rPr lang="en-GB" dirty="0" err="1"/>
              <a:t>vocês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assistirem</a:t>
            </a:r>
            <a:r>
              <a:rPr lang="en-GB" dirty="0"/>
              <a:t> à </a:t>
            </a:r>
            <a:r>
              <a:rPr lang="en-GB" dirty="0" err="1"/>
              <a:t>minha</a:t>
            </a:r>
            <a:r>
              <a:rPr lang="en-GB" dirty="0"/>
              <a:t> </a:t>
            </a:r>
            <a:r>
              <a:rPr lang="en-GB" dirty="0" err="1"/>
              <a:t>apresentação</a:t>
            </a:r>
            <a:r>
              <a:rPr lang="en-GB" dirty="0"/>
              <a:t>. </a:t>
            </a:r>
            <a:r>
              <a:rPr lang="en-GB" dirty="0" err="1"/>
              <a:t>Sobre</a:t>
            </a:r>
            <a:r>
              <a:rPr lang="en-GB" dirty="0"/>
              <a:t> </a:t>
            </a:r>
            <a:r>
              <a:rPr lang="en-GB" dirty="0" err="1"/>
              <a:t>tudo</a:t>
            </a:r>
            <a:r>
              <a:rPr lang="en-GB" dirty="0"/>
              <a:t>,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homenageio</a:t>
            </a:r>
            <a:r>
              <a:rPr lang="en-GB" dirty="0"/>
              <a:t> A </a:t>
            </a:r>
            <a:r>
              <a:rPr lang="en-GB" dirty="0" err="1"/>
              <a:t>Sónia</a:t>
            </a:r>
            <a:r>
              <a:rPr lang="en-GB" dirty="0"/>
              <a:t> </a:t>
            </a:r>
            <a:r>
              <a:rPr lang="en-GB" dirty="0" err="1"/>
              <a:t>Cyrino</a:t>
            </a:r>
            <a:r>
              <a:rPr lang="en-GB" dirty="0"/>
              <a:t> e Maria </a:t>
            </a:r>
            <a:r>
              <a:rPr lang="en-GB" dirty="0" err="1"/>
              <a:t>Eugênia</a:t>
            </a:r>
            <a:r>
              <a:rPr lang="en-GB" dirty="0"/>
              <a:t> Duarte </a:t>
            </a:r>
            <a:r>
              <a:rPr lang="en-GB" dirty="0" err="1"/>
              <a:t>pelas</a:t>
            </a:r>
            <a:r>
              <a:rPr lang="en-GB" dirty="0"/>
              <a:t> </a:t>
            </a:r>
            <a:r>
              <a:rPr lang="en-GB" dirty="0" err="1"/>
              <a:t>suas</a:t>
            </a:r>
            <a:r>
              <a:rPr lang="en-GB" dirty="0"/>
              <a:t> </a:t>
            </a:r>
            <a:r>
              <a:rPr lang="en-GB" dirty="0" err="1"/>
              <a:t>carreiras</a:t>
            </a:r>
            <a:r>
              <a:rPr lang="en-GB" dirty="0"/>
              <a:t> </a:t>
            </a:r>
            <a:r>
              <a:rPr lang="en-GB" dirty="0" err="1"/>
              <a:t>tão</a:t>
            </a:r>
            <a:r>
              <a:rPr lang="en-GB" dirty="0"/>
              <a:t> </a:t>
            </a:r>
            <a:r>
              <a:rPr lang="en-GB" dirty="0" err="1"/>
              <a:t>ilustres</a:t>
            </a:r>
            <a:r>
              <a:rPr lang="en-GB" dirty="0"/>
              <a:t>!  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39552" y="3068960"/>
            <a:ext cx="860444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porque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todos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vocês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são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divindades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para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mim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e a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Sónia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a Maria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são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deúsas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para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todos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nós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!)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2802</TotalTime>
  <Words>2170</Words>
  <Application>Microsoft Office PowerPoint</Application>
  <PresentationFormat>On-screen Show (4:3)</PresentationFormat>
  <Paragraphs>178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Latin/Romance prepositions: sublexical featural microvariation</vt:lpstr>
      <vt:lpstr>Formal parameters</vt:lpstr>
      <vt:lpstr>Fine-tuning Parameters</vt:lpstr>
      <vt:lpstr>Parameter-setting in Language Acquisition</vt:lpstr>
      <vt:lpstr>Prepositions</vt:lpstr>
      <vt:lpstr>Latin/Romance Prepositions</vt:lpstr>
      <vt:lpstr>Latin AD and DE</vt:lpstr>
      <vt:lpstr>Differential Object Marking (DOM)</vt:lpstr>
      <vt:lpstr>Romance ad</vt:lpstr>
      <vt:lpstr>Romance DOM (ad)</vt:lpstr>
      <vt:lpstr>Formation of proto-Romance DOM (ad)</vt:lpstr>
      <vt:lpstr>Prepositional Infinitives (PI)</vt:lpstr>
      <vt:lpstr>Prepositional Infinitives (MP)</vt:lpstr>
      <vt:lpstr>Formation of proto-Romance PIs</vt:lpstr>
      <vt:lpstr>Conclusions: Parametric Variation in Latin/Romance Prepositions</vt:lpstr>
      <vt:lpstr>Homenagem e agradecimento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Latin/Romance prepositions: sublexical featural microvariation</dc:title>
  <dc:creator>Keith Tse</dc:creator>
  <cp:lastModifiedBy>Keith Tse</cp:lastModifiedBy>
  <cp:revision>58</cp:revision>
  <dcterms:created xsi:type="dcterms:W3CDTF">2021-09-01T22:09:22Z</dcterms:created>
  <dcterms:modified xsi:type="dcterms:W3CDTF">2021-09-03T20:54:52Z</dcterms:modified>
</cp:coreProperties>
</file>