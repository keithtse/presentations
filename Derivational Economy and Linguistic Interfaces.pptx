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3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8E42-530A-8401-7C18-5CBC34A93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35EFD-3521-538E-F6D3-8FE6700DA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C63B8-1479-CF38-7C58-52B15565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96BCC-8C34-9C18-65A3-2D6A49B9C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E9FEE-FFD7-0736-0FF4-0DE12706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64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C17D-351A-7C6D-3B5A-59410AB0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180A8-1885-F423-FF84-70983620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6864D-E98F-0D1C-415B-16E81EA5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629EF-1BD7-0664-F3B5-88A84D7B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6BDDC-E860-E2C1-0725-8B8ECCBE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38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93518-225E-156F-C1E2-59E009DA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78C10-0846-2BAF-A697-5BCEA39C3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98E68-F0F1-EDAE-AA3D-815D2FFCD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34192-5F71-9104-554F-569E019B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32E66-200B-B349-CE55-71EE5F02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80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4B3CB-DA89-D273-5A07-FB457917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ED972-03F8-634F-314C-8362309A5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51F7A-4D16-C869-C64B-6BAEAD4D7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16F32-07B1-FEF0-8A04-EDC678EB4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593EC-EE17-62D0-AD2E-99813855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69128-51E9-7E93-F875-D6A7111A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27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B2B7-23F0-5B26-5E96-609CCD819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5E63C-8F33-6B7B-DC80-CE3707375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C4D80-7ECF-54BF-BE02-4CC596E9F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06BB9C-C187-C13C-1D84-4342BD877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AF10E-0132-5EC3-28C4-AE25B7432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D80CA-98CC-4804-9A14-73F88D43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8C0CE-AA1E-91F2-4A1A-CACF7663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04FFB4-A46A-ABE2-CC2C-36C37704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0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61907-D1AA-BFEB-250A-7CEC280C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6EFD15-DE8B-9017-E36D-AED7BBE5C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2815C0-CDC7-A943-3E96-9EA75605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CF035-F598-9803-7BDF-B405C1A0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38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4795C-E2D8-8197-9C3E-B583A392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F153D-4DD4-A653-FFFB-9F66BCEF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35C2F-3A2A-42FF-ED30-96ADC6FB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03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C7C4-179B-63E9-889A-B5AB052F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0057A-90D4-5ED4-E046-3F82CA51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4C42F-DD5F-715B-E7BC-7E67311DF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9C1C0-EAB0-0259-227C-07F52418C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F7339-A22C-71F5-E3C4-4A9F9E04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AE220-8F0A-2B41-6114-3006E6E7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40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2D860-555F-A473-92DC-8D707FF3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5D0576-5A8F-3647-1E5F-20D636A69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4EEC8-49BF-C6FB-C2B3-28988F2F1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757CE-5D76-017B-268D-BC21AE56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F5396-5316-103A-3E1D-818E2AB9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5C5CE-0E81-137C-BAD7-46A97F88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42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FE08-198C-00A9-F473-0D9E09B9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0FF8F-B62D-3BC2-E43A-7C947E95D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A5EF7-CC33-9D6E-58C0-0494139F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C6D76-2C3B-F1A7-0CDA-71BE55775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11C1F-EBC6-231F-BDE7-057CD886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39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B674BF-1DFA-D9A1-9310-E2A6A4073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94EAF-2CBF-33B9-C190-87050AE65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0B0C-97D3-EFB7-E716-3C023052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C40F8-0ADA-74EC-4150-56A19A3F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EE627-D7AC-EA56-4378-1D54DE774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59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202A78-EAB2-D618-738A-123A89C0A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B20DA-66D1-8818-178A-DA83C3F6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1444-4656-1945-8057-53CFEAD60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DD4CB-8D3C-41C2-8CFB-2E454FF2032D}" type="datetimeFigureOut">
              <a:rPr lang="en-GB" smtClean="0"/>
              <a:t>20/06/2025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86426-35FC-B507-6EFB-F71CEF53B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CD60D-9068-5C4F-CE2D-F01BB4042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0D04B-8B31-4238-843D-0EC08455E2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47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F402-9665-1F08-4D0D-7A4A81984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3465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Derivational Economy and Linguistic Interfaces: Grammaticalization and ‘lateral’ grammaticalization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D94FC-0AA5-7319-DBBE-9DD44AEB2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22258"/>
            <a:ext cx="9144000" cy="3037305"/>
          </a:xfrm>
        </p:spPr>
        <p:txBody>
          <a:bodyPr>
            <a:normAutofit fontScale="92500"/>
          </a:bodyPr>
          <a:lstStyle/>
          <a:p>
            <a:r>
              <a:rPr lang="en-GB" dirty="0"/>
              <a:t>Keith Tse </a:t>
            </a:r>
            <a:r>
              <a:rPr lang="zh-CN" altLang="en-US" dirty="0"/>
              <a:t>謝嘉麒 </a:t>
            </a:r>
            <a:r>
              <a:rPr lang="en-GB" altLang="zh-CN" dirty="0"/>
              <a:t>(MCIL CL)</a:t>
            </a:r>
          </a:p>
          <a:p>
            <a:r>
              <a:rPr lang="en-GB" altLang="zh-CN" dirty="0"/>
              <a:t>Ronin Institute (</a:t>
            </a:r>
            <a:r>
              <a:rPr lang="zh-CN" altLang="en-US" dirty="0"/>
              <a:t>浪人學會</a:t>
            </a:r>
            <a:r>
              <a:rPr lang="en-GB" altLang="zh-CN" dirty="0"/>
              <a:t>)/IGDORE (</a:t>
            </a:r>
            <a:r>
              <a:rPr lang="zh-CN" altLang="en-US" dirty="0"/>
              <a:t>國際跨國分佈開放研究與教育學會</a:t>
            </a:r>
            <a:r>
              <a:rPr lang="en-GB" altLang="zh-CN" dirty="0"/>
              <a:t>)</a:t>
            </a:r>
          </a:p>
          <a:p>
            <a:r>
              <a:rPr lang="en-GB" dirty="0"/>
              <a:t>22</a:t>
            </a:r>
            <a:r>
              <a:rPr lang="en-GB" baseline="30000" dirty="0"/>
              <a:t>nd</a:t>
            </a:r>
            <a:r>
              <a:rPr lang="en-GB" dirty="0"/>
              <a:t> June 2025 (</a:t>
            </a:r>
            <a:r>
              <a:rPr lang="zh-CN" altLang="en-US" dirty="0"/>
              <a:t>二零二五年星期日六月二十二號</a:t>
            </a:r>
            <a:r>
              <a:rPr lang="en-GB" altLang="zh-CN" dirty="0"/>
              <a:t>)</a:t>
            </a:r>
          </a:p>
          <a:p>
            <a:r>
              <a:rPr lang="en-GB" dirty="0"/>
              <a:t>2025 4th Conference on Biolinguistics and Language Acquisition </a:t>
            </a:r>
          </a:p>
          <a:p>
            <a:r>
              <a:rPr lang="en-GB" dirty="0"/>
              <a:t>(2025</a:t>
            </a:r>
            <a:r>
              <a:rPr lang="zh-CN" altLang="en-US" dirty="0"/>
              <a:t>第四届生物語言學</a:t>
            </a:r>
            <a:r>
              <a:rPr lang="zh-TW" altLang="en-US" dirty="0"/>
              <a:t>暨 </a:t>
            </a:r>
            <a:br>
              <a:rPr lang="zh-TW" altLang="en-US" dirty="0"/>
            </a:br>
            <a:r>
              <a:rPr lang="zh-CN" altLang="en-US" dirty="0"/>
              <a:t>語言習得研討會</a:t>
            </a:r>
            <a:r>
              <a:rPr lang="en-GB" altLang="zh-CN" dirty="0"/>
              <a:t>)</a:t>
            </a:r>
          </a:p>
          <a:p>
            <a:r>
              <a:rPr lang="en-GB" altLang="zh-CN" dirty="0"/>
              <a:t>Beijing Foreign Studies University (</a:t>
            </a:r>
            <a:r>
              <a:rPr lang="zh-CN" altLang="en-US" dirty="0"/>
              <a:t>北京外國語大學</a:t>
            </a:r>
            <a:r>
              <a:rPr lang="en-GB" altLang="zh-CN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536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6DF8-D29F-75E6-0589-C8E39CFA2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The Minimalist Program (Chomsky (1995))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1635A-F128-04D0-FF9F-3DA81832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99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Chomsky (1991, 1993, 1995): The Minimalist Program (MP)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A170E1-20D9-0F47-0168-149406B9531B}"/>
              </a:ext>
            </a:extLst>
          </p:cNvPr>
          <p:cNvSpPr txBox="1">
            <a:spLocks/>
          </p:cNvSpPr>
          <p:nvPr/>
        </p:nvSpPr>
        <p:spPr>
          <a:xfrm>
            <a:off x="838194" y="3860776"/>
            <a:ext cx="113537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‘Simplicity’/’Derivational Economy’: work in progress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(definitions constantly changing)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B4ED918-3531-3A97-4EB9-6BF6251E5B7E}"/>
              </a:ext>
            </a:extLst>
          </p:cNvPr>
          <p:cNvSpPr txBox="1">
            <a:spLocks/>
          </p:cNvSpPr>
          <p:nvPr/>
        </p:nvSpPr>
        <p:spPr>
          <a:xfrm>
            <a:off x="838192" y="4882654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Context: Government-Binding (GB) (Chomsky (1981)):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Multiple language modules (complex)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1875A7-BF4E-A7CA-D80D-C2C54E98A33C}"/>
              </a:ext>
            </a:extLst>
          </p:cNvPr>
          <p:cNvSpPr txBox="1">
            <a:spLocks/>
          </p:cNvSpPr>
          <p:nvPr/>
        </p:nvSpPr>
        <p:spPr>
          <a:xfrm>
            <a:off x="838191" y="5904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‘Simplicity’ and ‘Derivational Economy’ &gt; ‘Simplest’ Grammar </a:t>
            </a:r>
          </a:p>
          <a:p>
            <a:pPr marL="0" indent="0">
              <a:buNone/>
            </a:pPr>
            <a:r>
              <a:rPr lang="en-GB" dirty="0"/>
              <a:t>(Strong Minimalist Thesis (SMT) (Chomsky (1995))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39A6719-CC59-B37A-C58B-84B4BB398A5D}"/>
              </a:ext>
            </a:extLst>
          </p:cNvPr>
          <p:cNvSpPr txBox="1">
            <a:spLocks/>
          </p:cNvSpPr>
          <p:nvPr/>
        </p:nvSpPr>
        <p:spPr>
          <a:xfrm>
            <a:off x="838199" y="1798929"/>
            <a:ext cx="1162991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Chomsky (1998, 2000, 2001): ‘Phases’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(Phase Impenetrability Condition- ‘Spell-Out/Transfer one Phase at a time’)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16CCD99-5ABC-17E1-A3DA-2EE1C99E520F}"/>
              </a:ext>
            </a:extLst>
          </p:cNvPr>
          <p:cNvSpPr txBox="1">
            <a:spLocks/>
          </p:cNvSpPr>
          <p:nvPr/>
        </p:nvSpPr>
        <p:spPr>
          <a:xfrm>
            <a:off x="838197" y="28208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Chomsky (2004): </a:t>
            </a:r>
            <a:r>
              <a:rPr lang="en-GB" i="1" dirty="0"/>
              <a:t>Internal Merge </a:t>
            </a:r>
            <a:r>
              <a:rPr lang="en-GB" dirty="0"/>
              <a:t>(</a:t>
            </a:r>
            <a:r>
              <a:rPr lang="en-GB" i="1" dirty="0"/>
              <a:t>Move</a:t>
            </a:r>
            <a:r>
              <a:rPr lang="en-GB" dirty="0"/>
              <a:t>), </a:t>
            </a:r>
            <a:r>
              <a:rPr lang="en-GB" i="1" dirty="0"/>
              <a:t>External Merge</a:t>
            </a:r>
            <a:r>
              <a:rPr lang="en-GB" dirty="0"/>
              <a:t> (</a:t>
            </a:r>
            <a:r>
              <a:rPr lang="en-GB" i="1" dirty="0"/>
              <a:t>Merge</a:t>
            </a:r>
            <a:r>
              <a:rPr lang="en-GB" dirty="0"/>
              <a:t>)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A01E22C-E95D-7055-C52D-DC4BCDEAB347}"/>
              </a:ext>
            </a:extLst>
          </p:cNvPr>
          <p:cNvSpPr txBox="1">
            <a:spLocks/>
          </p:cNvSpPr>
          <p:nvPr/>
        </p:nvSpPr>
        <p:spPr>
          <a:xfrm>
            <a:off x="838197" y="340566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Chomsky (2013, 2014): Principles of Projection </a:t>
            </a:r>
          </a:p>
        </p:txBody>
      </p:sp>
    </p:spTree>
    <p:extLst>
      <p:ext uri="{BB962C8B-B14F-4D97-AF65-F5344CB8AC3E}">
        <p14:creationId xmlns:p14="http://schemas.microsoft.com/office/powerpoint/2010/main" val="334067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DA57-D28E-F0ED-3844-46684C3A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Language Acquisition and Language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F42A2-FC3D-FE3B-4F83-99E754632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4612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Language Change in First Language (L1) acquisition (Lightfoot (1979, 1991, 1999))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29E256-6634-6A97-A699-99419B747B66}"/>
              </a:ext>
            </a:extLst>
          </p:cNvPr>
          <p:cNvSpPr txBox="1">
            <a:spLocks/>
          </p:cNvSpPr>
          <p:nvPr/>
        </p:nvSpPr>
        <p:spPr>
          <a:xfrm>
            <a:off x="-1" y="233496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P(</a:t>
            </a:r>
            <a:r>
              <a:rPr lang="en-GB" sz="2400" dirty="0" err="1"/>
              <a:t>arameter</a:t>
            </a:r>
            <a:r>
              <a:rPr lang="en-GB" sz="2400" dirty="0"/>
              <a:t>)-setting in L1 acquisition(Lightfoot 1991, 1999)):</a:t>
            </a:r>
            <a:r>
              <a:rPr lang="zh-CN" altLang="en-US" sz="2400" dirty="0"/>
              <a:t> </a:t>
            </a:r>
            <a:endParaRPr lang="en-GB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2842F7-233D-7EB5-9492-0C6BC8021499}"/>
              </a:ext>
            </a:extLst>
          </p:cNvPr>
          <p:cNvSpPr txBox="1">
            <a:spLocks/>
          </p:cNvSpPr>
          <p:nvPr/>
        </p:nvSpPr>
        <p:spPr>
          <a:xfrm>
            <a:off x="0" y="2889649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Universal Principles + Primary Linguistic Data  		Internal Language (parameters set) 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21BCD-A8AB-5FE5-716A-4E28CD08931E}"/>
              </a:ext>
            </a:extLst>
          </p:cNvPr>
          <p:cNvSpPr txBox="1">
            <a:spLocks/>
          </p:cNvSpPr>
          <p:nvPr/>
        </p:nvSpPr>
        <p:spPr>
          <a:xfrm>
            <a:off x="74192" y="3361165"/>
            <a:ext cx="124446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Third factor principles (non-linguistic factors favouring ‘simplicity’) (Chomsky (2005, 2007))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D94127-24DF-DD1A-E330-EA107C92E2E6}"/>
              </a:ext>
            </a:extLst>
          </p:cNvPr>
          <p:cNvCxnSpPr>
            <a:cxnSpLocks/>
          </p:cNvCxnSpPr>
          <p:nvPr/>
        </p:nvCxnSpPr>
        <p:spPr>
          <a:xfrm>
            <a:off x="6095996" y="3057024"/>
            <a:ext cx="1171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45C23B-8ED3-9B2D-5673-A778B7BCD34F}"/>
              </a:ext>
            </a:extLst>
          </p:cNvPr>
          <p:cNvSpPr txBox="1">
            <a:spLocks/>
          </p:cNvSpPr>
          <p:nvPr/>
        </p:nvSpPr>
        <p:spPr>
          <a:xfrm>
            <a:off x="-4" y="3971515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By ‘simplicity’, the ‘simplest’ p-settings are set in Internal Language (Clark and Roberts (1993))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3E5ED64-0896-996A-74E6-3A182D37A951}"/>
              </a:ext>
            </a:extLst>
          </p:cNvPr>
          <p:cNvSpPr txBox="1">
            <a:spLocks/>
          </p:cNvSpPr>
          <p:nvPr/>
        </p:nvSpPr>
        <p:spPr>
          <a:xfrm>
            <a:off x="-1" y="1795846"/>
            <a:ext cx="12593051" cy="439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Language change is intergenerational: different p-settings between generations (Hale (1999))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2B58635-9B5B-617D-EB7C-21F1656B4A68}"/>
              </a:ext>
            </a:extLst>
          </p:cNvPr>
          <p:cNvSpPr txBox="1">
            <a:spLocks/>
          </p:cNvSpPr>
          <p:nvPr/>
        </p:nvSpPr>
        <p:spPr>
          <a:xfrm>
            <a:off x="-8" y="481477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‘Simplicity’ determines language (syntactic) change (Roberts (2007)). </a:t>
            </a:r>
          </a:p>
        </p:txBody>
      </p:sp>
    </p:spTree>
    <p:extLst>
      <p:ext uri="{BB962C8B-B14F-4D97-AF65-F5344CB8AC3E}">
        <p14:creationId xmlns:p14="http://schemas.microsoft.com/office/powerpoint/2010/main" val="19747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B846-6B6B-53DB-C8D7-285C717A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Grammaticalization (</a:t>
            </a:r>
            <a:r>
              <a:rPr lang="zh-CN" altLang="en-US" dirty="0"/>
              <a:t>語法化</a:t>
            </a:r>
            <a:r>
              <a:rPr lang="en-GB" altLang="zh-CN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F5063-A3E3-1EE7-51EB-1A0CA683E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" y="1217739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Grammaticalization (</a:t>
            </a:r>
            <a:r>
              <a:rPr lang="zh-CN" altLang="en-US" sz="2400" dirty="0"/>
              <a:t>語法化</a:t>
            </a:r>
            <a:r>
              <a:rPr lang="en-GB" altLang="zh-CN" sz="2400" dirty="0"/>
              <a:t>)</a:t>
            </a:r>
            <a:r>
              <a:rPr lang="en-GB" sz="2400" dirty="0"/>
              <a:t>: major phenomenon with many cross-linguistic pathways (Hopper and Traugott (1993), Heine and </a:t>
            </a:r>
            <a:r>
              <a:rPr lang="en-GB" sz="2400" dirty="0" err="1"/>
              <a:t>Kuteva</a:t>
            </a:r>
            <a:r>
              <a:rPr lang="en-GB" sz="2400" dirty="0"/>
              <a:t> (2002))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39EBB6-3934-CA5B-A240-A18AD2FD7900}"/>
              </a:ext>
            </a:extLst>
          </p:cNvPr>
          <p:cNvSpPr txBox="1">
            <a:spLocks/>
          </p:cNvSpPr>
          <p:nvPr/>
        </p:nvSpPr>
        <p:spPr>
          <a:xfrm>
            <a:off x="0" y="2005328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Roberts (1993), Lightfoot (1999): ‘random walks’ in language evolution i.e. no discernible cross-linguistic patterns in language change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F0A45C-6C13-E2C4-E109-948852E0FF42}"/>
              </a:ext>
            </a:extLst>
          </p:cNvPr>
          <p:cNvSpPr txBox="1">
            <a:spLocks/>
          </p:cNvSpPr>
          <p:nvPr/>
        </p:nvSpPr>
        <p:spPr>
          <a:xfrm>
            <a:off x="0" y="2878169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Roberts and </a:t>
            </a:r>
            <a:r>
              <a:rPr lang="en-GB" sz="2400" dirty="0" err="1"/>
              <a:t>Roussou</a:t>
            </a:r>
            <a:r>
              <a:rPr lang="en-GB" sz="2400" dirty="0"/>
              <a:t> (R&amp;R)</a:t>
            </a:r>
            <a:r>
              <a:rPr lang="zh-CN" altLang="en-US" sz="2400" dirty="0"/>
              <a:t> </a:t>
            </a:r>
            <a:r>
              <a:rPr lang="en-GB" altLang="zh-CN" sz="2400" dirty="0"/>
              <a:t>2003:</a:t>
            </a:r>
            <a:r>
              <a:rPr lang="zh-CN" altLang="en-US" sz="2400" dirty="0"/>
              <a:t> </a:t>
            </a:r>
            <a:r>
              <a:rPr lang="en-GB" sz="2400" dirty="0"/>
              <a:t>‘Simplicity’ (MP) determines syntactic change and language evolution: </a:t>
            </a:r>
            <a:r>
              <a:rPr lang="en-GB" altLang="zh-CN" sz="2400" dirty="0"/>
              <a:t>‘basins of attraction’ in p-change (Roberts (2001))  </a:t>
            </a:r>
            <a:endParaRPr lang="en-GB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3059F4-E48E-905B-992E-328E412C3FCC}"/>
              </a:ext>
            </a:extLst>
          </p:cNvPr>
          <p:cNvSpPr txBox="1">
            <a:spLocks/>
          </p:cNvSpPr>
          <p:nvPr/>
        </p:nvSpPr>
        <p:spPr>
          <a:xfrm>
            <a:off x="-6" y="375100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‘Simplest’ grammar (SMT) wins in L1 acquisition (&gt; language evolution)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8FEBD3-F60A-969A-09C7-2F878725E27B}"/>
              </a:ext>
            </a:extLst>
          </p:cNvPr>
          <p:cNvSpPr txBox="1">
            <a:spLocks/>
          </p:cNvSpPr>
          <p:nvPr/>
        </p:nvSpPr>
        <p:spPr>
          <a:xfrm>
            <a:off x="0" y="4418203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Grammaticalization is ‘structural simplification’ conforming to ‘simplicity’ (R&amp;R (2003:4-8))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D61C8E-4BF5-E8BC-001D-064B0C516BED}"/>
              </a:ext>
            </a:extLst>
          </p:cNvPr>
          <p:cNvSpPr txBox="1">
            <a:spLocks/>
          </p:cNvSpPr>
          <p:nvPr/>
        </p:nvSpPr>
        <p:spPr>
          <a:xfrm>
            <a:off x="491485" y="5085397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Grammaticalization can occur cross-linguistically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595E37-96E9-E73F-3899-FE71176745DB}"/>
              </a:ext>
            </a:extLst>
          </p:cNvPr>
          <p:cNvSpPr txBox="1">
            <a:spLocks/>
          </p:cNvSpPr>
          <p:nvPr/>
        </p:nvSpPr>
        <p:spPr>
          <a:xfrm>
            <a:off x="0" y="5096083"/>
            <a:ext cx="9253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123730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4762-1422-F500-034F-AEE7876F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GB" dirty="0"/>
              <a:t>‘Simplicity’ and ‘Derivational Economy’ (R&amp;R (2003),</a:t>
            </a:r>
            <a:r>
              <a:rPr lang="zh-CN" altLang="en-US" dirty="0"/>
              <a:t> </a:t>
            </a:r>
            <a:r>
              <a:rPr lang="en-GB" altLang="zh-CN" dirty="0"/>
              <a:t>van</a:t>
            </a:r>
            <a:r>
              <a:rPr lang="zh-CN" altLang="en-US" dirty="0"/>
              <a:t> </a:t>
            </a:r>
            <a:r>
              <a:rPr lang="en-GB" altLang="zh-CN" dirty="0" err="1"/>
              <a:t>Gelderen</a:t>
            </a:r>
            <a:r>
              <a:rPr lang="zh-CN" altLang="en-US" dirty="0"/>
              <a:t> </a:t>
            </a:r>
            <a:r>
              <a:rPr lang="en-GB" altLang="zh-CN" dirty="0"/>
              <a:t>(2004,</a:t>
            </a:r>
            <a:r>
              <a:rPr lang="zh-CN" altLang="en-US" dirty="0"/>
              <a:t> </a:t>
            </a:r>
            <a:r>
              <a:rPr lang="en-GB" altLang="zh-CN" dirty="0"/>
              <a:t>2011))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43064-2CDE-7C6A-6C1A-D3C7B4F27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R&amp;R (2003): Merge over Move/Agree (</a:t>
            </a:r>
            <a:r>
              <a:rPr lang="en-GB" sz="2400" dirty="0" err="1"/>
              <a:t>cf</a:t>
            </a:r>
            <a:r>
              <a:rPr lang="en-GB" sz="2400" dirty="0"/>
              <a:t> Chomsky 1995, 2000, 2001))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AC2285-C822-7485-519B-A2BA5615A3B2}"/>
              </a:ext>
            </a:extLst>
          </p:cNvPr>
          <p:cNvSpPr txBox="1">
            <a:spLocks/>
          </p:cNvSpPr>
          <p:nvPr/>
        </p:nvSpPr>
        <p:spPr>
          <a:xfrm>
            <a:off x="838198" y="1795859"/>
            <a:ext cx="12191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F</a:t>
            </a:r>
            <a:r>
              <a:rPr lang="en-GB" sz="1800" dirty="0" err="1"/>
              <a:t>MoveXP</a:t>
            </a:r>
            <a:r>
              <a:rPr lang="en-GB" dirty="0"/>
              <a:t> &gt; </a:t>
            </a:r>
            <a:r>
              <a:rPr lang="en-GB" dirty="0" err="1"/>
              <a:t>F</a:t>
            </a:r>
            <a:r>
              <a:rPr lang="en-GB" sz="2000" dirty="0" err="1"/>
              <a:t>MoveX</a:t>
            </a:r>
            <a:r>
              <a:rPr lang="en-GB" dirty="0"/>
              <a:t> &gt; </a:t>
            </a:r>
            <a:r>
              <a:rPr lang="en-GB" dirty="0" err="1"/>
              <a:t>F</a:t>
            </a:r>
            <a:r>
              <a:rPr lang="en-GB" sz="2000" dirty="0" err="1"/>
              <a:t>Agree</a:t>
            </a:r>
            <a:r>
              <a:rPr lang="en-GB" dirty="0"/>
              <a:t> &gt; </a:t>
            </a:r>
            <a:r>
              <a:rPr lang="en-GB" dirty="0" err="1"/>
              <a:t>F</a:t>
            </a:r>
            <a:r>
              <a:rPr lang="en-GB" sz="2000" dirty="0" err="1"/>
              <a:t>Merge</a:t>
            </a:r>
            <a:r>
              <a:rPr lang="en-GB" dirty="0"/>
              <a:t> &gt; ø (R&amp;R (2003:209-213))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41E7A8-EE24-B072-CA45-C564EF7A3F06}"/>
              </a:ext>
            </a:extLst>
          </p:cNvPr>
          <p:cNvSpPr txBox="1">
            <a:spLocks/>
          </p:cNvSpPr>
          <p:nvPr/>
        </p:nvSpPr>
        <p:spPr>
          <a:xfrm>
            <a:off x="0" y="22479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‘Feature Economy’ (van </a:t>
            </a:r>
            <a:r>
              <a:rPr lang="en-GB" sz="2400" dirty="0" err="1"/>
              <a:t>Gelderen</a:t>
            </a:r>
            <a:r>
              <a:rPr lang="en-GB" sz="2400" dirty="0"/>
              <a:t> (2008, 2009, 2011)):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6F5366-ACC1-3A8E-C223-18CC5D6075E7}"/>
              </a:ext>
            </a:extLst>
          </p:cNvPr>
          <p:cNvSpPr txBox="1">
            <a:spLocks/>
          </p:cNvSpPr>
          <p:nvPr/>
        </p:nvSpPr>
        <p:spPr>
          <a:xfrm>
            <a:off x="0" y="2662407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Semantic Features &gt; Interpretable Features (</a:t>
            </a:r>
            <a:r>
              <a:rPr lang="en-GB" sz="2400" dirty="0" err="1"/>
              <a:t>i</a:t>
            </a:r>
            <a:r>
              <a:rPr lang="en-GB" sz="2400" dirty="0"/>
              <a:t>-F) &gt; Uninterpretable Features (u-F) &gt; ø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5A1279F-4D72-5520-D09C-AAA690C779D4}"/>
              </a:ext>
            </a:extLst>
          </p:cNvPr>
          <p:cNvSpPr txBox="1">
            <a:spLocks/>
          </p:cNvSpPr>
          <p:nvPr/>
        </p:nvSpPr>
        <p:spPr>
          <a:xfrm>
            <a:off x="-2" y="3012141"/>
            <a:ext cx="10515600" cy="3845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XP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X		…		YP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X=Y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[</a:t>
            </a:r>
            <a:r>
              <a:rPr lang="en-GB" sz="2000" dirty="0" err="1"/>
              <a:t>i</a:t>
            </a:r>
            <a:r>
              <a:rPr lang="en-GB" sz="2000" dirty="0"/>
              <a:t>-X]		Y				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[u-Y]		[</a:t>
            </a:r>
            <a:r>
              <a:rPr lang="en-GB" sz="2000" dirty="0" err="1"/>
              <a:t>i</a:t>
            </a:r>
            <a:r>
              <a:rPr lang="en-GB" sz="2000" dirty="0"/>
              <a:t>-Y]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7D1267-DE17-F67D-7FAA-3DAC50039F8A}"/>
              </a:ext>
            </a:extLst>
          </p:cNvPr>
          <p:cNvSpPr txBox="1">
            <a:spLocks/>
          </p:cNvSpPr>
          <p:nvPr/>
        </p:nvSpPr>
        <p:spPr>
          <a:xfrm>
            <a:off x="7246620" y="3114448"/>
            <a:ext cx="49453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Lexical items [Y] holding interpretable features ([</a:t>
            </a:r>
            <a:r>
              <a:rPr lang="en-GB" sz="2000" dirty="0" err="1"/>
              <a:t>i</a:t>
            </a:r>
            <a:r>
              <a:rPr lang="en-GB" sz="2000" dirty="0"/>
              <a:t>-Y]) are reanalysed as functional (X) where they hold corresponding uninterpretable features ([u-Y])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9065DA-CA86-4700-511E-9ED616A95DE5}"/>
              </a:ext>
            </a:extLst>
          </p:cNvPr>
          <p:cNvCxnSpPr>
            <a:cxnSpLocks/>
          </p:cNvCxnSpPr>
          <p:nvPr/>
        </p:nvCxnSpPr>
        <p:spPr>
          <a:xfrm flipH="1">
            <a:off x="2087882" y="3303200"/>
            <a:ext cx="1828801" cy="5486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8998A2-6377-A00A-DAF9-164C9CF04A67}"/>
              </a:ext>
            </a:extLst>
          </p:cNvPr>
          <p:cNvCxnSpPr/>
          <p:nvPr/>
        </p:nvCxnSpPr>
        <p:spPr>
          <a:xfrm>
            <a:off x="3916683" y="3292442"/>
            <a:ext cx="1839558" cy="5701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486E4D-FF59-8278-839F-ABEFF8DCE4EA}"/>
              </a:ext>
            </a:extLst>
          </p:cNvPr>
          <p:cNvCxnSpPr>
            <a:cxnSpLocks/>
          </p:cNvCxnSpPr>
          <p:nvPr/>
        </p:nvCxnSpPr>
        <p:spPr>
          <a:xfrm flipH="1">
            <a:off x="3840479" y="4120625"/>
            <a:ext cx="1850315" cy="507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BF7895-A9F8-1C61-640B-FA476FACC4BA}"/>
              </a:ext>
            </a:extLst>
          </p:cNvPr>
          <p:cNvCxnSpPr>
            <a:cxnSpLocks/>
          </p:cNvCxnSpPr>
          <p:nvPr/>
        </p:nvCxnSpPr>
        <p:spPr>
          <a:xfrm>
            <a:off x="5664347" y="4104585"/>
            <a:ext cx="1764254" cy="6024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B22415-673D-89A4-65C9-94BA84953EB6}"/>
              </a:ext>
            </a:extLst>
          </p:cNvPr>
          <p:cNvSpPr txBox="1"/>
          <p:nvPr/>
        </p:nvSpPr>
        <p:spPr>
          <a:xfrm>
            <a:off x="0" y="5454347"/>
            <a:ext cx="1219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/>
              <a:t>Internal Merge </a:t>
            </a:r>
            <a:r>
              <a:rPr lang="en-GB" sz="2000" dirty="0"/>
              <a:t>(Move) no longer more complex than </a:t>
            </a:r>
            <a:r>
              <a:rPr lang="en-GB" sz="2000" i="1" dirty="0"/>
              <a:t>External Merge </a:t>
            </a:r>
            <a:r>
              <a:rPr lang="en-GB" sz="2000" dirty="0"/>
              <a:t>(Merge) (Chomsky (2004, 2013))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0A1709-4908-FA84-0162-44B42FB6DDBA}"/>
              </a:ext>
            </a:extLst>
          </p:cNvPr>
          <p:cNvSpPr txBox="1"/>
          <p:nvPr/>
        </p:nvSpPr>
        <p:spPr>
          <a:xfrm>
            <a:off x="1" y="5768819"/>
            <a:ext cx="1219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IM involves copy and deletion (Chomsky (2008)), which are extra derivational steps (van </a:t>
            </a:r>
            <a:r>
              <a:rPr lang="en-GB" sz="2000" dirty="0" err="1"/>
              <a:t>Gelderen</a:t>
            </a:r>
            <a:r>
              <a:rPr lang="en-GB" sz="2000" dirty="0"/>
              <a:t> (2011:16)).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88286D-5CAA-99EE-50FF-0189E44E54E8}"/>
              </a:ext>
            </a:extLst>
          </p:cNvPr>
          <p:cNvSpPr txBox="1"/>
          <p:nvPr/>
        </p:nvSpPr>
        <p:spPr>
          <a:xfrm>
            <a:off x="-2" y="6129458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By Chomsky’s (2013, 2014) ‘Minimise Computation (MC)’, </a:t>
            </a:r>
            <a:r>
              <a:rPr lang="en-GB" sz="2000" dirty="0" err="1"/>
              <a:t>F</a:t>
            </a:r>
            <a:r>
              <a:rPr lang="en-GB" dirty="0" err="1"/>
              <a:t>Merge</a:t>
            </a:r>
            <a:r>
              <a:rPr lang="en-GB" sz="2000" dirty="0"/>
              <a:t> reduces the number of derivational steps in </a:t>
            </a:r>
            <a:r>
              <a:rPr lang="en-GB" sz="2000" dirty="0" err="1"/>
              <a:t>F</a:t>
            </a:r>
            <a:r>
              <a:rPr lang="en-GB" dirty="0" err="1"/>
              <a:t>Move</a:t>
            </a:r>
            <a:r>
              <a:rPr lang="en-GB" sz="2000" dirty="0"/>
              <a:t> (and </a:t>
            </a:r>
            <a:r>
              <a:rPr lang="en-GB" sz="2000" dirty="0" err="1"/>
              <a:t>F</a:t>
            </a:r>
            <a:r>
              <a:rPr lang="en-GB" dirty="0" err="1"/>
              <a:t>Agree</a:t>
            </a:r>
            <a:r>
              <a:rPr lang="en-GB" sz="2000" dirty="0"/>
              <a:t>): </a:t>
            </a:r>
            <a:r>
              <a:rPr lang="en-GB" sz="2000" dirty="0" err="1"/>
              <a:t>F</a:t>
            </a:r>
            <a:r>
              <a:rPr lang="en-GB" dirty="0" err="1"/>
              <a:t>Move</a:t>
            </a:r>
            <a:r>
              <a:rPr lang="en-GB" dirty="0"/>
              <a:t>/Agree </a:t>
            </a:r>
            <a:r>
              <a:rPr lang="en-GB" sz="2000" dirty="0"/>
              <a:t>establishes agreement/movement between multiple heads. </a:t>
            </a:r>
          </a:p>
        </p:txBody>
      </p:sp>
    </p:spTree>
    <p:extLst>
      <p:ext uri="{BB962C8B-B14F-4D97-AF65-F5344CB8AC3E}">
        <p14:creationId xmlns:p14="http://schemas.microsoft.com/office/powerpoint/2010/main" val="374085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22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F18A-D420-A47F-D088-B355F1A2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Functional Categories and Weakening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B0B1-32E0-CA56-3CEC-C14985E6C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1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Grammaticalization often (though not always) involve weakening in phonology, morphology and semantics (</a:t>
            </a:r>
            <a:r>
              <a:rPr lang="zh-CN" altLang="en-US" sz="2400" dirty="0"/>
              <a:t>虛詞弱化</a:t>
            </a:r>
            <a:r>
              <a:rPr lang="en-GB" altLang="zh-CN" sz="2400" dirty="0"/>
              <a:t>/</a:t>
            </a:r>
            <a:r>
              <a:rPr lang="zh-CN" altLang="en-US" sz="2400" dirty="0"/>
              <a:t>虛化</a:t>
            </a:r>
            <a:r>
              <a:rPr lang="en-GB" altLang="zh-CN" sz="2400" dirty="0"/>
              <a:t>) (Campbell (2001))</a:t>
            </a:r>
            <a:endParaRPr lang="en-GB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267E90-01B5-9BA2-DF84-17544FD58996}"/>
              </a:ext>
            </a:extLst>
          </p:cNvPr>
          <p:cNvSpPr txBox="1">
            <a:spLocks/>
          </p:cNvSpPr>
          <p:nvPr/>
        </p:nvSpPr>
        <p:spPr>
          <a:xfrm>
            <a:off x="838200" y="17409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R&amp;R’s (2003:219-221) Interface Defective Hypothesis: </a:t>
            </a:r>
          </a:p>
          <a:p>
            <a:pPr marL="0" indent="0">
              <a:buNone/>
            </a:pPr>
            <a:r>
              <a:rPr lang="en-GB" sz="2400" dirty="0"/>
              <a:t>Functional categories are weak at the interfaces between syntax and phonology (Phonetic Form/PHON) and semantics (Logical Form/SEM)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4755E6-146A-B55C-C7E0-1EA57A1FC9FE}"/>
              </a:ext>
            </a:extLst>
          </p:cNvPr>
          <p:cNvSpPr txBox="1">
            <a:spLocks/>
          </p:cNvSpPr>
          <p:nvPr/>
        </p:nvSpPr>
        <p:spPr>
          <a:xfrm>
            <a:off x="0" y="2904461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Bybee (2003): Weakening in grammaticalization caused by rise in frequency (</a:t>
            </a:r>
            <a:r>
              <a:rPr lang="en-GB" sz="2400" dirty="0" err="1"/>
              <a:t>cf</a:t>
            </a:r>
            <a:r>
              <a:rPr lang="en-GB" sz="2400" dirty="0"/>
              <a:t> Zipf’s law):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DA82E4-8003-47F8-8C6A-DDA4F03814A2}"/>
              </a:ext>
            </a:extLst>
          </p:cNvPr>
          <p:cNvSpPr txBox="1">
            <a:spLocks/>
          </p:cNvSpPr>
          <p:nvPr/>
        </p:nvSpPr>
        <p:spPr>
          <a:xfrm>
            <a:off x="0" y="32703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English modal </a:t>
            </a:r>
            <a:r>
              <a:rPr lang="en-GB" sz="2400" i="1" dirty="0"/>
              <a:t>can</a:t>
            </a:r>
            <a:r>
              <a:rPr lang="en-GB" sz="2400" dirty="0"/>
              <a:t> (lexical verb (V) modal verb (Mod)) (Lightfoot (1979)):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3E8255-148E-796E-36A7-ECB58ECC3AAF}"/>
              </a:ext>
            </a:extLst>
          </p:cNvPr>
          <p:cNvSpPr txBox="1">
            <a:spLocks/>
          </p:cNvSpPr>
          <p:nvPr/>
        </p:nvSpPr>
        <p:spPr>
          <a:xfrm>
            <a:off x="0" y="35787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Pre-modal </a:t>
            </a:r>
            <a:r>
              <a:rPr lang="en-GB" sz="2400" i="1" dirty="0"/>
              <a:t>can</a:t>
            </a:r>
            <a:r>
              <a:rPr lang="en-GB" sz="2400" dirty="0"/>
              <a:t> ‘know’ </a:t>
            </a:r>
            <a:r>
              <a:rPr lang="en-US" sz="2400" dirty="0"/>
              <a:t>(agent, stimulus): </a:t>
            </a:r>
            <a:endParaRPr lang="en-GB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D0DDFD-4E17-7F7E-FA41-CA1ADE7EDE71}"/>
              </a:ext>
            </a:extLst>
          </p:cNvPr>
          <p:cNvSpPr txBox="1">
            <a:spLocks/>
          </p:cNvSpPr>
          <p:nvPr/>
        </p:nvSpPr>
        <p:spPr>
          <a:xfrm>
            <a:off x="0" y="6243625"/>
            <a:ext cx="122774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‘Context expansion’ &gt; Rise in frequency &gt; Morphophonological weakening (Bybee (2003))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8BB967-DA78-3C4A-8D14-401848040D92}"/>
              </a:ext>
            </a:extLst>
          </p:cNvPr>
          <p:cNvSpPr txBox="1">
            <a:spLocks/>
          </p:cNvSpPr>
          <p:nvPr/>
        </p:nvSpPr>
        <p:spPr>
          <a:xfrm>
            <a:off x="0" y="3937517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He ne con </a:t>
            </a:r>
            <a:r>
              <a:rPr lang="en-GB" sz="2400" dirty="0" err="1"/>
              <a:t>ongitan</a:t>
            </a:r>
            <a:r>
              <a:rPr lang="en-GB" sz="2400" dirty="0"/>
              <a:t> </a:t>
            </a:r>
            <a:r>
              <a:rPr lang="en-GB" sz="2400" dirty="0" err="1"/>
              <a:t>forhwy</a:t>
            </a:r>
            <a:r>
              <a:rPr lang="en-GB" sz="2400" dirty="0"/>
              <a:t> </a:t>
            </a:r>
            <a:r>
              <a:rPr lang="en-GB" sz="2400" dirty="0" err="1"/>
              <a:t>swylc</a:t>
            </a:r>
            <a:r>
              <a:rPr lang="en-GB" sz="2400" dirty="0"/>
              <a:t> God </a:t>
            </a:r>
            <a:r>
              <a:rPr lang="en-GB" sz="2400" dirty="0" err="1"/>
              <a:t>gepafad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He NEG can understand why such God allows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‘He does not understand why God allows such as that.’ (950 Alfred’s </a:t>
            </a:r>
            <a:r>
              <a:rPr lang="en-GB" sz="2400" dirty="0" err="1"/>
              <a:t>Boeth</a:t>
            </a:r>
            <a:r>
              <a:rPr lang="en-GB" sz="2400" dirty="0"/>
              <a:t>. </a:t>
            </a:r>
            <a:r>
              <a:rPr lang="en-GB" sz="2400" dirty="0" err="1"/>
              <a:t>Xxxix</a:t>
            </a:r>
            <a:r>
              <a:rPr lang="en-GB" sz="2400" dirty="0"/>
              <a:t>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5EF6A6-AA2A-AA93-8394-0B62A6C962B4}"/>
              </a:ext>
            </a:extLst>
          </p:cNvPr>
          <p:cNvSpPr txBox="1">
            <a:spLocks/>
          </p:cNvSpPr>
          <p:nvPr/>
        </p:nvSpPr>
        <p:spPr>
          <a:xfrm>
            <a:off x="0" y="5328563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No </a:t>
            </a:r>
            <a:r>
              <a:rPr lang="en-GB" sz="2400" dirty="0" err="1"/>
              <a:t>worldely</a:t>
            </a:r>
            <a:r>
              <a:rPr lang="en-GB" sz="2400" dirty="0"/>
              <a:t> thing can be without </a:t>
            </a:r>
            <a:r>
              <a:rPr lang="en-GB" sz="2400" dirty="0" err="1"/>
              <a:t>styfe</a:t>
            </a:r>
            <a:r>
              <a:rPr lang="en-GB" sz="2400" dirty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‘No worldly thing can be without strife.’ (1509 Hawes Past. Please </a:t>
            </a:r>
            <a:r>
              <a:rPr lang="en-GB" sz="2400" dirty="0" err="1"/>
              <a:t>Xvi.xlix</a:t>
            </a:r>
            <a:r>
              <a:rPr lang="en-GB" sz="2400" dirty="0"/>
              <a:t>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8E1705-4EEF-B93D-131B-125DBB2485EE}"/>
              </a:ext>
            </a:extLst>
          </p:cNvPr>
          <p:cNvSpPr txBox="1">
            <a:spLocks/>
          </p:cNvSpPr>
          <p:nvPr/>
        </p:nvSpPr>
        <p:spPr>
          <a:xfrm>
            <a:off x="6098005" y="3937517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(agent (animate </a:t>
            </a:r>
            <a:r>
              <a:rPr lang="en-GB" sz="2400" i="1" dirty="0"/>
              <a:t>he</a:t>
            </a:r>
            <a:r>
              <a:rPr lang="en-GB" sz="2400" dirty="0"/>
              <a:t>), stimulus (</a:t>
            </a:r>
            <a:r>
              <a:rPr lang="en-GB" sz="2400" i="1" dirty="0" err="1"/>
              <a:t>ongitan</a:t>
            </a:r>
            <a:r>
              <a:rPr lang="en-GB" sz="2400" dirty="0"/>
              <a:t>))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523F7FB-6FAE-E17E-5424-664B8ECD3483}"/>
              </a:ext>
            </a:extLst>
          </p:cNvPr>
          <p:cNvSpPr txBox="1">
            <a:spLocks/>
          </p:cNvSpPr>
          <p:nvPr/>
        </p:nvSpPr>
        <p:spPr>
          <a:xfrm>
            <a:off x="5519487" y="5307681"/>
            <a:ext cx="80451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(- (here inanimate </a:t>
            </a:r>
            <a:r>
              <a:rPr lang="en-GB" sz="2400" i="1" dirty="0"/>
              <a:t>thing</a:t>
            </a:r>
            <a:r>
              <a:rPr lang="en-GB" sz="2400" dirty="0"/>
              <a:t>) , - (here non-stimulus </a:t>
            </a:r>
            <a:r>
              <a:rPr lang="en-GB" sz="2400" i="1" dirty="0"/>
              <a:t>be</a:t>
            </a:r>
            <a:r>
              <a:rPr lang="en-GB" sz="2400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83441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F3E5-1531-866B-8DE2-D77152CD6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02969"/>
          </a:xfrm>
        </p:spPr>
        <p:txBody>
          <a:bodyPr>
            <a:normAutofit/>
          </a:bodyPr>
          <a:lstStyle/>
          <a:p>
            <a:r>
              <a:rPr lang="en-GB" sz="4000" dirty="0"/>
              <a:t>‘Lateral’ Grammaticalization (Simpson and Wu (2002))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81E60-BFA9-539C-275A-EE0F33573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902970"/>
            <a:ext cx="11353802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Simpson and Wu (</a:t>
            </a:r>
            <a:r>
              <a:rPr lang="en-GB" altLang="zh-CN" dirty="0"/>
              <a:t>S&amp;W)</a:t>
            </a:r>
            <a:r>
              <a:rPr lang="zh-CN" altLang="en-US" dirty="0"/>
              <a:t> </a:t>
            </a:r>
            <a:r>
              <a:rPr lang="en-GB" dirty="0"/>
              <a:t>(2002):</a:t>
            </a:r>
            <a:r>
              <a:rPr lang="zh-CN" altLang="en-US" dirty="0"/>
              <a:t> </a:t>
            </a:r>
            <a:r>
              <a:rPr lang="en-GB" altLang="zh-CN" dirty="0"/>
              <a:t>Chinese</a:t>
            </a:r>
            <a:r>
              <a:rPr lang="zh-CN" altLang="en-US" dirty="0"/>
              <a:t> </a:t>
            </a:r>
            <a:r>
              <a:rPr lang="en-GB" altLang="zh-CN" i="1" dirty="0" err="1"/>
              <a:t>shi</a:t>
            </a:r>
            <a:r>
              <a:rPr lang="en-GB" altLang="zh-CN" i="1" dirty="0"/>
              <a:t>-de</a:t>
            </a:r>
            <a:r>
              <a:rPr lang="zh-CN" altLang="en-US" dirty="0"/>
              <a:t> </a:t>
            </a:r>
            <a:r>
              <a:rPr lang="en-GB" altLang="zh-CN" dirty="0"/>
              <a:t>(</a:t>
            </a:r>
            <a:r>
              <a:rPr lang="zh-CN" altLang="en-US" dirty="0"/>
              <a:t>是</a:t>
            </a:r>
            <a:r>
              <a:rPr lang="en-GB" altLang="zh-CN" dirty="0"/>
              <a:t>-</a:t>
            </a:r>
            <a:r>
              <a:rPr lang="zh-CN" altLang="en-US" dirty="0"/>
              <a:t>的句式</a:t>
            </a:r>
            <a:r>
              <a:rPr lang="en-GB" altLang="zh-CN" dirty="0"/>
              <a:t>) constructions: 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9A3D88-8627-8E2A-60B8-E506C4641867}"/>
              </a:ext>
            </a:extLst>
          </p:cNvPr>
          <p:cNvSpPr txBox="1">
            <a:spLocks/>
          </p:cNvSpPr>
          <p:nvPr/>
        </p:nvSpPr>
        <p:spPr>
          <a:xfrm>
            <a:off x="838198" y="1417319"/>
            <a:ext cx="11353802" cy="2874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我</a:t>
            </a:r>
            <a:r>
              <a:rPr lang="en-GB" altLang="zh-CN" dirty="0"/>
              <a:t>	</a:t>
            </a:r>
            <a:r>
              <a:rPr lang="zh-CN" altLang="en-US" dirty="0"/>
              <a:t>是</a:t>
            </a:r>
            <a:r>
              <a:rPr lang="en-GB" altLang="zh-CN" dirty="0"/>
              <a:t>	</a:t>
            </a:r>
            <a:r>
              <a:rPr lang="zh-CN" altLang="en-US" dirty="0"/>
              <a:t>昨天</a:t>
            </a:r>
            <a:r>
              <a:rPr lang="en-GB" altLang="zh-CN" dirty="0"/>
              <a:t>		</a:t>
            </a:r>
            <a:r>
              <a:rPr lang="zh-CN" altLang="en-US" dirty="0"/>
              <a:t>買</a:t>
            </a:r>
            <a:r>
              <a:rPr lang="en-GB" altLang="zh-CN" dirty="0"/>
              <a:t>	</a:t>
            </a:r>
            <a:r>
              <a:rPr lang="zh-CN" altLang="en-US" dirty="0"/>
              <a:t>票</a:t>
            </a:r>
            <a:r>
              <a:rPr lang="en-GB" altLang="zh-CN" dirty="0"/>
              <a:t>	</a:t>
            </a:r>
            <a:r>
              <a:rPr lang="zh-CN" altLang="en-US" dirty="0"/>
              <a:t>的</a:t>
            </a:r>
            <a:endParaRPr lang="en-GB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Wo	</a:t>
            </a:r>
            <a:r>
              <a:rPr lang="en-GB" dirty="0" err="1"/>
              <a:t>shi</a:t>
            </a:r>
            <a:r>
              <a:rPr lang="en-GB" dirty="0"/>
              <a:t>	</a:t>
            </a:r>
            <a:r>
              <a:rPr lang="en-GB" dirty="0" err="1"/>
              <a:t>zuotian</a:t>
            </a:r>
            <a:r>
              <a:rPr lang="en-GB" dirty="0"/>
              <a:t>	</a:t>
            </a:r>
            <a:r>
              <a:rPr lang="en-GB" dirty="0" err="1"/>
              <a:t>mai</a:t>
            </a:r>
            <a:r>
              <a:rPr lang="en-GB" dirty="0"/>
              <a:t>	</a:t>
            </a:r>
            <a:r>
              <a:rPr lang="en-GB" dirty="0" err="1"/>
              <a:t>piao</a:t>
            </a:r>
            <a:r>
              <a:rPr lang="en-GB" dirty="0"/>
              <a:t>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 	COP	yesterday	buy	ticket	DE			(VOde)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我</a:t>
            </a:r>
            <a:r>
              <a:rPr lang="en-GB" altLang="zh-CN" dirty="0"/>
              <a:t>	</a:t>
            </a:r>
            <a:r>
              <a:rPr lang="zh-CN" altLang="en-US" dirty="0"/>
              <a:t>是</a:t>
            </a:r>
            <a:r>
              <a:rPr lang="en-GB" altLang="zh-CN" dirty="0"/>
              <a:t>	</a:t>
            </a:r>
            <a:r>
              <a:rPr lang="zh-CN" altLang="en-US" dirty="0"/>
              <a:t>昨天</a:t>
            </a:r>
            <a:r>
              <a:rPr lang="en-GB" altLang="zh-CN" dirty="0"/>
              <a:t>		</a:t>
            </a:r>
            <a:r>
              <a:rPr lang="zh-CN" altLang="en-US" dirty="0"/>
              <a:t>買</a:t>
            </a:r>
            <a:r>
              <a:rPr lang="en-GB" altLang="zh-CN" dirty="0"/>
              <a:t>-</a:t>
            </a:r>
            <a:r>
              <a:rPr lang="zh-CN" altLang="en-US" dirty="0"/>
              <a:t>的</a:t>
            </a:r>
            <a:r>
              <a:rPr lang="en-GB" altLang="zh-CN" dirty="0"/>
              <a:t>		</a:t>
            </a:r>
            <a:r>
              <a:rPr lang="zh-CN" altLang="en-US" dirty="0"/>
              <a:t>票</a:t>
            </a:r>
            <a:endParaRPr lang="en-GB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Wo	</a:t>
            </a:r>
            <a:r>
              <a:rPr lang="en-GB" dirty="0" err="1"/>
              <a:t>shi</a:t>
            </a:r>
            <a:r>
              <a:rPr lang="en-GB" dirty="0"/>
              <a:t>	</a:t>
            </a:r>
            <a:r>
              <a:rPr lang="en-GB" dirty="0" err="1"/>
              <a:t>zuotian</a:t>
            </a:r>
            <a:r>
              <a:rPr lang="en-GB" dirty="0"/>
              <a:t>	</a:t>
            </a:r>
            <a:r>
              <a:rPr lang="en-GB" dirty="0" err="1"/>
              <a:t>mai</a:t>
            </a:r>
            <a:r>
              <a:rPr lang="en-GB" dirty="0"/>
              <a:t>-de	</a:t>
            </a:r>
            <a:r>
              <a:rPr lang="en-GB" dirty="0" err="1"/>
              <a:t>piao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 	COP	yesterday	buy-DE	ticket			(</a:t>
            </a:r>
            <a:r>
              <a:rPr lang="en-GB" dirty="0" err="1"/>
              <a:t>VdeO</a:t>
            </a:r>
            <a:r>
              <a:rPr lang="en-GB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‘It was yesterday that I bought tickets.’ (S&amp;W</a:t>
            </a:r>
            <a:r>
              <a:rPr lang="zh-CN" altLang="en-US" dirty="0"/>
              <a:t> </a:t>
            </a:r>
            <a:r>
              <a:rPr lang="en-GB" altLang="zh-CN" dirty="0"/>
              <a:t>(2002:169))			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C38029-6216-DCE4-FB2E-767B2225537C}"/>
              </a:ext>
            </a:extLst>
          </p:cNvPr>
          <p:cNvSpPr txBox="1">
            <a:spLocks/>
          </p:cNvSpPr>
          <p:nvPr/>
        </p:nvSpPr>
        <p:spPr>
          <a:xfrm>
            <a:off x="0" y="4105406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Sentence-final de (VOde) is pan-Chinese (all dialects), whereas verb-affix </a:t>
            </a:r>
            <a:r>
              <a:rPr lang="en-GB" sz="2400" i="1" dirty="0"/>
              <a:t>de</a:t>
            </a:r>
            <a:r>
              <a:rPr lang="en-GB" sz="2400" dirty="0"/>
              <a:t> (</a:t>
            </a:r>
            <a:r>
              <a:rPr lang="en-GB" sz="2400" dirty="0" err="1"/>
              <a:t>VdeO</a:t>
            </a:r>
            <a:r>
              <a:rPr lang="en-GB" sz="2400" dirty="0"/>
              <a:t>) only in northern Mandarin (</a:t>
            </a:r>
            <a:r>
              <a:rPr lang="zh-CN" altLang="en-US" sz="2400" dirty="0"/>
              <a:t>北方話</a:t>
            </a:r>
            <a:r>
              <a:rPr lang="en-GB" altLang="zh-CN" sz="2400" dirty="0"/>
              <a:t>)</a:t>
            </a:r>
            <a:endParaRPr lang="en-GB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B244BC-EB64-F8DC-514A-CE6C8F68B619}"/>
              </a:ext>
            </a:extLst>
          </p:cNvPr>
          <p:cNvSpPr txBox="1">
            <a:spLocks/>
          </p:cNvSpPr>
          <p:nvPr/>
        </p:nvSpPr>
        <p:spPr>
          <a:xfrm>
            <a:off x="1441526" y="5248127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VOde &gt; </a:t>
            </a:r>
            <a:r>
              <a:rPr lang="en-GB" dirty="0" err="1"/>
              <a:t>VdeO</a:t>
            </a:r>
            <a:r>
              <a:rPr lang="en-GB" dirty="0"/>
              <a:t> (sentence-final </a:t>
            </a:r>
            <a:r>
              <a:rPr lang="en-GB" i="1" dirty="0"/>
              <a:t>de</a:t>
            </a:r>
            <a:r>
              <a:rPr lang="en-GB" dirty="0"/>
              <a:t> preposed as verb ending)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(S&amp;W (2002:171-174))</a:t>
            </a:r>
          </a:p>
        </p:txBody>
      </p:sp>
    </p:spTree>
    <p:extLst>
      <p:ext uri="{BB962C8B-B14F-4D97-AF65-F5344CB8AC3E}">
        <p14:creationId xmlns:p14="http://schemas.microsoft.com/office/powerpoint/2010/main" val="328611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364B-39C4-38CE-778A-9AB80545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9793"/>
          </a:xfrm>
        </p:spPr>
        <p:txBody>
          <a:bodyPr>
            <a:normAutofit/>
          </a:bodyPr>
          <a:lstStyle/>
          <a:p>
            <a:r>
              <a:rPr lang="en-GB" sz="4000" dirty="0"/>
              <a:t>‘Lateral’ grammaticalization (nominal &gt; verbal) (DP &gt; 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1FF19-238F-F0D6-D8F6-D3DDDA185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22" y="739636"/>
            <a:ext cx="112094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		DP (VOde)</a:t>
            </a:r>
          </a:p>
          <a:p>
            <a:pPr marL="0" indent="0">
              <a:buNone/>
            </a:pPr>
            <a:r>
              <a:rPr lang="en-GB" sz="2000" dirty="0" err="1"/>
              <a:t>SpecDP</a:t>
            </a:r>
            <a:r>
              <a:rPr lang="en-GB" sz="2000" dirty="0"/>
              <a:t>			D’</a:t>
            </a:r>
          </a:p>
          <a:p>
            <a:pPr marL="0" indent="0">
              <a:buNone/>
            </a:pPr>
            <a:r>
              <a:rPr lang="en-GB" sz="2000" dirty="0"/>
              <a:t>		D		NP</a:t>
            </a:r>
          </a:p>
          <a:p>
            <a:pPr marL="0" indent="0">
              <a:buNone/>
            </a:pPr>
            <a:r>
              <a:rPr lang="zh-CN" altLang="en-US" sz="2000" dirty="0"/>
              <a:t>昨天買票 </a:t>
            </a:r>
            <a:r>
              <a:rPr lang="en-GB" altLang="zh-CN" sz="1800" dirty="0" err="1"/>
              <a:t>i</a:t>
            </a:r>
            <a:r>
              <a:rPr lang="zh-CN" altLang="en-US" sz="2000" dirty="0"/>
              <a:t> </a:t>
            </a:r>
            <a:r>
              <a:rPr lang="en-GB" altLang="zh-CN" sz="2000" dirty="0"/>
              <a:t>	</a:t>
            </a:r>
            <a:r>
              <a:rPr lang="zh-CN" altLang="en-US" sz="2000" dirty="0"/>
              <a:t>的 </a:t>
            </a:r>
            <a:r>
              <a:rPr lang="en-GB" sz="2000" dirty="0"/>
              <a:t>de	</a:t>
            </a:r>
            <a:r>
              <a:rPr lang="en-GB" sz="2000" dirty="0" err="1"/>
              <a:t>SpecNP</a:t>
            </a:r>
            <a:r>
              <a:rPr lang="en-GB" sz="2000" dirty="0"/>
              <a:t>		N’</a:t>
            </a:r>
          </a:p>
          <a:p>
            <a:pPr marL="0" indent="0">
              <a:buNone/>
            </a:pPr>
            <a:r>
              <a:rPr lang="en-GB" sz="2000" dirty="0" err="1"/>
              <a:t>zuotian</a:t>
            </a:r>
            <a:r>
              <a:rPr lang="en-GB" sz="2000" dirty="0"/>
              <a:t> </a:t>
            </a:r>
            <a:r>
              <a:rPr lang="en-GB" sz="2000" dirty="0" err="1"/>
              <a:t>mai</a:t>
            </a:r>
            <a:r>
              <a:rPr lang="en-GB" sz="2000" dirty="0"/>
              <a:t> </a:t>
            </a:r>
            <a:r>
              <a:rPr lang="en-GB" sz="2000" dirty="0" err="1"/>
              <a:t>piao</a:t>
            </a:r>
            <a:r>
              <a:rPr lang="en-GB" sz="2000" dirty="0"/>
              <a:t> </a:t>
            </a:r>
            <a:r>
              <a:rPr lang="en-GB" sz="1800" dirty="0" err="1"/>
              <a:t>i</a:t>
            </a:r>
            <a:r>
              <a:rPr lang="en-GB" sz="2000" dirty="0"/>
              <a:t>	[i-D]	N		TP</a:t>
            </a:r>
          </a:p>
          <a:p>
            <a:pPr marL="0" indent="0">
              <a:buNone/>
            </a:pPr>
            <a:r>
              <a:rPr lang="en-GB" sz="2000" dirty="0"/>
              <a:t>			[u-N]	ø		t </a:t>
            </a:r>
            <a:r>
              <a:rPr lang="en-GB" sz="1800" dirty="0" err="1"/>
              <a:t>i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			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7D61B2-F141-ABC5-C2C0-5FFE34968412}"/>
              </a:ext>
            </a:extLst>
          </p:cNvPr>
          <p:cNvSpPr txBox="1">
            <a:spLocks/>
          </p:cNvSpPr>
          <p:nvPr/>
        </p:nvSpPr>
        <p:spPr>
          <a:xfrm>
            <a:off x="1826525" y="26779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D</a:t>
            </a:r>
            <a:r>
              <a:rPr lang="en-GB" sz="2000" dirty="0" err="1"/>
              <a:t>Agree</a:t>
            </a:r>
            <a:r>
              <a:rPr lang="en-GB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571DD0-63EC-6951-BAF1-B2F16C77868F}"/>
              </a:ext>
            </a:extLst>
          </p:cNvPr>
          <p:cNvSpPr txBox="1">
            <a:spLocks/>
          </p:cNvSpPr>
          <p:nvPr/>
        </p:nvSpPr>
        <p:spPr>
          <a:xfrm>
            <a:off x="9924769" y="233999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T</a:t>
            </a:r>
            <a:r>
              <a:rPr lang="en-GB" sz="2000" dirty="0" err="1"/>
              <a:t>Merge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B70801-B09F-48AF-144F-3D1D8E45F6BA}"/>
              </a:ext>
            </a:extLst>
          </p:cNvPr>
          <p:cNvSpPr txBox="1">
            <a:spLocks/>
          </p:cNvSpPr>
          <p:nvPr/>
        </p:nvSpPr>
        <p:spPr>
          <a:xfrm>
            <a:off x="1826525" y="3126651"/>
            <a:ext cx="9253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‘Structural simplification’ (</a:t>
            </a:r>
            <a:r>
              <a:rPr lang="en-GB" sz="2000" dirty="0" err="1"/>
              <a:t>D</a:t>
            </a:r>
            <a:r>
              <a:rPr lang="en-GB" sz="1800" dirty="0" err="1"/>
              <a:t>Agree</a:t>
            </a:r>
            <a:r>
              <a:rPr lang="en-GB" sz="2000" dirty="0"/>
              <a:t> &gt; </a:t>
            </a:r>
            <a:r>
              <a:rPr lang="en-GB" sz="2000" dirty="0" err="1"/>
              <a:t>T</a:t>
            </a:r>
            <a:r>
              <a:rPr lang="en-GB" sz="1800" dirty="0" err="1"/>
              <a:t>Merge</a:t>
            </a:r>
            <a:r>
              <a:rPr lang="en-GB" sz="2000" dirty="0"/>
              <a:t>, [i-D] &gt; [u-D]), new F-category (T(past)))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DC2238-97A2-3684-C772-61DE69878268}"/>
              </a:ext>
            </a:extLst>
          </p:cNvPr>
          <p:cNvSpPr txBox="1">
            <a:spLocks/>
          </p:cNvSpPr>
          <p:nvPr/>
        </p:nvSpPr>
        <p:spPr>
          <a:xfrm>
            <a:off x="6507357" y="7396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TP (</a:t>
            </a:r>
            <a:r>
              <a:rPr lang="en-GB" sz="2000" dirty="0" err="1"/>
              <a:t>VdeO</a:t>
            </a:r>
            <a:r>
              <a:rPr lang="en-GB" sz="20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      </a:t>
            </a:r>
            <a:r>
              <a:rPr lang="en-GB" sz="2000" dirty="0" err="1"/>
              <a:t>SpecTP</a:t>
            </a:r>
            <a:r>
              <a:rPr lang="en-GB" sz="2000" dirty="0"/>
              <a:t>			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T(past)		TP</a:t>
            </a:r>
          </a:p>
          <a:p>
            <a:pPr marL="0" indent="0">
              <a:buNone/>
            </a:pPr>
            <a:r>
              <a:rPr lang="zh-CN" altLang="en-US" sz="2000" dirty="0"/>
              <a:t>昨天買</a:t>
            </a:r>
            <a:r>
              <a:rPr lang="en-GB" altLang="zh-CN" sz="2000" dirty="0"/>
              <a:t>-</a:t>
            </a:r>
            <a:r>
              <a:rPr lang="zh-CN" altLang="en-US" sz="2000" dirty="0"/>
              <a:t>的 </a:t>
            </a:r>
            <a:r>
              <a:rPr lang="en-GB" altLang="zh-CN" sz="1800" dirty="0"/>
              <a:t>j</a:t>
            </a:r>
            <a:r>
              <a:rPr lang="en-GB" altLang="zh-CN" sz="2000" dirty="0"/>
              <a:t> </a:t>
            </a:r>
            <a:r>
              <a:rPr lang="zh-CN" altLang="en-US" sz="2000" dirty="0"/>
              <a:t>票</a:t>
            </a:r>
            <a:r>
              <a:rPr lang="zh-CN" altLang="en-US" sz="1800" dirty="0"/>
              <a:t> </a:t>
            </a:r>
            <a:r>
              <a:rPr lang="en-GB" altLang="zh-CN" sz="1800" dirty="0" err="1"/>
              <a:t>i</a:t>
            </a:r>
            <a:r>
              <a:rPr lang="en-GB" sz="2000" dirty="0"/>
              <a:t>		t </a:t>
            </a:r>
            <a:r>
              <a:rPr lang="en-GB" sz="1800" dirty="0"/>
              <a:t>j</a:t>
            </a:r>
            <a:r>
              <a:rPr lang="en-GB" sz="2000" dirty="0"/>
              <a:t> 		</a:t>
            </a:r>
            <a:r>
              <a:rPr lang="en-US" altLang="zh-CN" sz="2000" dirty="0"/>
              <a:t>t </a:t>
            </a:r>
            <a:r>
              <a:rPr lang="en-US" altLang="zh-CN" sz="1800" dirty="0" err="1"/>
              <a:t>i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zuotian</a:t>
            </a:r>
            <a:r>
              <a:rPr lang="en-GB" sz="2000" dirty="0"/>
              <a:t> </a:t>
            </a:r>
            <a:r>
              <a:rPr lang="en-GB" sz="2000" dirty="0" err="1"/>
              <a:t>mai</a:t>
            </a:r>
            <a:r>
              <a:rPr lang="en-GB" sz="2000" dirty="0"/>
              <a:t>-de </a:t>
            </a:r>
            <a:r>
              <a:rPr lang="en-GB" sz="1800" dirty="0"/>
              <a:t>j </a:t>
            </a:r>
            <a:r>
              <a:rPr lang="en-GB" sz="2000" dirty="0" err="1"/>
              <a:t>piao</a:t>
            </a:r>
            <a:r>
              <a:rPr lang="en-GB" sz="2000" dirty="0"/>
              <a:t> </a:t>
            </a:r>
            <a:r>
              <a:rPr lang="en-GB" sz="1800" dirty="0" err="1"/>
              <a:t>i</a:t>
            </a:r>
            <a:r>
              <a:rPr lang="en-GB" sz="2000" dirty="0"/>
              <a:t>	[</a:t>
            </a:r>
            <a:r>
              <a:rPr lang="en-GB" sz="2000" dirty="0" err="1"/>
              <a:t>i</a:t>
            </a:r>
            <a:r>
              <a:rPr lang="en-GB" sz="2000" dirty="0"/>
              <a:t>-T]						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[u-D]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7D36E4-DC09-30B4-1FE7-FDDAC63D5AE3}"/>
              </a:ext>
            </a:extLst>
          </p:cNvPr>
          <p:cNvSpPr txBox="1">
            <a:spLocks/>
          </p:cNvSpPr>
          <p:nvPr/>
        </p:nvSpPr>
        <p:spPr>
          <a:xfrm>
            <a:off x="1201464" y="3440241"/>
            <a:ext cx="13002126" cy="3405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XP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X		YP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[</a:t>
            </a:r>
            <a:r>
              <a:rPr lang="en-GB" sz="2400" dirty="0" err="1"/>
              <a:t>i</a:t>
            </a:r>
            <a:r>
              <a:rPr lang="en-GB" sz="2400" dirty="0"/>
              <a:t>-X]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[u-Y]	Y		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[</a:t>
            </a:r>
            <a:r>
              <a:rPr lang="en-GB" sz="2400" dirty="0" err="1"/>
              <a:t>i</a:t>
            </a:r>
            <a:r>
              <a:rPr lang="en-GB" sz="2400" dirty="0"/>
              <a:t>-Y]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[u-X]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2F6F6A-3369-DD08-1B34-D6847709EBB8}"/>
              </a:ext>
            </a:extLst>
          </p:cNvPr>
          <p:cNvSpPr txBox="1">
            <a:spLocks/>
          </p:cNvSpPr>
          <p:nvPr/>
        </p:nvSpPr>
        <p:spPr>
          <a:xfrm>
            <a:off x="7021390" y="3429000"/>
            <a:ext cx="12192000" cy="3416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ZP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Z		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X=Z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[</a:t>
            </a:r>
            <a:r>
              <a:rPr lang="en-GB" sz="2400" dirty="0" err="1"/>
              <a:t>i</a:t>
            </a:r>
            <a:r>
              <a:rPr lang="en-GB" sz="2400" dirty="0"/>
              <a:t>-Z]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[u-X]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1E88D0-3106-AFA3-14E9-EEC8B4B29EB4}"/>
              </a:ext>
            </a:extLst>
          </p:cNvPr>
          <p:cNvCxnSpPr>
            <a:cxnSpLocks/>
          </p:cNvCxnSpPr>
          <p:nvPr/>
        </p:nvCxnSpPr>
        <p:spPr>
          <a:xfrm flipH="1">
            <a:off x="877343" y="1038707"/>
            <a:ext cx="1425645" cy="964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6E8554-16B1-4513-A8DA-E9DE9657BCF7}"/>
              </a:ext>
            </a:extLst>
          </p:cNvPr>
          <p:cNvCxnSpPr>
            <a:cxnSpLocks/>
          </p:cNvCxnSpPr>
          <p:nvPr/>
        </p:nvCxnSpPr>
        <p:spPr>
          <a:xfrm>
            <a:off x="2302988" y="1039017"/>
            <a:ext cx="827506" cy="1284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9D8C27-5DC4-E628-D041-5E52B693BCF0}"/>
              </a:ext>
            </a:extLst>
          </p:cNvPr>
          <p:cNvCxnSpPr>
            <a:cxnSpLocks/>
          </p:cNvCxnSpPr>
          <p:nvPr/>
        </p:nvCxnSpPr>
        <p:spPr>
          <a:xfrm flipH="1">
            <a:off x="2224702" y="1390491"/>
            <a:ext cx="877962" cy="1570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5432643-86A2-C761-1048-E9177BED5E39}"/>
              </a:ext>
            </a:extLst>
          </p:cNvPr>
          <p:cNvSpPr/>
          <p:nvPr/>
        </p:nvSpPr>
        <p:spPr>
          <a:xfrm>
            <a:off x="237730" y="1457831"/>
            <a:ext cx="1060704" cy="45377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447E04-4D0D-8FA6-0784-32B0BBCFEFAA}"/>
              </a:ext>
            </a:extLst>
          </p:cNvPr>
          <p:cNvCxnSpPr>
            <a:cxnSpLocks/>
          </p:cNvCxnSpPr>
          <p:nvPr/>
        </p:nvCxnSpPr>
        <p:spPr>
          <a:xfrm>
            <a:off x="3111402" y="1393091"/>
            <a:ext cx="948887" cy="200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6DB21B-B82D-CB0F-AABE-BE586E3E00B8}"/>
              </a:ext>
            </a:extLst>
          </p:cNvPr>
          <p:cNvCxnSpPr>
            <a:cxnSpLocks/>
          </p:cNvCxnSpPr>
          <p:nvPr/>
        </p:nvCxnSpPr>
        <p:spPr>
          <a:xfrm flipH="1">
            <a:off x="3387846" y="1834136"/>
            <a:ext cx="730444" cy="170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AA1BDA-857B-45A3-EA80-336332E19639}"/>
              </a:ext>
            </a:extLst>
          </p:cNvPr>
          <p:cNvCxnSpPr>
            <a:cxnSpLocks/>
          </p:cNvCxnSpPr>
          <p:nvPr/>
        </p:nvCxnSpPr>
        <p:spPr>
          <a:xfrm>
            <a:off x="4060289" y="1834136"/>
            <a:ext cx="860412" cy="1459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DFF53BB-55C3-D52F-78C9-F8E828FAA373}"/>
              </a:ext>
            </a:extLst>
          </p:cNvPr>
          <p:cNvCxnSpPr>
            <a:cxnSpLocks/>
          </p:cNvCxnSpPr>
          <p:nvPr/>
        </p:nvCxnSpPr>
        <p:spPr>
          <a:xfrm flipH="1">
            <a:off x="4055788" y="2226431"/>
            <a:ext cx="911615" cy="1582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206E91-0E7F-1BB4-C71D-90FE75DA0241}"/>
              </a:ext>
            </a:extLst>
          </p:cNvPr>
          <p:cNvCxnSpPr>
            <a:cxnSpLocks/>
          </p:cNvCxnSpPr>
          <p:nvPr/>
        </p:nvCxnSpPr>
        <p:spPr>
          <a:xfrm>
            <a:off x="4920701" y="2226431"/>
            <a:ext cx="867531" cy="1135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D3F2A1-3C7F-DB8F-6FB3-575E8B4354C5}"/>
              </a:ext>
            </a:extLst>
          </p:cNvPr>
          <p:cNvCxnSpPr>
            <a:cxnSpLocks/>
          </p:cNvCxnSpPr>
          <p:nvPr/>
        </p:nvCxnSpPr>
        <p:spPr>
          <a:xfrm flipH="1">
            <a:off x="7284846" y="1027866"/>
            <a:ext cx="393390" cy="1680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E02600-1C60-AC58-DF28-94C68D336655}"/>
              </a:ext>
            </a:extLst>
          </p:cNvPr>
          <p:cNvCxnSpPr>
            <a:cxnSpLocks/>
          </p:cNvCxnSpPr>
          <p:nvPr/>
        </p:nvCxnSpPr>
        <p:spPr>
          <a:xfrm>
            <a:off x="7678236" y="1038707"/>
            <a:ext cx="2658944" cy="1176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72481FE-9E04-5662-399A-B32EE78AD7BC}"/>
              </a:ext>
            </a:extLst>
          </p:cNvPr>
          <p:cNvCxnSpPr>
            <a:cxnSpLocks/>
          </p:cNvCxnSpPr>
          <p:nvPr/>
        </p:nvCxnSpPr>
        <p:spPr>
          <a:xfrm flipH="1">
            <a:off x="9779620" y="1413584"/>
            <a:ext cx="557560" cy="191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A8F75BD-4144-8A81-60FA-A2B5A0DFAA3E}"/>
              </a:ext>
            </a:extLst>
          </p:cNvPr>
          <p:cNvCxnSpPr>
            <a:cxnSpLocks/>
          </p:cNvCxnSpPr>
          <p:nvPr/>
        </p:nvCxnSpPr>
        <p:spPr>
          <a:xfrm>
            <a:off x="10337180" y="1429281"/>
            <a:ext cx="981801" cy="1240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656F19E4-6D95-92B3-90ED-DD709DF81776}"/>
              </a:ext>
            </a:extLst>
          </p:cNvPr>
          <p:cNvSpPr/>
          <p:nvPr/>
        </p:nvSpPr>
        <p:spPr>
          <a:xfrm>
            <a:off x="6729111" y="1397579"/>
            <a:ext cx="1463853" cy="535917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35925D4-8C67-28AB-6081-BDFC67B6EC4D}"/>
              </a:ext>
            </a:extLst>
          </p:cNvPr>
          <p:cNvCxnSpPr/>
          <p:nvPr/>
        </p:nvCxnSpPr>
        <p:spPr>
          <a:xfrm flipH="1">
            <a:off x="1383915" y="3776018"/>
            <a:ext cx="1023596" cy="657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A85CBB8-FA96-E340-EA72-9EDB20A03B1A}"/>
              </a:ext>
            </a:extLst>
          </p:cNvPr>
          <p:cNvCxnSpPr>
            <a:cxnSpLocks/>
          </p:cNvCxnSpPr>
          <p:nvPr/>
        </p:nvCxnSpPr>
        <p:spPr>
          <a:xfrm>
            <a:off x="2397610" y="3783548"/>
            <a:ext cx="812442" cy="567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9F627A-AD09-6F13-1297-D933CB3CC4CD}"/>
              </a:ext>
            </a:extLst>
          </p:cNvPr>
          <p:cNvCxnSpPr>
            <a:cxnSpLocks/>
          </p:cNvCxnSpPr>
          <p:nvPr/>
        </p:nvCxnSpPr>
        <p:spPr>
          <a:xfrm flipH="1">
            <a:off x="2322056" y="4675932"/>
            <a:ext cx="887996" cy="6263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2306ED3-BBA2-696E-8A54-E22540EBEAAF}"/>
              </a:ext>
            </a:extLst>
          </p:cNvPr>
          <p:cNvCxnSpPr>
            <a:cxnSpLocks/>
          </p:cNvCxnSpPr>
          <p:nvPr/>
        </p:nvCxnSpPr>
        <p:spPr>
          <a:xfrm>
            <a:off x="3210052" y="4665403"/>
            <a:ext cx="933245" cy="707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4FF10D3-099A-6076-7761-B058066C6C2C}"/>
              </a:ext>
            </a:extLst>
          </p:cNvPr>
          <p:cNvCxnSpPr>
            <a:cxnSpLocks/>
          </p:cNvCxnSpPr>
          <p:nvPr/>
        </p:nvCxnSpPr>
        <p:spPr>
          <a:xfrm flipH="1">
            <a:off x="7284846" y="3776018"/>
            <a:ext cx="914584" cy="563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AB3F871-8AD7-B50B-3D3C-39CAA9AA40FC}"/>
              </a:ext>
            </a:extLst>
          </p:cNvPr>
          <p:cNvCxnSpPr>
            <a:cxnSpLocks/>
          </p:cNvCxnSpPr>
          <p:nvPr/>
        </p:nvCxnSpPr>
        <p:spPr>
          <a:xfrm>
            <a:off x="8199430" y="3785622"/>
            <a:ext cx="808278" cy="565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EF07B58-D7BB-C9DA-FD0D-06CB1E5EA9A4}"/>
              </a:ext>
            </a:extLst>
          </p:cNvPr>
          <p:cNvCxnSpPr/>
          <p:nvPr/>
        </p:nvCxnSpPr>
        <p:spPr>
          <a:xfrm>
            <a:off x="4464893" y="4665403"/>
            <a:ext cx="1880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F8BBFEAD-3FAD-86DC-45B6-D39C6673E93D}"/>
              </a:ext>
            </a:extLst>
          </p:cNvPr>
          <p:cNvSpPr txBox="1">
            <a:spLocks/>
          </p:cNvSpPr>
          <p:nvPr/>
        </p:nvSpPr>
        <p:spPr>
          <a:xfrm>
            <a:off x="2809930" y="6045317"/>
            <a:ext cx="101633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T(past) is more specific than D (‘context reduction’ and no rise in frequency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&gt; no weakening)</a:t>
            </a:r>
          </a:p>
        </p:txBody>
      </p: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9897DAC4-40BC-83AD-9598-FE7654693FCA}"/>
              </a:ext>
            </a:extLst>
          </p:cNvPr>
          <p:cNvSpPr txBox="1">
            <a:spLocks/>
          </p:cNvSpPr>
          <p:nvPr/>
        </p:nvSpPr>
        <p:spPr>
          <a:xfrm>
            <a:off x="5135816" y="1506043"/>
            <a:ext cx="9253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38329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/>
      <p:bldP spid="9" grpId="0"/>
      <p:bldP spid="10" grpId="0"/>
      <p:bldP spid="17" grpId="0" animBg="1"/>
      <p:bldP spid="36" grpId="0" animBg="1"/>
      <p:bldP spid="92" grpId="0"/>
      <p:bldP spid="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5A25-1638-E92F-B3E6-28750225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Chinese copula </a:t>
            </a:r>
            <a:r>
              <a:rPr lang="en-GB" i="1" dirty="0" err="1"/>
              <a:t>shi</a:t>
            </a:r>
            <a:r>
              <a:rPr lang="en-GB" dirty="0"/>
              <a:t> (</a:t>
            </a:r>
            <a:r>
              <a:rPr lang="zh-CN" altLang="en-US" dirty="0"/>
              <a:t>是</a:t>
            </a:r>
            <a:r>
              <a:rPr lang="en-GB" altLang="zh-CN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A37DE-5668-EC28-38B2-FB082AE16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" y="1059021"/>
            <a:ext cx="12192000" cy="5143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Chinese copula </a:t>
            </a:r>
            <a:r>
              <a:rPr lang="en-GB" sz="2400" i="1" dirty="0" err="1"/>
              <a:t>shi</a:t>
            </a:r>
            <a:r>
              <a:rPr lang="en-GB" sz="2400" dirty="0"/>
              <a:t> </a:t>
            </a:r>
            <a:r>
              <a:rPr lang="zh-CN" altLang="en-US" sz="2400" dirty="0"/>
              <a:t>是 </a:t>
            </a:r>
            <a:r>
              <a:rPr lang="en-GB" altLang="zh-CN" sz="2400" dirty="0"/>
              <a:t>derived from subject determiner (</a:t>
            </a:r>
            <a:r>
              <a:rPr lang="zh-CN" altLang="en-US" sz="2400" dirty="0"/>
              <a:t>是</a:t>
            </a:r>
            <a:r>
              <a:rPr lang="en-GB" altLang="zh-CN" sz="2400" dirty="0"/>
              <a:t>) in (pre-)classical Chinese </a:t>
            </a:r>
          </a:p>
          <a:p>
            <a:pPr marL="0" indent="0">
              <a:buNone/>
            </a:pPr>
            <a:r>
              <a:rPr lang="en-GB" altLang="zh-CN" sz="2400" dirty="0"/>
              <a:t>(Feng (1993), </a:t>
            </a:r>
            <a:r>
              <a:rPr lang="en-GB" altLang="zh-CN" sz="2400" dirty="0" err="1"/>
              <a:t>Peyraube</a:t>
            </a:r>
            <a:r>
              <a:rPr lang="en-GB" altLang="zh-CN" sz="2400" dirty="0"/>
              <a:t> and Wiebusch (1996)):</a:t>
            </a:r>
            <a:r>
              <a:rPr lang="zh-CN" altLang="en-US" sz="2400" dirty="0"/>
              <a:t> </a:t>
            </a:r>
            <a:endParaRPr lang="en-GB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A30981-B49B-013D-EDBE-FE7296DF59A5}"/>
              </a:ext>
            </a:extLst>
          </p:cNvPr>
          <p:cNvSpPr txBox="1">
            <a:spLocks/>
          </p:cNvSpPr>
          <p:nvPr/>
        </p:nvSpPr>
        <p:spPr>
          <a:xfrm>
            <a:off x="-20" y="1918277"/>
            <a:ext cx="12192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千                 里        而    見    王        是   我   所       欲         也</a:t>
            </a:r>
            <a:endParaRPr lang="en-GB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Qian            li          er     </a:t>
            </a:r>
            <a:r>
              <a:rPr lang="en-GB" sz="2400" dirty="0" err="1"/>
              <a:t>jian</a:t>
            </a:r>
            <a:r>
              <a:rPr lang="en-GB" sz="2400" dirty="0"/>
              <a:t> wang  </a:t>
            </a:r>
            <a:r>
              <a:rPr lang="en-GB" sz="2400" dirty="0" err="1"/>
              <a:t>shi</a:t>
            </a:r>
            <a:r>
              <a:rPr lang="en-GB" sz="2400" dirty="0"/>
              <a:t>  wo </a:t>
            </a:r>
            <a:r>
              <a:rPr lang="en-GB" sz="2400" dirty="0" err="1"/>
              <a:t>suo</a:t>
            </a:r>
            <a:r>
              <a:rPr lang="en-GB" sz="2400" dirty="0"/>
              <a:t>    </a:t>
            </a:r>
            <a:r>
              <a:rPr lang="en-GB" sz="2400" dirty="0" err="1"/>
              <a:t>yu</a:t>
            </a:r>
            <a:r>
              <a:rPr lang="en-GB" sz="2400" dirty="0"/>
              <a:t>         ye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Thousand miles and see king     SHI I     NOM desire SFP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‘To travel a thousand miles and see my Lord, this (is) what I want’ (Mengzi </a:t>
            </a:r>
            <a:r>
              <a:rPr lang="en-GB" sz="2400" i="1" dirty="0"/>
              <a:t>Analects </a:t>
            </a:r>
            <a:r>
              <a:rPr lang="zh-CN" altLang="en-US" sz="2400" dirty="0"/>
              <a:t>孟子論語）</a:t>
            </a:r>
            <a:endParaRPr lang="en-GB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CBC499-3762-B970-5E53-FC2FA89EA4BF}"/>
              </a:ext>
            </a:extLst>
          </p:cNvPr>
          <p:cNvSpPr txBox="1">
            <a:spLocks/>
          </p:cNvSpPr>
          <p:nvPr/>
        </p:nvSpPr>
        <p:spPr>
          <a:xfrm>
            <a:off x="344243" y="3664318"/>
            <a:ext cx="12192000" cy="514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‘To travel a thousand mile and see my king is what I want.’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EFA399-CBFC-D204-EF6D-BA3DDD195ABC}"/>
              </a:ext>
            </a:extLst>
          </p:cNvPr>
          <p:cNvSpPr txBox="1">
            <a:spLocks/>
          </p:cNvSpPr>
          <p:nvPr/>
        </p:nvSpPr>
        <p:spPr>
          <a:xfrm>
            <a:off x="-60" y="4093946"/>
            <a:ext cx="12192000" cy="514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Shi </a:t>
            </a:r>
            <a:r>
              <a:rPr lang="zh-CN" altLang="en-US" sz="2400" dirty="0"/>
              <a:t>是 </a:t>
            </a:r>
            <a:r>
              <a:rPr lang="en-GB" altLang="zh-CN" sz="2400" dirty="0"/>
              <a:t>‘this’ (e.g. </a:t>
            </a:r>
            <a:r>
              <a:rPr lang="zh-CN" altLang="en-US" sz="2400" dirty="0"/>
              <a:t>是日</a:t>
            </a:r>
            <a:r>
              <a:rPr lang="en-GB" altLang="zh-CN" sz="2400" dirty="0"/>
              <a:t>’this day’) is anaphoric: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2400" dirty="0"/>
              <a:t>[</a:t>
            </a:r>
            <a:r>
              <a:rPr lang="zh-CN" altLang="en-US" sz="2400" dirty="0"/>
              <a:t>千里而見王</a:t>
            </a:r>
            <a:r>
              <a:rPr lang="en-GB" altLang="zh-CN" sz="2400" dirty="0"/>
              <a:t>]</a:t>
            </a:r>
            <a:r>
              <a:rPr lang="en-GB" altLang="zh-CN" sz="1800" dirty="0"/>
              <a:t>T</a:t>
            </a:r>
            <a:r>
              <a:rPr lang="en-US" altLang="zh-CN" sz="1800" dirty="0" err="1"/>
              <a:t>opic</a:t>
            </a:r>
            <a:r>
              <a:rPr lang="en-US" altLang="zh-CN" sz="1800" dirty="0"/>
              <a:t> </a:t>
            </a:r>
            <a:r>
              <a:rPr lang="en-US" altLang="zh-CN" sz="2400" dirty="0"/>
              <a:t>[</a:t>
            </a:r>
            <a:r>
              <a:rPr lang="zh-CN" altLang="en-US" sz="2400" dirty="0"/>
              <a:t>是</a:t>
            </a:r>
            <a:r>
              <a:rPr lang="en-GB" altLang="zh-CN" sz="2400" dirty="0"/>
              <a:t>]</a:t>
            </a:r>
            <a:r>
              <a:rPr lang="en-GB" altLang="zh-CN" sz="1800" dirty="0"/>
              <a:t>Subject</a:t>
            </a:r>
            <a:r>
              <a:rPr lang="en-GB" altLang="zh-CN" sz="2400" dirty="0"/>
              <a:t> [</a:t>
            </a:r>
            <a:r>
              <a:rPr lang="zh-CN" altLang="en-US" sz="2400" dirty="0"/>
              <a:t>我所欲也</a:t>
            </a:r>
            <a:r>
              <a:rPr lang="en-GB" altLang="zh-CN" sz="2400" dirty="0"/>
              <a:t>]</a:t>
            </a:r>
            <a:r>
              <a:rPr lang="en-GB" altLang="zh-CN" sz="1800" dirty="0"/>
              <a:t>Complement</a:t>
            </a:r>
            <a:r>
              <a:rPr lang="en-GB" altLang="zh-CN" sz="2400" dirty="0"/>
              <a:t> </a:t>
            </a:r>
            <a:endParaRPr lang="en-GB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17C98E-75AE-83D9-8749-313F75B86328}"/>
              </a:ext>
            </a:extLst>
          </p:cNvPr>
          <p:cNvSpPr txBox="1">
            <a:spLocks/>
          </p:cNvSpPr>
          <p:nvPr/>
        </p:nvSpPr>
        <p:spPr>
          <a:xfrm>
            <a:off x="-10876" y="5410359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[</a:t>
            </a:r>
            <a:r>
              <a:rPr lang="zh-CN" altLang="en-US" sz="2400" dirty="0"/>
              <a:t>千里而見王</a:t>
            </a:r>
            <a:r>
              <a:rPr lang="en-GB" altLang="zh-CN" sz="2400" dirty="0"/>
              <a:t>]</a:t>
            </a:r>
            <a:r>
              <a:rPr lang="en-GB" altLang="zh-CN" sz="1800" dirty="0"/>
              <a:t>Subject</a:t>
            </a:r>
            <a:r>
              <a:rPr lang="en-GB" altLang="zh-CN" sz="2400" dirty="0"/>
              <a:t> [</a:t>
            </a:r>
            <a:r>
              <a:rPr lang="zh-CN" altLang="en-US" sz="2400" dirty="0"/>
              <a:t>是</a:t>
            </a:r>
            <a:r>
              <a:rPr lang="en-GB" altLang="zh-CN" sz="2400" dirty="0"/>
              <a:t>]</a:t>
            </a:r>
            <a:r>
              <a:rPr lang="en-GB" altLang="zh-CN" sz="1800" dirty="0"/>
              <a:t>Copula</a:t>
            </a:r>
            <a:r>
              <a:rPr lang="en-GB" altLang="zh-CN" sz="2400" dirty="0"/>
              <a:t> [</a:t>
            </a:r>
            <a:r>
              <a:rPr lang="zh-CN" altLang="en-US" sz="2400" dirty="0"/>
              <a:t>我所欲也</a:t>
            </a:r>
            <a:r>
              <a:rPr lang="en-GB" altLang="zh-CN" sz="2400" dirty="0"/>
              <a:t>]</a:t>
            </a:r>
            <a:r>
              <a:rPr lang="en-GB" altLang="zh-CN" sz="1800" dirty="0"/>
              <a:t>Complement</a:t>
            </a:r>
            <a:endParaRPr lang="en-GB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B4C231-27A8-CE3F-D9BE-69EF8EA1FF27}"/>
              </a:ext>
            </a:extLst>
          </p:cNvPr>
          <p:cNvSpPr txBox="1">
            <a:spLocks/>
          </p:cNvSpPr>
          <p:nvPr/>
        </p:nvSpPr>
        <p:spPr>
          <a:xfrm>
            <a:off x="-33" y="3664318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&gt;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D8863D-ACD8-63F1-360F-CF7580239170}"/>
              </a:ext>
            </a:extLst>
          </p:cNvPr>
          <p:cNvSpPr txBox="1">
            <a:spLocks/>
          </p:cNvSpPr>
          <p:nvPr/>
        </p:nvSpPr>
        <p:spPr>
          <a:xfrm>
            <a:off x="10756" y="4933649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297129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CA7F-5678-76DF-323F-0153BECD1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1540"/>
          </a:xfrm>
        </p:spPr>
        <p:txBody>
          <a:bodyPr/>
          <a:lstStyle/>
          <a:p>
            <a:r>
              <a:rPr lang="en-GB" dirty="0"/>
              <a:t>Chinese copula </a:t>
            </a:r>
            <a:r>
              <a:rPr lang="en-GB" i="1" dirty="0" err="1"/>
              <a:t>shi</a:t>
            </a:r>
            <a:r>
              <a:rPr lang="en-GB" dirty="0"/>
              <a:t>: ‘structural simplification’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B758B-29D6-2838-D11D-C670D42AC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9584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Following Bowers (1993), copulas are heads of </a:t>
            </a:r>
            <a:r>
              <a:rPr lang="en-GB" sz="2400" dirty="0" err="1"/>
              <a:t>PredP</a:t>
            </a:r>
            <a:r>
              <a:rPr lang="en-GB" sz="2400" dirty="0"/>
              <a:t> and subjects in </a:t>
            </a:r>
            <a:r>
              <a:rPr lang="en-GB" sz="2400" dirty="0" err="1"/>
              <a:t>SpecPredP</a:t>
            </a:r>
            <a:r>
              <a:rPr lang="en-GB" sz="2400" dirty="0"/>
              <a:t>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803933-D1CE-3CBD-D08A-1341F104DD57}"/>
              </a:ext>
            </a:extLst>
          </p:cNvPr>
          <p:cNvSpPr txBox="1">
            <a:spLocks/>
          </p:cNvSpPr>
          <p:nvPr/>
        </p:nvSpPr>
        <p:spPr>
          <a:xfrm>
            <a:off x="0" y="1262194"/>
            <a:ext cx="12192000" cy="5242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</a:t>
            </a:r>
            <a:r>
              <a:rPr lang="en-GB" sz="2000" dirty="0" err="1"/>
              <a:t>TopicP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     Topic			TP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altLang="zh-CN" sz="2000" dirty="0"/>
          </a:p>
          <a:p>
            <a:pPr marL="0" indent="0">
              <a:buNone/>
            </a:pPr>
            <a:r>
              <a:rPr lang="zh-CN" altLang="en-US" sz="2000" dirty="0"/>
              <a:t>千里而見王 </a:t>
            </a:r>
            <a:r>
              <a:rPr lang="en-GB" altLang="zh-CN" sz="1800" dirty="0" err="1"/>
              <a:t>i</a:t>
            </a:r>
            <a:r>
              <a:rPr lang="en-GB" altLang="zh-CN" sz="1800" dirty="0"/>
              <a:t>	</a:t>
            </a:r>
            <a:r>
              <a:rPr lang="en-GB" sz="2000" dirty="0" err="1"/>
              <a:t>SpecTP</a:t>
            </a:r>
            <a:r>
              <a:rPr lang="en-GB" sz="2000" dirty="0"/>
              <a:t>		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qian</a:t>
            </a:r>
            <a:r>
              <a:rPr lang="en-GB" sz="2000" dirty="0"/>
              <a:t> li er </a:t>
            </a:r>
            <a:r>
              <a:rPr lang="en-GB" sz="2000" dirty="0" err="1"/>
              <a:t>jian</a:t>
            </a:r>
            <a:r>
              <a:rPr lang="en-GB" sz="2000" dirty="0"/>
              <a:t> wang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T		</a:t>
            </a:r>
            <a:r>
              <a:rPr lang="en-GB" sz="2000" dirty="0" err="1"/>
              <a:t>PredP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</a:t>
            </a:r>
            <a:r>
              <a:rPr lang="en-GB" sz="2000" dirty="0" err="1"/>
              <a:t>SpecPredP</a:t>
            </a:r>
            <a:r>
              <a:rPr lang="en-GB" sz="2000" dirty="0"/>
              <a:t>	Pred’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</a:t>
            </a:r>
            <a:r>
              <a:rPr lang="zh-CN" altLang="en-US" sz="2000" dirty="0"/>
              <a:t>是 </a:t>
            </a:r>
            <a:r>
              <a:rPr lang="en-US" altLang="zh-CN" sz="2000" dirty="0" err="1"/>
              <a:t>shi</a:t>
            </a:r>
            <a:r>
              <a:rPr lang="en-US" altLang="zh-CN" sz="2000" dirty="0"/>
              <a:t> </a:t>
            </a:r>
            <a:r>
              <a:rPr lang="en-US" altLang="zh-CN" sz="1800" dirty="0" err="1"/>
              <a:t>i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	Pred  	…	     NP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			</a:t>
            </a:r>
            <a:r>
              <a:rPr lang="zh-CN" altLang="en-US" sz="2000" dirty="0"/>
              <a:t>我所欲也</a:t>
            </a:r>
            <a:endParaRPr lang="en-GB" altLang="zh-C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			wo </a:t>
            </a:r>
            <a:r>
              <a:rPr lang="en-GB" sz="2000" dirty="0" err="1"/>
              <a:t>suo</a:t>
            </a:r>
            <a:r>
              <a:rPr lang="en-GB" sz="2000" dirty="0"/>
              <a:t> </a:t>
            </a:r>
            <a:r>
              <a:rPr lang="en-GB" sz="2000" dirty="0" err="1"/>
              <a:t>yu</a:t>
            </a:r>
            <a:r>
              <a:rPr lang="en-GB" sz="2000" dirty="0"/>
              <a:t> ye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809DDA-C447-B445-96B6-293FA2B5DFBD}"/>
              </a:ext>
            </a:extLst>
          </p:cNvPr>
          <p:cNvSpPr txBox="1">
            <a:spLocks/>
          </p:cNvSpPr>
          <p:nvPr/>
        </p:nvSpPr>
        <p:spPr>
          <a:xfrm>
            <a:off x="4953000" y="1262194"/>
            <a:ext cx="7239000" cy="5193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TP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</a:t>
            </a:r>
            <a:r>
              <a:rPr lang="en-GB" sz="2000" dirty="0" err="1"/>
              <a:t>SpecTP</a:t>
            </a:r>
            <a:r>
              <a:rPr lang="en-GB" sz="2000" dirty="0"/>
              <a:t>			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</a:t>
            </a:r>
          </a:p>
          <a:p>
            <a:pPr marL="0" indent="0">
              <a:buNone/>
            </a:pPr>
            <a:r>
              <a:rPr lang="en-GB" sz="2000" dirty="0"/>
              <a:t>	</a:t>
            </a:r>
            <a:r>
              <a:rPr lang="zh-CN" altLang="en-US" sz="2000" dirty="0"/>
              <a:t>千里而見王 </a:t>
            </a:r>
            <a:r>
              <a:rPr lang="en-US" altLang="zh-CN" sz="1800" dirty="0" err="1"/>
              <a:t>i</a:t>
            </a:r>
            <a:r>
              <a:rPr lang="en-GB" sz="2000" dirty="0"/>
              <a:t>	T		</a:t>
            </a:r>
            <a:r>
              <a:rPr lang="en-GB" sz="2000" dirty="0" err="1"/>
              <a:t>PredP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</a:t>
            </a:r>
            <a:r>
              <a:rPr lang="en-GB" sz="2000" b="1" dirty="0"/>
              <a:t>[</a:t>
            </a:r>
            <a:r>
              <a:rPr lang="en-GB" sz="2000" b="1" dirty="0" err="1"/>
              <a:t>i</a:t>
            </a:r>
            <a:r>
              <a:rPr lang="en-GB" sz="2000" b="1" dirty="0"/>
              <a:t>-T]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</a:t>
            </a:r>
            <a:r>
              <a:rPr lang="en-GB" sz="2000" dirty="0" err="1"/>
              <a:t>SpecPredP</a:t>
            </a:r>
            <a:r>
              <a:rPr lang="en-GB" sz="2000" dirty="0"/>
              <a:t>	Spec’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t </a:t>
            </a:r>
            <a:r>
              <a:rPr lang="en-GB" sz="1800" dirty="0" err="1"/>
              <a:t>i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	Pred  	…	NP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	</a:t>
            </a:r>
            <a:r>
              <a:rPr lang="zh-CN" altLang="en-US" sz="2000" dirty="0"/>
              <a:t>是 </a:t>
            </a:r>
            <a:r>
              <a:rPr lang="en-GB" sz="2000" dirty="0" err="1"/>
              <a:t>shi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		          </a:t>
            </a:r>
            <a:r>
              <a:rPr lang="zh-CN" altLang="en-US" sz="2000" dirty="0"/>
              <a:t>我所欲也</a:t>
            </a:r>
            <a:endParaRPr lang="en-GB" altLang="zh-C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						   wo </a:t>
            </a:r>
            <a:r>
              <a:rPr lang="en-GB" sz="2000" dirty="0" err="1"/>
              <a:t>suo</a:t>
            </a:r>
            <a:r>
              <a:rPr lang="en-GB" sz="2000" dirty="0"/>
              <a:t> </a:t>
            </a:r>
            <a:r>
              <a:rPr lang="en-GB" sz="2000" dirty="0" err="1"/>
              <a:t>yu</a:t>
            </a:r>
            <a:r>
              <a:rPr lang="en-GB" sz="2000" dirty="0"/>
              <a:t> ye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789DC9-EEFA-D404-34C2-2E806062868B}"/>
              </a:ext>
            </a:extLst>
          </p:cNvPr>
          <p:cNvSpPr txBox="1">
            <a:spLocks/>
          </p:cNvSpPr>
          <p:nvPr/>
        </p:nvSpPr>
        <p:spPr>
          <a:xfrm>
            <a:off x="1271728" y="5180922"/>
            <a:ext cx="42030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Spec-Head Agree (Pred)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917D27-E1E4-3E23-E52B-16FA35333C3B}"/>
              </a:ext>
            </a:extLst>
          </p:cNvPr>
          <p:cNvSpPr txBox="1">
            <a:spLocks/>
          </p:cNvSpPr>
          <p:nvPr/>
        </p:nvSpPr>
        <p:spPr>
          <a:xfrm>
            <a:off x="9067311" y="4824155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Pred</a:t>
            </a:r>
            <a:r>
              <a:rPr lang="en-GB" sz="2000" dirty="0" err="1"/>
              <a:t>Merge</a:t>
            </a:r>
            <a:r>
              <a:rPr lang="en-GB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DC8722-1E5B-2054-14FA-70DABBFF0E30}"/>
              </a:ext>
            </a:extLst>
          </p:cNvPr>
          <p:cNvCxnSpPr>
            <a:cxnSpLocks/>
          </p:cNvCxnSpPr>
          <p:nvPr/>
        </p:nvCxnSpPr>
        <p:spPr>
          <a:xfrm flipH="1">
            <a:off x="679784" y="1516566"/>
            <a:ext cx="680665" cy="189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C9B7BD-985F-9703-350C-A330C98A3FC7}"/>
              </a:ext>
            </a:extLst>
          </p:cNvPr>
          <p:cNvCxnSpPr/>
          <p:nvPr/>
        </p:nvCxnSpPr>
        <p:spPr>
          <a:xfrm>
            <a:off x="1360449" y="1527717"/>
            <a:ext cx="1527717" cy="1672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493E8D-B4E8-BE77-FB48-C3DB2C435B8C}"/>
              </a:ext>
            </a:extLst>
          </p:cNvPr>
          <p:cNvCxnSpPr/>
          <p:nvPr/>
        </p:nvCxnSpPr>
        <p:spPr>
          <a:xfrm flipH="1">
            <a:off x="2375210" y="1906859"/>
            <a:ext cx="579863" cy="602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DC2151-F6B0-DBDE-1ABA-BF179DCFA6C4}"/>
              </a:ext>
            </a:extLst>
          </p:cNvPr>
          <p:cNvCxnSpPr>
            <a:cxnSpLocks/>
          </p:cNvCxnSpPr>
          <p:nvPr/>
        </p:nvCxnSpPr>
        <p:spPr>
          <a:xfrm>
            <a:off x="2955073" y="1906859"/>
            <a:ext cx="836342" cy="5798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3A257B-5BB9-0DE5-FD35-C6A410D9E340}"/>
              </a:ext>
            </a:extLst>
          </p:cNvPr>
          <p:cNvCxnSpPr/>
          <p:nvPr/>
        </p:nvCxnSpPr>
        <p:spPr>
          <a:xfrm flipH="1">
            <a:off x="2955073" y="2743200"/>
            <a:ext cx="869795" cy="5241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8B10B7-E1E2-1DB1-6EA0-33DDF2B88F07}"/>
              </a:ext>
            </a:extLst>
          </p:cNvPr>
          <p:cNvCxnSpPr/>
          <p:nvPr/>
        </p:nvCxnSpPr>
        <p:spPr>
          <a:xfrm>
            <a:off x="3791415" y="2743200"/>
            <a:ext cx="1091401" cy="568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B38B2-97A2-01F2-9855-67870D0ACD16}"/>
              </a:ext>
            </a:extLst>
          </p:cNvPr>
          <p:cNvCxnSpPr/>
          <p:nvPr/>
        </p:nvCxnSpPr>
        <p:spPr>
          <a:xfrm flipH="1">
            <a:off x="4270917" y="3546088"/>
            <a:ext cx="682083" cy="5352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361DFB-60B4-F011-8ABF-CA2485565105}"/>
              </a:ext>
            </a:extLst>
          </p:cNvPr>
          <p:cNvCxnSpPr/>
          <p:nvPr/>
        </p:nvCxnSpPr>
        <p:spPr>
          <a:xfrm>
            <a:off x="4953000" y="3546088"/>
            <a:ext cx="823332" cy="5464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2A6A36-0B1A-3A7C-A1FB-1FF423D765E4}"/>
              </a:ext>
            </a:extLst>
          </p:cNvPr>
          <p:cNvCxnSpPr>
            <a:cxnSpLocks/>
          </p:cNvCxnSpPr>
          <p:nvPr/>
        </p:nvCxnSpPr>
        <p:spPr>
          <a:xfrm flipH="1">
            <a:off x="4953000" y="4337824"/>
            <a:ext cx="823332" cy="624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16FB0C-255B-090F-964C-C5C3471FA0D2}"/>
              </a:ext>
            </a:extLst>
          </p:cNvPr>
          <p:cNvCxnSpPr>
            <a:cxnSpLocks/>
          </p:cNvCxnSpPr>
          <p:nvPr/>
        </p:nvCxnSpPr>
        <p:spPr>
          <a:xfrm>
            <a:off x="5776332" y="4337824"/>
            <a:ext cx="1059366" cy="5464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66CADCA-6E3C-0547-6FED-4A71DA21D436}"/>
              </a:ext>
            </a:extLst>
          </p:cNvPr>
          <p:cNvSpPr/>
          <p:nvPr/>
        </p:nvSpPr>
        <p:spPr>
          <a:xfrm>
            <a:off x="6405350" y="5184262"/>
            <a:ext cx="1059366" cy="483971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7B9DE5D-725A-E272-8C72-584CCF3F57CA}"/>
              </a:ext>
            </a:extLst>
          </p:cNvPr>
          <p:cNvCxnSpPr/>
          <p:nvPr/>
        </p:nvCxnSpPr>
        <p:spPr>
          <a:xfrm flipH="1">
            <a:off x="6490010" y="1527717"/>
            <a:ext cx="479502" cy="1784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D7B977-F8D4-3362-531B-BA7E1690DDE8}"/>
              </a:ext>
            </a:extLst>
          </p:cNvPr>
          <p:cNvCxnSpPr/>
          <p:nvPr/>
        </p:nvCxnSpPr>
        <p:spPr>
          <a:xfrm>
            <a:off x="6969512" y="1527717"/>
            <a:ext cx="1750742" cy="1784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CA6F244-941E-7EA4-3A3B-C33FCB15C3C6}"/>
              </a:ext>
            </a:extLst>
          </p:cNvPr>
          <p:cNvCxnSpPr/>
          <p:nvPr/>
        </p:nvCxnSpPr>
        <p:spPr>
          <a:xfrm flipH="1">
            <a:off x="7883912" y="1906859"/>
            <a:ext cx="869795" cy="602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2DA552-74F9-B404-13C9-AA066355A6FE}"/>
              </a:ext>
            </a:extLst>
          </p:cNvPr>
          <p:cNvCxnSpPr/>
          <p:nvPr/>
        </p:nvCxnSpPr>
        <p:spPr>
          <a:xfrm>
            <a:off x="8720254" y="1906859"/>
            <a:ext cx="1148575" cy="602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D58F60-8ECF-2B6E-6EE7-903D45A5235B}"/>
              </a:ext>
            </a:extLst>
          </p:cNvPr>
          <p:cNvCxnSpPr>
            <a:cxnSpLocks/>
          </p:cNvCxnSpPr>
          <p:nvPr/>
        </p:nvCxnSpPr>
        <p:spPr>
          <a:xfrm flipH="1">
            <a:off x="9236927" y="2743200"/>
            <a:ext cx="687658" cy="568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7F43491-C0EF-06FF-A563-5DE7DC436F4D}"/>
              </a:ext>
            </a:extLst>
          </p:cNvPr>
          <p:cNvCxnSpPr/>
          <p:nvPr/>
        </p:nvCxnSpPr>
        <p:spPr>
          <a:xfrm>
            <a:off x="9969190" y="2743200"/>
            <a:ext cx="780586" cy="568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9B26077-2DA7-0553-8AB3-B9D73FF0F21C}"/>
              </a:ext>
            </a:extLst>
          </p:cNvPr>
          <p:cNvCxnSpPr>
            <a:cxnSpLocks/>
          </p:cNvCxnSpPr>
          <p:nvPr/>
        </p:nvCxnSpPr>
        <p:spPr>
          <a:xfrm flipH="1">
            <a:off x="9924585" y="3546088"/>
            <a:ext cx="892098" cy="5464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09F14A4-785E-A097-117C-563B1613CB69}"/>
              </a:ext>
            </a:extLst>
          </p:cNvPr>
          <p:cNvCxnSpPr>
            <a:cxnSpLocks/>
          </p:cNvCxnSpPr>
          <p:nvPr/>
        </p:nvCxnSpPr>
        <p:spPr>
          <a:xfrm>
            <a:off x="10816683" y="3546088"/>
            <a:ext cx="749675" cy="569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1F88A3B-3F2D-24E5-D61E-BEAB093C0FD5}"/>
              </a:ext>
            </a:extLst>
          </p:cNvPr>
          <p:cNvSpPr/>
          <p:nvPr/>
        </p:nvSpPr>
        <p:spPr>
          <a:xfrm>
            <a:off x="78059" y="1960508"/>
            <a:ext cx="1282390" cy="52621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1866E15F-75F9-6932-B5D0-2548456D974E}"/>
              </a:ext>
            </a:extLst>
          </p:cNvPr>
          <p:cNvSpPr/>
          <p:nvPr/>
        </p:nvSpPr>
        <p:spPr>
          <a:xfrm>
            <a:off x="5932449" y="1960508"/>
            <a:ext cx="1302834" cy="52621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AB37D02-30C3-E03D-AE3A-340C7516123A}"/>
              </a:ext>
            </a:extLst>
          </p:cNvPr>
          <p:cNvSpPr/>
          <p:nvPr/>
        </p:nvSpPr>
        <p:spPr>
          <a:xfrm>
            <a:off x="11141438" y="4385088"/>
            <a:ext cx="894445" cy="843098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31C79725-E50F-A9EB-2269-2B6F1FD60A9A}"/>
              </a:ext>
            </a:extLst>
          </p:cNvPr>
          <p:cNvSpPr txBox="1">
            <a:spLocks/>
          </p:cNvSpPr>
          <p:nvPr/>
        </p:nvSpPr>
        <p:spPr>
          <a:xfrm>
            <a:off x="6021170" y="2743200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T</a:t>
            </a:r>
            <a:r>
              <a:rPr lang="en-GB" sz="2000" dirty="0" err="1"/>
              <a:t>Move</a:t>
            </a:r>
            <a:r>
              <a:rPr lang="en-GB" sz="2000" dirty="0"/>
              <a:t>/Agree</a:t>
            </a:r>
            <a:r>
              <a:rPr lang="en-GB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EPP (</a:t>
            </a:r>
            <a:r>
              <a:rPr lang="en-GB" dirty="0" err="1"/>
              <a:t>SpecTP</a:t>
            </a:r>
            <a:r>
              <a:rPr lang="en-GB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LG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D517123C-5981-C2D1-18A9-08355161ACF3}"/>
              </a:ext>
            </a:extLst>
          </p:cNvPr>
          <p:cNvSpPr txBox="1">
            <a:spLocks/>
          </p:cNvSpPr>
          <p:nvPr/>
        </p:nvSpPr>
        <p:spPr>
          <a:xfrm>
            <a:off x="4371278" y="1892365"/>
            <a:ext cx="9253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97471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29" grpId="0" animBg="1"/>
      <p:bldP spid="48" grpId="0" animBg="1"/>
      <p:bldP spid="51" grpId="0" animBg="1"/>
      <p:bldP spid="52" grpId="0" animBg="1"/>
      <p:bldP spid="55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440F-A2E9-0CFC-5B46-75179F1E6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Chinese copula </a:t>
            </a:r>
            <a:r>
              <a:rPr lang="en-GB" dirty="0" err="1"/>
              <a:t>shi</a:t>
            </a:r>
            <a:r>
              <a:rPr lang="en-GB" dirty="0"/>
              <a:t> </a:t>
            </a:r>
            <a:r>
              <a:rPr lang="zh-CN" altLang="en-US" dirty="0"/>
              <a:t>是 </a:t>
            </a:r>
            <a:r>
              <a:rPr lang="en-GB" altLang="zh-CN" dirty="0"/>
              <a:t>(‘lateral’ grammaticalization)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5B9EB-5E42-4280-4408-FA83F6A10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381" y="96175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Chinese </a:t>
            </a:r>
            <a:r>
              <a:rPr lang="zh-CN" altLang="en-US" sz="2400" dirty="0"/>
              <a:t>是</a:t>
            </a:r>
            <a:r>
              <a:rPr lang="en-GB" altLang="zh-CN" sz="2400" dirty="0"/>
              <a:t>: </a:t>
            </a:r>
            <a:r>
              <a:rPr lang="en-GB" altLang="zh-CN" sz="2400" dirty="0" err="1"/>
              <a:t>SpecPred</a:t>
            </a:r>
            <a:r>
              <a:rPr lang="en-GB" altLang="zh-CN" sz="2400" dirty="0"/>
              <a:t> (subject of equational construction) &gt; Pred/</a:t>
            </a:r>
            <a:r>
              <a:rPr lang="en-GB" altLang="zh-CN" sz="2400" b="1" dirty="0"/>
              <a:t>T</a:t>
            </a:r>
            <a:r>
              <a:rPr lang="en-GB" altLang="zh-CN" sz="2400" dirty="0"/>
              <a:t> (copula)  </a:t>
            </a:r>
            <a:endParaRPr lang="en-GB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7A1F1-A236-8D23-8874-A88ADFA507B1}"/>
              </a:ext>
            </a:extLst>
          </p:cNvPr>
          <p:cNvSpPr txBox="1">
            <a:spLocks/>
          </p:cNvSpPr>
          <p:nvPr/>
        </p:nvSpPr>
        <p:spPr>
          <a:xfrm>
            <a:off x="1" y="1343445"/>
            <a:ext cx="12191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Copula verbs have subject agreement (</a:t>
            </a:r>
            <a:r>
              <a:rPr lang="en-GB" sz="2400" dirty="0" err="1"/>
              <a:t>AgrS</a:t>
            </a:r>
            <a:r>
              <a:rPr lang="en-GB" sz="2400" dirty="0"/>
              <a:t>) and tense (T): new features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5EA1F8-5E73-4869-0B51-C25FD6F7CFCF}"/>
              </a:ext>
            </a:extLst>
          </p:cNvPr>
          <p:cNvSpPr txBox="1">
            <a:spLocks/>
          </p:cNvSpPr>
          <p:nvPr/>
        </p:nvSpPr>
        <p:spPr>
          <a:xfrm>
            <a:off x="0" y="171126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Hebrew </a:t>
            </a:r>
            <a:r>
              <a:rPr lang="en-GB" sz="2000" i="1" dirty="0"/>
              <a:t>hu/hi/hem/hen </a:t>
            </a:r>
            <a:r>
              <a:rPr lang="en-GB" sz="2000" dirty="0"/>
              <a:t>(subject pronouns copula forms) (</a:t>
            </a:r>
            <a:r>
              <a:rPr lang="en-GB" sz="2000" dirty="0" err="1"/>
              <a:t>Gilnert</a:t>
            </a:r>
            <a:r>
              <a:rPr lang="en-GB" sz="2000" dirty="0"/>
              <a:t> (1989:188-189)): 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55E7F2-160F-6AAD-7F72-CF9E46FFF0DD}"/>
              </a:ext>
            </a:extLst>
          </p:cNvPr>
          <p:cNvSpPr txBox="1">
            <a:spLocks/>
          </p:cNvSpPr>
          <p:nvPr/>
        </p:nvSpPr>
        <p:spPr>
          <a:xfrm>
            <a:off x="0" y="20784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Ha-</a:t>
            </a:r>
            <a:r>
              <a:rPr lang="en-GB" sz="2000" dirty="0" err="1"/>
              <a:t>sha’on</a:t>
            </a:r>
            <a:r>
              <a:rPr lang="en-GB" sz="2000" dirty="0"/>
              <a:t>	hu		</a:t>
            </a:r>
            <a:r>
              <a:rPr lang="en-GB" sz="2000" dirty="0" err="1"/>
              <a:t>matana</a:t>
            </a:r>
            <a:r>
              <a:rPr lang="en-GB" sz="20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Clock.MASC.SG	COP.MASC.SG	present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‘The clock is present.’ (</a:t>
            </a:r>
            <a:r>
              <a:rPr lang="en-GB" sz="2000" i="1" dirty="0"/>
              <a:t>ha-</a:t>
            </a:r>
            <a:r>
              <a:rPr lang="en-GB" sz="2000" i="1" dirty="0" err="1"/>
              <a:t>sha’on</a:t>
            </a:r>
            <a:r>
              <a:rPr lang="en-GB" sz="2000" dirty="0"/>
              <a:t>… </a:t>
            </a:r>
            <a:r>
              <a:rPr lang="en-GB" sz="2000" i="1" dirty="0"/>
              <a:t>hu</a:t>
            </a:r>
            <a:r>
              <a:rPr lang="en-GB" sz="2000" dirty="0"/>
              <a:t> (</a:t>
            </a:r>
            <a:r>
              <a:rPr lang="en-GB" sz="2000" dirty="0" err="1"/>
              <a:t>AgrS</a:t>
            </a:r>
            <a:r>
              <a:rPr lang="en-GB" sz="2000" dirty="0"/>
              <a:t> (M.SG)))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362548-0364-26E9-16A2-5AFC038539DB}"/>
              </a:ext>
            </a:extLst>
          </p:cNvPr>
          <p:cNvSpPr txBox="1">
            <a:spLocks/>
          </p:cNvSpPr>
          <p:nvPr/>
        </p:nvSpPr>
        <p:spPr>
          <a:xfrm>
            <a:off x="5838825" y="20784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Ma 	hi 		Herut?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What	COP.FEM.SG	freedom.FEM.SG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‘What is freedom?’ (</a:t>
            </a:r>
            <a:r>
              <a:rPr lang="en-GB" sz="2000" i="1" dirty="0"/>
              <a:t>hi</a:t>
            </a:r>
            <a:r>
              <a:rPr lang="en-GB" sz="2000" dirty="0"/>
              <a:t>… </a:t>
            </a:r>
            <a:r>
              <a:rPr lang="en-GB" sz="2000" i="1" dirty="0"/>
              <a:t>Herut</a:t>
            </a:r>
            <a:r>
              <a:rPr lang="en-GB" sz="2000" dirty="0"/>
              <a:t> (</a:t>
            </a:r>
            <a:r>
              <a:rPr lang="en-GB" sz="2000" dirty="0" err="1"/>
              <a:t>AgrS</a:t>
            </a:r>
            <a:r>
              <a:rPr lang="en-GB" sz="2000" dirty="0"/>
              <a:t> (F.SG))</a:t>
            </a:r>
            <a:r>
              <a:rPr lang="zh-CN" altLang="en-US" sz="2000" dirty="0"/>
              <a:t> </a:t>
            </a:r>
            <a:endParaRPr lang="en-GB" sz="2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E7AD51-78D8-EEFE-638B-9320013B1F47}"/>
              </a:ext>
            </a:extLst>
          </p:cNvPr>
          <p:cNvSpPr txBox="1">
            <a:spLocks/>
          </p:cNvSpPr>
          <p:nvPr/>
        </p:nvSpPr>
        <p:spPr>
          <a:xfrm>
            <a:off x="0" y="32367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Ma 	hem 		</a:t>
            </a:r>
            <a:r>
              <a:rPr lang="en-GB" sz="2000" dirty="0" err="1"/>
              <a:t>nimusim</a:t>
            </a:r>
            <a:r>
              <a:rPr lang="en-GB" sz="2000" dirty="0"/>
              <a:t>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What	COP.MASC.PL	manner.MASC.PL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‘What are manners?’ (hem… </a:t>
            </a:r>
            <a:r>
              <a:rPr lang="en-GB" sz="2000" dirty="0" err="1"/>
              <a:t>nimusim</a:t>
            </a:r>
            <a:r>
              <a:rPr lang="en-GB" sz="2000" dirty="0"/>
              <a:t> </a:t>
            </a:r>
            <a:r>
              <a:rPr lang="en-GB" sz="2000" dirty="0" err="1"/>
              <a:t>AgrS</a:t>
            </a:r>
            <a:r>
              <a:rPr lang="en-GB" sz="2000" dirty="0"/>
              <a:t> (M.PL))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70D66C-BCDA-4709-F812-42C50E89A004}"/>
              </a:ext>
            </a:extLst>
          </p:cNvPr>
          <p:cNvSpPr txBox="1">
            <a:spLocks/>
          </p:cNvSpPr>
          <p:nvPr/>
        </p:nvSpPr>
        <p:spPr>
          <a:xfrm>
            <a:off x="5838826" y="32367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Éyfo</a:t>
            </a:r>
            <a:r>
              <a:rPr lang="en-GB" sz="2000" dirty="0"/>
              <a:t>	hen	ha-</a:t>
            </a:r>
            <a:r>
              <a:rPr lang="en-GB" sz="2000" dirty="0" err="1"/>
              <a:t>bahurot</a:t>
            </a:r>
            <a:r>
              <a:rPr lang="en-GB" sz="2000" dirty="0"/>
              <a:t>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Where	COP.FEM.PL	girl.FEM.PL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‘Where are the girls?’ (</a:t>
            </a:r>
            <a:r>
              <a:rPr lang="en-GB" sz="2000" i="1" dirty="0"/>
              <a:t>hen… ha-</a:t>
            </a:r>
            <a:r>
              <a:rPr lang="en-GB" sz="2000" i="1" dirty="0" err="1"/>
              <a:t>bahurot</a:t>
            </a:r>
            <a:r>
              <a:rPr lang="en-GB" sz="2000" i="1" dirty="0"/>
              <a:t> </a:t>
            </a:r>
            <a:r>
              <a:rPr lang="en-GB" sz="2000" dirty="0"/>
              <a:t>(</a:t>
            </a:r>
            <a:r>
              <a:rPr lang="en-GB" sz="2000" dirty="0" err="1"/>
              <a:t>AgrS</a:t>
            </a:r>
            <a:r>
              <a:rPr lang="en-GB" sz="2000" dirty="0"/>
              <a:t> (F.PL))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7666FF-549D-6FDE-D445-8FFF51D1C4A2}"/>
              </a:ext>
            </a:extLst>
          </p:cNvPr>
          <p:cNvSpPr txBox="1">
            <a:spLocks/>
          </p:cNvSpPr>
          <p:nvPr/>
        </p:nvSpPr>
        <p:spPr>
          <a:xfrm>
            <a:off x="0" y="43950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Panare</a:t>
            </a:r>
            <a:r>
              <a:rPr lang="en-GB" sz="2000" dirty="0"/>
              <a:t> (subject demonstrative pronouns copula forms) (Gildea (1993: 56-60)):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C20CE1-92F4-308B-A610-BA5D8CE94C81}"/>
              </a:ext>
            </a:extLst>
          </p:cNvPr>
          <p:cNvSpPr txBox="1">
            <a:spLocks/>
          </p:cNvSpPr>
          <p:nvPr/>
        </p:nvSpPr>
        <p:spPr>
          <a:xfrm>
            <a:off x="0" y="472131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Maestro		</a:t>
            </a:r>
            <a:r>
              <a:rPr lang="en-GB" sz="2000" dirty="0" err="1"/>
              <a:t>nëj</a:t>
            </a:r>
            <a:r>
              <a:rPr lang="en-GB" sz="2000" dirty="0"/>
              <a:t>		</a:t>
            </a:r>
            <a:r>
              <a:rPr lang="en-GB" sz="2000" dirty="0" err="1"/>
              <a:t>mëj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Teacher		COP.DISTAL	PRO.PROXIMAL</a:t>
            </a:r>
          </a:p>
          <a:p>
            <a:pPr marL="0" indent="0">
              <a:buNone/>
            </a:pPr>
            <a:r>
              <a:rPr lang="en-GB" sz="2000" dirty="0"/>
              <a:t>‘He was a teacher.’ (</a:t>
            </a:r>
            <a:r>
              <a:rPr lang="en-GB" sz="2000" i="1" dirty="0" err="1"/>
              <a:t>nëj</a:t>
            </a:r>
            <a:r>
              <a:rPr lang="en-GB" sz="2000" dirty="0"/>
              <a:t> (distal &gt; past tense (T(past))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82A0F8-421C-1328-4B24-B99708B378AE}"/>
              </a:ext>
            </a:extLst>
          </p:cNvPr>
          <p:cNvSpPr txBox="1">
            <a:spLocks/>
          </p:cNvSpPr>
          <p:nvPr/>
        </p:nvSpPr>
        <p:spPr>
          <a:xfrm>
            <a:off x="5838825" y="472131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Maestro		</a:t>
            </a:r>
            <a:r>
              <a:rPr lang="en-GB" sz="2000" dirty="0" err="1"/>
              <a:t>këj</a:t>
            </a:r>
            <a:r>
              <a:rPr lang="en-GB" sz="2000" dirty="0"/>
              <a:t>		</a:t>
            </a:r>
            <a:r>
              <a:rPr lang="en-GB" sz="2000" dirty="0" err="1"/>
              <a:t>kën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Teacher		COP.PROXIMAL	PRO.DISTAL</a:t>
            </a:r>
          </a:p>
          <a:p>
            <a:pPr marL="0" indent="0">
              <a:buNone/>
            </a:pPr>
            <a:r>
              <a:rPr lang="en-GB" sz="2000" dirty="0"/>
              <a:t>‘He is being a teacher right now.’ (</a:t>
            </a:r>
            <a:r>
              <a:rPr lang="en-GB" sz="2000" i="1" dirty="0" err="1"/>
              <a:t>këj</a:t>
            </a:r>
            <a:r>
              <a:rPr lang="en-GB" sz="2000" dirty="0"/>
              <a:t> (proximal present </a:t>
            </a:r>
          </a:p>
          <a:p>
            <a:pPr marL="0" indent="0">
              <a:buNone/>
            </a:pPr>
            <a:r>
              <a:rPr lang="en-GB" sz="2000" dirty="0"/>
              <a:t>					&gt; (T(present))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F56ED9-5751-7AAB-C07B-B2C94EED109C}"/>
              </a:ext>
            </a:extLst>
          </p:cNvPr>
          <p:cNvSpPr txBox="1"/>
          <p:nvPr/>
        </p:nvSpPr>
        <p:spPr>
          <a:xfrm>
            <a:off x="-1" y="6286095"/>
            <a:ext cx="11919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/>
              <a:t>AgrS</a:t>
            </a:r>
            <a:r>
              <a:rPr lang="en-GB" sz="2400" dirty="0"/>
              <a:t> and T forms constitute sub-types of copula (’context reduction’ and no weakening)</a:t>
            </a:r>
          </a:p>
        </p:txBody>
      </p:sp>
    </p:spTree>
    <p:extLst>
      <p:ext uri="{BB962C8B-B14F-4D97-AF65-F5344CB8AC3E}">
        <p14:creationId xmlns:p14="http://schemas.microsoft.com/office/powerpoint/2010/main" val="76431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D387-788D-8B02-2C84-8E3046A1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Conclusion: Functional Categories at the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ADD8C-75D2-0662-C739-8E5562CB6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227599"/>
            <a:ext cx="122481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R&amp;R (2003:219-221): Interface Defective Hypothesis assumes that F-categories (</a:t>
            </a:r>
            <a:r>
              <a:rPr lang="en-GB" sz="2400" dirty="0" err="1"/>
              <a:t>F</a:t>
            </a:r>
            <a:r>
              <a:rPr lang="en-GB" sz="2000" dirty="0" err="1"/>
              <a:t>Merge</a:t>
            </a:r>
            <a:r>
              <a:rPr lang="en-GB" sz="2400" dirty="0"/>
              <a:t>) are weak at the interfaces (PF/PHON, LF/SEM)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CCD59-BC64-36C7-AA02-6FE006211CBA}"/>
              </a:ext>
            </a:extLst>
          </p:cNvPr>
          <p:cNvSpPr txBox="1">
            <a:spLocks/>
          </p:cNvSpPr>
          <p:nvPr/>
        </p:nvSpPr>
        <p:spPr>
          <a:xfrm>
            <a:off x="0" y="1051341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Syntactic change (p-(re)settings)) is determined by ‘simplicity’ in L1 acquisition.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A5AD38-9E9E-3101-5E71-6CD72627F96B}"/>
              </a:ext>
            </a:extLst>
          </p:cNvPr>
          <p:cNvSpPr txBox="1">
            <a:spLocks/>
          </p:cNvSpPr>
          <p:nvPr/>
        </p:nvSpPr>
        <p:spPr>
          <a:xfrm>
            <a:off x="-14038" y="3017311"/>
            <a:ext cx="12191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LG (S&amp;W(2002)) in </a:t>
            </a:r>
            <a:r>
              <a:rPr lang="en-US" altLang="zh-CN" sz="2400" i="1" dirty="0"/>
              <a:t>de</a:t>
            </a:r>
            <a:r>
              <a:rPr lang="en-US" altLang="zh-CN" sz="2400" dirty="0"/>
              <a:t> </a:t>
            </a:r>
            <a:r>
              <a:rPr lang="zh-CN" altLang="en-US" sz="2400" dirty="0"/>
              <a:t>的 </a:t>
            </a:r>
            <a:r>
              <a:rPr lang="en-GB" altLang="zh-CN" sz="2400" dirty="0"/>
              <a:t>in </a:t>
            </a:r>
            <a:r>
              <a:rPr lang="zh-CN" altLang="en-US" sz="2400" dirty="0"/>
              <a:t>是的 </a:t>
            </a:r>
            <a:r>
              <a:rPr lang="en-GB" altLang="zh-CN" sz="2400" i="1" dirty="0" err="1"/>
              <a:t>shi</a:t>
            </a:r>
            <a:r>
              <a:rPr lang="en-GB" altLang="zh-CN" sz="2400" i="1" dirty="0"/>
              <a:t>-de</a:t>
            </a:r>
            <a:r>
              <a:rPr lang="en-GB" altLang="zh-CN" sz="2400" dirty="0"/>
              <a:t> constructions</a:t>
            </a:r>
            <a:r>
              <a:rPr lang="en-GB" sz="2400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nominal (</a:t>
            </a:r>
            <a:r>
              <a:rPr lang="en-GB" sz="2400" dirty="0" err="1"/>
              <a:t>D</a:t>
            </a:r>
            <a:r>
              <a:rPr lang="en-GB" sz="2000" dirty="0" err="1"/>
              <a:t>Agree</a:t>
            </a:r>
            <a:r>
              <a:rPr lang="en-GB" sz="2400" dirty="0"/>
              <a:t>) &gt; verbal (</a:t>
            </a:r>
            <a:r>
              <a:rPr lang="en-GB" sz="2400" dirty="0" err="1"/>
              <a:t>T</a:t>
            </a:r>
            <a:r>
              <a:rPr lang="en-GB" sz="2000" dirty="0" err="1"/>
              <a:t>Merge</a:t>
            </a:r>
            <a:r>
              <a:rPr lang="en-GB" sz="2400" dirty="0"/>
              <a:t>) (‘structural simplification’, ‘lateral’, new </a:t>
            </a:r>
            <a:r>
              <a:rPr lang="en-GB" sz="2400" dirty="0" err="1"/>
              <a:t>F</a:t>
            </a:r>
            <a:r>
              <a:rPr lang="en-GB" sz="2000" dirty="0" err="1"/>
              <a:t>Merge</a:t>
            </a:r>
            <a:r>
              <a:rPr lang="en-GB" sz="2000" dirty="0"/>
              <a:t> (T(past)</a:t>
            </a:r>
            <a:r>
              <a:rPr lang="en-GB" sz="2400" dirty="0"/>
              <a:t>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A0D734-67B9-89FF-729D-237DFF4A20B1}"/>
              </a:ext>
            </a:extLst>
          </p:cNvPr>
          <p:cNvSpPr txBox="1">
            <a:spLocks/>
          </p:cNvSpPr>
          <p:nvPr/>
        </p:nvSpPr>
        <p:spPr>
          <a:xfrm>
            <a:off x="-14039" y="5300707"/>
            <a:ext cx="12304295" cy="260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New features (T(past) in </a:t>
            </a:r>
            <a:r>
              <a:rPr lang="en-GB" sz="2400" i="1" dirty="0" err="1"/>
              <a:t>shi</a:t>
            </a:r>
            <a:r>
              <a:rPr lang="en-GB" sz="2400" i="1" dirty="0"/>
              <a:t>-de</a:t>
            </a:r>
            <a:r>
              <a:rPr lang="en-GB" sz="2400" dirty="0"/>
              <a:t> constructions, </a:t>
            </a:r>
            <a:r>
              <a:rPr lang="en-GB" sz="2400" dirty="0" err="1"/>
              <a:t>AgrS</a:t>
            </a:r>
            <a:r>
              <a:rPr lang="en-GB" sz="2400" dirty="0"/>
              <a:t>/T in </a:t>
            </a:r>
            <a:r>
              <a:rPr lang="en-GB" sz="2400" i="1" dirty="0" err="1"/>
              <a:t>shi</a:t>
            </a:r>
            <a:r>
              <a:rPr lang="en-GB" sz="2400" dirty="0"/>
              <a:t>) restrict distribution and lower frequency of functional elements (</a:t>
            </a:r>
            <a:r>
              <a:rPr lang="en-GB" sz="2400" i="1" dirty="0"/>
              <a:t>de</a:t>
            </a:r>
            <a:r>
              <a:rPr lang="en-GB" sz="2400" dirty="0"/>
              <a:t>, </a:t>
            </a:r>
            <a:r>
              <a:rPr lang="en-GB" sz="2400" i="1" dirty="0" err="1"/>
              <a:t>shi</a:t>
            </a:r>
            <a:r>
              <a:rPr lang="en-GB" sz="2400" dirty="0"/>
              <a:t>) &gt; strong F-categories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105AA1-00E4-1A3B-2DF9-DDA41AA38355}"/>
              </a:ext>
            </a:extLst>
          </p:cNvPr>
          <p:cNvSpPr txBox="1">
            <a:spLocks/>
          </p:cNvSpPr>
          <p:nvPr/>
        </p:nvSpPr>
        <p:spPr>
          <a:xfrm>
            <a:off x="14039" y="4872584"/>
            <a:ext cx="122200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New F-categories (T/</a:t>
            </a:r>
            <a:r>
              <a:rPr lang="en-GB" sz="2400" dirty="0" err="1"/>
              <a:t>AgrS</a:t>
            </a:r>
            <a:r>
              <a:rPr lang="en-GB" sz="2400" dirty="0"/>
              <a:t>) are not weakened (no ‘context expansion’ (Bybee (2003))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F3E270B-C119-4E25-03B0-BC14E52DC3AD}"/>
              </a:ext>
            </a:extLst>
          </p:cNvPr>
          <p:cNvSpPr txBox="1">
            <a:spLocks/>
          </p:cNvSpPr>
          <p:nvPr/>
        </p:nvSpPr>
        <p:spPr>
          <a:xfrm>
            <a:off x="-14039" y="3955943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Copula verbs (e.g. Chinese </a:t>
            </a:r>
            <a:r>
              <a:rPr lang="en-GB" sz="2400" i="1" dirty="0" err="1"/>
              <a:t>shi</a:t>
            </a:r>
            <a:r>
              <a:rPr lang="en-GB" sz="2400" dirty="0"/>
              <a:t>): Subject determiner (</a:t>
            </a:r>
            <a:r>
              <a:rPr lang="en-GB" sz="2400" dirty="0" err="1"/>
              <a:t>SpecPredP</a:t>
            </a:r>
            <a:r>
              <a:rPr lang="en-GB" sz="2400" dirty="0"/>
              <a:t>) Copula (Pred/</a:t>
            </a:r>
            <a:r>
              <a:rPr lang="en-GB" sz="2400" b="1" dirty="0"/>
              <a:t>T</a:t>
            </a:r>
            <a:r>
              <a:rPr lang="en-GB" sz="2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(‘structural simplification’, ‘lateral’: new </a:t>
            </a:r>
            <a:r>
              <a:rPr lang="en-GB" sz="2400" dirty="0" err="1"/>
              <a:t>F</a:t>
            </a:r>
            <a:r>
              <a:rPr lang="en-GB" sz="2000" dirty="0" err="1"/>
              <a:t>Move</a:t>
            </a:r>
            <a:r>
              <a:rPr lang="en-GB" sz="2000" dirty="0"/>
              <a:t>/Agree </a:t>
            </a:r>
            <a:r>
              <a:rPr lang="en-GB" sz="2400" dirty="0"/>
              <a:t>(T/</a:t>
            </a:r>
            <a:r>
              <a:rPr lang="en-GB" sz="2400" dirty="0" err="1"/>
              <a:t>AgrS</a:t>
            </a:r>
            <a:r>
              <a:rPr lang="en-GB" sz="2400" dirty="0"/>
              <a:t>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DDBF1-A189-0551-4950-8EF2FA33289B}"/>
              </a:ext>
            </a:extLst>
          </p:cNvPr>
          <p:cNvSpPr txBox="1"/>
          <p:nvPr/>
        </p:nvSpPr>
        <p:spPr>
          <a:xfrm>
            <a:off x="-28071" y="1396602"/>
            <a:ext cx="12220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Grammaticalization creates Functional elements (</a:t>
            </a:r>
            <a:r>
              <a:rPr lang="en-GB" sz="2400" dirty="0" err="1"/>
              <a:t>F</a:t>
            </a:r>
            <a:r>
              <a:rPr lang="en-GB" sz="2000" dirty="0" err="1"/>
              <a:t>Merge</a:t>
            </a:r>
            <a:r>
              <a:rPr lang="en-GB" sz="2400" dirty="0"/>
              <a:t>) in this formal hierarchy: </a:t>
            </a:r>
          </a:p>
          <a:p>
            <a:r>
              <a:rPr lang="en-GB" sz="2400" dirty="0" err="1"/>
              <a:t>F</a:t>
            </a:r>
            <a:r>
              <a:rPr lang="en-GB" sz="2000" dirty="0" err="1"/>
              <a:t>Move</a:t>
            </a:r>
            <a:r>
              <a:rPr lang="en-GB" sz="2400" dirty="0"/>
              <a:t> &gt; </a:t>
            </a:r>
            <a:r>
              <a:rPr lang="en-GB" sz="2400" dirty="0" err="1"/>
              <a:t>F</a:t>
            </a:r>
            <a:r>
              <a:rPr lang="en-GB" sz="2000" dirty="0" err="1"/>
              <a:t>Agree</a:t>
            </a:r>
            <a:r>
              <a:rPr lang="en-GB" sz="2400" dirty="0"/>
              <a:t> &gt; </a:t>
            </a:r>
            <a:r>
              <a:rPr lang="en-GB" sz="2400" dirty="0" err="1"/>
              <a:t>F</a:t>
            </a:r>
            <a:r>
              <a:rPr lang="en-GB" sz="2000" dirty="0" err="1"/>
              <a:t>Merge</a:t>
            </a:r>
            <a:r>
              <a:rPr lang="en-GB" sz="2000" dirty="0"/>
              <a:t> </a:t>
            </a:r>
            <a:r>
              <a:rPr lang="en-GB" sz="2400" dirty="0"/>
              <a:t>(MC: minimise derivational steps)</a:t>
            </a:r>
          </a:p>
        </p:txBody>
      </p:sp>
    </p:spTree>
    <p:extLst>
      <p:ext uri="{BB962C8B-B14F-4D97-AF65-F5344CB8AC3E}">
        <p14:creationId xmlns:p14="http://schemas.microsoft.com/office/powerpoint/2010/main" val="322551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74BB9-14EC-1450-3278-E08487EC3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3522" y="1556684"/>
            <a:ext cx="76818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9600" dirty="0"/>
              <a:t>謝謝！</a:t>
            </a:r>
            <a:endParaRPr lang="en-GB" altLang="zh-CN" sz="9600" dirty="0"/>
          </a:p>
          <a:p>
            <a:pPr marL="0" indent="0">
              <a:buNone/>
            </a:pPr>
            <a:r>
              <a:rPr lang="en-GB" sz="9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8799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3354</TotalTime>
  <Words>2173</Words>
  <Application>Microsoft Office PowerPoint</Application>
  <PresentationFormat>Widescreen</PresentationFormat>
  <Paragraphs>194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Derivational Economy and Linguistic Interfaces: Grammaticalization and ‘lateral’ grammaticalization </vt:lpstr>
      <vt:lpstr>The Minimalist Program (Chomsky (1995))</vt:lpstr>
      <vt:lpstr>Language Acquisition and Language Change</vt:lpstr>
      <vt:lpstr>Grammaticalization (語法化)</vt:lpstr>
      <vt:lpstr>‘Simplicity’ and ‘Derivational Economy’ (R&amp;R (2003), van Gelderen (2004, 2011))</vt:lpstr>
      <vt:lpstr>Functional Categories and Weakening</vt:lpstr>
      <vt:lpstr>‘Lateral’ Grammaticalization (Simpson and Wu (2002))</vt:lpstr>
      <vt:lpstr>‘Lateral’ grammaticalization (nominal &gt; verbal) (DP &gt; TP)</vt:lpstr>
      <vt:lpstr>Chinese copula shi (是)</vt:lpstr>
      <vt:lpstr>Chinese copula shi: ‘structural simplification’</vt:lpstr>
      <vt:lpstr>Chinese copula shi 是 (‘lateral’ grammaticalization)</vt:lpstr>
      <vt:lpstr>Conclusion: Functional Categories at the Interfaces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Tse</dc:creator>
  <cp:lastModifiedBy>Keith Tse</cp:lastModifiedBy>
  <cp:revision>14</cp:revision>
  <dcterms:created xsi:type="dcterms:W3CDTF">2025-06-18T15:03:51Z</dcterms:created>
  <dcterms:modified xsi:type="dcterms:W3CDTF">2025-06-22T02:03:29Z</dcterms:modified>
</cp:coreProperties>
</file>