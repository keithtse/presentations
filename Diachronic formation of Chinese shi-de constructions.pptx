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70" r:id="rId9"/>
    <p:sldId id="269" r:id="rId10"/>
    <p:sldId id="259" r:id="rId11"/>
    <p:sldId id="261" r:id="rId12"/>
    <p:sldId id="271" r:id="rId13"/>
    <p:sldId id="272" r:id="rId14"/>
    <p:sldId id="263" r:id="rId15"/>
    <p:sldId id="273" r:id="rId16"/>
    <p:sldId id="275" r:id="rId17"/>
    <p:sldId id="274" r:id="rId18"/>
    <p:sldId id="276" r:id="rId19"/>
    <p:sldId id="277" r:id="rId20"/>
    <p:sldId id="258" r:id="rId21"/>
    <p:sldId id="278" r:id="rId22"/>
    <p:sldId id="279" r:id="rId23"/>
    <p:sldId id="281" r:id="rId24"/>
    <p:sldId id="280" r:id="rId25"/>
    <p:sldId id="282" r:id="rId26"/>
    <p:sldId id="283" r:id="rId27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HK"/>
              <a:t>Click to edit Master subtitle style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28409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05666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59026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545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04592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48544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04199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7191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HK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068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8838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6675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HK"/>
              <a:t>Click to edit Master title style</a:t>
            </a:r>
            <a:endParaRPr lang="zh-HK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HK"/>
              <a:t>Edit Master text styles</a:t>
            </a:r>
          </a:p>
          <a:p>
            <a:pPr lvl="1"/>
            <a:r>
              <a:rPr lang="en-US" altLang="zh-HK"/>
              <a:t>Second level</a:t>
            </a:r>
          </a:p>
          <a:p>
            <a:pPr lvl="2"/>
            <a:r>
              <a:rPr lang="en-US" altLang="zh-HK"/>
              <a:t>Third level</a:t>
            </a:r>
          </a:p>
          <a:p>
            <a:pPr lvl="3"/>
            <a:r>
              <a:rPr lang="en-US" altLang="zh-HK"/>
              <a:t>Fourth level</a:t>
            </a:r>
          </a:p>
          <a:p>
            <a:pPr lvl="4"/>
            <a:r>
              <a:rPr lang="en-US" altLang="zh-HK"/>
              <a:t>Fifth level</a:t>
            </a:r>
            <a:endParaRPr lang="zh-HK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6B641-424B-43E7-AD56-C4F44A520276}" type="datetimeFigureOut">
              <a:rPr lang="zh-HK" altLang="en-US" smtClean="0"/>
              <a:t>25/11/2017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3FDFF-42BC-4592-8598-45F3F941A8A1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47242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61878"/>
            <a:ext cx="9144000" cy="2387600"/>
          </a:xfrm>
        </p:spPr>
        <p:txBody>
          <a:bodyPr>
            <a:noAutofit/>
          </a:bodyPr>
          <a:lstStyle/>
          <a:p>
            <a:r>
              <a:rPr lang="en-US" altLang="zh-HK" dirty="0"/>
              <a:t>Diachronic formation of Chinese </a:t>
            </a:r>
            <a:r>
              <a:rPr lang="en-US" altLang="zh-HK" i="1" dirty="0" err="1"/>
              <a:t>shi</a:t>
            </a:r>
            <a:r>
              <a:rPr lang="en-US" altLang="zh-HK" i="1" dirty="0"/>
              <a:t>-de </a:t>
            </a:r>
            <a:r>
              <a:rPr lang="en-US" altLang="zh-HK" dirty="0"/>
              <a:t>constructions</a:t>
            </a:r>
            <a:endParaRPr lang="zh-HK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65717"/>
          </a:xfrm>
        </p:spPr>
        <p:txBody>
          <a:bodyPr>
            <a:noAutofit/>
          </a:bodyPr>
          <a:lstStyle/>
          <a:p>
            <a:r>
              <a:rPr lang="en-US" altLang="zh-HK" sz="3200" dirty="0"/>
              <a:t>Keith Tse (University of York)</a:t>
            </a:r>
          </a:p>
          <a:p>
            <a:r>
              <a:rPr lang="en-US" altLang="zh-HK" sz="3200" dirty="0"/>
              <a:t>IACL-25 </a:t>
            </a:r>
          </a:p>
          <a:p>
            <a:r>
              <a:rPr lang="en-US" altLang="zh-HK" sz="3200" dirty="0"/>
              <a:t>27</a:t>
            </a:r>
            <a:r>
              <a:rPr lang="en-US" altLang="zh-HK" sz="3200" baseline="30000" dirty="0"/>
              <a:t>th</a:t>
            </a:r>
            <a:r>
              <a:rPr lang="en-US" altLang="zh-HK" sz="3200" dirty="0"/>
              <a:t> June 2017</a:t>
            </a:r>
            <a:endParaRPr lang="zh-HK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61605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Introduction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4401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Wo	</a:t>
            </a:r>
            <a:r>
              <a:rPr lang="en-US" altLang="zh-HK" dirty="0" err="1"/>
              <a:t>shi</a:t>
            </a:r>
            <a:r>
              <a:rPr lang="en-US" altLang="zh-HK" dirty="0"/>
              <a:t>	</a:t>
            </a:r>
            <a:r>
              <a:rPr lang="en-US" altLang="zh-HK" dirty="0" err="1"/>
              <a:t>zuotian</a:t>
            </a:r>
            <a:r>
              <a:rPr lang="en-US" altLang="zh-HK" dirty="0"/>
              <a:t>	</a:t>
            </a:r>
            <a:r>
              <a:rPr lang="en-US" altLang="zh-HK" dirty="0" err="1"/>
              <a:t>mai</a:t>
            </a:r>
            <a:r>
              <a:rPr lang="en-US" altLang="zh-HK" dirty="0"/>
              <a:t>	</a:t>
            </a:r>
            <a:r>
              <a:rPr lang="en-US" altLang="zh-HK" dirty="0" err="1"/>
              <a:t>piao</a:t>
            </a:r>
            <a:r>
              <a:rPr lang="en-US" altLang="zh-HK" dirty="0"/>
              <a:t>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I	SHI	yesterday 	buy	ticket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/>
              <a:t>‘It was yesterday that I bought the ticket.’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Wo	</a:t>
            </a:r>
            <a:r>
              <a:rPr lang="en-US" altLang="zh-HK" dirty="0" err="1"/>
              <a:t>shi</a:t>
            </a:r>
            <a:r>
              <a:rPr lang="en-US" altLang="zh-HK" dirty="0"/>
              <a:t>	</a:t>
            </a:r>
            <a:r>
              <a:rPr lang="en-US" altLang="zh-HK" dirty="0" err="1"/>
              <a:t>zuotian</a:t>
            </a:r>
            <a:r>
              <a:rPr lang="en-US" altLang="zh-HK" dirty="0"/>
              <a:t>	</a:t>
            </a:r>
            <a:r>
              <a:rPr lang="en-US" altLang="zh-HK" dirty="0" err="1"/>
              <a:t>mai</a:t>
            </a:r>
            <a:r>
              <a:rPr lang="en-US" altLang="zh-HK" dirty="0"/>
              <a:t>	de	</a:t>
            </a:r>
            <a:r>
              <a:rPr lang="en-US" altLang="zh-HK" dirty="0" err="1"/>
              <a:t>piao</a:t>
            </a:r>
            <a:endParaRPr lang="en-US" altLang="zh-H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I	SHI	yesterday	buy	DE	ticket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‘It was yesterday that I bought the ticket.’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(Simpson and Wu (S&amp;W) (2002:169))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01437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Chinese cleft (</a:t>
            </a:r>
            <a:r>
              <a:rPr lang="en-US" altLang="zh-HK" i="1" dirty="0" err="1"/>
              <a:t>shi</a:t>
            </a:r>
            <a:r>
              <a:rPr lang="en-US" altLang="zh-HK" i="1" dirty="0"/>
              <a:t>-de</a:t>
            </a:r>
            <a:r>
              <a:rPr lang="en-US" altLang="zh-HK" dirty="0"/>
              <a:t>) constructions consist of </a:t>
            </a:r>
            <a:r>
              <a:rPr lang="en-US" altLang="zh-HK" i="1" dirty="0" err="1"/>
              <a:t>shi</a:t>
            </a:r>
            <a:r>
              <a:rPr lang="en-US" altLang="zh-HK" i="1" dirty="0"/>
              <a:t> </a:t>
            </a:r>
            <a:r>
              <a:rPr lang="en-US" altLang="zh-HK" dirty="0"/>
              <a:t>and </a:t>
            </a:r>
            <a:r>
              <a:rPr lang="en-US" altLang="zh-HK" i="1" dirty="0"/>
              <a:t>de </a:t>
            </a:r>
            <a:r>
              <a:rPr lang="en-US" altLang="zh-HK" dirty="0"/>
              <a:t>(Chao (1968))</a:t>
            </a:r>
            <a:endParaRPr lang="zh-HK" alt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007352" y="145976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 err="1"/>
              <a:t>VOde</a:t>
            </a:r>
            <a:r>
              <a:rPr lang="en-US" altLang="zh-HK" dirty="0"/>
              <a:t>- pan-Chinese</a:t>
            </a:r>
            <a:endParaRPr lang="zh-HK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007352" y="296399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 err="1"/>
              <a:t>VdeO</a:t>
            </a:r>
            <a:r>
              <a:rPr lang="en-US" altLang="zh-HK" dirty="0"/>
              <a:t>- northern dialects</a:t>
            </a:r>
            <a:endParaRPr lang="zh-HK" alt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096760" y="342045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*</a:t>
            </a:r>
            <a:r>
              <a:rPr lang="en-US" altLang="zh-HK" dirty="0" err="1"/>
              <a:t>VgeO</a:t>
            </a:r>
            <a:r>
              <a:rPr lang="en-US" altLang="zh-HK" dirty="0"/>
              <a:t> (southern dialects)</a:t>
            </a:r>
          </a:p>
          <a:p>
            <a:pPr marL="0" indent="0">
              <a:buNone/>
            </a:pPr>
            <a:r>
              <a:rPr lang="en-US" altLang="zh-HK" sz="2000" dirty="0"/>
              <a:t>*</a:t>
            </a:r>
            <a:r>
              <a:rPr lang="en-US" altLang="zh-HK" sz="2000" dirty="0" err="1"/>
              <a:t>zoengsaam</a:t>
            </a:r>
            <a:r>
              <a:rPr lang="en-US" altLang="zh-HK" sz="2000" dirty="0"/>
              <a:t>	</a:t>
            </a:r>
            <a:r>
              <a:rPr lang="en-US" altLang="zh-HK" sz="2000" dirty="0" err="1"/>
              <a:t>hai</a:t>
            </a:r>
            <a:r>
              <a:rPr lang="en-US" altLang="zh-HK" sz="2000" dirty="0"/>
              <a:t> 	</a:t>
            </a:r>
            <a:r>
              <a:rPr lang="en-US" altLang="zh-HK" sz="2000" dirty="0" err="1"/>
              <a:t>kamjat</a:t>
            </a:r>
            <a:endParaRPr lang="en-US" altLang="zh-HK" sz="2000" dirty="0"/>
          </a:p>
          <a:p>
            <a:pPr marL="0" indent="0">
              <a:buNone/>
            </a:pPr>
            <a:r>
              <a:rPr lang="en-US" altLang="zh-HK" sz="2000" dirty="0"/>
              <a:t>Name		COP	yesterday</a:t>
            </a:r>
          </a:p>
          <a:p>
            <a:pPr marL="0" indent="0">
              <a:buNone/>
            </a:pPr>
            <a:r>
              <a:rPr lang="en-US" altLang="zh-HK" sz="2000" dirty="0" err="1"/>
              <a:t>daa</a:t>
            </a:r>
            <a:r>
              <a:rPr lang="en-US" altLang="zh-HK" sz="2000" dirty="0"/>
              <a:t> 	</a:t>
            </a:r>
            <a:r>
              <a:rPr lang="en-US" altLang="zh-HK" sz="2000" dirty="0" err="1"/>
              <a:t>ge</a:t>
            </a:r>
            <a:r>
              <a:rPr lang="en-US" altLang="zh-HK" sz="2000" dirty="0"/>
              <a:t> 	</a:t>
            </a:r>
            <a:r>
              <a:rPr lang="en-US" altLang="zh-HK" sz="2000" dirty="0" err="1"/>
              <a:t>dinbo</a:t>
            </a:r>
            <a:endParaRPr lang="en-US" altLang="zh-HK" sz="2000" dirty="0"/>
          </a:p>
          <a:p>
            <a:pPr marL="0" indent="0">
              <a:buNone/>
            </a:pPr>
            <a:r>
              <a:rPr lang="en-US" altLang="zh-HK" sz="2000" dirty="0"/>
              <a:t>Send	GE	telegram</a:t>
            </a:r>
          </a:p>
          <a:p>
            <a:pPr marL="0" indent="0">
              <a:buNone/>
            </a:pPr>
            <a:r>
              <a:rPr lang="en-US" altLang="zh-HK" sz="2000" dirty="0"/>
              <a:t>‘It was yesterday that </a:t>
            </a:r>
            <a:r>
              <a:rPr lang="en-US" altLang="zh-HK" sz="2000" dirty="0" err="1"/>
              <a:t>Zoengsaam</a:t>
            </a:r>
            <a:r>
              <a:rPr lang="en-US" altLang="zh-HK" sz="2000" dirty="0"/>
              <a:t> </a:t>
            </a:r>
          </a:p>
          <a:p>
            <a:pPr marL="0" indent="0">
              <a:buNone/>
            </a:pPr>
            <a:r>
              <a:rPr lang="en-US" altLang="zh-HK" sz="2000" dirty="0"/>
              <a:t>sent the telegram.’ (Lee and </a:t>
            </a:r>
            <a:r>
              <a:rPr lang="en-US" altLang="zh-HK" sz="2000" dirty="0" err="1"/>
              <a:t>Yiu</a:t>
            </a:r>
            <a:r>
              <a:rPr lang="en-US" altLang="zh-HK" sz="2000" dirty="0"/>
              <a:t> (1998</a:t>
            </a:r>
            <a:r>
              <a:rPr lang="en-US" altLang="zh-TW" sz="2000" dirty="0"/>
              <a:t>:11), </a:t>
            </a:r>
          </a:p>
          <a:p>
            <a:pPr marL="0" indent="0">
              <a:buNone/>
            </a:pPr>
            <a:r>
              <a:rPr lang="en-US" altLang="zh-TW" sz="2000" dirty="0"/>
              <a:t>                                    </a:t>
            </a:r>
            <a:r>
              <a:rPr lang="en-US" altLang="zh-TW" sz="2000" dirty="0" err="1"/>
              <a:t>cf</a:t>
            </a:r>
            <a:r>
              <a:rPr lang="en-US" altLang="zh-TW" sz="2000" dirty="0"/>
              <a:t> Tang (2011))</a:t>
            </a:r>
            <a:endParaRPr lang="zh-HK" altLang="en-US" sz="20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HK" dirty="0"/>
          </a:p>
          <a:p>
            <a:pPr marL="0" indent="0">
              <a:buFont typeface="Arial" panose="020B0604020202020204" pitchFamily="34" charset="0"/>
              <a:buNone/>
            </a:pPr>
            <a:endParaRPr lang="zh-HK" alt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38200" y="501189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Subject	SHI	clause	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	cleft-focus + cleft-presupposition</a:t>
            </a:r>
            <a:endParaRPr lang="zh-HK" altLang="en-US" dirty="0"/>
          </a:p>
        </p:txBody>
      </p:sp>
      <p:sp>
        <p:nvSpPr>
          <p:cNvPr id="3" name="Isosceles Triangle 2"/>
          <p:cNvSpPr/>
          <p:nvPr/>
        </p:nvSpPr>
        <p:spPr>
          <a:xfrm>
            <a:off x="1956816" y="5365709"/>
            <a:ext cx="4462272" cy="23041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01864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build="p"/>
      <p:bldP spid="7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7" y="0"/>
            <a:ext cx="10515600" cy="1325563"/>
          </a:xfrm>
        </p:spPr>
        <p:txBody>
          <a:bodyPr/>
          <a:lstStyle/>
          <a:p>
            <a:r>
              <a:rPr lang="en-US" altLang="zh-HK" dirty="0"/>
              <a:t>Research context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91669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2000" dirty="0"/>
              <a:t>S&amp;W (2002) argue that </a:t>
            </a:r>
            <a:r>
              <a:rPr lang="en-US" altLang="zh-HK" sz="2000" dirty="0" err="1"/>
              <a:t>VdeO</a:t>
            </a:r>
            <a:r>
              <a:rPr lang="en-US" altLang="zh-HK" sz="2000" dirty="0"/>
              <a:t> is derived from </a:t>
            </a:r>
            <a:r>
              <a:rPr lang="en-US" altLang="zh-HK" sz="2000" dirty="0" err="1"/>
              <a:t>VOde</a:t>
            </a:r>
            <a:r>
              <a:rPr lang="en-US" altLang="zh-HK" sz="2000" dirty="0"/>
              <a:t> (comparative-historical): </a:t>
            </a:r>
          </a:p>
          <a:p>
            <a:pPr marL="0" indent="0">
              <a:buNone/>
            </a:pPr>
            <a:endParaRPr lang="zh-HK" altLang="en-US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60130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197" y="119336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2000" dirty="0"/>
              <a:t>V de </a:t>
            </a:r>
            <a:r>
              <a:rPr lang="en-US" altLang="zh-HK" sz="1400" dirty="0" err="1"/>
              <a:t>i</a:t>
            </a:r>
            <a:r>
              <a:rPr lang="en-US" altLang="zh-HK" sz="2000" dirty="0"/>
              <a:t> O t </a:t>
            </a:r>
            <a:r>
              <a:rPr lang="en-US" altLang="zh-HK" sz="1400" dirty="0" err="1"/>
              <a:t>i</a:t>
            </a:r>
            <a:r>
              <a:rPr lang="en-US" altLang="zh-HK" sz="1400" dirty="0"/>
              <a:t> </a:t>
            </a:r>
            <a:r>
              <a:rPr lang="en-US" altLang="zh-HK" sz="2000" dirty="0"/>
              <a:t>(</a:t>
            </a:r>
            <a:r>
              <a:rPr lang="en-US" altLang="zh-HK" sz="2000" dirty="0" err="1"/>
              <a:t>cf</a:t>
            </a:r>
            <a:r>
              <a:rPr lang="en-US" altLang="zh-HK" sz="2000" dirty="0"/>
              <a:t> Chao (1968), Li et al (1998), Sugimura (1999), Yuan (2003))</a:t>
            </a:r>
            <a:r>
              <a:rPr lang="en-US" altLang="zh-HK" sz="1400" dirty="0"/>
              <a:t> </a:t>
            </a:r>
            <a:r>
              <a:rPr lang="en-US" altLang="zh-HK" sz="2000" dirty="0"/>
              <a:t> </a:t>
            </a:r>
            <a:endParaRPr lang="zh-HK" altLang="en-US" sz="20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194" y="1730367"/>
            <a:ext cx="114350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Long and Xiao (2011): </a:t>
            </a:r>
            <a:r>
              <a:rPr lang="en-US" altLang="zh-HK" sz="1800" dirty="0" err="1"/>
              <a:t>VdeO</a:t>
            </a:r>
            <a:r>
              <a:rPr lang="en-US" altLang="zh-HK" sz="1800" dirty="0"/>
              <a:t> (Song dynasty) (10-13</a:t>
            </a:r>
            <a:r>
              <a:rPr lang="en-US" altLang="zh-HK" sz="1800" baseline="30000" dirty="0"/>
              <a:t>th</a:t>
            </a:r>
            <a:r>
              <a:rPr lang="en-US" altLang="zh-HK" sz="1800" dirty="0"/>
              <a:t> AD)/ </a:t>
            </a:r>
            <a:r>
              <a:rPr lang="en-US" altLang="zh-TW" sz="1800" dirty="0" err="1"/>
              <a:t>VOde</a:t>
            </a:r>
            <a:r>
              <a:rPr lang="en-US" altLang="zh-TW" sz="1800" dirty="0"/>
              <a:t> (Yuan dynasty) (13</a:t>
            </a:r>
            <a:r>
              <a:rPr lang="en-US" altLang="zh-TW" sz="1800" baseline="30000" dirty="0"/>
              <a:t>th</a:t>
            </a:r>
            <a:r>
              <a:rPr lang="en-US" altLang="zh-TW" sz="1800" dirty="0"/>
              <a:t>-14</a:t>
            </a:r>
            <a:r>
              <a:rPr lang="en-US" altLang="zh-TW" sz="1800" baseline="30000" dirty="0"/>
              <a:t>th</a:t>
            </a:r>
            <a:r>
              <a:rPr lang="en-US" altLang="zh-TW" sz="1800" dirty="0"/>
              <a:t>AD) </a:t>
            </a:r>
            <a:endParaRPr lang="en-US" altLang="zh-HK" sz="1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194" y="2016217"/>
            <a:ext cx="108885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Tianxia</a:t>
            </a:r>
            <a:r>
              <a:rPr lang="en-US" altLang="zh-HK" sz="1600" dirty="0"/>
              <a:t>	      </a:t>
            </a:r>
            <a:r>
              <a:rPr lang="en-US" altLang="zh-HK" sz="1600" dirty="0" err="1"/>
              <a:t>ren</a:t>
            </a:r>
            <a:r>
              <a:rPr lang="en-US" altLang="zh-HK" sz="1600" dirty="0"/>
              <a:t>        </a:t>
            </a:r>
            <a:r>
              <a:rPr lang="en-US" altLang="zh-HK" sz="1600" dirty="0" err="1"/>
              <a:t>zong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can	de	di	</a:t>
            </a:r>
            <a:r>
              <a:rPr lang="en-US" altLang="zh-HK" sz="1600" dirty="0" err="1"/>
              <a:t>chan</a:t>
            </a:r>
            <a:endParaRPr lang="en-US" altLang="zh-HK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Beneath.world</a:t>
            </a:r>
            <a:r>
              <a:rPr lang="en-US" altLang="zh-HK" sz="1600" dirty="0"/>
              <a:t>  people  always	SHI	study	obtain DE	enlightenment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Mou</a:t>
            </a:r>
            <a:r>
              <a:rPr lang="en-US" altLang="zh-HK" sz="1600" dirty="0"/>
              <a:t>	SHI	</a:t>
            </a:r>
            <a:r>
              <a:rPr lang="en-US" altLang="zh-HK" sz="1600" dirty="0" err="1"/>
              <a:t>wu</a:t>
            </a:r>
            <a:r>
              <a:rPr lang="en-US" altLang="zh-HK" sz="1600" dirty="0"/>
              <a:t>		de	di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I	SHI	understand	obtain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‘It is always by studying that everyone in the world obtains enlightenment, whereas it is by understanding that I obtain it.’ (</a:t>
            </a:r>
            <a:r>
              <a:rPr lang="en-US" altLang="zh-HK" sz="1600" i="1" dirty="0" err="1"/>
              <a:t>Wudeng</a:t>
            </a:r>
            <a:r>
              <a:rPr lang="en-US" altLang="zh-HK" sz="1600" i="1" dirty="0"/>
              <a:t> </a:t>
            </a:r>
            <a:r>
              <a:rPr lang="en-US" altLang="zh-HK" sz="1600" i="1" dirty="0" err="1"/>
              <a:t>huiyuan</a:t>
            </a:r>
            <a:r>
              <a:rPr lang="en-US" altLang="zh-HK" sz="1600" i="1" dirty="0"/>
              <a:t> </a:t>
            </a:r>
            <a:r>
              <a:rPr lang="en-US" altLang="zh-HK" sz="1600" dirty="0"/>
              <a:t>No. 17) 	</a:t>
            </a:r>
            <a:endParaRPr lang="zh-HK" altLang="en-US" sz="16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194" y="3889696"/>
            <a:ext cx="108885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Wo	</a:t>
            </a:r>
            <a:r>
              <a:rPr lang="en-US" altLang="zh-HK" sz="1800" dirty="0" err="1"/>
              <a:t>gege</a:t>
            </a:r>
            <a:r>
              <a:rPr lang="en-US" altLang="zh-HK" sz="1800" dirty="0"/>
              <a:t>	</a:t>
            </a:r>
            <a:r>
              <a:rPr lang="en-US" altLang="zh-HK" sz="1800" dirty="0" err="1"/>
              <a:t>shi</a:t>
            </a:r>
            <a:r>
              <a:rPr lang="en-US" altLang="zh-HK" sz="1800" dirty="0"/>
              <a:t>	</a:t>
            </a:r>
            <a:r>
              <a:rPr lang="en-US" altLang="zh-HK" sz="1800" dirty="0" err="1"/>
              <a:t>shenmeshihou</a:t>
            </a:r>
            <a:r>
              <a:rPr lang="en-US" altLang="zh-HK" sz="1800" dirty="0"/>
              <a:t>		</a:t>
            </a:r>
            <a:r>
              <a:rPr lang="en-US" altLang="zh-HK" sz="1800" dirty="0" err="1"/>
              <a:t>chu</a:t>
            </a:r>
            <a:r>
              <a:rPr lang="en-US" altLang="zh-HK" sz="1800" dirty="0"/>
              <a:t>	men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My	brother	SHI	what	time		leave	door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‘What time was it that my brother left the house?’ (</a:t>
            </a:r>
            <a:r>
              <a:rPr lang="en-US" altLang="zh-HK" sz="1800" i="1" dirty="0" err="1"/>
              <a:t>Quanyuan</a:t>
            </a:r>
            <a:r>
              <a:rPr lang="en-US" altLang="zh-HK" sz="1800" i="1" dirty="0"/>
              <a:t> </a:t>
            </a:r>
            <a:r>
              <a:rPr lang="en-US" altLang="zh-HK" sz="1800" i="1" dirty="0" err="1"/>
              <a:t>qu</a:t>
            </a:r>
            <a:r>
              <a:rPr lang="en-US" altLang="zh-HK" sz="1800" i="1" dirty="0"/>
              <a:t>, </a:t>
            </a:r>
            <a:r>
              <a:rPr lang="en-US" altLang="zh-HK" sz="1800" i="1" dirty="0" err="1"/>
              <a:t>shagou</a:t>
            </a:r>
            <a:r>
              <a:rPr lang="en-US" altLang="zh-HK" sz="1800" i="1" dirty="0"/>
              <a:t> </a:t>
            </a:r>
            <a:r>
              <a:rPr lang="en-US" altLang="zh-HK" sz="1800" i="1" dirty="0" err="1"/>
              <a:t>ji</a:t>
            </a:r>
            <a:r>
              <a:rPr lang="en-US" altLang="zh-HK" sz="1800" dirty="0"/>
              <a:t>)</a:t>
            </a:r>
            <a:endParaRPr lang="zh-HK" altLang="en-US" sz="18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8194" y="4917759"/>
            <a:ext cx="1135380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Han (2012</a:t>
            </a:r>
            <a:r>
              <a:rPr lang="en-US" altLang="zh-TW" sz="1800" dirty="0"/>
              <a:t>), Zhan (2012): </a:t>
            </a:r>
            <a:r>
              <a:rPr lang="en-US" altLang="zh-TW" sz="1800" dirty="0" err="1"/>
              <a:t>Vode</a:t>
            </a:r>
            <a:r>
              <a:rPr lang="en-US" altLang="zh-TW" sz="1800" dirty="0"/>
              <a:t> (Tang dynasty) (7</a:t>
            </a:r>
            <a:r>
              <a:rPr lang="en-US" altLang="zh-TW" sz="1800" baseline="30000" dirty="0"/>
              <a:t>th</a:t>
            </a:r>
            <a:r>
              <a:rPr lang="en-US" altLang="zh-TW" sz="1800" dirty="0"/>
              <a:t>-10</a:t>
            </a:r>
            <a:r>
              <a:rPr lang="en-US" altLang="zh-TW" sz="1800" baseline="30000" dirty="0"/>
              <a:t>th</a:t>
            </a:r>
            <a:r>
              <a:rPr lang="en-US" altLang="zh-TW" sz="1800" dirty="0"/>
              <a:t> AD): </a:t>
            </a:r>
          </a:p>
          <a:p>
            <a:pPr marL="0" indent="0">
              <a:buNone/>
            </a:pPr>
            <a:r>
              <a:rPr lang="en-US" altLang="zh-HK" sz="1800" dirty="0" err="1"/>
              <a:t>Fei</a:t>
            </a:r>
            <a:r>
              <a:rPr lang="en-US" altLang="zh-HK" sz="1800" dirty="0"/>
              <a:t>	</a:t>
            </a:r>
            <a:r>
              <a:rPr lang="en-US" altLang="zh-HK" sz="1800" dirty="0" err="1"/>
              <a:t>shi</a:t>
            </a:r>
            <a:r>
              <a:rPr lang="en-US" altLang="zh-HK" sz="1800" dirty="0"/>
              <a:t>	</a:t>
            </a:r>
            <a:r>
              <a:rPr lang="en-US" altLang="zh-HK" sz="1800" dirty="0" err="1"/>
              <a:t>pusa</a:t>
            </a:r>
            <a:r>
              <a:rPr lang="en-US" altLang="zh-HK" sz="1800" dirty="0"/>
              <a:t>	</a:t>
            </a:r>
            <a:r>
              <a:rPr lang="en-US" altLang="zh-HK" sz="1800" dirty="0" err="1"/>
              <a:t>xingcang</a:t>
            </a:r>
            <a:r>
              <a:rPr lang="en-US" altLang="zh-HK" sz="1800" dirty="0"/>
              <a:t>	ci	</a:t>
            </a:r>
            <a:r>
              <a:rPr lang="en-US" altLang="zh-HK" sz="1800" dirty="0" err="1"/>
              <a:t>shi</a:t>
            </a:r>
            <a:r>
              <a:rPr lang="en-US" altLang="zh-HK" sz="1800" dirty="0"/>
              <a:t>	</a:t>
            </a:r>
            <a:r>
              <a:rPr lang="en-US" altLang="zh-HK" sz="1800" dirty="0" err="1"/>
              <a:t>sumen</a:t>
            </a:r>
            <a:r>
              <a:rPr lang="en-US" altLang="zh-HK" sz="1800" dirty="0"/>
              <a:t>	</a:t>
            </a:r>
            <a:r>
              <a:rPr lang="en-US" altLang="zh-HK" sz="1800" dirty="0" err="1"/>
              <a:t>zuo</a:t>
            </a:r>
            <a:r>
              <a:rPr lang="en-US" altLang="zh-HK" sz="1800" dirty="0"/>
              <a:t>	di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NEG	SHI	Buddha	behavior	This	SHI	laymen	do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‘It is not the Buddha’s </a:t>
            </a:r>
            <a:r>
              <a:rPr lang="en-US" altLang="zh-HK" sz="1800" dirty="0" err="1"/>
              <a:t>behaviour</a:t>
            </a:r>
            <a:r>
              <a:rPr lang="en-US" altLang="zh-HK" sz="1800" dirty="0"/>
              <a:t>. It was the laymen who did this. (</a:t>
            </a:r>
            <a:r>
              <a:rPr lang="en-US" altLang="zh-HK" sz="1800" i="1" dirty="0" err="1"/>
              <a:t>Dunhuang</a:t>
            </a:r>
            <a:r>
              <a:rPr lang="en-US" altLang="zh-HK" sz="1800" i="1" dirty="0"/>
              <a:t> </a:t>
            </a:r>
            <a:r>
              <a:rPr lang="en-US" altLang="zh-HK" sz="1800" i="1" dirty="0" err="1"/>
              <a:t>bianwen</a:t>
            </a:r>
            <a:r>
              <a:rPr lang="en-US" altLang="zh-HK" sz="1800" i="1" dirty="0"/>
              <a:t> </a:t>
            </a:r>
            <a:r>
              <a:rPr lang="en-US" altLang="zh-HK" sz="1800" i="1" dirty="0" err="1"/>
              <a:t>ji</a:t>
            </a:r>
            <a:r>
              <a:rPr lang="en-US" altLang="zh-HK" sz="1800" dirty="0"/>
              <a:t>)</a:t>
            </a:r>
            <a:endParaRPr lang="zh-HK" altLang="en-US" sz="1800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38194" y="14536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 err="1"/>
              <a:t>VOde</a:t>
            </a:r>
            <a:r>
              <a:rPr lang="en-US" altLang="zh-HK" sz="1800" dirty="0"/>
              <a:t> (DP) &gt; </a:t>
            </a:r>
            <a:r>
              <a:rPr lang="en-US" altLang="zh-HK" sz="1800" dirty="0" err="1"/>
              <a:t>VdeO</a:t>
            </a:r>
            <a:r>
              <a:rPr lang="en-US" altLang="zh-HK" sz="1800" dirty="0"/>
              <a:t> (TP)- ‘lateral’ </a:t>
            </a:r>
            <a:r>
              <a:rPr lang="en-US" altLang="zh-HK" sz="1800" dirty="0" err="1"/>
              <a:t>grammaticalization</a:t>
            </a:r>
            <a:r>
              <a:rPr lang="en-US" altLang="zh-HK" sz="1800" dirty="0"/>
              <a:t> (LG) (nominal &gt; clausal)</a:t>
            </a:r>
            <a:endParaRPr lang="zh-HK" alt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9265911" y="405129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HK" sz="5400" dirty="0"/>
              <a:t>MESS</a:t>
            </a:r>
            <a:endParaRPr lang="zh-HK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97396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8" grpId="0"/>
      <p:bldP spid="10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Proposal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49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1) Sort out the diachronic formation of </a:t>
            </a:r>
            <a:r>
              <a:rPr lang="en-US" altLang="zh-HK" i="1" dirty="0" err="1"/>
              <a:t>shi</a:t>
            </a:r>
            <a:r>
              <a:rPr lang="en-US" altLang="zh-HK" i="1" dirty="0"/>
              <a:t>-de </a:t>
            </a:r>
            <a:r>
              <a:rPr lang="en-US" altLang="zh-HK" dirty="0"/>
              <a:t>constructions (</a:t>
            </a:r>
            <a:r>
              <a:rPr lang="en-US" altLang="zh-HK" dirty="0" err="1"/>
              <a:t>VOde</a:t>
            </a:r>
            <a:r>
              <a:rPr lang="en-US" altLang="zh-HK" dirty="0"/>
              <a:t>/</a:t>
            </a:r>
            <a:r>
              <a:rPr lang="en-US" altLang="zh-HK" dirty="0" err="1"/>
              <a:t>VdeO</a:t>
            </a:r>
            <a:r>
              <a:rPr lang="en-US" altLang="zh-HK" dirty="0"/>
              <a:t>)</a:t>
            </a:r>
            <a:r>
              <a:rPr lang="en-US" altLang="zh-TW" dirty="0"/>
              <a:t>- integrated analysis of both </a:t>
            </a:r>
            <a:r>
              <a:rPr lang="en-US" altLang="zh-TW" dirty="0" err="1"/>
              <a:t>VOde</a:t>
            </a:r>
            <a:r>
              <a:rPr lang="en-US" altLang="zh-TW" dirty="0"/>
              <a:t> and </a:t>
            </a:r>
            <a:r>
              <a:rPr lang="en-US" altLang="zh-TW" dirty="0" err="1"/>
              <a:t>VdeO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89152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2) Support </a:t>
            </a:r>
            <a:r>
              <a:rPr lang="en-US" altLang="zh-TW" dirty="0"/>
              <a:t>LG- although S&amp;W’s account no longer holds historically, LG (nominal &gt; clausal) still applies to Chinese </a:t>
            </a:r>
            <a:r>
              <a:rPr lang="en-US" altLang="zh-TW" i="1" dirty="0" err="1"/>
              <a:t>shi</a:t>
            </a:r>
            <a:r>
              <a:rPr lang="en-US" altLang="zh-TW" i="1" dirty="0"/>
              <a:t>-de </a:t>
            </a:r>
            <a:r>
              <a:rPr lang="en-US" altLang="zh-TW" dirty="0"/>
              <a:t>constructions. </a:t>
            </a: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65652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Plan: 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49634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2) Detailed empirical analysis of </a:t>
            </a:r>
            <a:r>
              <a:rPr lang="en-US" altLang="zh-HK" i="1" dirty="0" err="1"/>
              <a:t>shi</a:t>
            </a:r>
            <a:r>
              <a:rPr lang="en-US" altLang="zh-HK" i="1" dirty="0"/>
              <a:t>-de </a:t>
            </a:r>
            <a:r>
              <a:rPr lang="en-US" altLang="zh-HK" dirty="0"/>
              <a:t>constructions (</a:t>
            </a:r>
            <a:r>
              <a:rPr lang="en-US" altLang="zh-HK" dirty="0" err="1"/>
              <a:t>VOde</a:t>
            </a:r>
            <a:r>
              <a:rPr lang="en-US" altLang="zh-HK" dirty="0"/>
              <a:t>/</a:t>
            </a:r>
            <a:r>
              <a:rPr lang="en-US" altLang="zh-HK" dirty="0" err="1"/>
              <a:t>VdeO</a:t>
            </a:r>
            <a:r>
              <a:rPr lang="en-US" altLang="zh-HK" dirty="0"/>
              <a:t>) and formal representations</a:t>
            </a:r>
            <a:endParaRPr lang="zh-HK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430007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3) Philological analysis of the </a:t>
            </a:r>
            <a:r>
              <a:rPr lang="en-US" altLang="zh-HK" dirty="0" err="1"/>
              <a:t>diachrony</a:t>
            </a:r>
            <a:r>
              <a:rPr lang="en-US" altLang="zh-HK" dirty="0"/>
              <a:t> of </a:t>
            </a:r>
            <a:r>
              <a:rPr lang="en-US" altLang="zh-HK" i="1" dirty="0" err="1"/>
              <a:t>shi</a:t>
            </a:r>
            <a:r>
              <a:rPr lang="en-US" altLang="zh-HK" i="1" dirty="0"/>
              <a:t>-de </a:t>
            </a:r>
            <a:r>
              <a:rPr lang="en-US" altLang="zh-HK" dirty="0"/>
              <a:t>constructions (</a:t>
            </a:r>
            <a:r>
              <a:rPr lang="en-US" altLang="zh-TW" dirty="0" err="1"/>
              <a:t>VOde</a:t>
            </a:r>
            <a:r>
              <a:rPr lang="en-US" altLang="zh-TW" dirty="0"/>
              <a:t>/</a:t>
            </a:r>
            <a:r>
              <a:rPr lang="en-US" altLang="zh-TW" dirty="0" err="1"/>
              <a:t>VdeO</a:t>
            </a:r>
            <a:r>
              <a:rPr lang="en-US" altLang="zh-TW" dirty="0"/>
              <a:t>)</a:t>
            </a:r>
            <a:endParaRPr lang="zh-HK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838200" y="3014022"/>
            <a:ext cx="55484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2800" dirty="0"/>
              <a:t>1) Critical assessment of S&amp;W (2002)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33420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S&amp;W (2002) (1)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33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 err="1"/>
              <a:t>VOde</a:t>
            </a:r>
            <a:r>
              <a:rPr lang="en-US" altLang="zh-HK" dirty="0"/>
              <a:t> (DP)/</a:t>
            </a:r>
            <a:r>
              <a:rPr lang="en-US" altLang="zh-HK" dirty="0" err="1"/>
              <a:t>VdeO</a:t>
            </a:r>
            <a:r>
              <a:rPr lang="en-US" altLang="zh-HK" dirty="0"/>
              <a:t> (TP)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42970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 err="1"/>
              <a:t>VOde</a:t>
            </a:r>
            <a:r>
              <a:rPr lang="en-US" altLang="zh-HK" dirty="0"/>
              <a:t>- ‘situation/fact’ </a:t>
            </a:r>
            <a:r>
              <a:rPr lang="en-US" altLang="zh-TW" dirty="0"/>
              <a:t>(Chao (1968), Li and Thompson (1981)):  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8000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Wo	</a:t>
            </a:r>
            <a:r>
              <a:rPr lang="en-US" altLang="zh-HK" dirty="0" err="1"/>
              <a:t>shi</a:t>
            </a:r>
            <a:r>
              <a:rPr lang="en-US" altLang="zh-HK" dirty="0"/>
              <a:t>	</a:t>
            </a:r>
            <a:r>
              <a:rPr lang="en-US" altLang="zh-HK" dirty="0" err="1"/>
              <a:t>zuotian</a:t>
            </a:r>
            <a:r>
              <a:rPr lang="en-US" altLang="zh-HK" dirty="0"/>
              <a:t>	</a:t>
            </a:r>
            <a:r>
              <a:rPr lang="en-US" altLang="zh-HK" dirty="0" err="1"/>
              <a:t>mai</a:t>
            </a:r>
            <a:r>
              <a:rPr lang="en-US" altLang="zh-HK" dirty="0"/>
              <a:t>	</a:t>
            </a:r>
            <a:r>
              <a:rPr lang="en-US" altLang="zh-HK" dirty="0" err="1"/>
              <a:t>piao</a:t>
            </a:r>
            <a:r>
              <a:rPr lang="en-US" altLang="zh-HK" dirty="0"/>
              <a:t>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I	SHI	yesterday	buy	ticket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‘The situation is that I bought the ticket </a:t>
            </a:r>
            <a:r>
              <a:rPr lang="en-US" altLang="zh-TW" dirty="0"/>
              <a:t>YESTERDAY.’ (S&amp;W (2002:180))</a:t>
            </a:r>
            <a:endParaRPr lang="zh-HK" alt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21897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Shi </a:t>
            </a:r>
            <a:r>
              <a:rPr lang="en-US" altLang="zh-HK" dirty="0"/>
              <a:t>+ </a:t>
            </a:r>
            <a:r>
              <a:rPr lang="en-US" altLang="zh-HK" dirty="0" err="1"/>
              <a:t>VOde</a:t>
            </a:r>
            <a:r>
              <a:rPr lang="en-US" altLang="zh-HK" dirty="0"/>
              <a:t> (DP with an empty nominal head denoting ‘situation/fact’ (Kitagawa and Ross (1982), Ross (1983))</a:t>
            </a:r>
            <a:endParaRPr lang="zh-HK" altLang="en-US" i="1" dirty="0"/>
          </a:p>
        </p:txBody>
      </p:sp>
    </p:spTree>
    <p:extLst>
      <p:ext uri="{BB962C8B-B14F-4D97-AF65-F5344CB8AC3E}">
        <p14:creationId xmlns:p14="http://schemas.microsoft.com/office/powerpoint/2010/main" val="333761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S&amp;W (2002</a:t>
            </a:r>
            <a:r>
              <a:rPr lang="en-US" altLang="zh-TW" dirty="0"/>
              <a:t>) (2)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2664"/>
            <a:ext cx="12192000" cy="5855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dirty="0"/>
              <a:t>			TP</a:t>
            </a:r>
          </a:p>
          <a:p>
            <a:pPr marL="0" indent="0">
              <a:buNone/>
            </a:pPr>
            <a:r>
              <a:rPr lang="en-US" altLang="zh-HK" dirty="0"/>
              <a:t>		</a:t>
            </a:r>
            <a:r>
              <a:rPr lang="en-US" altLang="zh-HK" dirty="0" err="1"/>
              <a:t>SpecT</a:t>
            </a:r>
            <a:r>
              <a:rPr lang="en-US" altLang="zh-HK" dirty="0"/>
              <a:t>		T’</a:t>
            </a:r>
          </a:p>
          <a:p>
            <a:pPr marL="0" indent="0">
              <a:buNone/>
            </a:pPr>
            <a:r>
              <a:rPr lang="en-US" altLang="zh-HK" dirty="0"/>
              <a:t>		wo </a:t>
            </a:r>
            <a:r>
              <a:rPr lang="en-US" altLang="zh-HK" sz="1800" dirty="0"/>
              <a:t>k</a:t>
            </a:r>
            <a:r>
              <a:rPr lang="en-US" altLang="zh-HK" dirty="0"/>
              <a:t>	T		VP</a:t>
            </a:r>
          </a:p>
          <a:p>
            <a:pPr marL="0" indent="0">
              <a:buNone/>
            </a:pPr>
            <a:r>
              <a:rPr lang="en-US" altLang="zh-HK" dirty="0"/>
              <a:t>					V’</a:t>
            </a:r>
          </a:p>
          <a:p>
            <a:pPr marL="0" indent="0">
              <a:buNone/>
            </a:pPr>
            <a:r>
              <a:rPr lang="en-US" altLang="zh-HK" dirty="0"/>
              <a:t>				V				DP</a:t>
            </a:r>
          </a:p>
          <a:p>
            <a:pPr marL="0" indent="0">
              <a:buNone/>
            </a:pPr>
            <a:r>
              <a:rPr lang="en-US" altLang="zh-HK" dirty="0"/>
              <a:t>				</a:t>
            </a:r>
            <a:r>
              <a:rPr lang="en-US" altLang="zh-HK" dirty="0" err="1"/>
              <a:t>shi</a:t>
            </a:r>
            <a:r>
              <a:rPr lang="en-US" altLang="zh-HK" dirty="0"/>
              <a:t>		</a:t>
            </a:r>
            <a:r>
              <a:rPr lang="en-US" altLang="zh-HK" dirty="0" err="1"/>
              <a:t>SpecD</a:t>
            </a:r>
            <a:r>
              <a:rPr lang="en-US" altLang="zh-HK" dirty="0"/>
              <a:t>				D’</a:t>
            </a:r>
          </a:p>
          <a:p>
            <a:pPr marL="0" indent="0">
              <a:buNone/>
            </a:pPr>
            <a:r>
              <a:rPr lang="en-US" altLang="zh-HK" dirty="0"/>
              <a:t>						</a:t>
            </a:r>
            <a:r>
              <a:rPr lang="en-US" altLang="zh-HK" dirty="0" err="1"/>
              <a:t>AspP</a:t>
            </a:r>
            <a:r>
              <a:rPr lang="en-US" altLang="zh-HK" dirty="0"/>
              <a:t>/IP </a:t>
            </a:r>
            <a:r>
              <a:rPr lang="en-US" altLang="zh-HK" sz="1800" dirty="0" err="1"/>
              <a:t>i</a:t>
            </a:r>
            <a:r>
              <a:rPr lang="en-US" altLang="zh-HK" dirty="0"/>
              <a:t>		D		NP</a:t>
            </a:r>
          </a:p>
          <a:p>
            <a:pPr marL="0" indent="0">
              <a:buNone/>
            </a:pPr>
            <a:r>
              <a:rPr lang="en-US" altLang="zh-HK" dirty="0"/>
              <a:t>				      					de		N’</a:t>
            </a:r>
          </a:p>
          <a:p>
            <a:pPr marL="0" indent="0">
              <a:buNone/>
            </a:pPr>
            <a:r>
              <a:rPr lang="en-US" altLang="zh-HK" dirty="0"/>
              <a:t>					 pro </a:t>
            </a:r>
            <a:r>
              <a:rPr lang="en-US" altLang="zh-HK" sz="1800" dirty="0"/>
              <a:t>k</a:t>
            </a:r>
            <a:r>
              <a:rPr lang="en-US" altLang="zh-HK" dirty="0"/>
              <a:t> </a:t>
            </a:r>
            <a:r>
              <a:rPr lang="en-US" altLang="zh-HK" dirty="0" err="1"/>
              <a:t>zuotian</a:t>
            </a:r>
            <a:r>
              <a:rPr lang="en-US" altLang="zh-HK" dirty="0"/>
              <a:t> </a:t>
            </a:r>
            <a:r>
              <a:rPr lang="en-US" altLang="zh-HK" dirty="0" err="1"/>
              <a:t>mai</a:t>
            </a:r>
            <a:r>
              <a:rPr lang="en-US" altLang="zh-HK" dirty="0"/>
              <a:t> </a:t>
            </a:r>
            <a:r>
              <a:rPr lang="en-US" altLang="zh-HK" dirty="0" err="1"/>
              <a:t>piao</a:t>
            </a:r>
            <a:r>
              <a:rPr lang="en-US" altLang="zh-HK" dirty="0"/>
              <a:t> 		   N	       </a:t>
            </a:r>
            <a:r>
              <a:rPr lang="en-US" altLang="zh-HK" dirty="0" err="1"/>
              <a:t>AspP</a:t>
            </a:r>
            <a:r>
              <a:rPr lang="en-US" altLang="zh-HK" dirty="0"/>
              <a:t>/IP</a:t>
            </a:r>
          </a:p>
          <a:p>
            <a:pPr marL="0" indent="0">
              <a:buNone/>
            </a:pPr>
            <a:r>
              <a:rPr lang="en-US" altLang="zh-HK" dirty="0"/>
              <a:t>										   ø		t </a:t>
            </a:r>
            <a:r>
              <a:rPr lang="en-US" altLang="zh-HK" sz="1800" dirty="0" err="1"/>
              <a:t>i</a:t>
            </a:r>
            <a:endParaRPr lang="zh-HK" altLang="en-US" dirty="0"/>
          </a:p>
        </p:txBody>
      </p:sp>
      <p:sp>
        <p:nvSpPr>
          <p:cNvPr id="4" name="Isosceles Triangle 3"/>
          <p:cNvSpPr/>
          <p:nvPr/>
        </p:nvSpPr>
        <p:spPr>
          <a:xfrm>
            <a:off x="4734560" y="4480560"/>
            <a:ext cx="2997200" cy="701040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6" name="Connector: Curved 5"/>
          <p:cNvCxnSpPr/>
          <p:nvPr/>
        </p:nvCxnSpPr>
        <p:spPr>
          <a:xfrm rot="10800000">
            <a:off x="6233160" y="5577840"/>
            <a:ext cx="4922520" cy="701040"/>
          </a:xfrm>
          <a:prstGeom prst="curvedConnector3">
            <a:avLst>
              <a:gd name="adj1" fmla="val 9974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418080" y="1325563"/>
            <a:ext cx="589280" cy="2695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17520" y="1325563"/>
            <a:ext cx="792480" cy="2492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007360" y="1859280"/>
            <a:ext cx="83312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10000" y="1838960"/>
            <a:ext cx="92456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805680" y="2387600"/>
            <a:ext cx="0" cy="193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840480" y="2854960"/>
            <a:ext cx="894080" cy="2844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734560" y="2844800"/>
            <a:ext cx="2804160" cy="243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075680" y="3393440"/>
            <a:ext cx="155448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620000" y="3413760"/>
            <a:ext cx="1767840" cy="193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75680" y="3921760"/>
            <a:ext cx="0" cy="254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8422640" y="3911600"/>
            <a:ext cx="965200" cy="213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387840" y="3921760"/>
            <a:ext cx="944880" cy="1727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0271760" y="4378960"/>
            <a:ext cx="0" cy="2844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9591040" y="4917440"/>
            <a:ext cx="741680" cy="264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10332720" y="4917440"/>
            <a:ext cx="822960" cy="264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418080" y="4039809"/>
            <a:ext cx="31453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2000" i="1" dirty="0"/>
              <a:t>Shi </a:t>
            </a:r>
            <a:r>
              <a:rPr lang="en-US" altLang="zh-HK" sz="2000" dirty="0"/>
              <a:t>as matrix verb (</a:t>
            </a:r>
            <a:r>
              <a:rPr lang="en-US" altLang="zh-HK" sz="2000" dirty="0" err="1"/>
              <a:t>biclausal</a:t>
            </a:r>
            <a:r>
              <a:rPr lang="en-US" altLang="zh-HK" sz="2000" dirty="0"/>
              <a:t>)</a:t>
            </a:r>
            <a:endParaRPr lang="zh-HK" altLang="en-US" sz="2000" i="1" dirty="0"/>
          </a:p>
        </p:txBody>
      </p:sp>
      <p:sp>
        <p:nvSpPr>
          <p:cNvPr id="39" name="Rectangle 38"/>
          <p:cNvSpPr/>
          <p:nvPr/>
        </p:nvSpPr>
        <p:spPr>
          <a:xfrm>
            <a:off x="3554825" y="5528250"/>
            <a:ext cx="25017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2000" dirty="0"/>
              <a:t>Subject binding (pro </a:t>
            </a:r>
            <a:r>
              <a:rPr lang="en-US" altLang="zh-HK" sz="1400" dirty="0"/>
              <a:t>k</a:t>
            </a:r>
            <a:r>
              <a:rPr lang="en-US" altLang="zh-HK" sz="2000" dirty="0"/>
              <a:t>)</a:t>
            </a:r>
            <a:endParaRPr lang="zh-HK" altLang="en-US" sz="2000" dirty="0"/>
          </a:p>
        </p:txBody>
      </p:sp>
      <p:cxnSp>
        <p:nvCxnSpPr>
          <p:cNvPr id="44" name="Connector: Curved 43"/>
          <p:cNvCxnSpPr/>
          <p:nvPr/>
        </p:nvCxnSpPr>
        <p:spPr>
          <a:xfrm rot="16200000" flipV="1">
            <a:off x="1813560" y="2824480"/>
            <a:ext cx="3444240" cy="2763520"/>
          </a:xfrm>
          <a:prstGeom prst="curvedConnector3">
            <a:avLst>
              <a:gd name="adj1" fmla="val -16372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302191" y="2181805"/>
            <a:ext cx="37015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i="1" dirty="0"/>
              <a:t>De </a:t>
            </a:r>
            <a:r>
              <a:rPr lang="en-US" altLang="zh-HK" dirty="0"/>
              <a:t>(D) with E</a:t>
            </a:r>
            <a:r>
              <a:rPr lang="en-US" altLang="zh-TW" dirty="0"/>
              <a:t>PP (</a:t>
            </a:r>
            <a:r>
              <a:rPr lang="en-US" altLang="zh-TW" dirty="0" err="1"/>
              <a:t>cf</a:t>
            </a:r>
            <a:r>
              <a:rPr lang="en-US" altLang="zh-TW" dirty="0"/>
              <a:t> Paul (2012, 2015))</a:t>
            </a:r>
            <a:endParaRPr lang="zh-HK" altLang="en-US" i="1" dirty="0"/>
          </a:p>
        </p:txBody>
      </p:sp>
      <p:sp>
        <p:nvSpPr>
          <p:cNvPr id="47" name="Rectangle 46"/>
          <p:cNvSpPr/>
          <p:nvPr/>
        </p:nvSpPr>
        <p:spPr>
          <a:xfrm>
            <a:off x="8498980" y="6373964"/>
            <a:ext cx="3667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/>
              <a:t>Relative clause </a:t>
            </a:r>
            <a:r>
              <a:rPr lang="en-US" altLang="zh-TW" dirty="0"/>
              <a:t>(DP) (</a:t>
            </a:r>
            <a:r>
              <a:rPr lang="en-US" altLang="zh-TW" dirty="0" err="1"/>
              <a:t>cf</a:t>
            </a:r>
            <a:r>
              <a:rPr lang="en-US" altLang="zh-TW" dirty="0"/>
              <a:t> Kayne (1994))</a:t>
            </a:r>
            <a:endParaRPr lang="zh-HK" altLang="en-US" dirty="0"/>
          </a:p>
        </p:txBody>
      </p:sp>
      <p:sp>
        <p:nvSpPr>
          <p:cNvPr id="48" name="Rectangle 47"/>
          <p:cNvSpPr/>
          <p:nvPr/>
        </p:nvSpPr>
        <p:spPr>
          <a:xfrm>
            <a:off x="7039280" y="5836835"/>
            <a:ext cx="3780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/>
              <a:t>Empty head noun ‘the (situation/fact)’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633976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6" grpId="0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S&amp;W (2002) (3)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3120" y="97817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 err="1"/>
              <a:t>VdeO</a:t>
            </a:r>
            <a:r>
              <a:rPr lang="en-US" altLang="zh-HK" dirty="0"/>
              <a:t> (TP)- only past tense: </a:t>
            </a:r>
            <a:endParaRPr lang="zh-HK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828040" y="1465490"/>
            <a:ext cx="6527108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2800" dirty="0"/>
              <a:t>Wo	</a:t>
            </a:r>
            <a:r>
              <a:rPr lang="en-US" altLang="zh-HK" sz="2800" dirty="0" err="1"/>
              <a:t>shi</a:t>
            </a:r>
            <a:r>
              <a:rPr lang="en-US" altLang="zh-HK" sz="2800" dirty="0"/>
              <a:t>	</a:t>
            </a:r>
            <a:r>
              <a:rPr lang="en-US" altLang="zh-HK" sz="2800" b="1" dirty="0" err="1"/>
              <a:t>zuotian</a:t>
            </a:r>
            <a:r>
              <a:rPr lang="en-US" altLang="zh-HK" sz="2800" dirty="0"/>
              <a:t>	</a:t>
            </a:r>
            <a:r>
              <a:rPr lang="en-US" altLang="zh-HK" sz="2800" dirty="0" err="1"/>
              <a:t>mai</a:t>
            </a:r>
            <a:r>
              <a:rPr lang="en-US" altLang="zh-HK" sz="2800" dirty="0"/>
              <a:t>	de	</a:t>
            </a:r>
            <a:r>
              <a:rPr lang="en-US" altLang="zh-HK" sz="2800" dirty="0" err="1"/>
              <a:t>piao</a:t>
            </a:r>
            <a:endParaRPr lang="en-US" altLang="zh-HK" sz="2800" dirty="0"/>
          </a:p>
          <a:p>
            <a:r>
              <a:rPr lang="en-US" altLang="zh-HK" sz="2800" dirty="0"/>
              <a:t>I	SHI	yesterday	buy	de	ticket</a:t>
            </a:r>
          </a:p>
          <a:p>
            <a:r>
              <a:rPr lang="en-US" altLang="zh-HK" sz="2800" dirty="0"/>
              <a:t>‘It was </a:t>
            </a:r>
            <a:r>
              <a:rPr lang="en-US" altLang="zh-HK" sz="2800" b="1" dirty="0"/>
              <a:t>yesterday</a:t>
            </a:r>
            <a:r>
              <a:rPr lang="en-US" altLang="zh-HK" sz="2800" dirty="0"/>
              <a:t> that I bought the ticket.’ </a:t>
            </a:r>
            <a:endParaRPr lang="zh-HK" altLang="en-US" sz="2800" dirty="0"/>
          </a:p>
        </p:txBody>
      </p:sp>
      <p:sp>
        <p:nvSpPr>
          <p:cNvPr id="5" name="Rectangle 4"/>
          <p:cNvSpPr/>
          <p:nvPr/>
        </p:nvSpPr>
        <p:spPr>
          <a:xfrm>
            <a:off x="838200" y="2850485"/>
            <a:ext cx="11385233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2800" dirty="0"/>
              <a:t>*ta		</a:t>
            </a:r>
            <a:r>
              <a:rPr lang="en-US" altLang="zh-HK" sz="2800" dirty="0" err="1"/>
              <a:t>shi</a:t>
            </a:r>
            <a:r>
              <a:rPr lang="en-US" altLang="zh-HK" sz="2800" dirty="0"/>
              <a:t>	</a:t>
            </a:r>
            <a:r>
              <a:rPr lang="en-US" altLang="zh-HK" sz="2800" b="1" dirty="0" err="1"/>
              <a:t>mingtian</a:t>
            </a:r>
            <a:r>
              <a:rPr lang="en-US" altLang="zh-HK" sz="2800" dirty="0"/>
              <a:t>	</a:t>
            </a:r>
            <a:r>
              <a:rPr lang="en-US" altLang="zh-HK" sz="2800" dirty="0" err="1"/>
              <a:t>cai</a:t>
            </a:r>
            <a:r>
              <a:rPr lang="en-US" altLang="zh-HK" sz="2800" dirty="0"/>
              <a:t>		hui		</a:t>
            </a:r>
            <a:r>
              <a:rPr lang="en-US" altLang="zh-HK" sz="2800" dirty="0" err="1"/>
              <a:t>qu</a:t>
            </a:r>
            <a:r>
              <a:rPr lang="en-US" altLang="zh-HK" sz="2800" dirty="0"/>
              <a:t>	de	Beijing</a:t>
            </a:r>
          </a:p>
          <a:p>
            <a:r>
              <a:rPr lang="en-US" altLang="zh-HK" sz="2800" dirty="0"/>
              <a:t>He/she	SHI	tomorrow	</a:t>
            </a:r>
            <a:r>
              <a:rPr lang="en-US" altLang="zh-HK" sz="2800" dirty="0" err="1"/>
              <a:t>only.then</a:t>
            </a:r>
            <a:r>
              <a:rPr lang="en-US" altLang="zh-HK" sz="2800" dirty="0"/>
              <a:t>	FUT.AUX	go	de	Beijing</a:t>
            </a:r>
          </a:p>
          <a:p>
            <a:r>
              <a:rPr lang="en-US" altLang="zh-HK" sz="2800" dirty="0"/>
              <a:t>‘It is tomorrow that I will go to Beijing.’ (S&amp;W (2002:177))</a:t>
            </a:r>
            <a:endParaRPr lang="zh-HK" alt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838200" y="4375407"/>
            <a:ext cx="34239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2800" i="1" dirty="0"/>
              <a:t>De </a:t>
            </a:r>
            <a:r>
              <a:rPr lang="en-US" altLang="zh-HK" sz="2800" dirty="0"/>
              <a:t>in </a:t>
            </a:r>
            <a:r>
              <a:rPr lang="en-US" altLang="zh-HK" sz="2800" dirty="0" err="1"/>
              <a:t>VdeO</a:t>
            </a:r>
            <a:r>
              <a:rPr lang="en-US" altLang="zh-HK" sz="2800" dirty="0"/>
              <a:t>- T(past)</a:t>
            </a:r>
            <a:endParaRPr lang="zh-HK" altLang="en-US" sz="2800" i="1" dirty="0"/>
          </a:p>
        </p:txBody>
      </p:sp>
      <p:sp>
        <p:nvSpPr>
          <p:cNvPr id="9" name="Rectangle 8"/>
          <p:cNvSpPr/>
          <p:nvPr/>
        </p:nvSpPr>
        <p:spPr>
          <a:xfrm>
            <a:off x="3815081" y="4375408"/>
            <a:ext cx="83769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2800" dirty="0"/>
              <a:t>&lt; </a:t>
            </a:r>
            <a:r>
              <a:rPr lang="en-US" altLang="zh-HK" sz="2800" i="1" dirty="0"/>
              <a:t>de </a:t>
            </a:r>
            <a:r>
              <a:rPr lang="en-US" altLang="zh-HK" sz="2800" dirty="0"/>
              <a:t>in </a:t>
            </a:r>
            <a:r>
              <a:rPr lang="en-US" altLang="zh-HK" sz="2800" dirty="0" err="1"/>
              <a:t>V</a:t>
            </a:r>
            <a:r>
              <a:rPr lang="en-US" altLang="zh-TW" sz="2800" dirty="0" err="1"/>
              <a:t>Ode</a:t>
            </a:r>
            <a:r>
              <a:rPr lang="en-US" altLang="zh-TW" sz="2800" dirty="0"/>
              <a:t> (D) (D &gt; T(past) since there is strong past-time </a:t>
            </a:r>
            <a:r>
              <a:rPr lang="en-US" altLang="zh-TW" sz="2800" dirty="0" err="1"/>
              <a:t>implicature</a:t>
            </a:r>
            <a:r>
              <a:rPr lang="en-US" altLang="zh-TW" sz="2800" dirty="0"/>
              <a:t> in </a:t>
            </a:r>
            <a:r>
              <a:rPr lang="en-US" altLang="zh-TW" sz="2800" dirty="0" err="1"/>
              <a:t>Vode</a:t>
            </a:r>
            <a:r>
              <a:rPr lang="en-US" altLang="zh-TW" sz="2800" dirty="0"/>
              <a:t> (S&amp;W (2002:175-177))</a:t>
            </a:r>
            <a:endParaRPr lang="zh-HK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691286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S&amp;W (2002</a:t>
            </a:r>
            <a:r>
              <a:rPr lang="en-US" altLang="zh-TW" dirty="0"/>
              <a:t>) (4)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2664"/>
            <a:ext cx="12192000" cy="5855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dirty="0"/>
              <a:t>			TP</a:t>
            </a:r>
          </a:p>
          <a:p>
            <a:pPr marL="0" indent="0">
              <a:buNone/>
            </a:pPr>
            <a:r>
              <a:rPr lang="en-US" altLang="zh-HK" dirty="0"/>
              <a:t>		</a:t>
            </a:r>
            <a:r>
              <a:rPr lang="en-US" altLang="zh-HK" dirty="0" err="1"/>
              <a:t>SpecT</a:t>
            </a:r>
            <a:r>
              <a:rPr lang="en-US" altLang="zh-HK" dirty="0"/>
              <a:t>		T’</a:t>
            </a:r>
          </a:p>
          <a:p>
            <a:pPr marL="0" indent="0">
              <a:buNone/>
            </a:pPr>
            <a:r>
              <a:rPr lang="en-US" altLang="zh-HK" dirty="0"/>
              <a:t>		wo </a:t>
            </a:r>
            <a:r>
              <a:rPr lang="en-US" altLang="zh-HK" sz="1800" dirty="0"/>
              <a:t>k</a:t>
            </a:r>
            <a:r>
              <a:rPr lang="en-US" altLang="zh-HK" dirty="0"/>
              <a:t>	T		VP</a:t>
            </a:r>
          </a:p>
          <a:p>
            <a:pPr marL="0" indent="0">
              <a:buNone/>
            </a:pPr>
            <a:r>
              <a:rPr lang="en-US" altLang="zh-HK" dirty="0"/>
              <a:t>					V’</a:t>
            </a:r>
          </a:p>
          <a:p>
            <a:pPr marL="0" indent="0">
              <a:buNone/>
            </a:pPr>
            <a:r>
              <a:rPr lang="en-US" altLang="zh-HK" dirty="0"/>
              <a:t>				V				TP			</a:t>
            </a:r>
          </a:p>
          <a:p>
            <a:pPr marL="0" indent="0">
              <a:buNone/>
            </a:pPr>
            <a:r>
              <a:rPr lang="en-US" altLang="zh-HK" dirty="0"/>
              <a:t>				</a:t>
            </a:r>
            <a:r>
              <a:rPr lang="en-US" altLang="zh-HK" dirty="0" err="1"/>
              <a:t>shi</a:t>
            </a:r>
            <a:r>
              <a:rPr lang="en-US" altLang="zh-HK" dirty="0"/>
              <a:t>		</a:t>
            </a:r>
            <a:r>
              <a:rPr lang="en-US" altLang="zh-HK" dirty="0" err="1"/>
              <a:t>SpecT</a:t>
            </a:r>
            <a:r>
              <a:rPr lang="en-US" altLang="zh-HK" dirty="0"/>
              <a:t>				T’</a:t>
            </a:r>
          </a:p>
          <a:p>
            <a:pPr marL="0" indent="0">
              <a:buNone/>
            </a:pPr>
            <a:r>
              <a:rPr lang="en-US" altLang="zh-HK" dirty="0"/>
              <a:t>						</a:t>
            </a:r>
            <a:r>
              <a:rPr lang="en-US" altLang="zh-HK" dirty="0" err="1"/>
              <a:t>AspP</a:t>
            </a:r>
            <a:r>
              <a:rPr lang="en-US" altLang="zh-HK" dirty="0"/>
              <a:t>/IP </a:t>
            </a:r>
            <a:r>
              <a:rPr lang="en-US" altLang="zh-HK" sz="1800" dirty="0" err="1"/>
              <a:t>i</a:t>
            </a:r>
            <a:r>
              <a:rPr lang="en-US" altLang="zh-HK" dirty="0"/>
              <a:t>		T(past</a:t>
            </a:r>
            <a:r>
              <a:rPr lang="en-US" altLang="zh-TW" dirty="0"/>
              <a:t>)</a:t>
            </a:r>
            <a:r>
              <a:rPr lang="en-US" altLang="zh-HK" dirty="0"/>
              <a:t>	</a:t>
            </a:r>
            <a:r>
              <a:rPr lang="en-US" altLang="zh-TW" dirty="0"/>
              <a:t>Asp/IP</a:t>
            </a:r>
            <a:endParaRPr lang="en-US" altLang="zh-HK" dirty="0"/>
          </a:p>
          <a:p>
            <a:pPr marL="0" indent="0">
              <a:buNone/>
            </a:pPr>
            <a:r>
              <a:rPr lang="en-US" altLang="zh-HK" dirty="0"/>
              <a:t>				      					  t </a:t>
            </a:r>
            <a:r>
              <a:rPr lang="en-US" altLang="zh-HK" sz="1800" dirty="0"/>
              <a:t>j</a:t>
            </a:r>
            <a:r>
              <a:rPr lang="en-US" altLang="zh-HK" dirty="0"/>
              <a:t>		</a:t>
            </a:r>
          </a:p>
          <a:p>
            <a:pPr marL="0" indent="0">
              <a:buNone/>
            </a:pPr>
            <a:r>
              <a:rPr lang="en-US" altLang="zh-HK" dirty="0"/>
              <a:t>				       pro </a:t>
            </a:r>
            <a:r>
              <a:rPr lang="en-US" altLang="zh-HK" sz="1800" dirty="0"/>
              <a:t>k</a:t>
            </a:r>
            <a:r>
              <a:rPr lang="en-US" altLang="zh-HK" dirty="0"/>
              <a:t> </a:t>
            </a:r>
            <a:r>
              <a:rPr lang="en-US" altLang="zh-HK" dirty="0" err="1"/>
              <a:t>zuotian</a:t>
            </a:r>
            <a:r>
              <a:rPr lang="en-US" altLang="zh-HK" dirty="0"/>
              <a:t> </a:t>
            </a:r>
            <a:r>
              <a:rPr lang="en-US" altLang="zh-HK" dirty="0" err="1"/>
              <a:t>mai</a:t>
            </a:r>
            <a:r>
              <a:rPr lang="en-US" altLang="zh-HK" dirty="0"/>
              <a:t> de </a:t>
            </a:r>
            <a:r>
              <a:rPr lang="en-US" altLang="zh-HK" sz="1800" dirty="0"/>
              <a:t>j</a:t>
            </a:r>
            <a:r>
              <a:rPr lang="en-US" altLang="zh-HK" dirty="0"/>
              <a:t> </a:t>
            </a:r>
            <a:r>
              <a:rPr lang="en-US" altLang="zh-HK" dirty="0" err="1"/>
              <a:t>piao</a:t>
            </a:r>
            <a:r>
              <a:rPr lang="en-US" altLang="zh-HK" dirty="0"/>
              <a:t> 		</a:t>
            </a:r>
          </a:p>
          <a:p>
            <a:pPr marL="0" indent="0">
              <a:buNone/>
            </a:pPr>
            <a:r>
              <a:rPr lang="en-US" altLang="zh-HK" dirty="0"/>
              <a:t>										   	t </a:t>
            </a:r>
            <a:r>
              <a:rPr lang="en-US" altLang="zh-HK" sz="1800" dirty="0" err="1"/>
              <a:t>i</a:t>
            </a:r>
            <a:r>
              <a:rPr lang="en-US" altLang="zh-HK" dirty="0"/>
              <a:t>	</a:t>
            </a:r>
            <a:endParaRPr lang="zh-HK" altLang="en-US" dirty="0"/>
          </a:p>
        </p:txBody>
      </p:sp>
      <p:sp>
        <p:nvSpPr>
          <p:cNvPr id="4" name="Isosceles Triangle 3"/>
          <p:cNvSpPr/>
          <p:nvPr/>
        </p:nvSpPr>
        <p:spPr>
          <a:xfrm>
            <a:off x="4734560" y="4480560"/>
            <a:ext cx="2997200" cy="701040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6" name="Connector: Curved 5"/>
          <p:cNvCxnSpPr/>
          <p:nvPr/>
        </p:nvCxnSpPr>
        <p:spPr>
          <a:xfrm rot="10800000">
            <a:off x="6233160" y="5577840"/>
            <a:ext cx="4099560" cy="467360"/>
          </a:xfrm>
          <a:prstGeom prst="curvedConnector3">
            <a:avLst>
              <a:gd name="adj1" fmla="val 1008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418080" y="1325563"/>
            <a:ext cx="589280" cy="2695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017520" y="1325563"/>
            <a:ext cx="792480" cy="2492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007360" y="1859280"/>
            <a:ext cx="833120" cy="2032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810000" y="1838960"/>
            <a:ext cx="92456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805680" y="2387600"/>
            <a:ext cx="0" cy="193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3840480" y="2854960"/>
            <a:ext cx="894080" cy="2844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734560" y="2844800"/>
            <a:ext cx="2804160" cy="243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075680" y="3393440"/>
            <a:ext cx="155448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620000" y="3413760"/>
            <a:ext cx="1767840" cy="1930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75680" y="3921760"/>
            <a:ext cx="0" cy="254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8422640" y="3911600"/>
            <a:ext cx="965200" cy="213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9387840" y="3921760"/>
            <a:ext cx="944880" cy="1727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503920" y="4955648"/>
            <a:ext cx="34239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i="1" dirty="0"/>
              <a:t>De </a:t>
            </a:r>
            <a:r>
              <a:rPr lang="en-US" altLang="zh-HK" sz="1200" dirty="0"/>
              <a:t>j </a:t>
            </a:r>
            <a:r>
              <a:rPr lang="en-US" altLang="zh-HK" dirty="0"/>
              <a:t>(</a:t>
            </a:r>
            <a:r>
              <a:rPr lang="en-US" altLang="zh-HK" dirty="0" err="1"/>
              <a:t>encliticization</a:t>
            </a:r>
            <a:r>
              <a:rPr lang="en-US" altLang="zh-HK" dirty="0"/>
              <a:t>- as a tense marker, </a:t>
            </a:r>
            <a:r>
              <a:rPr lang="en-US" altLang="zh-HK" i="1" dirty="0"/>
              <a:t>de </a:t>
            </a:r>
            <a:r>
              <a:rPr lang="en-US" altLang="zh-HK" dirty="0"/>
              <a:t>attaches to a verb (here </a:t>
            </a:r>
            <a:r>
              <a:rPr lang="en-US" altLang="zh-HK" i="1" dirty="0" err="1"/>
              <a:t>mai</a:t>
            </a:r>
            <a:r>
              <a:rPr lang="en-US" altLang="zh-HK" dirty="0"/>
              <a:t>) </a:t>
            </a:r>
            <a:endParaRPr lang="zh-HK" altLang="en-US" i="1" dirty="0"/>
          </a:p>
        </p:txBody>
      </p:sp>
    </p:spTree>
    <p:extLst>
      <p:ext uri="{BB962C8B-B14F-4D97-AF65-F5344CB8AC3E}">
        <p14:creationId xmlns:p14="http://schemas.microsoft.com/office/powerpoint/2010/main" val="152559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S&amp;W </a:t>
            </a:r>
            <a:r>
              <a:rPr lang="en-US" altLang="zh-TW" dirty="0"/>
              <a:t>(2002) (5)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882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600" dirty="0"/>
              <a:t>Problems: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376246" y="1374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Subject	SHI	      clause	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	(cleft-focus + cleft-presupposition)</a:t>
            </a:r>
            <a:endParaRPr lang="zh-HK" altLang="en-US" sz="1600" dirty="0"/>
          </a:p>
        </p:txBody>
      </p:sp>
      <p:sp>
        <p:nvSpPr>
          <p:cNvPr id="5" name="Isosceles Triangle 4"/>
          <p:cNvSpPr/>
          <p:nvPr/>
        </p:nvSpPr>
        <p:spPr>
          <a:xfrm>
            <a:off x="4440115" y="1643897"/>
            <a:ext cx="2971800" cy="101820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20124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2) </a:t>
            </a:r>
            <a:r>
              <a:rPr lang="en-US" altLang="zh-HK" sz="1600" dirty="0" err="1"/>
              <a:t>VOde</a:t>
            </a:r>
            <a:r>
              <a:rPr lang="en-US" altLang="zh-HK" sz="1600" dirty="0"/>
              <a:t>- D</a:t>
            </a:r>
            <a:r>
              <a:rPr lang="en-US" altLang="zh-TW" sz="1600" dirty="0"/>
              <a:t>P analysis too abstract, since sentence-final </a:t>
            </a:r>
            <a:r>
              <a:rPr lang="en-US" altLang="zh-TW" sz="1600" i="1" dirty="0"/>
              <a:t>de </a:t>
            </a:r>
            <a:r>
              <a:rPr lang="en-US" altLang="zh-TW" sz="1600" dirty="0"/>
              <a:t>can never select a noun meaning ‘situation/fact’: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zhangsan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qunian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sha</a:t>
            </a:r>
            <a:r>
              <a:rPr lang="en-US" altLang="zh-HK" sz="1600" dirty="0"/>
              <a:t>	</a:t>
            </a:r>
            <a:r>
              <a:rPr lang="en-US" altLang="zh-HK" sz="1600" dirty="0" err="1"/>
              <a:t>niu</a:t>
            </a:r>
            <a:r>
              <a:rPr lang="en-US" altLang="zh-HK" sz="1600" dirty="0"/>
              <a:t>	de 	</a:t>
            </a:r>
            <a:r>
              <a:rPr lang="zh-TW" altLang="en-US" sz="1600" dirty="0"/>
              <a:t>*</a:t>
            </a:r>
            <a:r>
              <a:rPr lang="en-US" altLang="zh-TW" sz="1600" dirty="0"/>
              <a:t>(</a:t>
            </a:r>
            <a:r>
              <a:rPr lang="en-US" altLang="zh-TW" sz="1600" dirty="0" err="1"/>
              <a:t>qingxing</a:t>
            </a:r>
            <a:r>
              <a:rPr lang="en-US" altLang="zh-TW" sz="1600" dirty="0"/>
              <a:t>/</a:t>
            </a:r>
            <a:r>
              <a:rPr lang="en-US" altLang="zh-TW" sz="1600" dirty="0" err="1"/>
              <a:t>shishi</a:t>
            </a:r>
            <a:r>
              <a:rPr lang="en-US" altLang="zh-TW" sz="16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Zhangsan</a:t>
            </a:r>
            <a:r>
              <a:rPr lang="en-US" altLang="zh-HK" sz="1600" dirty="0"/>
              <a:t>	SHI	</a:t>
            </a:r>
            <a:r>
              <a:rPr lang="en-US" altLang="zh-HK" sz="1600" dirty="0" err="1"/>
              <a:t>last.year</a:t>
            </a:r>
            <a:r>
              <a:rPr lang="en-US" altLang="zh-HK" sz="1600" dirty="0"/>
              <a:t>	kill	cow	DE	(situation/fact)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‘It was last year that 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 killed cows.’ (</a:t>
            </a:r>
            <a:r>
              <a:rPr lang="en-US" altLang="zh-HK" sz="1600" dirty="0" err="1"/>
              <a:t>Shyu</a:t>
            </a:r>
            <a:r>
              <a:rPr lang="en-US" altLang="zh-HK" sz="1600" dirty="0"/>
              <a:t> (2016:#2)) (cleft)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7427" y="1099386"/>
            <a:ext cx="105771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1600" dirty="0"/>
              <a:t>1) S&amp;W (2002) does not account for the focal effects, namely the fact that cleft focus is assigned to the element immediately after </a:t>
            </a:r>
            <a:r>
              <a:rPr lang="en-US" altLang="zh-HK" sz="1600" i="1" dirty="0" err="1"/>
              <a:t>shi</a:t>
            </a:r>
            <a:endParaRPr lang="zh-HK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838200" y="3274181"/>
            <a:ext cx="1045405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1600" dirty="0" err="1"/>
              <a:t>Zhangsan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qunian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sha</a:t>
            </a:r>
            <a:r>
              <a:rPr lang="en-US" altLang="zh-HK" sz="1600" dirty="0"/>
              <a:t>	</a:t>
            </a:r>
            <a:r>
              <a:rPr lang="en-US" altLang="zh-HK" sz="1600" dirty="0" err="1"/>
              <a:t>niu</a:t>
            </a:r>
            <a:r>
              <a:rPr lang="en-US" altLang="zh-HK" sz="1600" dirty="0"/>
              <a:t>	de	(</a:t>
            </a:r>
            <a:r>
              <a:rPr lang="en-US" altLang="zh-HK" sz="1600" dirty="0" err="1"/>
              <a:t>ren</a:t>
            </a:r>
            <a:r>
              <a:rPr lang="en-US" altLang="zh-HK" sz="1600" dirty="0"/>
              <a:t>)</a:t>
            </a:r>
          </a:p>
          <a:p>
            <a:r>
              <a:rPr lang="en-US" altLang="zh-HK" sz="1600" dirty="0" err="1"/>
              <a:t>Zhangsan</a:t>
            </a:r>
            <a:r>
              <a:rPr lang="en-US" altLang="zh-HK" sz="1600" dirty="0"/>
              <a:t>	SHI	</a:t>
            </a:r>
            <a:r>
              <a:rPr lang="en-US" altLang="zh-HK" sz="1600" dirty="0" err="1"/>
              <a:t>last.year</a:t>
            </a:r>
            <a:r>
              <a:rPr lang="en-US" altLang="zh-HK" sz="1600" dirty="0"/>
              <a:t>	kill	cow	DE	person</a:t>
            </a:r>
          </a:p>
          <a:p>
            <a:r>
              <a:rPr lang="en-US" altLang="zh-HK" sz="1600" dirty="0"/>
              <a:t>‘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 is the one who killed cows last year.’ (</a:t>
            </a:r>
            <a:r>
              <a:rPr lang="en-US" altLang="zh-HK" sz="1600" dirty="0" err="1"/>
              <a:t>Shyu</a:t>
            </a:r>
            <a:r>
              <a:rPr lang="en-US" altLang="zh-HK" sz="1600" dirty="0"/>
              <a:t> (2016:#2)) (relative clause)</a:t>
            </a:r>
            <a:endParaRPr lang="zh-HK" alt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807427" y="4070971"/>
            <a:ext cx="10515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1600" dirty="0"/>
              <a:t>3) S&amp;W (2002) argue that </a:t>
            </a:r>
            <a:r>
              <a:rPr lang="en-US" altLang="zh-HK" sz="1600" dirty="0" err="1"/>
              <a:t>VOde</a:t>
            </a:r>
            <a:r>
              <a:rPr lang="en-US" altLang="zh-HK" sz="1600" dirty="0"/>
              <a:t> (DP) has island effects whereas </a:t>
            </a:r>
            <a:r>
              <a:rPr lang="en-US" altLang="zh-HK" sz="1600" dirty="0" err="1"/>
              <a:t>VdeO</a:t>
            </a:r>
            <a:r>
              <a:rPr lang="en-US" altLang="zh-HK" sz="1600" dirty="0"/>
              <a:t> (TP) does not</a:t>
            </a:r>
            <a:r>
              <a:rPr lang="en-US" altLang="zh-TW" sz="1600" dirty="0"/>
              <a:t>: </a:t>
            </a:r>
          </a:p>
          <a:p>
            <a:r>
              <a:rPr lang="en-US" altLang="zh-HK" sz="1600" dirty="0"/>
              <a:t> *</a:t>
            </a:r>
            <a:r>
              <a:rPr lang="en-US" altLang="zh-HK" sz="1600" dirty="0" err="1"/>
              <a:t>ni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weishenme</a:t>
            </a:r>
            <a:r>
              <a:rPr lang="en-US" altLang="zh-HK" sz="1600" dirty="0"/>
              <a:t>/</a:t>
            </a:r>
            <a:r>
              <a:rPr lang="en-US" altLang="zh-HK" sz="1600" dirty="0" err="1"/>
              <a:t>zenme</a:t>
            </a:r>
            <a:r>
              <a:rPr lang="en-US" altLang="zh-HK" sz="1600" dirty="0"/>
              <a:t>	</a:t>
            </a:r>
            <a:r>
              <a:rPr lang="en-US" altLang="zh-HK" sz="1600" dirty="0" err="1"/>
              <a:t>cai</a:t>
            </a:r>
            <a:r>
              <a:rPr lang="en-US" altLang="zh-HK" sz="1600" dirty="0"/>
              <a:t>	hui	</a:t>
            </a:r>
            <a:r>
              <a:rPr lang="en-US" altLang="zh-HK" sz="1600" dirty="0" err="1"/>
              <a:t>qu</a:t>
            </a:r>
            <a:r>
              <a:rPr lang="en-US" altLang="zh-HK" sz="1600" dirty="0"/>
              <a:t>	Beijing 	de? </a:t>
            </a:r>
          </a:p>
          <a:p>
            <a:r>
              <a:rPr lang="en-US" altLang="zh-HK" sz="1600" dirty="0"/>
              <a:t>You	SHI	why/how		</a:t>
            </a:r>
            <a:r>
              <a:rPr lang="en-US" altLang="zh-HK" sz="1600" dirty="0" err="1"/>
              <a:t>only.then</a:t>
            </a:r>
            <a:r>
              <a:rPr lang="en-US" altLang="zh-HK" sz="1600" dirty="0"/>
              <a:t>	FUT.AUX	go	Beijing	DE</a:t>
            </a:r>
          </a:p>
          <a:p>
            <a:r>
              <a:rPr lang="en-US" altLang="zh-HK" sz="1600" dirty="0"/>
              <a:t>‘Why/how is it that you will go to Beijing?’ (S&amp;W (2002:183))</a:t>
            </a:r>
          </a:p>
          <a:p>
            <a:r>
              <a:rPr lang="en-US" altLang="zh-HK" sz="1600" dirty="0"/>
              <a:t>*Wo	</a:t>
            </a:r>
            <a:r>
              <a:rPr lang="en-US" altLang="zh-HK" sz="1600" dirty="0" err="1"/>
              <a:t>meitian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dou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hui	</a:t>
            </a:r>
            <a:r>
              <a:rPr lang="en-US" altLang="zh-HK" sz="1600" dirty="0" err="1"/>
              <a:t>qu</a:t>
            </a:r>
            <a:r>
              <a:rPr lang="en-US" altLang="zh-HK" sz="1600" dirty="0"/>
              <a:t>	Beijing	de</a:t>
            </a:r>
          </a:p>
          <a:p>
            <a:r>
              <a:rPr lang="en-US" altLang="zh-HK" sz="1600" dirty="0"/>
              <a:t>I	everyday	DOU	SHI	FUT.AUX	go	Beijing	DE</a:t>
            </a:r>
          </a:p>
          <a:p>
            <a:r>
              <a:rPr lang="en-US" altLang="zh-HK" sz="1600" dirty="0"/>
              <a:t>‘It is the case that I go to Beijing everyday.’ </a:t>
            </a:r>
          </a:p>
          <a:p>
            <a:r>
              <a:rPr lang="en-US" altLang="zh-HK" sz="1600" dirty="0"/>
              <a:t>*</a:t>
            </a:r>
            <a:r>
              <a:rPr lang="en-US" altLang="zh-HK" sz="1600" dirty="0" err="1"/>
              <a:t>Mingtian</a:t>
            </a:r>
            <a:r>
              <a:rPr lang="en-US" altLang="zh-HK" sz="1600" dirty="0"/>
              <a:t>	ta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hui	</a:t>
            </a:r>
            <a:r>
              <a:rPr lang="en-US" altLang="zh-HK" sz="1600" dirty="0" err="1"/>
              <a:t>qu</a:t>
            </a:r>
            <a:r>
              <a:rPr lang="en-US" altLang="zh-HK" sz="1600" dirty="0"/>
              <a:t>	Beijing	de</a:t>
            </a:r>
          </a:p>
          <a:p>
            <a:r>
              <a:rPr lang="en-US" altLang="zh-HK" sz="1600" dirty="0"/>
              <a:t>Tomorrow	he/she	SHI	FUT.AUX	go	Beijing	de</a:t>
            </a:r>
          </a:p>
          <a:p>
            <a:r>
              <a:rPr lang="en-US" altLang="zh-HK" sz="1600" dirty="0"/>
              <a:t>‘It is the case that he will go to Beijing tomorrow.’ (S&amp;W (2002:1</a:t>
            </a:r>
            <a:r>
              <a:rPr lang="en-US" altLang="zh-TW" sz="1600" dirty="0"/>
              <a:t>83))</a:t>
            </a:r>
            <a:endParaRPr lang="zh-HK" alt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6746240" y="5564443"/>
            <a:ext cx="536448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sz="1600" dirty="0" err="1"/>
              <a:t>Zhe</a:t>
            </a:r>
            <a:r>
              <a:rPr lang="en-US" altLang="zh-HK" sz="1600" dirty="0"/>
              <a:t>	</a:t>
            </a:r>
            <a:r>
              <a:rPr lang="en-US" altLang="zh-HK" sz="1600" dirty="0" err="1"/>
              <a:t>ge</a:t>
            </a:r>
            <a:r>
              <a:rPr lang="en-US" altLang="zh-HK" sz="1600" dirty="0"/>
              <a:t>	</a:t>
            </a:r>
            <a:r>
              <a:rPr lang="en-US" altLang="zh-HK" sz="1600" dirty="0" err="1"/>
              <a:t>dongxi</a:t>
            </a:r>
            <a:r>
              <a:rPr lang="en-US" altLang="zh-HK" sz="1600" dirty="0"/>
              <a:t>	ta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 </a:t>
            </a:r>
            <a:r>
              <a:rPr lang="en-US" altLang="zh-HK" sz="1600" dirty="0" err="1"/>
              <a:t>yinggai</a:t>
            </a:r>
            <a:r>
              <a:rPr lang="en-US" altLang="zh-HK" sz="1600" dirty="0"/>
              <a:t>	</a:t>
            </a:r>
          </a:p>
          <a:p>
            <a:r>
              <a:rPr lang="en-US" altLang="zh-HK" sz="1600" dirty="0"/>
              <a:t>This	CL	thing	he/she	SHI	</a:t>
            </a:r>
          </a:p>
          <a:p>
            <a:r>
              <a:rPr lang="en-US" altLang="zh-HK" sz="1600" dirty="0" err="1"/>
              <a:t>Yinggai</a:t>
            </a:r>
            <a:r>
              <a:rPr lang="en-US" altLang="zh-HK" sz="1600" dirty="0"/>
              <a:t>	ban-de-dong	de</a:t>
            </a:r>
          </a:p>
          <a:p>
            <a:r>
              <a:rPr lang="en-US" altLang="zh-HK" sz="1600" dirty="0"/>
              <a:t>Should	remove-able-move	DE</a:t>
            </a:r>
          </a:p>
          <a:p>
            <a:r>
              <a:rPr lang="en-US" altLang="zh-HK" sz="1600" dirty="0"/>
              <a:t>This thing, it is the case that he should be able to move it.’ </a:t>
            </a:r>
            <a:endParaRPr lang="zh-HK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7464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/>
      <p:bldP spid="7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 err="1"/>
              <a:t>VOde</a:t>
            </a:r>
            <a:r>
              <a:rPr lang="en-US" altLang="zh-HK" dirty="0"/>
              <a:t>/</a:t>
            </a:r>
            <a:r>
              <a:rPr lang="en-US" altLang="zh-HK" dirty="0" err="1"/>
              <a:t>VdeO</a:t>
            </a:r>
            <a:r>
              <a:rPr lang="en-US" altLang="zh-HK" dirty="0"/>
              <a:t> (1)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016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800" dirty="0" err="1"/>
              <a:t>VdeO</a:t>
            </a:r>
            <a:r>
              <a:rPr lang="en-US" altLang="zh-HK" sz="1800" dirty="0"/>
              <a:t> (past tense)  </a:t>
            </a:r>
            <a:endParaRPr lang="zh-HK" altLang="en-US" sz="1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66736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HK" sz="1600" dirty="0"/>
              <a:t>Shi	ta	*(</a:t>
            </a:r>
            <a:r>
              <a:rPr lang="en-GB" altLang="zh-HK" sz="1600" dirty="0" err="1"/>
              <a:t>neng</a:t>
            </a:r>
            <a:r>
              <a:rPr lang="en-GB" altLang="zh-HK" sz="1600" dirty="0"/>
              <a:t>/</a:t>
            </a:r>
            <a:r>
              <a:rPr lang="en-GB" altLang="zh-HK" sz="1600" dirty="0" err="1"/>
              <a:t>yinggai</a:t>
            </a:r>
            <a:r>
              <a:rPr lang="en-GB" altLang="zh-HK" sz="1600" dirty="0"/>
              <a:t>)	</a:t>
            </a:r>
            <a:r>
              <a:rPr lang="en-GB" altLang="zh-HK" sz="1600" dirty="0" err="1"/>
              <a:t>dapo</a:t>
            </a:r>
            <a:r>
              <a:rPr lang="en-GB" altLang="zh-HK" sz="1600" dirty="0"/>
              <a:t>(*-le/-</a:t>
            </a:r>
            <a:r>
              <a:rPr lang="en-GB" altLang="zh-HK" sz="1600" dirty="0" err="1"/>
              <a:t>guo</a:t>
            </a:r>
            <a:r>
              <a:rPr lang="en-GB" altLang="zh-HK" sz="1600" dirty="0"/>
              <a:t>)	de	</a:t>
            </a:r>
            <a:r>
              <a:rPr lang="en-GB" altLang="zh-HK" sz="1600" dirty="0" err="1"/>
              <a:t>beizi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SHI 	he	can/should		smash-ASP		DE	cup</a:t>
            </a:r>
            <a:endParaRPr lang="en-US" altLang="zh-HK" sz="1600" dirty="0"/>
          </a:p>
          <a:p>
            <a:pPr marL="0" indent="0">
              <a:buNone/>
            </a:pPr>
            <a:r>
              <a:rPr lang="en-GB" altLang="zh-HK" sz="1600" dirty="0"/>
              <a:t>‘It was he who smashed the cup.’ (Paul and Whitman (2008:430))</a:t>
            </a:r>
            <a:endParaRPr lang="zh-TW" altLang="zh-HK" sz="16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93756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S&amp;W’s (2002) dichotomy between </a:t>
            </a:r>
            <a:r>
              <a:rPr lang="en-US" altLang="zh-HK" sz="1600" dirty="0" err="1"/>
              <a:t>VOde</a:t>
            </a:r>
            <a:r>
              <a:rPr lang="en-US" altLang="zh-HK" sz="1600" dirty="0"/>
              <a:t> and </a:t>
            </a:r>
            <a:r>
              <a:rPr lang="en-US" altLang="zh-HK" sz="1600" dirty="0" err="1"/>
              <a:t>VdeO</a:t>
            </a:r>
            <a:r>
              <a:rPr lang="en-US" altLang="zh-HK" sz="1600" dirty="0"/>
              <a:t> is too superficial, since there are differences in focus types and tense/aspect/mood (TAM</a:t>
            </a:r>
            <a:r>
              <a:rPr lang="en-US" altLang="zh-TW" sz="1600" dirty="0"/>
              <a:t>): </a:t>
            </a:r>
            <a:endParaRPr lang="zh-HK" altLang="en-US" sz="1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534920" y="14201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VdeO</a:t>
            </a:r>
            <a:r>
              <a:rPr lang="en-US" altLang="zh-HK" sz="1600" dirty="0"/>
              <a:t> also disallows </a:t>
            </a:r>
            <a:r>
              <a:rPr lang="en-US" altLang="zh-HK" sz="1600" dirty="0" err="1"/>
              <a:t>negators</a:t>
            </a:r>
            <a:r>
              <a:rPr lang="en-US" altLang="zh-HK" sz="1600" dirty="0"/>
              <a:t>, all TAM markers and </a:t>
            </a:r>
            <a:r>
              <a:rPr lang="en-US" altLang="zh-HK" sz="1600" i="1" dirty="0" err="1"/>
              <a:t>dou</a:t>
            </a:r>
            <a:r>
              <a:rPr lang="en-US" altLang="zh-TW" sz="1600" i="1" dirty="0"/>
              <a:t>, </a:t>
            </a:r>
            <a:r>
              <a:rPr lang="en-US" altLang="zh-TW" sz="1600" dirty="0"/>
              <a:t>all of which are permitted in </a:t>
            </a:r>
            <a:r>
              <a:rPr lang="en-US" altLang="zh-TW" sz="1600" dirty="0" err="1"/>
              <a:t>VOde</a:t>
            </a:r>
            <a:r>
              <a:rPr lang="en-US" altLang="zh-HK" sz="1600" dirty="0"/>
              <a:t> (Paul and Whitman (2008)</a:t>
            </a:r>
            <a:r>
              <a:rPr lang="en-US" altLang="zh-TW" sz="1600" dirty="0"/>
              <a:t>)</a:t>
            </a:r>
            <a:endParaRPr lang="zh-HK" alt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838200" y="2627105"/>
            <a:ext cx="113538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HK" sz="1600" dirty="0"/>
              <a:t>*ta	</a:t>
            </a:r>
            <a:r>
              <a:rPr lang="en-GB" altLang="zh-HK" sz="1600" dirty="0" err="1"/>
              <a:t>shi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shang</a:t>
            </a:r>
            <a:r>
              <a:rPr lang="en-GB" altLang="zh-HK" sz="1600" dirty="0"/>
              <a:t>	</a:t>
            </a:r>
            <a:r>
              <a:rPr lang="en-GB" altLang="zh-HK" sz="1600" dirty="0" err="1"/>
              <a:t>ge</a:t>
            </a:r>
            <a:r>
              <a:rPr lang="en-GB" altLang="zh-HK" sz="1600" dirty="0"/>
              <a:t>	</a:t>
            </a:r>
            <a:r>
              <a:rPr lang="en-GB" altLang="zh-HK" sz="1600" dirty="0" err="1"/>
              <a:t>xingqi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bu</a:t>
            </a:r>
            <a:r>
              <a:rPr lang="en-GB" altLang="zh-HK" sz="1600" dirty="0"/>
              <a:t>/</a:t>
            </a:r>
            <a:r>
              <a:rPr lang="en-GB" altLang="zh-HK" sz="1600" dirty="0" err="1"/>
              <a:t>mei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qu</a:t>
            </a:r>
            <a:r>
              <a:rPr lang="en-GB" altLang="zh-HK" sz="1600" dirty="0"/>
              <a:t>	de	</a:t>
            </a:r>
            <a:r>
              <a:rPr lang="en-GB" altLang="zh-HK" sz="1600" dirty="0" err="1"/>
              <a:t>xuexiao</a:t>
            </a:r>
            <a:endParaRPr lang="zh-TW" altLang="zh-HK" sz="1600" dirty="0"/>
          </a:p>
          <a:p>
            <a:r>
              <a:rPr lang="en-GB" altLang="zh-HK" sz="1600" dirty="0"/>
              <a:t>He	COP	last	CL	week	NEG	go	DE	school</a:t>
            </a:r>
            <a:endParaRPr lang="zh-TW" altLang="zh-HK" sz="1600" dirty="0"/>
          </a:p>
          <a:p>
            <a:r>
              <a:rPr lang="en-GB" altLang="zh-HK" sz="1600" dirty="0"/>
              <a:t>‘It was last week that he did not go to school.’ (Paul and Whitman (2008:430))</a:t>
            </a:r>
            <a:endParaRPr lang="zh-TW" altLang="zh-HK" sz="1600" dirty="0"/>
          </a:p>
        </p:txBody>
      </p:sp>
      <p:sp>
        <p:nvSpPr>
          <p:cNvPr id="9" name="Rectangle 8"/>
          <p:cNvSpPr/>
          <p:nvPr/>
        </p:nvSpPr>
        <p:spPr>
          <a:xfrm>
            <a:off x="746760" y="3416465"/>
            <a:ext cx="11353800" cy="1233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*Wo	</a:t>
            </a:r>
            <a:r>
              <a:rPr lang="en-GB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gen	</a:t>
            </a:r>
            <a:r>
              <a:rPr lang="en-GB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suoyoude</a:t>
            </a: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linju</a:t>
            </a: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</a:t>
            </a:r>
            <a:r>
              <a:rPr lang="en-GB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dou</a:t>
            </a: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chao</a:t>
            </a: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de	</a:t>
            </a:r>
            <a:r>
              <a:rPr lang="en-GB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jia</a:t>
            </a:r>
            <a:endParaRPr lang="en-US" altLang="zh-HK" sz="16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   </a:t>
            </a: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	SHI	with	all		neighbour	DOU	quarrel	DE	fight</a:t>
            </a:r>
            <a:endParaRPr lang="en-US" altLang="zh-HK" sz="16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‘It was with all the neighbours that I quarrelled.’(Paul and Whitman (2008:431))</a:t>
            </a:r>
            <a:endParaRPr lang="zh-TW" altLang="zh-HK" sz="16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4650136"/>
            <a:ext cx="1051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HK" dirty="0"/>
              <a:t>Sentence-final </a:t>
            </a:r>
            <a:r>
              <a:rPr lang="en-US" altLang="zh-HK" i="1" dirty="0"/>
              <a:t>de </a:t>
            </a:r>
            <a:r>
              <a:rPr lang="en-US" altLang="zh-HK" dirty="0"/>
              <a:t>(</a:t>
            </a:r>
            <a:r>
              <a:rPr lang="en-US" altLang="zh-HK" dirty="0" err="1"/>
              <a:t>VOde</a:t>
            </a:r>
            <a:r>
              <a:rPr lang="en-US" altLang="zh-HK" dirty="0"/>
              <a:t>) therefore seems to have wider scope than verbal suffix </a:t>
            </a:r>
            <a:r>
              <a:rPr lang="en-US" altLang="zh-HK" i="1" dirty="0"/>
              <a:t>de </a:t>
            </a:r>
            <a:r>
              <a:rPr lang="en-US" altLang="zh-HK" dirty="0"/>
              <a:t>(</a:t>
            </a:r>
            <a:r>
              <a:rPr lang="en-US" altLang="zh-HK" dirty="0" err="1"/>
              <a:t>VdeO</a:t>
            </a:r>
            <a:r>
              <a:rPr lang="en-US" altLang="zh-HK" dirty="0"/>
              <a:t>). 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18549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729"/>
            <a:ext cx="10515600" cy="1325563"/>
          </a:xfrm>
        </p:spPr>
        <p:txBody>
          <a:bodyPr/>
          <a:lstStyle/>
          <a:p>
            <a:r>
              <a:rPr lang="en-US" altLang="zh-TW" dirty="0" err="1"/>
              <a:t>VOde</a:t>
            </a:r>
            <a:r>
              <a:rPr lang="en-US" altLang="zh-TW" dirty="0"/>
              <a:t>/</a:t>
            </a:r>
            <a:r>
              <a:rPr lang="en-US" altLang="zh-TW" dirty="0" err="1"/>
              <a:t>VdeO</a:t>
            </a:r>
            <a:r>
              <a:rPr lang="en-US" altLang="zh-TW" dirty="0"/>
              <a:t> (2)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2667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92327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VdeO</a:t>
            </a:r>
            <a:r>
              <a:rPr lang="en-US" altLang="zh-HK" sz="1600" dirty="0"/>
              <a:t> permits narrow focus only, whereas </a:t>
            </a:r>
            <a:r>
              <a:rPr lang="en-US" altLang="zh-HK" sz="1600" dirty="0" err="1"/>
              <a:t>VOde</a:t>
            </a:r>
            <a:r>
              <a:rPr lang="en-US" altLang="zh-HK" sz="1600" dirty="0"/>
              <a:t> has both narrow and broad focus (narrow focus (constituent), broad focus (verbal predicate) (</a:t>
            </a:r>
            <a:r>
              <a:rPr lang="en-US" altLang="zh-HK" sz="1600" dirty="0" err="1"/>
              <a:t>cf</a:t>
            </a:r>
            <a:r>
              <a:rPr lang="en-US" altLang="zh-HK" sz="1600" dirty="0"/>
              <a:t> Selkirk (1984), </a:t>
            </a:r>
            <a:r>
              <a:rPr lang="en-US" altLang="zh-HK" sz="1600" dirty="0" err="1"/>
              <a:t>Lambrecht</a:t>
            </a:r>
            <a:r>
              <a:rPr lang="en-US" altLang="zh-HK" sz="1600" dirty="0"/>
              <a:t> (1994), Wedgewood (2006))</a:t>
            </a:r>
            <a:endParaRPr lang="zh-HK" altLang="en-US" sz="16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3492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Narrow focus: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Shi	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xie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SHI	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	write	poetry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Shi	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xie</a:t>
            </a:r>
            <a:r>
              <a:rPr lang="en-US" altLang="zh-HK" sz="1600" dirty="0"/>
              <a:t>	de	</a:t>
            </a:r>
            <a:r>
              <a:rPr lang="en-US" altLang="zh-HK" sz="1600" dirty="0" err="1"/>
              <a:t>shi</a:t>
            </a:r>
            <a:endParaRPr lang="en-US" altLang="zh-HK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SHI	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	write	DE	poetry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‘It was 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 who wrote poetry.’ (Hole (2011:1710))</a:t>
            </a:r>
            <a:endParaRPr lang="zh-HK" altLang="en-US" sz="1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33119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Adjunct focus: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Zhangsan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yong</a:t>
            </a:r>
            <a:r>
              <a:rPr lang="en-US" altLang="zh-HK" sz="1600" dirty="0"/>
              <a:t>	</a:t>
            </a:r>
            <a:r>
              <a:rPr lang="en-US" altLang="zh-HK" sz="1600" dirty="0" err="1"/>
              <a:t>maobi</a:t>
            </a:r>
            <a:r>
              <a:rPr lang="en-US" altLang="zh-HK" sz="1600" dirty="0"/>
              <a:t>		</a:t>
            </a:r>
            <a:r>
              <a:rPr lang="en-US" altLang="zh-HK" sz="1600" dirty="0" err="1"/>
              <a:t>xie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Zhangsan</a:t>
            </a:r>
            <a:r>
              <a:rPr lang="en-US" altLang="zh-HK" sz="1600" dirty="0"/>
              <a:t>	SHI	use	brush		write	poetry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Zhangsan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yong</a:t>
            </a:r>
            <a:r>
              <a:rPr lang="en-US" altLang="zh-HK" sz="1600" dirty="0"/>
              <a:t>	</a:t>
            </a:r>
            <a:r>
              <a:rPr lang="en-US" altLang="zh-HK" sz="1600" dirty="0" err="1"/>
              <a:t>maobi</a:t>
            </a:r>
            <a:r>
              <a:rPr lang="en-US" altLang="zh-HK" sz="1600" dirty="0"/>
              <a:t>		</a:t>
            </a:r>
            <a:r>
              <a:rPr lang="en-US" altLang="zh-HK" sz="1600" dirty="0" err="1"/>
              <a:t>xie</a:t>
            </a:r>
            <a:r>
              <a:rPr lang="en-US" altLang="zh-HK" sz="1600" dirty="0"/>
              <a:t>	de	</a:t>
            </a:r>
            <a:r>
              <a:rPr lang="en-US" altLang="zh-HK" sz="1600" dirty="0" err="1"/>
              <a:t>shi</a:t>
            </a:r>
            <a:endParaRPr lang="en-US" altLang="zh-HK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 err="1"/>
              <a:t>Zhangsan</a:t>
            </a:r>
            <a:r>
              <a:rPr lang="en-US" altLang="zh-HK" sz="1600" dirty="0"/>
              <a:t>	SHI	use	brush		write	DE	poetry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‘It was with a brush that </a:t>
            </a:r>
            <a:r>
              <a:rPr lang="en-US" altLang="zh-TW" sz="1600" dirty="0" err="1"/>
              <a:t>Zhangsan</a:t>
            </a:r>
            <a:r>
              <a:rPr lang="en-US" altLang="zh-TW" sz="1600" dirty="0"/>
              <a:t> wrote poetry.’ (Hole (2011:1710))</a:t>
            </a:r>
            <a:endParaRPr lang="zh-HK" altLang="en-US" sz="1600" dirty="0"/>
          </a:p>
        </p:txBody>
      </p:sp>
      <p:sp>
        <p:nvSpPr>
          <p:cNvPr id="10" name="Rectangle 9"/>
          <p:cNvSpPr/>
          <p:nvPr/>
        </p:nvSpPr>
        <p:spPr>
          <a:xfrm>
            <a:off x="838200" y="5274612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HK" sz="1600" dirty="0"/>
              <a:t>Object focus: </a:t>
            </a:r>
          </a:p>
          <a:p>
            <a:r>
              <a:rPr lang="en-US" altLang="zh-HK" sz="1600" dirty="0" err="1"/>
              <a:t>Zhangsan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xie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de</a:t>
            </a:r>
          </a:p>
          <a:p>
            <a:r>
              <a:rPr lang="en-US" altLang="zh-HK" sz="1600" dirty="0" err="1"/>
              <a:t>Zhangsan</a:t>
            </a:r>
            <a:r>
              <a:rPr lang="en-US" altLang="zh-HK" sz="1600" dirty="0"/>
              <a:t>	SHI	write	poetry	DE</a:t>
            </a:r>
          </a:p>
          <a:p>
            <a:r>
              <a:rPr lang="en-US" altLang="zh-HK" sz="1600" dirty="0" err="1"/>
              <a:t>Zhangsan</a:t>
            </a:r>
            <a:r>
              <a:rPr lang="en-US" altLang="zh-HK" sz="1600" dirty="0"/>
              <a:t>	SHI	</a:t>
            </a:r>
            <a:r>
              <a:rPr lang="en-US" altLang="zh-HK" sz="1600" dirty="0" err="1"/>
              <a:t>xie</a:t>
            </a:r>
            <a:r>
              <a:rPr lang="en-US" altLang="zh-HK" sz="1600" dirty="0"/>
              <a:t>	de	</a:t>
            </a:r>
            <a:r>
              <a:rPr lang="en-US" altLang="zh-HK" sz="1600" dirty="0" err="1"/>
              <a:t>shi</a:t>
            </a:r>
            <a:endParaRPr lang="en-US" altLang="zh-HK" sz="1600" dirty="0"/>
          </a:p>
          <a:p>
            <a:r>
              <a:rPr lang="en-US" altLang="zh-HK" sz="1600" dirty="0"/>
              <a:t>‘It is poetry that </a:t>
            </a:r>
            <a:r>
              <a:rPr lang="en-US" altLang="zh-HK" sz="1600" dirty="0" err="1"/>
              <a:t>Zhangsan</a:t>
            </a:r>
            <a:r>
              <a:rPr lang="en-US" altLang="zh-HK" sz="1600" dirty="0"/>
              <a:t> writes.’ (Hole (2011:1710)) </a:t>
            </a:r>
          </a:p>
          <a:p>
            <a:endParaRPr lang="zh-HK" alt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5516880" y="532014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HK" dirty="0"/>
              <a:t>‘Object </a:t>
            </a:r>
            <a:r>
              <a:rPr lang="en-US" altLang="zh-HK" dirty="0" err="1"/>
              <a:t>uncleftability</a:t>
            </a:r>
            <a:r>
              <a:rPr lang="en-US" altLang="zh-HK" dirty="0"/>
              <a:t>’ (Yang and Ku (2010))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90376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729"/>
            <a:ext cx="10515600" cy="1325563"/>
          </a:xfrm>
        </p:spPr>
        <p:txBody>
          <a:bodyPr/>
          <a:lstStyle/>
          <a:p>
            <a:r>
              <a:rPr lang="en-US" altLang="zh-TW" dirty="0" err="1"/>
              <a:t>VOde</a:t>
            </a:r>
            <a:r>
              <a:rPr lang="en-US" altLang="zh-TW" dirty="0"/>
              <a:t>/</a:t>
            </a:r>
            <a:r>
              <a:rPr lang="en-US" altLang="zh-TW" dirty="0" err="1"/>
              <a:t>VdeO</a:t>
            </a:r>
            <a:r>
              <a:rPr lang="en-US" altLang="zh-TW" dirty="0"/>
              <a:t> (3)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226678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zh-HK" alt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9699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Broad focus: </a:t>
            </a:r>
          </a:p>
          <a:p>
            <a:pPr marL="0" indent="0">
              <a:buNone/>
            </a:pPr>
            <a:r>
              <a:rPr lang="en-GB" altLang="zh-HK" sz="1600" dirty="0" err="1"/>
              <a:t>Zhangsan</a:t>
            </a:r>
            <a:r>
              <a:rPr lang="en-GB" altLang="zh-HK" sz="1600" dirty="0"/>
              <a:t>	</a:t>
            </a:r>
            <a:r>
              <a:rPr lang="en-GB" altLang="zh-HK" sz="1600" dirty="0" err="1"/>
              <a:t>shi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kandao</a:t>
            </a:r>
            <a:r>
              <a:rPr lang="en-GB" altLang="zh-HK" sz="1600" dirty="0"/>
              <a:t>	Wang	</a:t>
            </a:r>
            <a:r>
              <a:rPr lang="en-GB" altLang="zh-HK" sz="1600" dirty="0" err="1"/>
              <a:t>xiaojie</a:t>
            </a:r>
            <a:r>
              <a:rPr lang="en-GB" altLang="zh-HK" sz="1600" dirty="0"/>
              <a:t>	de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 err="1"/>
              <a:t>Zhangsan</a:t>
            </a:r>
            <a:r>
              <a:rPr lang="en-GB" altLang="zh-HK" sz="1600" dirty="0"/>
              <a:t>	SHI	see	Wang	miss	DE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‘</a:t>
            </a:r>
            <a:r>
              <a:rPr lang="en-GB" altLang="zh-HK" sz="1600" dirty="0" err="1"/>
              <a:t>Zhangsan</a:t>
            </a:r>
            <a:r>
              <a:rPr lang="en-GB" altLang="zh-HK" sz="1600" dirty="0"/>
              <a:t> </a:t>
            </a:r>
            <a:r>
              <a:rPr lang="en-GB" altLang="zh-HK" sz="1600" i="1" dirty="0"/>
              <a:t>saw</a:t>
            </a:r>
            <a:r>
              <a:rPr lang="en-GB" altLang="zh-HK" sz="1600" dirty="0"/>
              <a:t> Miss Wang.’ (Cheng (2008:262))</a:t>
            </a:r>
          </a:p>
          <a:p>
            <a:pPr marL="0" indent="0">
              <a:buNone/>
            </a:pPr>
            <a:r>
              <a:rPr lang="en-GB" altLang="zh-HK" sz="1600" dirty="0"/>
              <a:t>*</a:t>
            </a:r>
            <a:r>
              <a:rPr lang="en-GB" altLang="zh-HK" sz="1600" dirty="0" err="1"/>
              <a:t>Zhangsan</a:t>
            </a:r>
            <a:r>
              <a:rPr lang="en-GB" altLang="zh-HK" sz="1600" dirty="0"/>
              <a:t> </a:t>
            </a:r>
            <a:r>
              <a:rPr lang="en-GB" altLang="zh-HK" sz="1600" dirty="0" err="1"/>
              <a:t>shi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xie</a:t>
            </a:r>
            <a:r>
              <a:rPr lang="en-GB" altLang="zh-HK" sz="1600" dirty="0"/>
              <a:t>	de	</a:t>
            </a:r>
            <a:r>
              <a:rPr lang="en-GB" altLang="zh-HK" sz="1600" dirty="0" err="1"/>
              <a:t>shi</a:t>
            </a:r>
            <a:endParaRPr lang="en-GB" altLang="zh-HK" sz="1600" dirty="0"/>
          </a:p>
          <a:p>
            <a:pPr marL="0" indent="0">
              <a:buNone/>
            </a:pPr>
            <a:r>
              <a:rPr lang="en-GB" altLang="zh-HK" sz="1600" dirty="0"/>
              <a:t>‘It is the case that </a:t>
            </a:r>
            <a:r>
              <a:rPr lang="en-GB" altLang="zh-HK" sz="1600" dirty="0" err="1"/>
              <a:t>Zhangsan</a:t>
            </a:r>
            <a:r>
              <a:rPr lang="en-GB" altLang="zh-HK" sz="1600" dirty="0"/>
              <a:t> wrote poetry.’ (Hole (2011:1711))</a:t>
            </a:r>
            <a:endParaRPr lang="zh-HK" altLang="en-US" sz="1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30003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zh-HK" sz="1600" dirty="0" err="1"/>
              <a:t>shi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Xilaren</a:t>
            </a:r>
            <a:r>
              <a:rPr lang="en-GB" altLang="zh-HK" sz="1600" dirty="0"/>
              <a:t>	</a:t>
            </a:r>
            <a:r>
              <a:rPr lang="en-GB" altLang="zh-HK" sz="1600" dirty="0" err="1"/>
              <a:t>zui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xian</a:t>
            </a:r>
            <a:r>
              <a:rPr lang="en-GB" altLang="zh-HK" sz="1600" dirty="0"/>
              <a:t>	</a:t>
            </a:r>
            <a:r>
              <a:rPr lang="en-GB" altLang="zh-HK" sz="1600" dirty="0" err="1"/>
              <a:t>kaishi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niang</a:t>
            </a:r>
            <a:r>
              <a:rPr lang="en-GB" altLang="zh-HK" sz="1600" dirty="0"/>
              <a:t>	</a:t>
            </a:r>
            <a:r>
              <a:rPr lang="en-GB" altLang="zh-HK" sz="1600" dirty="0" err="1"/>
              <a:t>jiu</a:t>
            </a:r>
            <a:r>
              <a:rPr lang="en-GB" altLang="zh-HK" sz="1600" dirty="0"/>
              <a:t>	de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SHI	Greek	most	first	start	brew	wine	DE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‘It is the case that the Greeks were the first to brew wine.’ (Cheng (2008:253))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*Shi	</a:t>
            </a:r>
            <a:r>
              <a:rPr lang="en-GB" altLang="zh-HK" sz="1600" dirty="0" err="1"/>
              <a:t>Zhangsan</a:t>
            </a:r>
            <a:r>
              <a:rPr lang="en-GB" altLang="zh-HK" sz="1600" dirty="0"/>
              <a:t>	</a:t>
            </a:r>
            <a:r>
              <a:rPr lang="en-GB" altLang="zh-HK" sz="1600" dirty="0" err="1"/>
              <a:t>xie</a:t>
            </a:r>
            <a:r>
              <a:rPr lang="en-GB" altLang="zh-HK" sz="1600" dirty="0"/>
              <a:t>-de	</a:t>
            </a:r>
            <a:r>
              <a:rPr lang="en-GB" altLang="zh-HK" sz="1600" dirty="0" err="1"/>
              <a:t>shi</a:t>
            </a:r>
            <a:endParaRPr lang="en-US" altLang="zh-HK" sz="1600" dirty="0"/>
          </a:p>
          <a:p>
            <a:pPr marL="0" indent="0">
              <a:buNone/>
            </a:pPr>
            <a:r>
              <a:rPr lang="en-GB" altLang="zh-HK" sz="1600" dirty="0"/>
              <a:t>SHI	</a:t>
            </a:r>
            <a:r>
              <a:rPr lang="en-GB" altLang="zh-HK" sz="1600" dirty="0" err="1"/>
              <a:t>Zhangsan</a:t>
            </a:r>
            <a:r>
              <a:rPr lang="en-GB" altLang="zh-HK" sz="1600" dirty="0"/>
              <a:t>	write-DE	poetry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(intended) ‘It is the case that </a:t>
            </a:r>
            <a:r>
              <a:rPr lang="en-GB" altLang="zh-HK" sz="1600" dirty="0" err="1"/>
              <a:t>Zhangsan</a:t>
            </a:r>
            <a:r>
              <a:rPr lang="en-GB" altLang="zh-HK" sz="1600" dirty="0"/>
              <a:t> wrote poems.’ (Hole (2011:1711))	</a:t>
            </a:r>
            <a:endParaRPr lang="zh-TW" altLang="zh-HK" sz="1600" dirty="0"/>
          </a:p>
        </p:txBody>
      </p:sp>
    </p:spTree>
    <p:extLst>
      <p:ext uri="{BB962C8B-B14F-4D97-AF65-F5344CB8AC3E}">
        <p14:creationId xmlns:p14="http://schemas.microsoft.com/office/powerpoint/2010/main" val="251182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 err="1"/>
              <a:t>Vode</a:t>
            </a:r>
            <a:r>
              <a:rPr lang="en-US" altLang="zh-HK" dirty="0"/>
              <a:t>/</a:t>
            </a:r>
            <a:r>
              <a:rPr lang="en-US" altLang="zh-HK" dirty="0" err="1"/>
              <a:t>VdeO</a:t>
            </a:r>
            <a:r>
              <a:rPr lang="en-US" altLang="zh-HK" dirty="0"/>
              <a:t> (4)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63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The empirical differences between </a:t>
            </a:r>
            <a:r>
              <a:rPr lang="en-US" altLang="zh-HK" dirty="0" err="1"/>
              <a:t>Vode</a:t>
            </a:r>
            <a:r>
              <a:rPr lang="en-US" altLang="zh-HK" dirty="0"/>
              <a:t> and </a:t>
            </a:r>
            <a:r>
              <a:rPr lang="en-US" altLang="zh-HK" dirty="0" err="1"/>
              <a:t>VdeO</a:t>
            </a:r>
            <a:r>
              <a:rPr lang="en-US" altLang="zh-HK" dirty="0"/>
              <a:t> may be summarized thus: </a:t>
            </a:r>
          </a:p>
          <a:p>
            <a:pPr marL="0" indent="0">
              <a:buNone/>
            </a:pPr>
            <a:endParaRPr lang="zh-HK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051065"/>
              </p:ext>
            </p:extLst>
          </p:nvPr>
        </p:nvGraphicFramePr>
        <p:xfrm>
          <a:off x="838200" y="1858255"/>
          <a:ext cx="10515599" cy="48093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4441">
                  <a:extLst>
                    <a:ext uri="{9D8B030D-6E8A-4147-A177-3AD203B41FA5}">
                      <a16:colId xmlns:a16="http://schemas.microsoft.com/office/drawing/2014/main" val="1011027244"/>
                    </a:ext>
                  </a:extLst>
                </a:gridCol>
                <a:gridCol w="3505579">
                  <a:extLst>
                    <a:ext uri="{9D8B030D-6E8A-4147-A177-3AD203B41FA5}">
                      <a16:colId xmlns:a16="http://schemas.microsoft.com/office/drawing/2014/main" val="3635933778"/>
                    </a:ext>
                  </a:extLst>
                </a:gridCol>
                <a:gridCol w="3505579">
                  <a:extLst>
                    <a:ext uri="{9D8B030D-6E8A-4147-A177-3AD203B41FA5}">
                      <a16:colId xmlns:a16="http://schemas.microsoft.com/office/drawing/2014/main" val="1861722292"/>
                    </a:ext>
                  </a:extLst>
                </a:gridCol>
              </a:tblGrid>
              <a:tr h="5541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zh-TW" sz="2400">
                          <a:effectLst/>
                        </a:rPr>
                        <a:t> </a:t>
                      </a:r>
                      <a:endParaRPr lang="zh-TW" sz="2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VOde</a:t>
                      </a:r>
                      <a:endParaRPr lang="zh-TW" sz="2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VdeO</a:t>
                      </a:r>
                      <a:endParaRPr lang="zh-TW" sz="2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19755914"/>
                  </a:ext>
                </a:extLst>
              </a:tr>
              <a:tr h="17314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Focus types</a:t>
                      </a:r>
                      <a:endParaRPr lang="zh-TW" sz="2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Narrow (subject, adverb, verb, object)</a:t>
                      </a:r>
                      <a:endParaRPr lang="zh-TW" sz="2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Broad (V, TP)</a:t>
                      </a:r>
                      <a:endParaRPr lang="zh-TW" sz="2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Narrow (subject, adverb, object)</a:t>
                      </a:r>
                      <a:endParaRPr lang="zh-TW" sz="2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49278662"/>
                  </a:ext>
                </a:extLst>
              </a:tr>
              <a:tr h="2320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TAM</a:t>
                      </a:r>
                      <a:endParaRPr lang="zh-TW" sz="2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All tenses</a:t>
                      </a:r>
                      <a:endParaRPr lang="zh-TW" sz="24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All TAM markers allowed</a:t>
                      </a:r>
                      <a:endParaRPr lang="zh-TW" sz="24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Negators allowed</a:t>
                      </a:r>
                      <a:endParaRPr lang="zh-TW" sz="240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>
                          <a:effectLst/>
                        </a:rPr>
                        <a:t>Quantificational dou allowed</a:t>
                      </a:r>
                      <a:endParaRPr lang="zh-TW" sz="240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Past tense only </a:t>
                      </a:r>
                      <a:endParaRPr lang="zh-TW" sz="2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No TAM markers other than de</a:t>
                      </a:r>
                      <a:endParaRPr lang="zh-TW" sz="2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 err="1">
                          <a:effectLst/>
                        </a:rPr>
                        <a:t>Negators</a:t>
                      </a:r>
                      <a:r>
                        <a:rPr lang="en-GB" sz="2400" dirty="0">
                          <a:effectLst/>
                        </a:rPr>
                        <a:t> disallowed</a:t>
                      </a:r>
                      <a:endParaRPr lang="zh-TW" sz="24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2400" dirty="0">
                          <a:effectLst/>
                        </a:rPr>
                        <a:t>Quantificational </a:t>
                      </a:r>
                      <a:r>
                        <a:rPr lang="en-GB" sz="2400" dirty="0" err="1">
                          <a:effectLst/>
                        </a:rPr>
                        <a:t>dou</a:t>
                      </a:r>
                      <a:r>
                        <a:rPr lang="en-GB" sz="2400" dirty="0">
                          <a:effectLst/>
                        </a:rPr>
                        <a:t> disallowed</a:t>
                      </a:r>
                      <a:endParaRPr lang="zh-TW" sz="2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7929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2195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i="1" dirty="0"/>
              <a:t>Shi </a:t>
            </a:r>
            <a:r>
              <a:rPr lang="en-US" altLang="zh-TW" dirty="0"/>
              <a:t>(1)</a:t>
            </a:r>
            <a:endParaRPr lang="zh-HK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3537" y="109015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600" i="1" dirty="0"/>
              <a:t>Shi </a:t>
            </a:r>
            <a:r>
              <a:rPr lang="en-US" altLang="zh-HK" sz="1600" dirty="0"/>
              <a:t>is a verb, namely a copula verb </a:t>
            </a:r>
            <a:endParaRPr lang="zh-HK" altLang="en-US" sz="1600"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90598" y="80518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Shi </a:t>
            </a:r>
            <a:r>
              <a:rPr lang="en-US" altLang="zh-HK" sz="1600" dirty="0"/>
              <a:t>– traditionally there are two analyses for </a:t>
            </a:r>
            <a:r>
              <a:rPr lang="en-US" altLang="zh-HK" sz="1600" i="1" dirty="0" err="1"/>
              <a:t>shi</a:t>
            </a:r>
            <a:r>
              <a:rPr lang="en-US" altLang="zh-HK" sz="1600" i="1" dirty="0"/>
              <a:t>, </a:t>
            </a:r>
            <a:r>
              <a:rPr lang="en-US" altLang="zh-HK" sz="1600" dirty="0"/>
              <a:t>either as a verb (S&amp;W (2002), Paul and Whitman </a:t>
            </a:r>
            <a:r>
              <a:rPr lang="en-US" altLang="zh-TW" sz="1600" dirty="0"/>
              <a:t>(2008), Cheng (2008)) </a:t>
            </a:r>
            <a:r>
              <a:rPr lang="en-US" altLang="zh-HK" sz="1600" dirty="0"/>
              <a:t>or as a focus head (</a:t>
            </a:r>
            <a:r>
              <a:rPr lang="en-US" altLang="zh-HK" sz="1600" dirty="0" err="1"/>
              <a:t>Teng</a:t>
            </a:r>
            <a:r>
              <a:rPr lang="en-US" altLang="zh-HK" sz="1600" dirty="0"/>
              <a:t> (1979), Lee (2005), Cheung (2013))). </a:t>
            </a:r>
            <a:endParaRPr lang="zh-HK" altLang="en-US" sz="1600" i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90598" y="137513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400" i="1" dirty="0"/>
              <a:t>Shi </a:t>
            </a:r>
            <a:r>
              <a:rPr lang="en-US" altLang="zh-HK" sz="1400" dirty="0"/>
              <a:t>is verbal: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400" dirty="0"/>
              <a:t> </a:t>
            </a:r>
            <a:endParaRPr lang="zh-HK" altLang="en-US" sz="1400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90598" y="15641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Shi </a:t>
            </a:r>
            <a:r>
              <a:rPr lang="en-US" altLang="zh-HK" sz="1600" dirty="0"/>
              <a:t>undergoes A-</a:t>
            </a:r>
            <a:r>
              <a:rPr lang="en-US" altLang="zh-HK" sz="1600" dirty="0" err="1"/>
              <a:t>bu</a:t>
            </a:r>
            <a:r>
              <a:rPr lang="en-US" altLang="zh-HK" sz="1600" dirty="0"/>
              <a:t>-A alternation in question formation: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Ni	</a:t>
            </a:r>
            <a:r>
              <a:rPr lang="en-US" altLang="zh-HK" sz="1600" dirty="0" err="1"/>
              <a:t>shi-bu</a:t>
            </a:r>
            <a:r>
              <a:rPr lang="en-US" altLang="zh-HK" sz="1600" dirty="0"/>
              <a:t>	-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zuotian</a:t>
            </a:r>
            <a:r>
              <a:rPr lang="en-US" altLang="zh-HK" sz="1600" dirty="0"/>
              <a:t>	</a:t>
            </a:r>
            <a:r>
              <a:rPr lang="en-US" altLang="zh-HK" sz="1600" dirty="0" err="1"/>
              <a:t>lai</a:t>
            </a:r>
            <a:r>
              <a:rPr lang="en-US" altLang="zh-HK" sz="1600" dirty="0"/>
              <a:t>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You	SHI-NEG-SHI	yesterday	come	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‘Was it yesterday that you came?’ (S&amp;W (2002:196))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90598" y="286370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Shi </a:t>
            </a:r>
            <a:r>
              <a:rPr lang="en-US" altLang="zh-HK" sz="1600" dirty="0"/>
              <a:t>can be modified by </a:t>
            </a:r>
            <a:r>
              <a:rPr lang="en-US" altLang="zh-HK" sz="1600" dirty="0" err="1"/>
              <a:t>negators</a:t>
            </a:r>
            <a:r>
              <a:rPr lang="en-US" altLang="zh-HK" sz="1600" dirty="0"/>
              <a:t> and adverbs </a:t>
            </a:r>
            <a:r>
              <a:rPr lang="en-US" altLang="zh-TW" sz="1600" dirty="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You/</a:t>
            </a:r>
            <a:r>
              <a:rPr lang="en-US" altLang="zh-HK" sz="1600" dirty="0" err="1"/>
              <a:t>bu</a:t>
            </a:r>
            <a:r>
              <a:rPr lang="en-US" altLang="zh-HK" sz="1600" dirty="0"/>
              <a:t>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ta		</a:t>
            </a:r>
            <a:r>
              <a:rPr lang="en-US" altLang="zh-HK" sz="1600" dirty="0" err="1"/>
              <a:t>jiejie</a:t>
            </a:r>
            <a:r>
              <a:rPr lang="en-US" altLang="zh-HK" sz="1600" dirty="0"/>
              <a:t>	kai	de	men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again./NEG	SHI	his/her	sister	open	DE	door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‘It was again/not his/her sister who opened the door.’ (Paul and Whitman (2008:439))</a:t>
            </a:r>
            <a:endParaRPr lang="zh-HK" altLang="en-US" sz="16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90598" y="4128135"/>
            <a:ext cx="113939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i="1" dirty="0"/>
              <a:t>Shi </a:t>
            </a:r>
            <a:r>
              <a:rPr lang="en-US" altLang="zh-HK" sz="1600" dirty="0"/>
              <a:t>also displays temporal distinctions: </a:t>
            </a:r>
          </a:p>
          <a:p>
            <a:pPr marL="0" indent="0">
              <a:buNone/>
            </a:pPr>
            <a:r>
              <a:rPr lang="en-US" altLang="zh-HK" sz="1600" dirty="0" err="1"/>
              <a:t>Mingtian</a:t>
            </a:r>
            <a:r>
              <a:rPr lang="en-US" altLang="zh-HK" sz="1600" dirty="0"/>
              <a:t> 	hui 		</a:t>
            </a:r>
            <a:r>
              <a:rPr lang="en-US" altLang="zh-HK" sz="1600" dirty="0" err="1"/>
              <a:t>shi</a:t>
            </a:r>
            <a:r>
              <a:rPr lang="en-US" altLang="zh-HK" sz="1600" dirty="0"/>
              <a:t>	wo	</a:t>
            </a:r>
            <a:r>
              <a:rPr lang="en-US" altLang="zh-HK" sz="1600" dirty="0" err="1"/>
              <a:t>zai</a:t>
            </a:r>
            <a:r>
              <a:rPr lang="en-US" altLang="zh-HK" sz="1600" dirty="0"/>
              <a:t>	</a:t>
            </a:r>
            <a:r>
              <a:rPr lang="en-US" altLang="zh-HK" sz="1600" dirty="0" err="1"/>
              <a:t>gongyuan</a:t>
            </a:r>
            <a:r>
              <a:rPr lang="en-US" altLang="zh-HK" sz="1600" dirty="0"/>
              <a:t>-li</a:t>
            </a:r>
          </a:p>
          <a:p>
            <a:pPr marL="0" indent="0">
              <a:buNone/>
            </a:pPr>
            <a:r>
              <a:rPr lang="en-US" altLang="zh-HK" sz="1600" dirty="0"/>
              <a:t>Tomorrow	FUT.AUX	SHI	I	at	park-LOC	</a:t>
            </a:r>
          </a:p>
          <a:p>
            <a:pPr marL="0" indent="0">
              <a:buNone/>
            </a:pPr>
            <a:r>
              <a:rPr lang="en-US" altLang="zh-HK" sz="1600" dirty="0" err="1"/>
              <a:t>yao</a:t>
            </a:r>
            <a:r>
              <a:rPr lang="en-US" altLang="zh-HK" sz="1600" dirty="0"/>
              <a:t>	</a:t>
            </a:r>
            <a:r>
              <a:rPr lang="en-US" altLang="zh-HK" sz="1600" dirty="0" err="1"/>
              <a:t>jian</a:t>
            </a:r>
            <a:r>
              <a:rPr lang="en-US" altLang="zh-HK" sz="1600" dirty="0"/>
              <a:t>	ta	de </a:t>
            </a:r>
          </a:p>
          <a:p>
            <a:pPr marL="0" indent="0">
              <a:buNone/>
            </a:pPr>
            <a:r>
              <a:rPr lang="en-US" altLang="zh-HK" sz="1600" dirty="0"/>
              <a:t>FUT.AUX	see	him/her	DE</a:t>
            </a:r>
          </a:p>
          <a:p>
            <a:pPr marL="0" indent="0">
              <a:buNone/>
            </a:pPr>
            <a:r>
              <a:rPr lang="en-US" altLang="zh-HK" sz="1600" dirty="0"/>
              <a:t>‘Tomorrow it will be I who will see him in the park.’ (adapted from Cheng (1983:76))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zh-HK" alt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71489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i="1" dirty="0"/>
              <a:t>Shi </a:t>
            </a:r>
            <a:r>
              <a:rPr lang="en-US" altLang="zh-HK" dirty="0"/>
              <a:t>(2)</a:t>
            </a:r>
            <a:endParaRPr lang="zh-HK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90216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There are two analyses for copula </a:t>
            </a:r>
            <a:r>
              <a:rPr lang="en-US" altLang="zh-HK" i="1" dirty="0" err="1"/>
              <a:t>shi</a:t>
            </a:r>
            <a:r>
              <a:rPr lang="en-US" altLang="zh-HK" i="1" dirty="0"/>
              <a:t>- </a:t>
            </a:r>
            <a:r>
              <a:rPr lang="en-US" altLang="zh-HK" dirty="0"/>
              <a:t>raising verb (Huang </a:t>
            </a:r>
            <a:r>
              <a:rPr lang="en-US" altLang="zh-TW" dirty="0"/>
              <a:t>(1988), Paul and Whitman (2008), Cheng (2008), </a:t>
            </a:r>
            <a:r>
              <a:rPr lang="en-US" altLang="zh-TW" dirty="0" err="1"/>
              <a:t>cf</a:t>
            </a:r>
            <a:r>
              <a:rPr lang="en-US" altLang="zh-TW" dirty="0"/>
              <a:t>  </a:t>
            </a:r>
            <a:r>
              <a:rPr lang="en-US" altLang="zh-TW" dirty="0" err="1"/>
              <a:t>Stowell</a:t>
            </a:r>
            <a:r>
              <a:rPr lang="en-US" altLang="zh-TW" dirty="0"/>
              <a:t> (1978, 1981))</a:t>
            </a:r>
          </a:p>
          <a:p>
            <a:pPr marL="0" indent="0">
              <a:buNone/>
            </a:pPr>
            <a:r>
              <a:rPr lang="en-US" altLang="zh-HK" dirty="0" err="1"/>
              <a:t>Pred</a:t>
            </a:r>
            <a:r>
              <a:rPr lang="en-US" altLang="zh-HK" dirty="0"/>
              <a:t> (</a:t>
            </a:r>
            <a:r>
              <a:rPr lang="en-US" altLang="zh-HK" dirty="0" err="1"/>
              <a:t>Lohndal</a:t>
            </a:r>
            <a:r>
              <a:rPr lang="en-US" altLang="zh-HK" dirty="0"/>
              <a:t> (2009), van </a:t>
            </a:r>
            <a:r>
              <a:rPr lang="en-US" altLang="zh-HK" dirty="0" err="1"/>
              <a:t>Gelderen</a:t>
            </a:r>
            <a:r>
              <a:rPr lang="en-US" altLang="zh-HK" dirty="0"/>
              <a:t> (2015), </a:t>
            </a:r>
            <a:r>
              <a:rPr lang="en-US" altLang="zh-HK" dirty="0" err="1"/>
              <a:t>cf</a:t>
            </a:r>
            <a:r>
              <a:rPr lang="en-US" altLang="zh-HK" dirty="0"/>
              <a:t> Bowers (1993, 2001))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544010" y="45282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CIRCULAR- no independent mechanism for focus </a:t>
            </a:r>
            <a:r>
              <a:rPr lang="en-US" altLang="zh-HK" dirty="0" err="1"/>
              <a:t>assigment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301539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Shi	[small clause [subject </a:t>
            </a:r>
            <a:r>
              <a:rPr lang="en-US" altLang="zh-HK" dirty="0" err="1"/>
              <a:t>Zhangsan</a:t>
            </a:r>
            <a:r>
              <a:rPr lang="en-US" altLang="zh-HK" dirty="0"/>
              <a:t>] [predicate e </a:t>
            </a:r>
            <a:r>
              <a:rPr lang="en-US" altLang="zh-HK" dirty="0" err="1"/>
              <a:t>zhu</a:t>
            </a:r>
            <a:r>
              <a:rPr lang="en-US" altLang="zh-HK" dirty="0"/>
              <a:t> </a:t>
            </a:r>
            <a:r>
              <a:rPr lang="en-US" altLang="zh-HK" dirty="0" err="1"/>
              <a:t>zai</a:t>
            </a:r>
            <a:r>
              <a:rPr lang="en-US" altLang="zh-HK" dirty="0"/>
              <a:t> </a:t>
            </a:r>
            <a:r>
              <a:rPr lang="en-US" altLang="zh-HK" dirty="0" err="1"/>
              <a:t>Taibei</a:t>
            </a:r>
            <a:r>
              <a:rPr lang="en-US" altLang="zh-HK" dirty="0"/>
              <a:t> de]] (Cheng (2008))</a:t>
            </a:r>
            <a:endParaRPr lang="zh-HK" alt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00100" y="374061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Paul and Whitman (2008:437-438) argue that the subject trace is deleted at the interfaces (Spell-Out) and focus is assigned via PF-adjacency</a:t>
            </a:r>
            <a:endParaRPr lang="zh-HK" alt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222772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Raising verb analysis is problematic, since it leaves a subject trace which intervenes between </a:t>
            </a:r>
            <a:r>
              <a:rPr lang="en-US" altLang="zh-HK" i="1" dirty="0" err="1"/>
              <a:t>shi</a:t>
            </a:r>
            <a:r>
              <a:rPr lang="en-US" altLang="zh-HK" i="1" dirty="0"/>
              <a:t> </a:t>
            </a:r>
            <a:r>
              <a:rPr lang="en-US" altLang="zh-HK" dirty="0"/>
              <a:t>and the focused element: </a:t>
            </a:r>
            <a:endParaRPr lang="zh-HK" alt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00100" y="49516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i="1" dirty="0"/>
              <a:t>Shi </a:t>
            </a:r>
            <a:r>
              <a:rPr lang="en-US" altLang="zh-HK" dirty="0"/>
              <a:t>(</a:t>
            </a:r>
            <a:r>
              <a:rPr lang="en-US" altLang="zh-HK" dirty="0" err="1"/>
              <a:t>Pred</a:t>
            </a:r>
            <a:r>
              <a:rPr lang="en-US" altLang="zh-HK" dirty="0"/>
              <a:t>)- internal subject in </a:t>
            </a:r>
            <a:r>
              <a:rPr lang="en-US" altLang="zh-HK" dirty="0" err="1"/>
              <a:t>SpecPred</a:t>
            </a:r>
            <a:r>
              <a:rPr lang="en-US" altLang="zh-HK" dirty="0"/>
              <a:t> (Bowers (1993, 2001), den </a:t>
            </a:r>
            <a:r>
              <a:rPr lang="en-US" altLang="zh-HK" dirty="0" err="1"/>
              <a:t>Dikken</a:t>
            </a:r>
            <a:r>
              <a:rPr lang="en-US" altLang="zh-HK" dirty="0"/>
              <a:t> (2006))</a:t>
            </a:r>
            <a:endParaRPr lang="zh-HK" altLang="en-US" i="1" dirty="0"/>
          </a:p>
        </p:txBody>
      </p:sp>
    </p:spTree>
    <p:extLst>
      <p:ext uri="{BB962C8B-B14F-4D97-AF65-F5344CB8AC3E}">
        <p14:creationId xmlns:p14="http://schemas.microsoft.com/office/powerpoint/2010/main" val="1058315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i="1" dirty="0"/>
              <a:t>Shi </a:t>
            </a:r>
            <a:r>
              <a:rPr lang="en-US" altLang="zh-HK" dirty="0"/>
              <a:t>(3)</a:t>
            </a:r>
            <a:endParaRPr lang="zh-HK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8988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As </a:t>
            </a:r>
            <a:r>
              <a:rPr lang="en-US" altLang="zh-HK" i="1" dirty="0" err="1"/>
              <a:t>shi</a:t>
            </a:r>
            <a:r>
              <a:rPr lang="en-US" altLang="zh-HK" i="1" dirty="0"/>
              <a:t> </a:t>
            </a:r>
            <a:r>
              <a:rPr lang="en-US" altLang="zh-HK" dirty="0"/>
              <a:t>is </a:t>
            </a:r>
            <a:r>
              <a:rPr lang="en-US" altLang="zh-HK" dirty="0" err="1"/>
              <a:t>analysed</a:t>
            </a:r>
            <a:r>
              <a:rPr lang="en-US" altLang="zh-HK" dirty="0"/>
              <a:t> as a copula verb, it should have focal effects (u-</a:t>
            </a:r>
            <a:r>
              <a:rPr lang="en-US" altLang="zh-HK" dirty="0" err="1"/>
              <a:t>foc</a:t>
            </a:r>
            <a:r>
              <a:rPr lang="en-US" altLang="zh-HK" dirty="0"/>
              <a:t>) which assigns focus to its complement (Cheng (2008), </a:t>
            </a:r>
            <a:r>
              <a:rPr lang="en-US" altLang="zh-HK" dirty="0" err="1"/>
              <a:t>Meng</a:t>
            </a:r>
            <a:r>
              <a:rPr lang="en-US" altLang="zh-HK" dirty="0"/>
              <a:t> (2014)). </a:t>
            </a:r>
            <a:endParaRPr lang="zh-HK" altLang="en-US" dirty="0"/>
          </a:p>
        </p:txBody>
      </p:sp>
      <p:sp>
        <p:nvSpPr>
          <p:cNvPr id="4" name="矩形 4"/>
          <p:cNvSpPr/>
          <p:nvPr/>
        </p:nvSpPr>
        <p:spPr>
          <a:xfrm>
            <a:off x="838200" y="1592999"/>
            <a:ext cx="11353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This is theoretically attractive, since cross-linguistically cleft constructions are often formed with the copula assigning focus to its relative clause complement (</a:t>
            </a:r>
            <a:r>
              <a:rPr lang="en-US" sz="2800" dirty="0" err="1"/>
              <a:t>cf</a:t>
            </a:r>
            <a:r>
              <a:rPr lang="en-US" sz="2800" dirty="0"/>
              <a:t> </a:t>
            </a:r>
            <a:r>
              <a:rPr lang="en-US" sz="2800" i="1" dirty="0"/>
              <a:t>it-</a:t>
            </a:r>
            <a:r>
              <a:rPr lang="en-US" sz="2800" dirty="0"/>
              <a:t>clefts). </a:t>
            </a:r>
            <a:endParaRPr lang="en-GB" sz="2800" dirty="0"/>
          </a:p>
        </p:txBody>
      </p:sp>
      <p:sp>
        <p:nvSpPr>
          <p:cNvPr id="5" name="矩形 4"/>
          <p:cNvSpPr/>
          <p:nvPr/>
        </p:nvSpPr>
        <p:spPr>
          <a:xfrm>
            <a:off x="838200" y="2859590"/>
            <a:ext cx="1121389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The main difference between Chinese </a:t>
            </a:r>
            <a:r>
              <a:rPr lang="en-GB" sz="2800" i="1" dirty="0" err="1"/>
              <a:t>shi</a:t>
            </a:r>
            <a:r>
              <a:rPr lang="en-GB" sz="2800" i="1" dirty="0"/>
              <a:t>-de </a:t>
            </a:r>
            <a:r>
              <a:rPr lang="en-GB" sz="2800" dirty="0"/>
              <a:t>and European </a:t>
            </a:r>
            <a:r>
              <a:rPr lang="en-GB" sz="2800" i="1" dirty="0"/>
              <a:t>it-</a:t>
            </a:r>
            <a:r>
              <a:rPr lang="en-GB" sz="2800" dirty="0"/>
              <a:t>cleft is that in the latter the relative clause comes after the head noun whereas in Chinese it comes before </a:t>
            </a:r>
            <a:r>
              <a:rPr lang="en-GB" sz="2800" i="1" dirty="0"/>
              <a:t>de</a:t>
            </a:r>
            <a:r>
              <a:rPr lang="en-GB" sz="2800" dirty="0"/>
              <a:t>: </a:t>
            </a:r>
          </a:p>
        </p:txBody>
      </p:sp>
      <p:sp>
        <p:nvSpPr>
          <p:cNvPr id="6" name="矩形 4"/>
          <p:cNvSpPr/>
          <p:nvPr/>
        </p:nvSpPr>
        <p:spPr>
          <a:xfrm>
            <a:off x="838200" y="4123664"/>
            <a:ext cx="11353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i="1" dirty="0"/>
              <a:t>It-</a:t>
            </a:r>
            <a:r>
              <a:rPr lang="en-GB" sz="2800" dirty="0"/>
              <a:t>cleft: </a:t>
            </a:r>
          </a:p>
          <a:p>
            <a:r>
              <a:rPr lang="en-GB" sz="2800" dirty="0"/>
              <a:t>It	was	CLINTON	who won. </a:t>
            </a:r>
          </a:p>
          <a:p>
            <a:r>
              <a:rPr lang="en-GB" sz="2800" dirty="0"/>
              <a:t>PRO	COP	cleft-focus	cleft-presupposition (</a:t>
            </a:r>
            <a:r>
              <a:rPr lang="en-GB" sz="2800" dirty="0" err="1"/>
              <a:t>Hedberg</a:t>
            </a:r>
            <a:r>
              <a:rPr lang="en-GB" sz="2800" dirty="0"/>
              <a:t> (2000:891)</a:t>
            </a:r>
          </a:p>
        </p:txBody>
      </p:sp>
      <p:sp>
        <p:nvSpPr>
          <p:cNvPr id="7" name="矩形 4"/>
          <p:cNvSpPr/>
          <p:nvPr/>
        </p:nvSpPr>
        <p:spPr>
          <a:xfrm>
            <a:off x="838200" y="5390255"/>
            <a:ext cx="116382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i="1" dirty="0"/>
              <a:t>Shi-de</a:t>
            </a:r>
            <a:r>
              <a:rPr lang="en-GB" sz="2800" dirty="0"/>
              <a:t>: </a:t>
            </a:r>
          </a:p>
          <a:p>
            <a:r>
              <a:rPr lang="en-GB" sz="2800" dirty="0"/>
              <a:t>Wo	</a:t>
            </a:r>
            <a:r>
              <a:rPr lang="en-GB" sz="2800" dirty="0" err="1"/>
              <a:t>shi</a:t>
            </a:r>
            <a:r>
              <a:rPr lang="en-GB" sz="2800" dirty="0"/>
              <a:t>	</a:t>
            </a:r>
            <a:r>
              <a:rPr lang="en-GB" sz="2800" dirty="0" err="1"/>
              <a:t>zuotian</a:t>
            </a:r>
            <a:r>
              <a:rPr lang="en-GB" sz="2800" dirty="0"/>
              <a:t>	</a:t>
            </a:r>
            <a:r>
              <a:rPr lang="en-GB" sz="2800" dirty="0" err="1"/>
              <a:t>mai</a:t>
            </a:r>
            <a:r>
              <a:rPr lang="en-GB" sz="2800" dirty="0"/>
              <a:t>	</a:t>
            </a:r>
            <a:r>
              <a:rPr lang="en-GB" sz="2800" dirty="0" err="1"/>
              <a:t>piao</a:t>
            </a:r>
            <a:r>
              <a:rPr lang="en-GB" sz="2800" dirty="0"/>
              <a:t>	de </a:t>
            </a:r>
          </a:p>
          <a:p>
            <a:r>
              <a:rPr lang="en-GB" sz="2800" dirty="0"/>
              <a:t>SUBJ	COP	cleft-focus	cleft-presupposition (Hole and Zimmermann (2013</a:t>
            </a:r>
            <a:r>
              <a:rPr lang="en-US" altLang="zh-TW" sz="2800" dirty="0"/>
              <a:t>:306)</a:t>
            </a:r>
            <a:r>
              <a:rPr lang="en-GB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243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i="1" dirty="0"/>
              <a:t>De </a:t>
            </a:r>
            <a:r>
              <a:rPr lang="en-US" altLang="zh-HK" dirty="0"/>
              <a:t>(1)</a:t>
            </a:r>
            <a:endParaRPr lang="zh-HK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62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 err="1"/>
              <a:t>VOde</a:t>
            </a:r>
            <a:r>
              <a:rPr lang="en-US" altLang="zh-HK" dirty="0"/>
              <a:t>-</a:t>
            </a:r>
          </a:p>
          <a:p>
            <a:pPr marL="0" indent="0">
              <a:buNone/>
            </a:pPr>
            <a:r>
              <a:rPr lang="en-US" altLang="zh-HK" dirty="0" err="1"/>
              <a:t>VdeO</a:t>
            </a:r>
            <a:r>
              <a:rPr lang="en-US" altLang="zh-HK" dirty="0"/>
              <a:t>-  </a:t>
            </a:r>
            <a:endParaRPr lang="zh-HK" alt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896979" y="8876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Narrow/broad focus and all TAM markers, </a:t>
            </a:r>
            <a:r>
              <a:rPr lang="en-US" altLang="zh-HK" dirty="0" err="1"/>
              <a:t>negators</a:t>
            </a:r>
            <a:r>
              <a:rPr lang="en-US" altLang="zh-HK" dirty="0"/>
              <a:t> and </a:t>
            </a:r>
            <a:r>
              <a:rPr lang="en-US" altLang="zh-HK" i="1" dirty="0" err="1"/>
              <a:t>dou</a:t>
            </a:r>
            <a:endParaRPr lang="zh-HK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896979" y="13469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dirty="0"/>
              <a:t>Past tense, narrow focus only, no TAM/</a:t>
            </a:r>
            <a:r>
              <a:rPr lang="en-US" altLang="zh-HK" dirty="0" err="1"/>
              <a:t>negator</a:t>
            </a:r>
            <a:r>
              <a:rPr lang="en-US" altLang="zh-HK" dirty="0"/>
              <a:t>/</a:t>
            </a:r>
            <a:r>
              <a:rPr lang="en-US" altLang="zh-HK" i="1" dirty="0" err="1"/>
              <a:t>dou</a:t>
            </a:r>
            <a:endParaRPr lang="zh-HK" altLang="en-US" dirty="0"/>
          </a:p>
        </p:txBody>
      </p:sp>
      <p:sp>
        <p:nvSpPr>
          <p:cNvPr id="7" name="矩形 4"/>
          <p:cNvSpPr/>
          <p:nvPr/>
        </p:nvSpPr>
        <p:spPr>
          <a:xfrm>
            <a:off x="838200" y="1784853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Sentence-final </a:t>
            </a:r>
            <a:r>
              <a:rPr lang="en-US" sz="2800" i="1" dirty="0"/>
              <a:t>de </a:t>
            </a:r>
            <a:r>
              <a:rPr lang="en-US" sz="2800" dirty="0"/>
              <a:t>seems to have wider scope, as it allows a wider range of clausal material. </a:t>
            </a:r>
            <a:endParaRPr lang="en-GB" sz="2800" dirty="0"/>
          </a:p>
        </p:txBody>
      </p:sp>
      <p:sp>
        <p:nvSpPr>
          <p:cNvPr id="8" name="矩形 4"/>
          <p:cNvSpPr/>
          <p:nvPr/>
        </p:nvSpPr>
        <p:spPr>
          <a:xfrm>
            <a:off x="3326567" y="2155659"/>
            <a:ext cx="1135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i="1" dirty="0"/>
              <a:t>De </a:t>
            </a:r>
            <a:r>
              <a:rPr lang="en-GB" sz="2800" dirty="0"/>
              <a:t>is a sentence-final particle denoting clausal Force </a:t>
            </a:r>
            <a:endParaRPr lang="en-GB" sz="2800" i="1" dirty="0"/>
          </a:p>
        </p:txBody>
      </p:sp>
      <p:sp>
        <p:nvSpPr>
          <p:cNvPr id="9" name="矩形 4"/>
          <p:cNvSpPr/>
          <p:nvPr/>
        </p:nvSpPr>
        <p:spPr>
          <a:xfrm>
            <a:off x="838200" y="2700298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Verbal suffix </a:t>
            </a:r>
            <a:r>
              <a:rPr lang="en-GB" sz="2800" i="1" dirty="0"/>
              <a:t>de </a:t>
            </a:r>
            <a:r>
              <a:rPr lang="en-GB" sz="2800" dirty="0"/>
              <a:t>marks past tense (T(past)) and is affixed onto the verb via V-to-v movement (</a:t>
            </a:r>
            <a:r>
              <a:rPr lang="en-GB" sz="2800" dirty="0" err="1"/>
              <a:t>cf</a:t>
            </a:r>
            <a:r>
              <a:rPr lang="en-GB" sz="2800" dirty="0"/>
              <a:t> Lin (2001)). </a:t>
            </a:r>
            <a:r>
              <a:rPr lang="en-GB" sz="2800" i="1" dirty="0"/>
              <a:t> </a:t>
            </a:r>
            <a:endParaRPr lang="en-GB" sz="2800" dirty="0"/>
          </a:p>
        </p:txBody>
      </p:sp>
      <p:sp>
        <p:nvSpPr>
          <p:cNvPr id="10" name="矩形 4"/>
          <p:cNvSpPr/>
          <p:nvPr/>
        </p:nvSpPr>
        <p:spPr>
          <a:xfrm>
            <a:off x="5320259" y="3099349"/>
            <a:ext cx="1135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Affix-hopping- (T(past) to little v (</a:t>
            </a:r>
            <a:r>
              <a:rPr lang="en-GB" sz="2800" dirty="0" err="1"/>
              <a:t>cf</a:t>
            </a:r>
            <a:r>
              <a:rPr lang="en-GB" sz="2800" dirty="0"/>
              <a:t> English (Pollock (1989))</a:t>
            </a:r>
          </a:p>
        </p:txBody>
      </p:sp>
      <p:sp>
        <p:nvSpPr>
          <p:cNvPr id="11" name="矩形 4"/>
          <p:cNvSpPr/>
          <p:nvPr/>
        </p:nvSpPr>
        <p:spPr>
          <a:xfrm>
            <a:off x="838200" y="3530236"/>
            <a:ext cx="1135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English affix-hopping pre-empts all auxiliaries, tense markers and </a:t>
            </a:r>
            <a:r>
              <a:rPr lang="en-US" altLang="zh-TW" sz="2800" dirty="0" err="1"/>
              <a:t>negator</a:t>
            </a:r>
            <a:r>
              <a:rPr lang="en-US" altLang="zh-TW" sz="2800" dirty="0"/>
              <a:t> </a:t>
            </a:r>
            <a:r>
              <a:rPr lang="en-US" altLang="zh-TW" sz="2800" i="1" dirty="0"/>
              <a:t>not</a:t>
            </a:r>
            <a:endParaRPr lang="en-GB" sz="2800" dirty="0"/>
          </a:p>
        </p:txBody>
      </p:sp>
      <p:sp>
        <p:nvSpPr>
          <p:cNvPr id="12" name="矩形 4"/>
          <p:cNvSpPr/>
          <p:nvPr/>
        </p:nvSpPr>
        <p:spPr>
          <a:xfrm>
            <a:off x="838200" y="4014794"/>
            <a:ext cx="113538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As sentence-final </a:t>
            </a:r>
            <a:r>
              <a:rPr lang="en-GB" sz="2800" i="1" dirty="0"/>
              <a:t>de </a:t>
            </a:r>
            <a:r>
              <a:rPr lang="en-GB" sz="2800" dirty="0"/>
              <a:t>(C) has scope over the whole embedded clause, it allows A’-movement for both individual constituents in the embedded clause (narrow) and the entire clause (broad) (</a:t>
            </a:r>
            <a:r>
              <a:rPr lang="en-GB" sz="2800" dirty="0" err="1"/>
              <a:t>cf</a:t>
            </a:r>
            <a:r>
              <a:rPr lang="en-GB" sz="2800" dirty="0"/>
              <a:t> Hole (2011), </a:t>
            </a:r>
            <a:r>
              <a:rPr lang="en-GB" sz="2800" dirty="0" err="1"/>
              <a:t>Meng</a:t>
            </a:r>
            <a:r>
              <a:rPr lang="en-GB" sz="2800" dirty="0"/>
              <a:t> (2014))</a:t>
            </a:r>
          </a:p>
        </p:txBody>
      </p:sp>
      <p:sp>
        <p:nvSpPr>
          <p:cNvPr id="13" name="矩形 4"/>
          <p:cNvSpPr/>
          <p:nvPr/>
        </p:nvSpPr>
        <p:spPr>
          <a:xfrm>
            <a:off x="838200" y="5354763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/>
              <a:t>Verbal suffix </a:t>
            </a:r>
            <a:r>
              <a:rPr lang="en-GB" sz="2800" i="1" dirty="0"/>
              <a:t>de </a:t>
            </a:r>
            <a:r>
              <a:rPr lang="en-GB" sz="2800" dirty="0"/>
              <a:t>(T(past)) does not have scope over the whole clause and hence disallows broad focus. </a:t>
            </a:r>
          </a:p>
        </p:txBody>
      </p:sp>
    </p:spTree>
    <p:extLst>
      <p:ext uri="{BB962C8B-B14F-4D97-AF65-F5344CB8AC3E}">
        <p14:creationId xmlns:p14="http://schemas.microsoft.com/office/powerpoint/2010/main" val="123296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i="1" dirty="0"/>
              <a:t>De </a:t>
            </a:r>
            <a:r>
              <a:rPr lang="en-US" altLang="zh-HK" dirty="0"/>
              <a:t>(2)</a:t>
            </a:r>
            <a:endParaRPr lang="zh-HK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6116"/>
            <a:ext cx="12192000" cy="5781884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	</a:t>
            </a:r>
            <a:r>
              <a:rPr lang="en-US" altLang="zh-TW" dirty="0" err="1"/>
              <a:t>PredP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SpecPred</a:t>
            </a:r>
            <a:r>
              <a:rPr lang="en-US" altLang="zh-TW" dirty="0"/>
              <a:t>		</a:t>
            </a:r>
            <a:r>
              <a:rPr lang="en-US" altLang="zh-TW" dirty="0" err="1"/>
              <a:t>Pred</a:t>
            </a:r>
            <a:r>
              <a:rPr lang="en-US" altLang="zh-TW" dirty="0"/>
              <a:t>’</a:t>
            </a:r>
          </a:p>
          <a:p>
            <a:pPr marL="0" indent="0">
              <a:buNone/>
            </a:pPr>
            <a:r>
              <a:rPr lang="en-US" altLang="zh-TW" dirty="0"/>
              <a:t>(Subject)	</a:t>
            </a:r>
            <a:r>
              <a:rPr lang="en-US" altLang="zh-TW" dirty="0" err="1"/>
              <a:t>Pred</a:t>
            </a:r>
            <a:r>
              <a:rPr lang="en-US" altLang="zh-TW" dirty="0"/>
              <a:t>			</a:t>
            </a:r>
            <a:r>
              <a:rPr lang="en-US" altLang="zh-TW" dirty="0" err="1"/>
              <a:t>FocP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	</a:t>
            </a:r>
            <a:r>
              <a:rPr lang="en-US" altLang="zh-TW" dirty="0" err="1"/>
              <a:t>shi</a:t>
            </a:r>
            <a:r>
              <a:rPr lang="en-US" altLang="zh-TW" dirty="0"/>
              <a:t>	</a:t>
            </a:r>
            <a:r>
              <a:rPr lang="en-US" altLang="zh-TW" dirty="0" err="1"/>
              <a:t>SpecFoc</a:t>
            </a:r>
            <a:r>
              <a:rPr lang="en-US" altLang="zh-TW" dirty="0"/>
              <a:t>		</a:t>
            </a:r>
            <a:r>
              <a:rPr lang="en-US" altLang="zh-TW" dirty="0" err="1"/>
              <a:t>Foc</a:t>
            </a:r>
            <a:r>
              <a:rPr lang="en-US" altLang="zh-TW" dirty="0"/>
              <a:t>’</a:t>
            </a:r>
          </a:p>
          <a:p>
            <a:pPr marL="0" indent="0">
              <a:buNone/>
            </a:pPr>
            <a:r>
              <a:rPr lang="en-US" altLang="zh-TW" dirty="0"/>
              <a:t>		[u-</a:t>
            </a:r>
            <a:r>
              <a:rPr lang="en-US" altLang="zh-TW" dirty="0" err="1"/>
              <a:t>foc</a:t>
            </a:r>
            <a:r>
              <a:rPr lang="en-US" altLang="zh-TW" dirty="0"/>
              <a:t>]subject	</a:t>
            </a:r>
            <a:r>
              <a:rPr lang="en-US" altLang="zh-TW" dirty="0" err="1"/>
              <a:t>Foc</a:t>
            </a:r>
            <a:r>
              <a:rPr lang="en-US" altLang="zh-TW" dirty="0"/>
              <a:t>		CP</a:t>
            </a:r>
          </a:p>
          <a:p>
            <a:pPr marL="0" indent="0">
              <a:buNone/>
            </a:pPr>
            <a:r>
              <a:rPr lang="en-US" altLang="zh-TW" dirty="0"/>
              <a:t>			adverb	[</a:t>
            </a:r>
            <a:r>
              <a:rPr lang="en-US" altLang="zh-TW" dirty="0" err="1"/>
              <a:t>i-foc</a:t>
            </a:r>
            <a:r>
              <a:rPr lang="en-US" altLang="zh-TW" dirty="0"/>
              <a:t>]	</a:t>
            </a:r>
            <a:r>
              <a:rPr lang="en-US" altLang="zh-TW" dirty="0" err="1"/>
              <a:t>SpecC</a:t>
            </a:r>
            <a:r>
              <a:rPr lang="en-US" altLang="zh-TW" dirty="0"/>
              <a:t>			C’</a:t>
            </a:r>
          </a:p>
          <a:p>
            <a:pPr marL="0" indent="0">
              <a:buNone/>
            </a:pPr>
            <a:r>
              <a:rPr lang="en-US" altLang="zh-TW" dirty="0"/>
              <a:t>			verb			   TP </a:t>
            </a:r>
            <a:r>
              <a:rPr lang="en-US" altLang="zh-TW" sz="2000" dirty="0" err="1"/>
              <a:t>i</a:t>
            </a:r>
            <a:r>
              <a:rPr lang="en-US" altLang="zh-TW" dirty="0"/>
              <a:t>		C	    	TP</a:t>
            </a:r>
          </a:p>
          <a:p>
            <a:pPr marL="0" indent="0">
              <a:buNone/>
            </a:pPr>
            <a:r>
              <a:rPr lang="en-US" altLang="zh-TW" dirty="0"/>
              <a:t>			TP		</a:t>
            </a:r>
            <a:r>
              <a:rPr lang="en-US" altLang="zh-TW" dirty="0" err="1"/>
              <a:t>SpecT</a:t>
            </a:r>
            <a:r>
              <a:rPr lang="en-US" altLang="zh-TW" dirty="0"/>
              <a:t>		T’	de	        	t </a:t>
            </a:r>
            <a:r>
              <a:rPr lang="en-US" altLang="zh-TW" sz="2000" dirty="0"/>
              <a:t>i</a:t>
            </a:r>
          </a:p>
          <a:p>
            <a:pPr marL="0" indent="0">
              <a:buNone/>
            </a:pPr>
            <a:r>
              <a:rPr lang="en-US" altLang="zh-TW" sz="2000" dirty="0"/>
              <a:t>						</a:t>
            </a:r>
            <a:r>
              <a:rPr lang="en-US" altLang="zh-TW" dirty="0"/>
              <a:t>T		VP</a:t>
            </a:r>
          </a:p>
          <a:p>
            <a:pPr marL="0" indent="0">
              <a:buNone/>
            </a:pPr>
            <a:r>
              <a:rPr lang="en-US" altLang="zh-TW" dirty="0"/>
              <a:t>								V’</a:t>
            </a:r>
          </a:p>
          <a:p>
            <a:pPr marL="0" indent="0">
              <a:buNone/>
            </a:pPr>
            <a:r>
              <a:rPr lang="en-US" altLang="zh-TW" sz="2400" dirty="0"/>
              <a:t>							V		DP</a:t>
            </a: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838200" y="1435608"/>
            <a:ext cx="579120" cy="25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389888" y="1417320"/>
            <a:ext cx="1655064" cy="25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255520" y="1947672"/>
            <a:ext cx="963168" cy="2377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209544" y="1947672"/>
            <a:ext cx="1792224" cy="2194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557016" y="2459736"/>
            <a:ext cx="1435608" cy="25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001768" y="2401679"/>
            <a:ext cx="822960" cy="277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992624" y="2971800"/>
            <a:ext cx="850392" cy="271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24728" y="2971800"/>
            <a:ext cx="896112" cy="1737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071616" y="3483864"/>
            <a:ext cx="640080" cy="271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720840" y="3438144"/>
            <a:ext cx="1664208" cy="25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562088" y="3986784"/>
            <a:ext cx="868680" cy="234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8430768" y="3986784"/>
            <a:ext cx="1051560" cy="234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963920" y="3986784"/>
            <a:ext cx="0" cy="234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5232400" y="4470400"/>
            <a:ext cx="751840" cy="213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071616" y="4470400"/>
            <a:ext cx="491744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5720080" y="4998720"/>
            <a:ext cx="883920" cy="243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563360" y="5008880"/>
            <a:ext cx="998728" cy="2235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562088" y="5476240"/>
            <a:ext cx="0" cy="304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H="1">
            <a:off x="6563360" y="6004560"/>
            <a:ext cx="998728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7562088" y="6024880"/>
            <a:ext cx="86868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0620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i="1" dirty="0"/>
              <a:t>De </a:t>
            </a:r>
            <a:r>
              <a:rPr lang="en-US" altLang="zh-HK" dirty="0"/>
              <a:t>(3)</a:t>
            </a:r>
            <a:endParaRPr lang="zh-HK" alt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76116"/>
            <a:ext cx="12192000" cy="57818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HK" dirty="0"/>
              <a:t>	</a:t>
            </a:r>
            <a:r>
              <a:rPr lang="en-US" altLang="zh-TW" dirty="0" err="1"/>
              <a:t>PredP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SpecPred</a:t>
            </a:r>
            <a:r>
              <a:rPr lang="en-US" altLang="zh-TW" dirty="0"/>
              <a:t>		</a:t>
            </a:r>
            <a:r>
              <a:rPr lang="en-US" altLang="zh-TW" dirty="0" err="1"/>
              <a:t>Pred</a:t>
            </a:r>
            <a:r>
              <a:rPr lang="en-US" altLang="zh-TW" dirty="0"/>
              <a:t>’</a:t>
            </a:r>
          </a:p>
          <a:p>
            <a:pPr marL="0" indent="0">
              <a:buNone/>
            </a:pPr>
            <a:r>
              <a:rPr lang="en-US" altLang="zh-TW" dirty="0"/>
              <a:t>(Subject)	</a:t>
            </a:r>
            <a:r>
              <a:rPr lang="en-US" altLang="zh-TW" dirty="0" err="1"/>
              <a:t>Pred</a:t>
            </a:r>
            <a:r>
              <a:rPr lang="en-US" altLang="zh-TW" dirty="0"/>
              <a:t>			</a:t>
            </a:r>
            <a:r>
              <a:rPr lang="en-US" altLang="zh-TW" dirty="0" err="1"/>
              <a:t>FocP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	</a:t>
            </a:r>
            <a:r>
              <a:rPr lang="en-US" altLang="zh-TW" dirty="0" err="1"/>
              <a:t>shi</a:t>
            </a:r>
            <a:r>
              <a:rPr lang="en-US" altLang="zh-TW" dirty="0"/>
              <a:t>	</a:t>
            </a:r>
            <a:r>
              <a:rPr lang="en-US" altLang="zh-TW" dirty="0" err="1"/>
              <a:t>SpecFoc</a:t>
            </a:r>
            <a:r>
              <a:rPr lang="en-US" altLang="zh-TW" dirty="0"/>
              <a:t>		</a:t>
            </a:r>
            <a:r>
              <a:rPr lang="en-US" altLang="zh-TW" dirty="0" err="1"/>
              <a:t>Foc</a:t>
            </a:r>
            <a:r>
              <a:rPr lang="en-US" altLang="zh-TW" dirty="0"/>
              <a:t>’</a:t>
            </a:r>
          </a:p>
          <a:p>
            <a:pPr marL="0" indent="0">
              <a:buNone/>
            </a:pPr>
            <a:r>
              <a:rPr lang="en-US" altLang="zh-TW" dirty="0"/>
              <a:t>		[u-</a:t>
            </a:r>
            <a:r>
              <a:rPr lang="en-US" altLang="zh-TW" dirty="0" err="1"/>
              <a:t>foc</a:t>
            </a:r>
            <a:r>
              <a:rPr lang="en-US" altLang="zh-TW" dirty="0"/>
              <a:t>]subject	</a:t>
            </a:r>
            <a:r>
              <a:rPr lang="en-US" altLang="zh-TW" dirty="0" err="1"/>
              <a:t>Foc</a:t>
            </a:r>
            <a:r>
              <a:rPr lang="en-US" altLang="zh-TW" dirty="0"/>
              <a:t>		TP</a:t>
            </a:r>
          </a:p>
          <a:p>
            <a:pPr marL="0" indent="0">
              <a:buNone/>
            </a:pPr>
            <a:r>
              <a:rPr lang="en-US" altLang="zh-TW" dirty="0"/>
              <a:t>			adverb	[</a:t>
            </a:r>
            <a:r>
              <a:rPr lang="en-US" altLang="zh-TW" dirty="0" err="1"/>
              <a:t>i-foc</a:t>
            </a:r>
            <a:r>
              <a:rPr lang="en-US" altLang="zh-TW" dirty="0"/>
              <a:t>]	</a:t>
            </a:r>
            <a:r>
              <a:rPr lang="en-US" altLang="zh-TW" dirty="0" err="1"/>
              <a:t>SpecT</a:t>
            </a:r>
            <a:r>
              <a:rPr lang="en-US" altLang="zh-TW" dirty="0"/>
              <a:t>		T’</a:t>
            </a:r>
          </a:p>
          <a:p>
            <a:pPr marL="0" indent="0">
              <a:buNone/>
            </a:pPr>
            <a:r>
              <a:rPr lang="en-US" altLang="zh-TW" dirty="0"/>
              <a:t>						   	T(past)	</a:t>
            </a:r>
            <a:r>
              <a:rPr lang="en-US" altLang="zh-TW" dirty="0" err="1"/>
              <a:t>vP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							(de)		v’</a:t>
            </a:r>
          </a:p>
          <a:p>
            <a:pPr marL="0" indent="0">
              <a:buNone/>
            </a:pPr>
            <a:r>
              <a:rPr lang="en-US" altLang="zh-TW" dirty="0"/>
              <a:t>								v		VP</a:t>
            </a:r>
          </a:p>
          <a:p>
            <a:pPr marL="0" indent="0">
              <a:buNone/>
            </a:pPr>
            <a:r>
              <a:rPr lang="en-US" altLang="zh-TW" dirty="0"/>
              <a:t>								V </a:t>
            </a:r>
            <a:r>
              <a:rPr lang="en-US" altLang="zh-TW" sz="2000" dirty="0" err="1"/>
              <a:t>i</a:t>
            </a:r>
            <a:r>
              <a:rPr lang="en-US" altLang="zh-TW" dirty="0"/>
              <a:t>-de		V’</a:t>
            </a:r>
          </a:p>
          <a:p>
            <a:pPr marL="0" indent="0">
              <a:buNone/>
            </a:pPr>
            <a:r>
              <a:rPr lang="en-US" altLang="zh-TW" sz="2400" dirty="0"/>
              <a:t>									V		DP</a:t>
            </a:r>
          </a:p>
          <a:p>
            <a:pPr marL="0" indent="0">
              <a:buNone/>
            </a:pPr>
            <a:r>
              <a:rPr lang="en-US" altLang="zh-TW" sz="2400" dirty="0"/>
              <a:t>									t </a:t>
            </a:r>
            <a:r>
              <a:rPr lang="en-US" altLang="zh-TW" sz="1800" dirty="0" err="1"/>
              <a:t>i</a:t>
            </a:r>
            <a:endParaRPr lang="en-US" altLang="zh-TW" sz="2400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838200" y="1435608"/>
            <a:ext cx="579120" cy="1538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389888" y="1417320"/>
            <a:ext cx="1755648" cy="172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2304288" y="1947672"/>
            <a:ext cx="914400" cy="1097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209544" y="1947672"/>
            <a:ext cx="1792224" cy="1613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552444" y="2305726"/>
            <a:ext cx="1435608" cy="256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001768" y="2312337"/>
            <a:ext cx="822960" cy="277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5001768" y="2824401"/>
            <a:ext cx="850392" cy="271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852160" y="2828973"/>
            <a:ext cx="896112" cy="1737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6025896" y="3258140"/>
            <a:ext cx="640080" cy="2714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665976" y="3258140"/>
            <a:ext cx="768096" cy="210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6974586" y="3721608"/>
            <a:ext cx="507492" cy="2454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482078" y="3706147"/>
            <a:ext cx="1051560" cy="2348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8444484" y="4220189"/>
            <a:ext cx="27432" cy="2420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7482078" y="4690773"/>
            <a:ext cx="957834" cy="2195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430768" y="4698454"/>
            <a:ext cx="969264" cy="1509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9381744" y="5085587"/>
            <a:ext cx="18288" cy="274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8366760" y="5606819"/>
            <a:ext cx="914400" cy="1400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9281160" y="5606819"/>
            <a:ext cx="1034796" cy="3186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412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6" y="13194"/>
            <a:ext cx="10515600" cy="1325563"/>
          </a:xfrm>
        </p:spPr>
        <p:txBody>
          <a:bodyPr/>
          <a:lstStyle/>
          <a:p>
            <a:r>
              <a:rPr lang="en-US" altLang="zh-HK" dirty="0"/>
              <a:t>Formation of </a:t>
            </a:r>
            <a:r>
              <a:rPr lang="en-US" altLang="zh-HK" i="1" dirty="0" err="1"/>
              <a:t>shi</a:t>
            </a:r>
            <a:r>
              <a:rPr lang="en-US" altLang="zh-HK" i="1" dirty="0"/>
              <a:t>-de </a:t>
            </a:r>
            <a:r>
              <a:rPr lang="en-US" altLang="zh-HK" dirty="0"/>
              <a:t>constructions 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6" y="92458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800" dirty="0"/>
              <a:t>Recent analyses propose that </a:t>
            </a:r>
            <a:r>
              <a:rPr lang="en-US" altLang="zh-HK" sz="1800" dirty="0" err="1"/>
              <a:t>VOde</a:t>
            </a:r>
            <a:r>
              <a:rPr lang="en-US" altLang="zh-HK" sz="1800" dirty="0"/>
              <a:t> and </a:t>
            </a:r>
            <a:r>
              <a:rPr lang="en-US" altLang="zh-HK" sz="1800" dirty="0" err="1"/>
              <a:t>VdeO</a:t>
            </a:r>
            <a:r>
              <a:rPr lang="en-US" altLang="zh-HK" sz="1800" dirty="0"/>
              <a:t> are derived from two different types of relative clauses (</a:t>
            </a:r>
            <a:r>
              <a:rPr lang="en-US" altLang="zh-HK" sz="1800" dirty="0" err="1"/>
              <a:t>VOde</a:t>
            </a:r>
            <a:r>
              <a:rPr lang="en-US" altLang="zh-HK" sz="1800" dirty="0"/>
              <a:t>/</a:t>
            </a:r>
            <a:r>
              <a:rPr lang="en-US" altLang="zh-HK" sz="1800" dirty="0" err="1"/>
              <a:t>VdeO</a:t>
            </a:r>
            <a:r>
              <a:rPr lang="en-US" altLang="zh-HK" sz="1800" dirty="0"/>
              <a:t>) (Long and Xiao (2009, 2011), Han (2012)</a:t>
            </a:r>
            <a:r>
              <a:rPr lang="en-US" altLang="zh-TW" sz="1800" dirty="0"/>
              <a:t>, Zhan (2012), Long (2013)). </a:t>
            </a:r>
            <a:endParaRPr lang="zh-HK" altLang="en-US" sz="1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196" y="145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i="1" dirty="0"/>
              <a:t>De- </a:t>
            </a:r>
            <a:r>
              <a:rPr lang="en-US" altLang="zh-HK" sz="1800" dirty="0"/>
              <a:t>it is argued to be derived either from classical Chinese </a:t>
            </a:r>
            <a:r>
              <a:rPr lang="en-US" altLang="zh-HK" sz="1800" i="1" dirty="0" err="1"/>
              <a:t>zhi</a:t>
            </a:r>
            <a:r>
              <a:rPr lang="en-US" altLang="zh-HK" sz="1800" i="1" dirty="0"/>
              <a:t> </a:t>
            </a:r>
            <a:r>
              <a:rPr lang="en-US" altLang="zh-HK" sz="1800" dirty="0"/>
              <a:t>(Wang (1968), </a:t>
            </a:r>
            <a:r>
              <a:rPr lang="en-US" altLang="zh-TW" sz="1800" dirty="0"/>
              <a:t>Mei (1988), </a:t>
            </a:r>
            <a:r>
              <a:rPr lang="en-US" altLang="zh-TW" sz="1800" dirty="0" err="1"/>
              <a:t>Pulleyblank</a:t>
            </a:r>
            <a:r>
              <a:rPr lang="en-US" altLang="zh-TW" sz="1800" dirty="0"/>
              <a:t> (1995)) or </a:t>
            </a:r>
            <a:r>
              <a:rPr lang="en-US" altLang="zh-TW" sz="1800" i="1" dirty="0" err="1"/>
              <a:t>zhe</a:t>
            </a:r>
            <a:r>
              <a:rPr lang="en-US" altLang="zh-TW" sz="1800" i="1" dirty="0"/>
              <a:t> </a:t>
            </a:r>
            <a:r>
              <a:rPr lang="en-US" altLang="zh-TW" sz="1800" dirty="0"/>
              <a:t>(Lu (1943), Cao (1999), Liu (2008)).</a:t>
            </a:r>
            <a:endParaRPr lang="zh-HK" altLang="en-US" sz="1800" i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196" y="250666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Following Aldridge (2006, 2008), early </a:t>
            </a:r>
            <a:r>
              <a:rPr lang="en-US" altLang="zh-HK" sz="1800" i="1" dirty="0"/>
              <a:t>de </a:t>
            </a:r>
            <a:r>
              <a:rPr lang="en-US" altLang="zh-HK" sz="1800" dirty="0"/>
              <a:t>(&lt; </a:t>
            </a:r>
            <a:r>
              <a:rPr lang="en-US" altLang="zh-HK" sz="1800" i="1" dirty="0" err="1"/>
              <a:t>zhe</a:t>
            </a:r>
            <a:r>
              <a:rPr lang="en-US" altLang="zh-HK" sz="1800" dirty="0"/>
              <a:t>) is lower than </a:t>
            </a:r>
            <a:r>
              <a:rPr lang="en-US" altLang="zh-HK" sz="1800" i="1" dirty="0" err="1"/>
              <a:t>zhi</a:t>
            </a:r>
            <a:r>
              <a:rPr lang="en-US" altLang="zh-HK" sz="1800" i="1" dirty="0"/>
              <a:t>- de/</a:t>
            </a:r>
            <a:r>
              <a:rPr lang="en-US" altLang="zh-HK" sz="1800" i="1" dirty="0" err="1"/>
              <a:t>zhe</a:t>
            </a:r>
            <a:r>
              <a:rPr lang="en-US" altLang="zh-HK" sz="1800" i="1" dirty="0"/>
              <a:t> </a:t>
            </a:r>
            <a:r>
              <a:rPr lang="en-US" altLang="zh-HK" sz="1800" dirty="0"/>
              <a:t>(n)</a:t>
            </a:r>
            <a:endParaRPr lang="zh-HK" alt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196" y="2806178"/>
            <a:ext cx="111452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As </a:t>
            </a:r>
            <a:r>
              <a:rPr lang="en-US" altLang="zh-HK" sz="1800" i="1" dirty="0"/>
              <a:t>de </a:t>
            </a:r>
            <a:r>
              <a:rPr lang="en-US" altLang="zh-HK" sz="1800" dirty="0"/>
              <a:t>begins to select nominal complements, it is reanalyzed as a determiner (D) with EPP feature (Paul (2012, 2015)).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196" y="1970679"/>
            <a:ext cx="1088857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i="1" dirty="0"/>
              <a:t>De </a:t>
            </a:r>
            <a:r>
              <a:rPr lang="en-US" altLang="zh-HK" sz="1800" dirty="0"/>
              <a:t>(&lt; </a:t>
            </a:r>
            <a:r>
              <a:rPr lang="en-US" altLang="zh-HK" sz="1800" i="1" dirty="0" err="1"/>
              <a:t>zhe</a:t>
            </a:r>
            <a:r>
              <a:rPr lang="en-US" altLang="zh-HK" sz="1800" dirty="0"/>
              <a:t>)- early attestations of </a:t>
            </a:r>
            <a:r>
              <a:rPr lang="en-US" altLang="zh-HK" sz="1800" i="1" dirty="0"/>
              <a:t>de </a:t>
            </a:r>
            <a:r>
              <a:rPr lang="en-US" altLang="zh-HK" sz="1800" dirty="0"/>
              <a:t>are phrase-final and do not have a nominal complement, which is impossible with </a:t>
            </a:r>
            <a:r>
              <a:rPr lang="en-US" altLang="zh-HK" sz="1800" i="1" dirty="0" err="1"/>
              <a:t>zhi</a:t>
            </a:r>
            <a:r>
              <a:rPr lang="en-US" altLang="zh-HK" sz="1800" i="1" dirty="0"/>
              <a:t> </a:t>
            </a:r>
            <a:r>
              <a:rPr lang="en-US" altLang="zh-HK" sz="1800" dirty="0"/>
              <a:t>but compatible with </a:t>
            </a:r>
            <a:r>
              <a:rPr lang="en-US" altLang="zh-HK" sz="1800" i="1" dirty="0" err="1"/>
              <a:t>zhe</a:t>
            </a:r>
            <a:endParaRPr lang="zh-HK" altLang="en-US" sz="1800" i="1" dirty="0"/>
          </a:p>
        </p:txBody>
      </p:sp>
      <p:sp>
        <p:nvSpPr>
          <p:cNvPr id="10" name="Rectangle 9"/>
          <p:cNvSpPr/>
          <p:nvPr/>
        </p:nvSpPr>
        <p:spPr>
          <a:xfrm>
            <a:off x="838195" y="3100256"/>
            <a:ext cx="11145255" cy="2644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DP							DP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SpecD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D’			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SpecD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nP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			D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nP</a:t>
            </a:r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Specn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n’				de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Specn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n’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	n		NP					n	     NP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	de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201920" y="4277360"/>
            <a:ext cx="1869440" cy="2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204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 err="1"/>
              <a:t>VOde</a:t>
            </a:r>
            <a:r>
              <a:rPr lang="en-US" altLang="zh-HK" dirty="0"/>
              <a:t> (1)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96841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The earliest attestation of </a:t>
            </a:r>
            <a:r>
              <a:rPr lang="en-US" altLang="zh-HK" dirty="0" err="1"/>
              <a:t>VOde</a:t>
            </a:r>
            <a:r>
              <a:rPr lang="en-US" altLang="zh-HK" dirty="0"/>
              <a:t> is in </a:t>
            </a:r>
            <a:r>
              <a:rPr lang="en-GB" altLang="zh-HK" i="1" dirty="0" err="1"/>
              <a:t>Zhenzhou</a:t>
            </a:r>
            <a:r>
              <a:rPr lang="en-GB" altLang="zh-HK" i="1" dirty="0"/>
              <a:t> </a:t>
            </a:r>
            <a:r>
              <a:rPr lang="en-GB" altLang="zh-HK" i="1" dirty="0" err="1"/>
              <a:t>liji</a:t>
            </a:r>
            <a:r>
              <a:rPr lang="en-GB" altLang="zh-HK" i="1" dirty="0"/>
              <a:t> Huizhou </a:t>
            </a:r>
            <a:r>
              <a:rPr lang="en-GB" altLang="zh-HK" i="1" dirty="0" err="1"/>
              <a:t>chanshi</a:t>
            </a:r>
            <a:r>
              <a:rPr lang="en-GB" altLang="zh-HK" i="1" dirty="0"/>
              <a:t> </a:t>
            </a:r>
            <a:r>
              <a:rPr lang="en-GB" altLang="zh-HK" i="1" dirty="0" err="1"/>
              <a:t>yulu</a:t>
            </a:r>
            <a:r>
              <a:rPr lang="en-GB" altLang="zh-HK" dirty="0"/>
              <a:t>: </a:t>
            </a:r>
            <a:endParaRPr lang="zh-HK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838197" y="1419867"/>
            <a:ext cx="10515600" cy="13044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daoliu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er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muqian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yong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di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Daoism	SHI	you	now	use	DE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‘Daoism is what you are using now.’ (</a:t>
            </a:r>
            <a:r>
              <a:rPr lang="en-GB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Zhenzhou</a:t>
            </a:r>
            <a:r>
              <a:rPr lang="en-GB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GB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liji</a:t>
            </a:r>
            <a:r>
              <a:rPr lang="en-GB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Huizhou </a:t>
            </a:r>
            <a:r>
              <a:rPr lang="en-GB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chanshi</a:t>
            </a:r>
            <a:r>
              <a:rPr lang="en-GB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GB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yulu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197" y="2710749"/>
            <a:ext cx="10936705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Cleft interpretation is seen in examples where the complement of </a:t>
            </a:r>
            <a:r>
              <a:rPr lang="en-US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US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VOde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 is used contrastively: 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196" y="3144249"/>
            <a:ext cx="10515602" cy="2516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Fei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pusa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xingcang</a:t>
            </a:r>
            <a:endParaRPr lang="en-US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NEG	SHI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divine.beings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behaviour</a:t>
            </a:r>
            <a:endParaRPr lang="en-US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Ci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suren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GB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zuo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di</a:t>
            </a:r>
            <a:endParaRPr lang="en-US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This	COP	laymen	do	DE</a:t>
            </a:r>
            <a:endParaRPr lang="en-US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‘This is not the behaviour of divine beings; this is the doings of laymen.’ 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&gt; ‘it was laymen who did this (narrow subject focus)’/’it is the case that laymen did this.’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en-GB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Dunhuang</a:t>
            </a:r>
            <a:r>
              <a:rPr lang="en-GB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GB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bianwenji</a:t>
            </a:r>
            <a:r>
              <a:rPr lang="en-GB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 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11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 err="1"/>
              <a:t>VdeO</a:t>
            </a:r>
            <a:r>
              <a:rPr lang="en-US" altLang="zh-HK" dirty="0"/>
              <a:t> (1)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064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HK" dirty="0"/>
              <a:t>The earliest attestation comes later than </a:t>
            </a:r>
            <a:r>
              <a:rPr lang="en-US" altLang="zh-HK" dirty="0" err="1"/>
              <a:t>VOde</a:t>
            </a:r>
            <a:r>
              <a:rPr lang="en-US" altLang="zh-HK" dirty="0"/>
              <a:t>: </a:t>
            </a:r>
            <a:endParaRPr lang="zh-HK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" y="1356788"/>
            <a:ext cx="10515600" cy="2516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Tianxia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</a:t>
            </a: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ren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zong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can	de	di	</a:t>
            </a: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chan</a:t>
            </a:r>
            <a:endParaRPr lang="en-US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Beneath.sky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people	always	SHI	study	obtain	DI	enlightenment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Mou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de	di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	SHI	understand	obtain	DI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‘As for everyone in the world, it is always enlightenment obtained via studying, whereas for me, it is enlightenment obtained via understanding. (</a:t>
            </a:r>
            <a:r>
              <a:rPr lang="en-US" altLang="zh-TW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Wudeng</a:t>
            </a:r>
            <a:r>
              <a:rPr lang="en-US" altLang="zh-TW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huiyuan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202961"/>
            <a:ext cx="10984832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There is a non-equational relationship between the subject (here </a:t>
            </a:r>
            <a:r>
              <a:rPr lang="en-US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tianxiaren</a:t>
            </a:r>
            <a:r>
              <a:rPr lang="en-US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 and the predicate (</a:t>
            </a:r>
            <a:r>
              <a:rPr lang="en-US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can de di </a:t>
            </a:r>
            <a:r>
              <a:rPr lang="en-US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chan</a:t>
            </a:r>
            <a:r>
              <a:rPr lang="en-US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</a:t>
            </a:r>
            <a:r>
              <a:rPr lang="en-US" altLang="zh-HK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</a:t>
            </a:r>
            <a:r>
              <a:rPr lang="en-US" altLang="zh-HK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de di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), since there is a loose predication between them (</a:t>
            </a: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cf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Yue (1968)). 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73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 err="1"/>
              <a:t>VdeO</a:t>
            </a:r>
            <a:r>
              <a:rPr lang="en-US" altLang="zh-HK" dirty="0"/>
              <a:t> (2)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0108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altLang="zh-HK" sz="1600" dirty="0" err="1"/>
              <a:t>qianzhe</a:t>
            </a:r>
            <a:r>
              <a:rPr lang="en-GB" altLang="zh-HK" sz="1600" dirty="0"/>
              <a:t>		da	</a:t>
            </a:r>
            <a:r>
              <a:rPr lang="en-GB" altLang="zh-HK" sz="1600" dirty="0" err="1"/>
              <a:t>taiyi</a:t>
            </a:r>
            <a:r>
              <a:rPr lang="en-GB" altLang="zh-HK" sz="1600" dirty="0"/>
              <a:t>			</a:t>
            </a:r>
            <a:r>
              <a:rPr lang="en-GB" altLang="zh-HK" sz="1600" dirty="0" err="1"/>
              <a:t>na</a:t>
            </a:r>
            <a:r>
              <a:rPr lang="en-GB" altLang="zh-HK" sz="1600" dirty="0"/>
              <a:t>	</a:t>
            </a:r>
            <a:r>
              <a:rPr lang="en-GB" altLang="zh-HK" sz="1600" dirty="0" err="1"/>
              <a:t>liang</a:t>
            </a:r>
            <a:r>
              <a:rPr lang="en-GB" altLang="zh-HK" sz="1600" dirty="0"/>
              <a:t>	</a:t>
            </a:r>
            <a:r>
              <a:rPr lang="en-GB" altLang="zh-HK" sz="1600" dirty="0" err="1"/>
              <a:t>ge</a:t>
            </a:r>
            <a:r>
              <a:rPr lang="en-GB" altLang="zh-HK" sz="1600" dirty="0"/>
              <a:t>	</a:t>
            </a:r>
            <a:r>
              <a:rPr lang="en-GB" altLang="zh-HK" sz="1600" dirty="0" err="1"/>
              <a:t>ren</a:t>
            </a:r>
            <a:r>
              <a:rPr lang="en-GB" altLang="zh-HK" sz="1600" dirty="0"/>
              <a:t>, 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Former		hit	</a:t>
            </a:r>
            <a:r>
              <a:rPr lang="en-GB" altLang="zh-HK" sz="1600" dirty="0" err="1"/>
              <a:t>Chinese.medicine</a:t>
            </a:r>
            <a:r>
              <a:rPr lang="en-GB" altLang="zh-HK" sz="1600" dirty="0"/>
              <a:t>	those	two 	CL	people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Shi	</a:t>
            </a:r>
            <a:r>
              <a:rPr lang="en-GB" altLang="zh-HK" sz="1600" dirty="0" err="1"/>
              <a:t>aruci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ruci</a:t>
            </a:r>
            <a:r>
              <a:rPr lang="en-GB" altLang="zh-HK" sz="1600" dirty="0"/>
              <a:t> 	</a:t>
            </a:r>
            <a:r>
              <a:rPr lang="en-GB" altLang="zh-HK" sz="1600" dirty="0" err="1"/>
              <a:t>zheban</a:t>
            </a:r>
            <a:r>
              <a:rPr lang="en-GB" altLang="zh-HK" sz="1600" dirty="0"/>
              <a:t>	</a:t>
            </a:r>
            <a:r>
              <a:rPr lang="en-GB" altLang="zh-HK" sz="1600" dirty="0" err="1"/>
              <a:t>zheban</a:t>
            </a:r>
            <a:r>
              <a:rPr lang="en-GB" altLang="zh-HK" sz="1600" dirty="0"/>
              <a:t>	</a:t>
            </a:r>
            <a:r>
              <a:rPr lang="en-GB" altLang="zh-HK" sz="1600" dirty="0" err="1"/>
              <a:t>shi</a:t>
            </a:r>
            <a:r>
              <a:rPr lang="en-GB" altLang="zh-HK" sz="1600" dirty="0"/>
              <a:t>	de	</a:t>
            </a:r>
            <a:r>
              <a:rPr lang="en-GB" altLang="zh-HK" sz="1600" dirty="0" err="1"/>
              <a:t>shouduan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SHI	thus	thus	so	so	use	DE	manipulation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‘The two people who specialise in medicine, it is thus, thus, so, so that they manipulate others.’ (</a:t>
            </a:r>
            <a:r>
              <a:rPr lang="en-GB" altLang="zh-HK" sz="1600" i="1" dirty="0" err="1"/>
              <a:t>Yuanzaju</a:t>
            </a:r>
            <a:r>
              <a:rPr lang="en-GB" altLang="zh-HK" sz="1600" dirty="0"/>
              <a:t>)</a:t>
            </a:r>
            <a:endParaRPr lang="en-US" altLang="zh-HK" sz="1600" dirty="0"/>
          </a:p>
          <a:p>
            <a:pPr marL="0" indent="0">
              <a:buNone/>
            </a:pPr>
            <a:r>
              <a:rPr lang="en-GB" altLang="zh-HK" sz="1600" dirty="0" err="1"/>
              <a:t>niang</a:t>
            </a:r>
            <a:r>
              <a:rPr lang="en-GB" altLang="zh-HK" sz="1600" dirty="0"/>
              <a:t>	yuan	</a:t>
            </a:r>
            <a:r>
              <a:rPr lang="en-GB" altLang="zh-HK" sz="1600" dirty="0" err="1"/>
              <a:t>shi</a:t>
            </a:r>
            <a:r>
              <a:rPr lang="en-GB" altLang="zh-HK" sz="1600" dirty="0"/>
              <a:t>	</a:t>
            </a:r>
            <a:r>
              <a:rPr lang="en-GB" altLang="zh-HK" sz="1600" dirty="0" err="1"/>
              <a:t>qinao-shang</a:t>
            </a:r>
            <a:r>
              <a:rPr lang="en-GB" altLang="zh-HK" sz="1600" dirty="0"/>
              <a:t>	qi		de	</a:t>
            </a:r>
            <a:r>
              <a:rPr lang="en-GB" altLang="zh-HK" sz="1600" dirty="0" err="1"/>
              <a:t>bing</a:t>
            </a:r>
            <a:endParaRPr lang="zh-TW" altLang="zh-HK" sz="1600" dirty="0"/>
          </a:p>
          <a:p>
            <a:pPr marL="0" indent="0">
              <a:buNone/>
            </a:pPr>
            <a:r>
              <a:rPr lang="en-GB" altLang="zh-HK" sz="1600" dirty="0"/>
              <a:t>Mother	originally	SHI	angry-LOC		become		DE	illness</a:t>
            </a:r>
            <a:endParaRPr lang="en-US" altLang="zh-HK" sz="1600" dirty="0"/>
          </a:p>
          <a:p>
            <a:pPr marL="0" indent="0">
              <a:buNone/>
            </a:pPr>
            <a:r>
              <a:rPr lang="en-GB" altLang="zh-HK" sz="1600" dirty="0"/>
              <a:t>‘It was originally through anger that my mother got the illness.’ (</a:t>
            </a:r>
            <a:r>
              <a:rPr lang="en-GB" altLang="zh-HK" sz="1600" i="1" dirty="0"/>
              <a:t>Jinping </a:t>
            </a:r>
            <a:r>
              <a:rPr lang="en-GB" altLang="zh-HK" sz="1600" i="1" dirty="0" err="1"/>
              <a:t>meici</a:t>
            </a:r>
            <a:r>
              <a:rPr lang="en-GB" altLang="zh-HK" sz="1600" i="1" dirty="0"/>
              <a:t> </a:t>
            </a:r>
            <a:r>
              <a:rPr lang="en-GB" altLang="zh-HK" sz="1600" i="1" dirty="0" err="1"/>
              <a:t>hua</a:t>
            </a:r>
            <a:r>
              <a:rPr lang="en-GB" altLang="zh-HK" sz="1600" dirty="0"/>
              <a:t>)	</a:t>
            </a:r>
            <a:endParaRPr lang="zh-TW" altLang="zh-HK" sz="1600" dirty="0"/>
          </a:p>
          <a:p>
            <a:pPr marL="0" indent="0">
              <a:buNone/>
            </a:pPr>
            <a:endParaRPr lang="zh-HK" altLang="en-US" sz="1050" dirty="0"/>
          </a:p>
        </p:txBody>
      </p:sp>
      <p:sp>
        <p:nvSpPr>
          <p:cNvPr id="4" name="Rectangle 3"/>
          <p:cNvSpPr/>
          <p:nvPr/>
        </p:nvSpPr>
        <p:spPr>
          <a:xfrm>
            <a:off x="838200" y="1591409"/>
            <a:ext cx="10266680" cy="1609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Wukong</a:t>
            </a:r>
            <a:r>
              <a:rPr lang="en-US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	</a:t>
            </a:r>
            <a:r>
              <a:rPr lang="en-US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ni</a:t>
            </a:r>
            <a:r>
              <a:rPr lang="en-US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US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na</a:t>
            </a:r>
            <a:r>
              <a:rPr lang="en-US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shi</a:t>
            </a:r>
            <a:r>
              <a:rPr lang="en-US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</a:t>
            </a:r>
            <a:r>
              <a:rPr lang="en-US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xiu-lai</a:t>
            </a:r>
            <a:r>
              <a:rPr lang="en-US" altLang="zh-HK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de	</a:t>
            </a:r>
            <a:r>
              <a:rPr lang="en-US" altLang="zh-HK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yuanfa</a:t>
            </a:r>
            <a:endParaRPr lang="en-US" altLang="zh-HK" sz="16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Wukong</a:t>
            </a:r>
            <a:r>
              <a:rPr lang="en-US" altLang="zh-TW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you	SHI	which	life	obtain-AFF</a:t>
            </a:r>
            <a:r>
              <a:rPr lang="en-US" altLang="zh-TW" sz="160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DE</a:t>
            </a:r>
            <a:r>
              <a:rPr lang="en-US" altLang="zh-TW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enlightenment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‘</a:t>
            </a:r>
            <a:r>
              <a:rPr lang="en-US" altLang="zh-TW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Wukong</a:t>
            </a:r>
            <a:r>
              <a:rPr lang="en-US" altLang="zh-TW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as for you, which life is it that your enlightenment is obtained?’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&gt; ‘</a:t>
            </a:r>
            <a:r>
              <a:rPr lang="en-US" altLang="zh-TW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Wukong</a:t>
            </a:r>
            <a:r>
              <a:rPr lang="en-US" altLang="zh-TW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, which life was it that you obtained your enlightenment?’ (</a:t>
            </a:r>
            <a:r>
              <a:rPr lang="en-US" altLang="zh-TW" sz="1600" i="1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Xiyouji</a:t>
            </a:r>
            <a:r>
              <a:rPr lang="en-US" altLang="zh-TW" sz="16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861979"/>
            <a:ext cx="1075436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dirty="0"/>
              <a:t>Cleft interpretation is seen most clearly in examples where the head noun of the complement is abstract and hence non-realis: </a:t>
            </a:r>
          </a:p>
        </p:txBody>
      </p:sp>
    </p:spTree>
    <p:extLst>
      <p:ext uri="{BB962C8B-B14F-4D97-AF65-F5344CB8AC3E}">
        <p14:creationId xmlns:p14="http://schemas.microsoft.com/office/powerpoint/2010/main" val="414788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‘Lateral’ </a:t>
            </a:r>
            <a:r>
              <a:rPr lang="en-US" altLang="zh-HK" dirty="0" err="1"/>
              <a:t>grammaticalization</a:t>
            </a:r>
            <a:r>
              <a:rPr lang="en-US" altLang="zh-HK" dirty="0"/>
              <a:t> (1)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284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600" dirty="0"/>
              <a:t>S&amp;W argue that Chinese </a:t>
            </a:r>
            <a:r>
              <a:rPr lang="en-US" altLang="zh-HK" sz="1600" i="1" dirty="0" err="1"/>
              <a:t>shi</a:t>
            </a:r>
            <a:r>
              <a:rPr lang="en-US" altLang="zh-HK" sz="1600" i="1" dirty="0"/>
              <a:t>-de </a:t>
            </a:r>
            <a:r>
              <a:rPr lang="en-US" altLang="zh-HK" sz="1600" dirty="0"/>
              <a:t>constructions (</a:t>
            </a:r>
            <a:r>
              <a:rPr lang="en-US" altLang="zh-HK" sz="1600" dirty="0" err="1"/>
              <a:t>VOde</a:t>
            </a:r>
            <a:r>
              <a:rPr lang="en-US" altLang="zh-HK" sz="1600" dirty="0"/>
              <a:t> &gt; </a:t>
            </a:r>
            <a:r>
              <a:rPr lang="en-US" altLang="zh-HK" sz="1600" dirty="0" err="1"/>
              <a:t>VdeO</a:t>
            </a:r>
            <a:r>
              <a:rPr lang="en-US" altLang="zh-HK" sz="1600" dirty="0"/>
              <a:t>) constitute a case of ‘lateral’ </a:t>
            </a:r>
            <a:r>
              <a:rPr lang="en-US" altLang="zh-HK" sz="1600" dirty="0" err="1"/>
              <a:t>grammaticalization</a:t>
            </a:r>
            <a:r>
              <a:rPr lang="en-US" altLang="zh-HK" sz="1600" dirty="0"/>
              <a:t> since </a:t>
            </a:r>
            <a:r>
              <a:rPr lang="en-US" altLang="zh-HK" sz="1600" i="1" dirty="0"/>
              <a:t>de </a:t>
            </a:r>
            <a:r>
              <a:rPr lang="en-US" altLang="zh-HK" sz="1600" dirty="0"/>
              <a:t>is reanalyzed from being a determiner (D) to a past-tense marker (T(past)) </a:t>
            </a:r>
            <a:endParaRPr lang="zh-HK" alt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6940349" y="1244165"/>
            <a:ext cx="6096000" cy="3921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Nominal (D) &gt; clausal (T) (</a:t>
            </a:r>
            <a:r>
              <a:rPr lang="en-US" altLang="zh-HK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cf</a:t>
            </a:r>
            <a:r>
              <a:rPr lang="en-US" altLang="zh-HK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Abney (1987)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317436"/>
            <a:ext cx="11032958" cy="779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sz="20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In Minimalist analyses, there is ‘structural simplification, as there is a loss of </a:t>
            </a:r>
            <a:r>
              <a:rPr lang="en-US" altLang="zh-TW" sz="2000" i="1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Agree </a:t>
            </a:r>
            <a:r>
              <a:rPr lang="en-US" altLang="zh-TW" sz="20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relation in the original DP structure (</a:t>
            </a:r>
            <a:r>
              <a:rPr lang="en-US" altLang="zh-TW" sz="20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</a:t>
            </a:r>
            <a:r>
              <a:rPr lang="en-US" altLang="zh-TW" sz="14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Agree</a:t>
            </a:r>
            <a:r>
              <a:rPr lang="en-US" altLang="zh-TW" sz="20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&gt; </a:t>
            </a:r>
            <a:r>
              <a:rPr lang="en-US" altLang="zh-TW" sz="20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T</a:t>
            </a:r>
            <a:r>
              <a:rPr lang="en-US" altLang="zh-TW" sz="16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Merge</a:t>
            </a:r>
            <a:r>
              <a:rPr lang="en-US" altLang="zh-TW" sz="20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). </a:t>
            </a:r>
            <a:endParaRPr lang="zh-TW" altLang="zh-HK" sz="2000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" y="1636324"/>
            <a:ext cx="11780250" cy="2644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DP							TP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SpecD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D’			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SpecT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T’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Asp/IP </a:t>
            </a:r>
            <a:r>
              <a:rPr lang="en-US" altLang="zh-TW" sz="12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		NP				Asp/IP	T(past)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AspP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/IP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zuotian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de		N’		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zuotian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t </a:t>
            </a:r>
            <a:r>
              <a:rPr lang="en-US" altLang="zh-TW" sz="14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t </a:t>
            </a:r>
            <a:r>
              <a:rPr lang="en-US" altLang="zh-TW" sz="12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</a:t>
            </a:r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Mai 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piao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N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AspP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/IP	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mai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de </a:t>
            </a:r>
            <a:r>
              <a:rPr lang="en-US" altLang="zh-TW" sz="14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j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piao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	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ø		t</a:t>
            </a:r>
            <a:r>
              <a:rPr lang="en-US" altLang="zh-TW" sz="14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75920" y="1920240"/>
            <a:ext cx="782320" cy="3352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68400" y="1920240"/>
            <a:ext cx="76200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158240" y="2387600"/>
            <a:ext cx="838199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003391" y="2387600"/>
            <a:ext cx="973489" cy="213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926080" y="2804160"/>
            <a:ext cx="30480" cy="345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1996439" y="3230880"/>
            <a:ext cx="980441" cy="2844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926080" y="3241040"/>
            <a:ext cx="1117600" cy="2133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6817360" y="1920240"/>
            <a:ext cx="70104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28560" y="1920240"/>
            <a:ext cx="82296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817360" y="2458720"/>
            <a:ext cx="0" cy="162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7711440" y="2387600"/>
            <a:ext cx="640080" cy="345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8351520" y="2387600"/>
            <a:ext cx="114808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>
            <a:off x="121920" y="2804160"/>
            <a:ext cx="716280" cy="233680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Isosceles Triangle 31"/>
          <p:cNvSpPr/>
          <p:nvPr/>
        </p:nvSpPr>
        <p:spPr>
          <a:xfrm>
            <a:off x="6309360" y="2838998"/>
            <a:ext cx="863600" cy="220112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34" name="Straight Arrow Connector 33"/>
          <p:cNvCxnSpPr/>
          <p:nvPr/>
        </p:nvCxnSpPr>
        <p:spPr>
          <a:xfrm flipV="1">
            <a:off x="4206240" y="2600960"/>
            <a:ext cx="1838960" cy="2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016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‘Lateral’ </a:t>
            </a:r>
            <a:r>
              <a:rPr lang="en-US" altLang="zh-HK" dirty="0" err="1"/>
              <a:t>grammaticalization</a:t>
            </a:r>
            <a:r>
              <a:rPr lang="en-US" altLang="zh-HK" dirty="0"/>
              <a:t> (2)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080" y="108394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600" dirty="0"/>
              <a:t>The new historical evidence reveals a dual reanalysis of </a:t>
            </a:r>
            <a:r>
              <a:rPr lang="en-US" altLang="zh-HK" sz="1600" dirty="0" err="1"/>
              <a:t>VOde</a:t>
            </a:r>
            <a:r>
              <a:rPr lang="en-US" altLang="zh-HK" sz="1600" dirty="0"/>
              <a:t> and </a:t>
            </a:r>
            <a:r>
              <a:rPr lang="en-US" altLang="zh-HK" sz="1600" dirty="0" err="1"/>
              <a:t>VdeO</a:t>
            </a:r>
            <a:r>
              <a:rPr lang="en-US" altLang="zh-HK" sz="1600" dirty="0"/>
              <a:t>: </a:t>
            </a:r>
            <a:endParaRPr lang="zh-HK" alt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767080" y="1277355"/>
            <a:ext cx="11145255" cy="25165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DP							CP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SpecD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D’			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SpecC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C’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nP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		TP </a:t>
            </a:r>
            <a:r>
              <a:rPr lang="en-US" altLang="zh-TW" sz="14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C		TP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Specn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n’				de		t </a:t>
            </a:r>
            <a:r>
              <a:rPr lang="en-US" altLang="zh-TW" sz="14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		n		NP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	de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1158240" y="1595120"/>
            <a:ext cx="772160" cy="274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920240" y="1615440"/>
            <a:ext cx="802640" cy="243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1849120" y="2032000"/>
            <a:ext cx="894080" cy="3454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722880" y="2062480"/>
            <a:ext cx="894080" cy="243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037840" y="2499360"/>
            <a:ext cx="650240" cy="243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616960" y="2509520"/>
            <a:ext cx="944880" cy="2336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3688080" y="2956560"/>
            <a:ext cx="894080" cy="1828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561840" y="2966720"/>
            <a:ext cx="1005840" cy="1422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7528560" y="1595120"/>
            <a:ext cx="772160" cy="2743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8321040" y="1595120"/>
            <a:ext cx="792480" cy="264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8300720" y="2062480"/>
            <a:ext cx="843280" cy="3149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9113520" y="2062480"/>
            <a:ext cx="1097280" cy="243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7080" y="3748882"/>
            <a:ext cx="11145255" cy="2644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DP							TP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SpecD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D’			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SpecT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T’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		NP					T(past)	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vP</a:t>
            </a:r>
            <a:endParaRPr lang="en-US" altLang="zh-TW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de		N’					(de)	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Specv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v’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N		CP						v	     VP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		Object								V-de	V   Object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1158240" y="4018597"/>
            <a:ext cx="762000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1930400" y="3987351"/>
            <a:ext cx="792480" cy="2952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1920240" y="4433863"/>
            <a:ext cx="822960" cy="2957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2743200" y="4433863"/>
            <a:ext cx="873760" cy="2263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688080" y="4967738"/>
            <a:ext cx="0" cy="1976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2743200" y="5435283"/>
            <a:ext cx="944880" cy="1831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688080" y="5424938"/>
            <a:ext cx="995680" cy="172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>
            <a:off x="7528560" y="4027449"/>
            <a:ext cx="782320" cy="2857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310880" y="4063498"/>
            <a:ext cx="802640" cy="229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8524240" y="4500378"/>
            <a:ext cx="619760" cy="2292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9144000" y="4530858"/>
            <a:ext cx="883920" cy="1987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9398000" y="4877886"/>
            <a:ext cx="680720" cy="3586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10129520" y="4903152"/>
            <a:ext cx="848360" cy="3333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>
            <a:off x="10078720" y="5380936"/>
            <a:ext cx="894080" cy="2375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10977880" y="5397791"/>
            <a:ext cx="304800" cy="2206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>
            <a:off x="10972800" y="5762913"/>
            <a:ext cx="317367" cy="312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11353800" y="5821109"/>
            <a:ext cx="208280" cy="223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0139680" y="1286622"/>
            <a:ext cx="11145255" cy="392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</a:t>
            </a:r>
            <a:r>
              <a:rPr lang="en-US" altLang="zh-TW" sz="14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Agree</a:t>
            </a:r>
            <a:r>
              <a:rPr lang="en-US" altLang="zh-TW" sz="1400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&gt; 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C</a:t>
            </a:r>
            <a:r>
              <a:rPr lang="en-US" altLang="zh-TW" sz="1400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Merge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0073640" y="3384709"/>
            <a:ext cx="11145255" cy="392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DMoveXP</a:t>
            </a:r>
            <a:r>
              <a:rPr lang="en-US" altLang="zh-TW" dirty="0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 &gt; </a:t>
            </a:r>
            <a:r>
              <a:rPr lang="en-US" altLang="zh-TW" dirty="0" err="1">
                <a:latin typeface="Calibri" panose="020F0502020204030204" pitchFamily="34" charset="0"/>
                <a:ea typeface="PMingLiU" panose="02020500000000000000" pitchFamily="18" charset="-120"/>
                <a:cs typeface="Times New Roman" panose="02020603050405020304" pitchFamily="18" charset="0"/>
              </a:rPr>
              <a:t>vMoveX</a:t>
            </a:r>
            <a:endParaRPr lang="zh-TW" altLang="zh-HK" dirty="0">
              <a:latin typeface="Calibri" panose="020F0502020204030204" pitchFamily="34" charset="0"/>
              <a:ea typeface="PMingLiU" panose="02020500000000000000" pitchFamily="18" charset="-12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049520" y="2174240"/>
            <a:ext cx="1615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>
            <a:off x="5120640" y="4433863"/>
            <a:ext cx="181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Content Placeholder 2"/>
          <p:cNvSpPr txBox="1">
            <a:spLocks/>
          </p:cNvSpPr>
          <p:nvPr/>
        </p:nvSpPr>
        <p:spPr>
          <a:xfrm>
            <a:off x="309880" y="61792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600" dirty="0"/>
              <a:t>There is, interestingly, an inverse correlation between the nominal hierarchy and the clausal hierarchy, since small n is reanalyzed as a </a:t>
            </a:r>
            <a:r>
              <a:rPr lang="en-US" altLang="zh-HK" sz="1600" dirty="0" err="1"/>
              <a:t>complementiser</a:t>
            </a:r>
            <a:r>
              <a:rPr lang="en-US" altLang="zh-HK" sz="1600" dirty="0"/>
              <a:t> (n &gt; C) whereas D is reanalyzed as a tense marker (T(past)),which validates S&amp;W’s ‘lateral’ </a:t>
            </a:r>
            <a:r>
              <a:rPr lang="en-US" altLang="zh-HK" sz="1600" dirty="0" err="1"/>
              <a:t>grammaticalization</a:t>
            </a:r>
            <a:r>
              <a:rPr lang="en-US" altLang="zh-HK" sz="1600" dirty="0"/>
              <a:t>. </a:t>
            </a:r>
            <a:endParaRPr lang="zh-HK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77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9" grpId="0"/>
      <p:bldP spid="65" grpId="0"/>
      <p:bldP spid="66" grpId="0"/>
      <p:bldP spid="7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HK" dirty="0"/>
              <a:t>Conclusion</a:t>
            </a:r>
            <a:endParaRPr lang="zh-HK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128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HK" sz="1800" dirty="0"/>
              <a:t>In this presentation, I have given a detailed analysis of Chinese cleft (</a:t>
            </a:r>
            <a:r>
              <a:rPr lang="en-US" altLang="zh-HK" sz="1800" i="1" dirty="0" err="1"/>
              <a:t>shi</a:t>
            </a:r>
            <a:r>
              <a:rPr lang="en-US" altLang="zh-HK" sz="1800" i="1" dirty="0"/>
              <a:t>-de</a:t>
            </a:r>
            <a:r>
              <a:rPr lang="en-US" altLang="zh-HK" sz="1800" dirty="0"/>
              <a:t>) constructions (</a:t>
            </a:r>
            <a:r>
              <a:rPr lang="en-US" altLang="zh-HK" sz="1800" dirty="0" err="1"/>
              <a:t>VOde</a:t>
            </a:r>
            <a:r>
              <a:rPr lang="en-US" altLang="zh-HK" sz="1800" dirty="0"/>
              <a:t>/</a:t>
            </a:r>
            <a:r>
              <a:rPr lang="en-US" altLang="zh-HK" sz="1800" dirty="0" err="1"/>
              <a:t>VdeO</a:t>
            </a:r>
            <a:r>
              <a:rPr lang="en-US" altLang="zh-HK" sz="1800" dirty="0"/>
              <a:t>) where their empirical differences are argued to be due to differences in scope (CP/T</a:t>
            </a:r>
            <a:r>
              <a:rPr lang="en-US" altLang="zh-TW" sz="1800" dirty="0"/>
              <a:t>P respectively). </a:t>
            </a:r>
            <a:endParaRPr lang="zh-HK" altLang="en-US" sz="18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6224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Historical evidence is also discussed where </a:t>
            </a:r>
            <a:r>
              <a:rPr lang="en-US" altLang="zh-HK" sz="1800" dirty="0" err="1"/>
              <a:t>VOde</a:t>
            </a:r>
            <a:r>
              <a:rPr lang="en-US" altLang="zh-HK" sz="1800" dirty="0"/>
              <a:t> and </a:t>
            </a:r>
            <a:r>
              <a:rPr lang="en-US" altLang="zh-HK" sz="1800" dirty="0" err="1"/>
              <a:t>VdeO</a:t>
            </a:r>
            <a:r>
              <a:rPr lang="en-US" altLang="zh-HK" sz="1800" dirty="0"/>
              <a:t> are argued to be derived from two different types of relative clauses (</a:t>
            </a:r>
            <a:r>
              <a:rPr lang="en-US" altLang="zh-HK" sz="1800" dirty="0" err="1"/>
              <a:t>VOde</a:t>
            </a:r>
            <a:r>
              <a:rPr lang="en-US" altLang="zh-HK" sz="1800" dirty="0"/>
              <a:t>/</a:t>
            </a:r>
            <a:r>
              <a:rPr lang="en-US" altLang="zh-HK" sz="1800" dirty="0" err="1"/>
              <a:t>VdeO</a:t>
            </a:r>
            <a:r>
              <a:rPr lang="en-US" altLang="zh-HK" sz="1800" dirty="0"/>
              <a:t>). </a:t>
            </a:r>
            <a:endParaRPr lang="zh-HK" altLang="en-US" sz="1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2221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A formal Minimalist analysis reveals that there is ‘lateral’ reanalysis from nominal to clausal which reveals an inverse correlation between the two domains (n &gt; C, D &gt; T) as well as ‘structural simplification’. </a:t>
            </a:r>
            <a:endParaRPr lang="zh-HK" altLang="en-US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282193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HK" sz="1800" dirty="0"/>
              <a:t>It now remains to investigate the diachronic origins of southern dialectal forms </a:t>
            </a:r>
            <a:r>
              <a:rPr lang="en-US" altLang="zh-HK" sz="1800" dirty="0" err="1"/>
              <a:t>VOge</a:t>
            </a:r>
            <a:r>
              <a:rPr lang="en-US" altLang="zh-HK" sz="1800" dirty="0"/>
              <a:t>, whose phrase medial form (*</a:t>
            </a:r>
            <a:r>
              <a:rPr lang="en-US" altLang="zh-HK" sz="1800" dirty="0" err="1"/>
              <a:t>VgeO</a:t>
            </a:r>
            <a:r>
              <a:rPr lang="en-US" altLang="zh-HK" sz="1800" dirty="0"/>
              <a:t>) is argued to be ungrammatical. It would be interesting to compare the evolution of Mandarin </a:t>
            </a:r>
            <a:r>
              <a:rPr lang="en-US" altLang="zh-HK" sz="1800" i="1" dirty="0"/>
              <a:t>de </a:t>
            </a:r>
            <a:r>
              <a:rPr lang="en-US" altLang="zh-HK" sz="1800" dirty="0"/>
              <a:t>and Cantonese </a:t>
            </a:r>
            <a:r>
              <a:rPr lang="en-US" altLang="zh-HK" sz="1800" i="1" dirty="0" err="1"/>
              <a:t>ge</a:t>
            </a:r>
            <a:r>
              <a:rPr lang="en-US" altLang="zh-HK" sz="1800" i="1"/>
              <a:t>. </a:t>
            </a:r>
            <a:endParaRPr lang="zh-HK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35423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1814</Words>
  <Application>Microsoft Office PowerPoint</Application>
  <PresentationFormat>Widescreen</PresentationFormat>
  <Paragraphs>337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新細明體</vt:lpstr>
      <vt:lpstr>新細明體</vt:lpstr>
      <vt:lpstr>Arial</vt:lpstr>
      <vt:lpstr>Calibri</vt:lpstr>
      <vt:lpstr>Calibri Light</vt:lpstr>
      <vt:lpstr>Times New Roman</vt:lpstr>
      <vt:lpstr>Office Theme</vt:lpstr>
      <vt:lpstr>Diachronic formation of Chinese shi-de constructions</vt:lpstr>
      <vt:lpstr>Introduction</vt:lpstr>
      <vt:lpstr>Research context</vt:lpstr>
      <vt:lpstr>Proposal</vt:lpstr>
      <vt:lpstr>S&amp;W (2002) (1)</vt:lpstr>
      <vt:lpstr>S&amp;W (2002) (2)</vt:lpstr>
      <vt:lpstr>S&amp;W (2002) (3)</vt:lpstr>
      <vt:lpstr>S&amp;W (2002) (4)</vt:lpstr>
      <vt:lpstr>S&amp;W (2002) (5)</vt:lpstr>
      <vt:lpstr>VOde/VdeO (1)</vt:lpstr>
      <vt:lpstr>VOde/VdeO (2)</vt:lpstr>
      <vt:lpstr>VOde/VdeO (3)</vt:lpstr>
      <vt:lpstr>Vode/VdeO (4)</vt:lpstr>
      <vt:lpstr>Shi (1)</vt:lpstr>
      <vt:lpstr>Shi (2)</vt:lpstr>
      <vt:lpstr>Shi (3)</vt:lpstr>
      <vt:lpstr>De (1)</vt:lpstr>
      <vt:lpstr>De (2)</vt:lpstr>
      <vt:lpstr>De (3)</vt:lpstr>
      <vt:lpstr>Formation of shi-de constructions </vt:lpstr>
      <vt:lpstr>VOde (1)</vt:lpstr>
      <vt:lpstr>VdeO (1)</vt:lpstr>
      <vt:lpstr>VdeO (2)</vt:lpstr>
      <vt:lpstr>‘Lateral’ grammaticalization (1)</vt:lpstr>
      <vt:lpstr>‘Lateral’ grammaticalization (2)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Diachronic formation of Chinese shi-de constructions</dc:title>
  <dc:creator>Keith Tse</dc:creator>
  <cp:lastModifiedBy>Keith Tse</cp:lastModifiedBy>
  <cp:revision>35</cp:revision>
  <dcterms:created xsi:type="dcterms:W3CDTF">2017-05-11T10:48:34Z</dcterms:created>
  <dcterms:modified xsi:type="dcterms:W3CDTF">2017-11-25T10:51:56Z</dcterms:modified>
</cp:coreProperties>
</file>