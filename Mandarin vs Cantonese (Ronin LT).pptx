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2" r:id="rId8"/>
    <p:sldId id="261"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3" d="100"/>
          <a:sy n="83" d="100"/>
        </p:scale>
        <p:origin x="686"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2DC48-61D3-FD51-6ACC-5D0AB081B7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43A1EC6-0FC8-6DCD-6913-607916D933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F5D73F0-947B-AD07-7353-08E172381FF0}"/>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5" name="Footer Placeholder 4">
            <a:extLst>
              <a:ext uri="{FF2B5EF4-FFF2-40B4-BE49-F238E27FC236}">
                <a16:creationId xmlns:a16="http://schemas.microsoft.com/office/drawing/2014/main" id="{90554C1B-197A-0D4A-429B-4B11C9A946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28CB51-4A79-F27E-D7A6-40F0EB7B6E5D}"/>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45734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7C543-7C07-13EE-76EE-0A10307C1F7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E08AD3A-2CEA-3A61-AFB1-A68762DF9F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21F1CA-2AE1-CCB3-97E7-7CEE1641FA8A}"/>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5" name="Footer Placeholder 4">
            <a:extLst>
              <a:ext uri="{FF2B5EF4-FFF2-40B4-BE49-F238E27FC236}">
                <a16:creationId xmlns:a16="http://schemas.microsoft.com/office/drawing/2014/main" id="{AAEFD428-2F33-E028-EBF1-AB835EF422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F539FA-A1FE-01A1-0F0E-0EFD0294961D}"/>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111070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7E55F-6E2D-75F7-67C2-0351AEFF50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C413523-634C-461A-1708-8CCE616B0F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EF5149-489E-1045-E2F4-DC89C177DFA6}"/>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5" name="Footer Placeholder 4">
            <a:extLst>
              <a:ext uri="{FF2B5EF4-FFF2-40B4-BE49-F238E27FC236}">
                <a16:creationId xmlns:a16="http://schemas.microsoft.com/office/drawing/2014/main" id="{50C55DC1-8001-029C-CD9D-1D7F28F199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5104E9-108A-2DE5-B0FB-855F254B10E6}"/>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646640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58AAE-D08E-1D7C-3AB0-84DB77EF7B6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3127319-1DC2-FAF6-171C-33F01DFF58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BDA6CDA-A98D-F689-8A89-78BB36CC98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D2F622E-75C9-81E6-A925-42FAA9F79708}"/>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6" name="Footer Placeholder 5">
            <a:extLst>
              <a:ext uri="{FF2B5EF4-FFF2-40B4-BE49-F238E27FC236}">
                <a16:creationId xmlns:a16="http://schemas.microsoft.com/office/drawing/2014/main" id="{BA32030D-D611-3140-B0A6-700EA40AA31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9923F2B-DC43-0FD8-5184-3974590BE04A}"/>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2758665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A1CD4-38A6-A095-B29F-28B6F7ED11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DA5F6F3-C1D5-F42D-2F19-E1AABAA9A6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D29519-6728-3E6F-EB7B-39E29BECEB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83FA768-5525-46AF-573A-A9FA3EF203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B98AC9-AA03-D45D-11E9-2512A2ACE3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2CEE835-430B-0446-4499-89EEBAEF5497}"/>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8" name="Footer Placeholder 7">
            <a:extLst>
              <a:ext uri="{FF2B5EF4-FFF2-40B4-BE49-F238E27FC236}">
                <a16:creationId xmlns:a16="http://schemas.microsoft.com/office/drawing/2014/main" id="{7F719287-0E93-6AA0-9B71-3733ECD6F82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5749BC5-37EC-C370-CD83-5248FD1AC4AD}"/>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324398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A4837-A4EE-6447-9867-FEB649C8112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F7CF500-0CEB-54CE-65F3-90D299155423}"/>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4" name="Footer Placeholder 3">
            <a:extLst>
              <a:ext uri="{FF2B5EF4-FFF2-40B4-BE49-F238E27FC236}">
                <a16:creationId xmlns:a16="http://schemas.microsoft.com/office/drawing/2014/main" id="{BF448C75-1FC2-2B30-0BC6-9E009AACC47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3929B0-63B5-FCC2-3A89-E2B641581150}"/>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1376918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E037B0-F448-7154-9299-D1644C9419A1}"/>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3" name="Footer Placeholder 2">
            <a:extLst>
              <a:ext uri="{FF2B5EF4-FFF2-40B4-BE49-F238E27FC236}">
                <a16:creationId xmlns:a16="http://schemas.microsoft.com/office/drawing/2014/main" id="{9465971D-714B-7AD2-CED9-35FB3542846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1A308EB-19FF-A844-AD47-5C6FE438F554}"/>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2804219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D81DE-8EDD-7E6C-EA30-590FFEBBC1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5686DF-700E-2F76-3D2B-D29C1DE52B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533025C-5C3C-B809-4774-5B394684E3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6B063-A010-B175-F0C5-0312814866ED}"/>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6" name="Footer Placeholder 5">
            <a:extLst>
              <a:ext uri="{FF2B5EF4-FFF2-40B4-BE49-F238E27FC236}">
                <a16:creationId xmlns:a16="http://schemas.microsoft.com/office/drawing/2014/main" id="{7621BB96-8E48-DDAA-3412-AEA9368929A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F9A60F6-89E1-C424-D0CF-08DDFA1648D3}"/>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2720063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A8061-3494-302B-D5C8-72CE1D98FF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FA2BCCA-D632-F32F-71E0-7C4B54C36E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CC47EBF-DF2C-41AD-3FB9-3FED3FFD1A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5E41D-1A5D-BC08-9962-A24A85C0EAA9}"/>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6" name="Footer Placeholder 5">
            <a:extLst>
              <a:ext uri="{FF2B5EF4-FFF2-40B4-BE49-F238E27FC236}">
                <a16:creationId xmlns:a16="http://schemas.microsoft.com/office/drawing/2014/main" id="{FDC7CF7E-C7BB-D6F6-ACEA-12850A03D8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C344A2-6674-8F70-5062-D43E5B54BB52}"/>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2703304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11578-0474-5E17-9326-441CCC50AE8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3CC8C2C-630B-B08D-9759-728A88904B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8F6105-9AAE-BC5D-ECD8-A6A3AAC2EAF4}"/>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5" name="Footer Placeholder 4">
            <a:extLst>
              <a:ext uri="{FF2B5EF4-FFF2-40B4-BE49-F238E27FC236}">
                <a16:creationId xmlns:a16="http://schemas.microsoft.com/office/drawing/2014/main" id="{14E3F377-6F81-A483-C3B4-32C468E2EA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03BC6B-C818-BA8D-53DE-87EEBBEF4037}"/>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1098514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569AF3-958E-5851-E400-96039DE1266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0CAF379-2D27-5217-0AE3-F96F9B458F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5E78DB-55C0-6163-A2E7-D0E4350058F4}"/>
              </a:ext>
            </a:extLst>
          </p:cNvPr>
          <p:cNvSpPr>
            <a:spLocks noGrp="1"/>
          </p:cNvSpPr>
          <p:nvPr>
            <p:ph type="dt" sz="half" idx="10"/>
          </p:nvPr>
        </p:nvSpPr>
        <p:spPr/>
        <p:txBody>
          <a:bodyPr/>
          <a:lstStyle/>
          <a:p>
            <a:fld id="{EF114669-612F-44FF-BBB7-76B1BD11BFA8}" type="datetimeFigureOut">
              <a:rPr lang="en-GB" smtClean="0"/>
              <a:t>22/09/2023</a:t>
            </a:fld>
            <a:endParaRPr lang="en-GB"/>
          </a:p>
        </p:txBody>
      </p:sp>
      <p:sp>
        <p:nvSpPr>
          <p:cNvPr id="5" name="Footer Placeholder 4">
            <a:extLst>
              <a:ext uri="{FF2B5EF4-FFF2-40B4-BE49-F238E27FC236}">
                <a16:creationId xmlns:a16="http://schemas.microsoft.com/office/drawing/2014/main" id="{40CF0ADB-6B45-A892-1A56-57185E09BE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7D51BA-8C25-CA98-C716-1EB99EDF9ABF}"/>
              </a:ext>
            </a:extLst>
          </p:cNvPr>
          <p:cNvSpPr>
            <a:spLocks noGrp="1"/>
          </p:cNvSpPr>
          <p:nvPr>
            <p:ph type="sldNum" sz="quarter" idx="12"/>
          </p:nvPr>
        </p:nvSpPr>
        <p:spPr/>
        <p:txBody>
          <a:bodyPr/>
          <a:lstStyle/>
          <a:p>
            <a:fld id="{9058A18D-C7BB-447E-8234-01129B7A50FF}" type="slidenum">
              <a:rPr lang="en-GB" smtClean="0"/>
              <a:t>‹#›</a:t>
            </a:fld>
            <a:endParaRPr lang="en-GB"/>
          </a:p>
        </p:txBody>
      </p:sp>
    </p:spTree>
    <p:extLst>
      <p:ext uri="{BB962C8B-B14F-4D97-AF65-F5344CB8AC3E}">
        <p14:creationId xmlns:p14="http://schemas.microsoft.com/office/powerpoint/2010/main" val="2119388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15A939-AB0A-E628-6C2A-4A52BBCE54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BC71B42-12F8-D890-8A53-DA391F5B05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14FB050-D193-14A6-F9C5-DE29E261D6E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14669-612F-44FF-BBB7-76B1BD11BFA8}" type="datetimeFigureOut">
              <a:rPr lang="en-GB" smtClean="0"/>
              <a:t>22/09/2023</a:t>
            </a:fld>
            <a:endParaRPr lang="en-GB"/>
          </a:p>
        </p:txBody>
      </p:sp>
      <p:sp>
        <p:nvSpPr>
          <p:cNvPr id="5" name="Footer Placeholder 4">
            <a:extLst>
              <a:ext uri="{FF2B5EF4-FFF2-40B4-BE49-F238E27FC236}">
                <a16:creationId xmlns:a16="http://schemas.microsoft.com/office/drawing/2014/main" id="{B0FA574C-8EEE-3062-097A-5351163B75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819B943-DB57-D882-A6BB-711EB3776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58A18D-C7BB-447E-8234-01129B7A50FF}" type="slidenum">
              <a:rPr lang="en-GB" smtClean="0"/>
              <a:t>‹#›</a:t>
            </a:fld>
            <a:endParaRPr lang="en-GB"/>
          </a:p>
        </p:txBody>
      </p:sp>
    </p:spTree>
    <p:extLst>
      <p:ext uri="{BB962C8B-B14F-4D97-AF65-F5344CB8AC3E}">
        <p14:creationId xmlns:p14="http://schemas.microsoft.com/office/powerpoint/2010/main" val="1549643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asiatimes.com/2018/02/chinese-language-myths-misconceptions/" TargetMode="External"/><Relationship Id="rId2" Type="http://schemas.openxmlformats.org/officeDocument/2006/relationships/hyperlink" Target="https://youtu.be/RuatlmglczE" TargetMode="External"/><Relationship Id="rId1" Type="http://schemas.openxmlformats.org/officeDocument/2006/relationships/slideLayout" Target="../slideLayouts/slideLayout2.xml"/><Relationship Id="rId4" Type="http://schemas.openxmlformats.org/officeDocument/2006/relationships/hyperlink" Target="https://keithtse.medium.com/learning-chinese-myths-and-misconceptions-bff92d7951b6"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A48C-2D7A-00A3-075E-4FCEE2F04F68}"/>
              </a:ext>
            </a:extLst>
          </p:cNvPr>
          <p:cNvSpPr>
            <a:spLocks noGrp="1"/>
          </p:cNvSpPr>
          <p:nvPr>
            <p:ph type="ctrTitle"/>
          </p:nvPr>
        </p:nvSpPr>
        <p:spPr/>
        <p:txBody>
          <a:bodyPr/>
          <a:lstStyle/>
          <a:p>
            <a:r>
              <a:rPr lang="en-GB" dirty="0"/>
              <a:t>Mandarin vs Cantonese </a:t>
            </a:r>
            <a:br>
              <a:rPr lang="en-GB" dirty="0"/>
            </a:br>
            <a:r>
              <a:rPr lang="en-GB" dirty="0"/>
              <a:t>(and more)</a:t>
            </a:r>
          </a:p>
        </p:txBody>
      </p:sp>
      <p:sp>
        <p:nvSpPr>
          <p:cNvPr id="3" name="Subtitle 2">
            <a:extLst>
              <a:ext uri="{FF2B5EF4-FFF2-40B4-BE49-F238E27FC236}">
                <a16:creationId xmlns:a16="http://schemas.microsoft.com/office/drawing/2014/main" id="{912A3F1E-134E-CD59-D126-BF2C8A730291}"/>
              </a:ext>
            </a:extLst>
          </p:cNvPr>
          <p:cNvSpPr>
            <a:spLocks noGrp="1"/>
          </p:cNvSpPr>
          <p:nvPr>
            <p:ph type="subTitle" idx="1"/>
          </p:nvPr>
        </p:nvSpPr>
        <p:spPr/>
        <p:txBody>
          <a:bodyPr/>
          <a:lstStyle/>
          <a:p>
            <a:r>
              <a:rPr lang="en-GB" dirty="0"/>
              <a:t>Keith Tse (MCIL CL)</a:t>
            </a:r>
          </a:p>
          <a:p>
            <a:r>
              <a:rPr lang="en-GB" dirty="0"/>
              <a:t>Ronin Institute Lightning Talk Event</a:t>
            </a:r>
          </a:p>
          <a:p>
            <a:r>
              <a:rPr lang="en-GB" dirty="0"/>
              <a:t>28</a:t>
            </a:r>
            <a:r>
              <a:rPr lang="en-GB" baseline="30000" dirty="0"/>
              <a:t>th</a:t>
            </a:r>
            <a:r>
              <a:rPr lang="en-GB" dirty="0"/>
              <a:t> August 2023</a:t>
            </a:r>
          </a:p>
        </p:txBody>
      </p:sp>
      <p:sp>
        <p:nvSpPr>
          <p:cNvPr id="4" name="Subtitle 2">
            <a:extLst>
              <a:ext uri="{FF2B5EF4-FFF2-40B4-BE49-F238E27FC236}">
                <a16:creationId xmlns:a16="http://schemas.microsoft.com/office/drawing/2014/main" id="{385D8A58-023F-1676-F4D6-235AD9BE226C}"/>
              </a:ext>
            </a:extLst>
          </p:cNvPr>
          <p:cNvSpPr txBox="1">
            <a:spLocks/>
          </p:cNvSpPr>
          <p:nvPr/>
        </p:nvSpPr>
        <p:spPr>
          <a:xfrm>
            <a:off x="0" y="5202238"/>
            <a:ext cx="12192000" cy="1655762"/>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dirty="0"/>
              <a:t>Where do I start with acknowledgements? In addition to my many mentors and teachers in linguistics, I must thank my students in Chinese (both Mandarin and Cantonese) whose interest and inquisitiveness urged me to delve ever deeper into the mysteries of the Chinese language which happens to be my mother tongue. I began teaching at the Manchester International Society at the invitation of Steve Ashworth. I continued my teaching career here in York where I have encountered more such intelligent and inquisitive students. This is dedicated to all my students. </a:t>
            </a:r>
          </a:p>
        </p:txBody>
      </p:sp>
    </p:spTree>
    <p:extLst>
      <p:ext uri="{BB962C8B-B14F-4D97-AF65-F5344CB8AC3E}">
        <p14:creationId xmlns:p14="http://schemas.microsoft.com/office/powerpoint/2010/main" val="1743614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67E37-723B-1F44-6B86-124F74CFE6B7}"/>
              </a:ext>
            </a:extLst>
          </p:cNvPr>
          <p:cNvSpPr>
            <a:spLocks noGrp="1"/>
          </p:cNvSpPr>
          <p:nvPr>
            <p:ph type="title"/>
          </p:nvPr>
        </p:nvSpPr>
        <p:spPr>
          <a:xfrm>
            <a:off x="838200" y="0"/>
            <a:ext cx="10515600" cy="1325563"/>
          </a:xfrm>
        </p:spPr>
        <p:txBody>
          <a:bodyPr/>
          <a:lstStyle/>
          <a:p>
            <a:r>
              <a:rPr lang="en-GB" dirty="0"/>
              <a:t>Chinese dialects (background)</a:t>
            </a:r>
          </a:p>
        </p:txBody>
      </p:sp>
      <p:sp>
        <p:nvSpPr>
          <p:cNvPr id="3" name="Content Placeholder 2">
            <a:extLst>
              <a:ext uri="{FF2B5EF4-FFF2-40B4-BE49-F238E27FC236}">
                <a16:creationId xmlns:a16="http://schemas.microsoft.com/office/drawing/2014/main" id="{6B6FFCF2-2B84-F6EC-9666-DEB8FED8913F}"/>
              </a:ext>
            </a:extLst>
          </p:cNvPr>
          <p:cNvSpPr>
            <a:spLocks noGrp="1"/>
          </p:cNvSpPr>
          <p:nvPr>
            <p:ph idx="1"/>
          </p:nvPr>
        </p:nvSpPr>
        <p:spPr>
          <a:xfrm>
            <a:off x="838200" y="1325563"/>
            <a:ext cx="10515600" cy="4351338"/>
          </a:xfrm>
        </p:spPr>
        <p:txBody>
          <a:bodyPr/>
          <a:lstStyle/>
          <a:p>
            <a:pPr marL="0" indent="0">
              <a:buNone/>
            </a:pPr>
            <a:r>
              <a:rPr lang="en-GB" dirty="0"/>
              <a:t>Chinese dialects (my native language (Hong Kong))</a:t>
            </a:r>
          </a:p>
        </p:txBody>
      </p:sp>
      <p:sp>
        <p:nvSpPr>
          <p:cNvPr id="4" name="Content Placeholder 2">
            <a:extLst>
              <a:ext uri="{FF2B5EF4-FFF2-40B4-BE49-F238E27FC236}">
                <a16:creationId xmlns:a16="http://schemas.microsoft.com/office/drawing/2014/main" id="{D4E4E24D-8D2F-FF57-BD42-B896E7C975CD}"/>
              </a:ext>
            </a:extLst>
          </p:cNvPr>
          <p:cNvSpPr txBox="1">
            <a:spLocks/>
          </p:cNvSpPr>
          <p:nvPr/>
        </p:nvSpPr>
        <p:spPr>
          <a:xfrm>
            <a:off x="838200" y="1816630"/>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hlinkClick r:id="rId2"/>
              </a:rPr>
              <a:t>Save Cantonese: Language Advocacy (Personal an Academic Perspectives) </a:t>
            </a:r>
            <a:r>
              <a:rPr lang="en-GB" dirty="0"/>
              <a:t>(28</a:t>
            </a:r>
            <a:r>
              <a:rPr lang="en-GB" baseline="30000" dirty="0"/>
              <a:t>th</a:t>
            </a:r>
            <a:r>
              <a:rPr lang="en-GB" dirty="0"/>
              <a:t> February 2022)</a:t>
            </a:r>
          </a:p>
        </p:txBody>
      </p:sp>
      <p:sp>
        <p:nvSpPr>
          <p:cNvPr id="5" name="Content Placeholder 2">
            <a:extLst>
              <a:ext uri="{FF2B5EF4-FFF2-40B4-BE49-F238E27FC236}">
                <a16:creationId xmlns:a16="http://schemas.microsoft.com/office/drawing/2014/main" id="{3EEB8381-5D7B-C1F6-3337-6E91F98B551B}"/>
              </a:ext>
            </a:extLst>
          </p:cNvPr>
          <p:cNvSpPr txBox="1">
            <a:spLocks/>
          </p:cNvSpPr>
          <p:nvPr/>
        </p:nvSpPr>
        <p:spPr>
          <a:xfrm>
            <a:off x="820882" y="2672823"/>
            <a:ext cx="1014306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Mandarin vs Cantonese (two different languages?)</a:t>
            </a:r>
          </a:p>
        </p:txBody>
      </p:sp>
      <p:sp>
        <p:nvSpPr>
          <p:cNvPr id="6" name="Content Placeholder 2">
            <a:extLst>
              <a:ext uri="{FF2B5EF4-FFF2-40B4-BE49-F238E27FC236}">
                <a16:creationId xmlns:a16="http://schemas.microsoft.com/office/drawing/2014/main" id="{1A0D5FD5-4C3C-49B5-25C3-0540678458ED}"/>
              </a:ext>
            </a:extLst>
          </p:cNvPr>
          <p:cNvSpPr txBox="1">
            <a:spLocks/>
          </p:cNvSpPr>
          <p:nvPr/>
        </p:nvSpPr>
        <p:spPr>
          <a:xfrm>
            <a:off x="838199" y="3163890"/>
            <a:ext cx="1123526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NO (underestimation</a:t>
            </a:r>
            <a:r>
              <a:rPr lang="zh-CN" altLang="en-US" dirty="0"/>
              <a:t> </a:t>
            </a:r>
            <a:r>
              <a:rPr lang="en-GB" altLang="zh-CN" dirty="0"/>
              <a:t>and</a:t>
            </a:r>
            <a:r>
              <a:rPr lang="zh-CN" altLang="en-US" dirty="0"/>
              <a:t> </a:t>
            </a:r>
            <a:r>
              <a:rPr lang="en-GB" altLang="zh-CN" dirty="0"/>
              <a:t>overestimation of Chinese language (Tse (2018))</a:t>
            </a:r>
            <a:r>
              <a:rPr lang="en-GB" dirty="0"/>
              <a:t>: </a:t>
            </a:r>
          </a:p>
        </p:txBody>
      </p:sp>
      <p:cxnSp>
        <p:nvCxnSpPr>
          <p:cNvPr id="11" name="Straight Connector 10">
            <a:extLst>
              <a:ext uri="{FF2B5EF4-FFF2-40B4-BE49-F238E27FC236}">
                <a16:creationId xmlns:a16="http://schemas.microsoft.com/office/drawing/2014/main" id="{F8484A0A-4270-759F-163B-8BCD10709582}"/>
              </a:ext>
            </a:extLst>
          </p:cNvPr>
          <p:cNvCxnSpPr/>
          <p:nvPr/>
        </p:nvCxnSpPr>
        <p:spPr>
          <a:xfrm>
            <a:off x="4517348" y="3145417"/>
            <a:ext cx="544946"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0501248D-68BF-BAF1-985A-88C088FED3E1}"/>
              </a:ext>
            </a:extLst>
          </p:cNvPr>
          <p:cNvCxnSpPr/>
          <p:nvPr/>
        </p:nvCxnSpPr>
        <p:spPr>
          <a:xfrm>
            <a:off x="6494703" y="3145417"/>
            <a:ext cx="1385455"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3B28DED-C1F9-B31C-F853-00DB73B84D25}"/>
              </a:ext>
            </a:extLst>
          </p:cNvPr>
          <p:cNvSpPr txBox="1">
            <a:spLocks/>
          </p:cNvSpPr>
          <p:nvPr/>
        </p:nvSpPr>
        <p:spPr>
          <a:xfrm>
            <a:off x="4986863" y="3654957"/>
            <a:ext cx="71039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Languages vs Dialects</a:t>
            </a:r>
          </a:p>
          <a:p>
            <a:pPr marL="0" indent="0">
              <a:buFont typeface="Arial" panose="020B0604020202020204" pitchFamily="34" charset="0"/>
              <a:buNone/>
            </a:pPr>
            <a:r>
              <a:rPr lang="en-GB" dirty="0"/>
              <a:t>Diglossia: Languages (formal ‘H(</a:t>
            </a:r>
            <a:r>
              <a:rPr lang="en-GB" dirty="0" err="1"/>
              <a:t>igh</a:t>
            </a:r>
            <a:r>
              <a:rPr lang="en-GB" dirty="0"/>
              <a:t>)’) vs Dialects (informal ‘L(ow)’)</a:t>
            </a:r>
          </a:p>
          <a:p>
            <a:pPr marL="0" indent="0">
              <a:buFont typeface="Arial" panose="020B0604020202020204" pitchFamily="34" charset="0"/>
              <a:buNone/>
            </a:pPr>
            <a:r>
              <a:rPr lang="en-GB" dirty="0"/>
              <a:t>Societies where H and L co-exist (Mandarin + dialect)</a:t>
            </a:r>
          </a:p>
        </p:txBody>
      </p:sp>
      <p:sp>
        <p:nvSpPr>
          <p:cNvPr id="8" name="TextBox 7">
            <a:extLst>
              <a:ext uri="{FF2B5EF4-FFF2-40B4-BE49-F238E27FC236}">
                <a16:creationId xmlns:a16="http://schemas.microsoft.com/office/drawing/2014/main" id="{9D8CA0E3-6BCC-59E8-166B-E3A1F0C59ACA}"/>
              </a:ext>
            </a:extLst>
          </p:cNvPr>
          <p:cNvSpPr txBox="1"/>
          <p:nvPr/>
        </p:nvSpPr>
        <p:spPr>
          <a:xfrm>
            <a:off x="838198" y="3618012"/>
            <a:ext cx="4148665" cy="2246769"/>
          </a:xfrm>
          <a:prstGeom prst="rect">
            <a:avLst/>
          </a:prstGeom>
          <a:noFill/>
        </p:spPr>
        <p:txBody>
          <a:bodyPr wrap="square">
            <a:spAutoFit/>
          </a:bodyPr>
          <a:lstStyle/>
          <a:p>
            <a:pPr marL="0" indent="0">
              <a:buFont typeface="Arial" panose="020B0604020202020204" pitchFamily="34" charset="0"/>
              <a:buNone/>
            </a:pPr>
            <a:r>
              <a:rPr lang="en-GB" sz="2800" dirty="0"/>
              <a:t>There are many Chinese (Sinitic) varieties (seven dialect families): Mandarin, Yue (Cantonese), Wu, Hakka, Min, Xiang, </a:t>
            </a:r>
          </a:p>
        </p:txBody>
      </p:sp>
      <p:sp>
        <p:nvSpPr>
          <p:cNvPr id="10" name="Content Placeholder 2">
            <a:extLst>
              <a:ext uri="{FF2B5EF4-FFF2-40B4-BE49-F238E27FC236}">
                <a16:creationId xmlns:a16="http://schemas.microsoft.com/office/drawing/2014/main" id="{E20BB065-F6F0-6ADC-E7A9-3098B40FE954}"/>
              </a:ext>
            </a:extLst>
          </p:cNvPr>
          <p:cNvSpPr txBox="1">
            <a:spLocks/>
          </p:cNvSpPr>
          <p:nvPr/>
        </p:nvSpPr>
        <p:spPr>
          <a:xfrm>
            <a:off x="820881" y="5864781"/>
            <a:ext cx="11235267" cy="94518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Many related Chinese/Sinitic dialects: more info on my </a:t>
            </a:r>
            <a:r>
              <a:rPr lang="en-GB" dirty="0">
                <a:hlinkClick r:id="rId3"/>
              </a:rPr>
              <a:t>Asia Times column</a:t>
            </a:r>
            <a:r>
              <a:rPr lang="en-GB" dirty="0"/>
              <a:t> and </a:t>
            </a:r>
            <a:r>
              <a:rPr lang="en-GB" dirty="0">
                <a:hlinkClick r:id="rId4"/>
              </a:rPr>
              <a:t>Medium</a:t>
            </a:r>
            <a:r>
              <a:rPr lang="en-GB" dirty="0"/>
              <a:t>.  </a:t>
            </a:r>
          </a:p>
        </p:txBody>
      </p:sp>
    </p:spTree>
    <p:extLst>
      <p:ext uri="{BB962C8B-B14F-4D97-AF65-F5344CB8AC3E}">
        <p14:creationId xmlns:p14="http://schemas.microsoft.com/office/powerpoint/2010/main" val="4036169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14"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E191E-B3E6-1C4A-A8F8-83BB2F2003D8}"/>
              </a:ext>
            </a:extLst>
          </p:cNvPr>
          <p:cNvSpPr>
            <a:spLocks noGrp="1"/>
          </p:cNvSpPr>
          <p:nvPr>
            <p:ph type="title"/>
          </p:nvPr>
        </p:nvSpPr>
        <p:spPr>
          <a:xfrm>
            <a:off x="838200" y="0"/>
            <a:ext cx="10515600" cy="1325563"/>
          </a:xfrm>
        </p:spPr>
        <p:txBody>
          <a:bodyPr/>
          <a:lstStyle/>
          <a:p>
            <a:r>
              <a:rPr lang="en-GB" dirty="0"/>
              <a:t>Chinese dialects (sociolinguistics)</a:t>
            </a:r>
          </a:p>
        </p:txBody>
      </p:sp>
      <p:sp>
        <p:nvSpPr>
          <p:cNvPr id="3" name="Content Placeholder 2">
            <a:extLst>
              <a:ext uri="{FF2B5EF4-FFF2-40B4-BE49-F238E27FC236}">
                <a16:creationId xmlns:a16="http://schemas.microsoft.com/office/drawing/2014/main" id="{CCEE8930-A5FC-BF8E-322B-3C81385F37DE}"/>
              </a:ext>
            </a:extLst>
          </p:cNvPr>
          <p:cNvSpPr>
            <a:spLocks noGrp="1"/>
          </p:cNvSpPr>
          <p:nvPr>
            <p:ph idx="1"/>
          </p:nvPr>
        </p:nvSpPr>
        <p:spPr>
          <a:xfrm>
            <a:off x="838200" y="1325563"/>
            <a:ext cx="10515600" cy="4351338"/>
          </a:xfrm>
        </p:spPr>
        <p:txBody>
          <a:bodyPr/>
          <a:lstStyle/>
          <a:p>
            <a:pPr marL="0" indent="0">
              <a:buNone/>
            </a:pPr>
            <a:r>
              <a:rPr lang="en-GB" dirty="0"/>
              <a:t>Mutually intelligibility? (language vs dialect)</a:t>
            </a:r>
          </a:p>
        </p:txBody>
      </p:sp>
      <p:sp>
        <p:nvSpPr>
          <p:cNvPr id="4" name="Content Placeholder 2">
            <a:extLst>
              <a:ext uri="{FF2B5EF4-FFF2-40B4-BE49-F238E27FC236}">
                <a16:creationId xmlns:a16="http://schemas.microsoft.com/office/drawing/2014/main" id="{96EAD155-E9B6-E2AD-32A2-06E10E7E79A8}"/>
              </a:ext>
            </a:extLst>
          </p:cNvPr>
          <p:cNvSpPr txBox="1">
            <a:spLocks/>
          </p:cNvSpPr>
          <p:nvPr/>
        </p:nvSpPr>
        <p:spPr>
          <a:xfrm>
            <a:off x="838200" y="227383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Chambers and Trudgill (1998): ‘mutual intelligibility is not a reliable diagnostic’  </a:t>
            </a:r>
          </a:p>
        </p:txBody>
      </p:sp>
      <p:sp>
        <p:nvSpPr>
          <p:cNvPr id="5" name="Content Placeholder 2">
            <a:extLst>
              <a:ext uri="{FF2B5EF4-FFF2-40B4-BE49-F238E27FC236}">
                <a16:creationId xmlns:a16="http://schemas.microsoft.com/office/drawing/2014/main" id="{22907629-12F6-C411-885E-2A1F06BE0E60}"/>
              </a:ext>
            </a:extLst>
          </p:cNvPr>
          <p:cNvSpPr txBox="1">
            <a:spLocks/>
          </p:cNvSpPr>
          <p:nvPr/>
        </p:nvSpPr>
        <p:spPr>
          <a:xfrm>
            <a:off x="838200" y="1799697"/>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‘Languages are mutually unintelligible whereas dialects are.’ </a:t>
            </a:r>
          </a:p>
        </p:txBody>
      </p:sp>
      <p:sp>
        <p:nvSpPr>
          <p:cNvPr id="6" name="Content Placeholder 2">
            <a:extLst>
              <a:ext uri="{FF2B5EF4-FFF2-40B4-BE49-F238E27FC236}">
                <a16:creationId xmlns:a16="http://schemas.microsoft.com/office/drawing/2014/main" id="{7F903FDC-C168-E558-16B8-155558152F4B}"/>
              </a:ext>
            </a:extLst>
          </p:cNvPr>
          <p:cNvSpPr txBox="1">
            <a:spLocks/>
          </p:cNvSpPr>
          <p:nvPr/>
        </p:nvSpPr>
        <p:spPr>
          <a:xfrm>
            <a:off x="838200" y="320516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‘Mutually intelligibility’ is gradable rather than ‘yes-no’/’black-or-white’. </a:t>
            </a:r>
          </a:p>
        </p:txBody>
      </p:sp>
      <p:sp>
        <p:nvSpPr>
          <p:cNvPr id="7" name="Content Placeholder 2">
            <a:extLst>
              <a:ext uri="{FF2B5EF4-FFF2-40B4-BE49-F238E27FC236}">
                <a16:creationId xmlns:a16="http://schemas.microsoft.com/office/drawing/2014/main" id="{E5811100-CCC3-772A-5D5A-B537080C3603}"/>
              </a:ext>
            </a:extLst>
          </p:cNvPr>
          <p:cNvSpPr txBox="1">
            <a:spLocks/>
          </p:cNvSpPr>
          <p:nvPr/>
        </p:nvSpPr>
        <p:spPr>
          <a:xfrm>
            <a:off x="838200" y="398012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Level of literacy, mode of communication, sociolinguistic context etc </a:t>
            </a:r>
          </a:p>
        </p:txBody>
      </p:sp>
      <p:sp>
        <p:nvSpPr>
          <p:cNvPr id="10" name="Content Placeholder 2">
            <a:extLst>
              <a:ext uri="{FF2B5EF4-FFF2-40B4-BE49-F238E27FC236}">
                <a16:creationId xmlns:a16="http://schemas.microsoft.com/office/drawing/2014/main" id="{2BF189E3-0804-1A76-E119-12EBDF69234D}"/>
              </a:ext>
            </a:extLst>
          </p:cNvPr>
          <p:cNvSpPr txBox="1">
            <a:spLocks/>
          </p:cNvSpPr>
          <p:nvPr/>
        </p:nvSpPr>
        <p:spPr>
          <a:xfrm>
            <a:off x="838200" y="445598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Chinese dialects: not mutually intelligible </a:t>
            </a:r>
          </a:p>
        </p:txBody>
      </p:sp>
      <p:sp>
        <p:nvSpPr>
          <p:cNvPr id="11" name="Content Placeholder 2">
            <a:extLst>
              <a:ext uri="{FF2B5EF4-FFF2-40B4-BE49-F238E27FC236}">
                <a16:creationId xmlns:a16="http://schemas.microsoft.com/office/drawing/2014/main" id="{22A8C5E1-1E62-478B-564E-8CEAA8B7FCA3}"/>
              </a:ext>
            </a:extLst>
          </p:cNvPr>
          <p:cNvSpPr txBox="1">
            <a:spLocks/>
          </p:cNvSpPr>
          <p:nvPr/>
        </p:nvSpPr>
        <p:spPr>
          <a:xfrm>
            <a:off x="3242733" y="493183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Grammatically very similar</a:t>
            </a:r>
          </a:p>
        </p:txBody>
      </p:sp>
    </p:spTree>
    <p:extLst>
      <p:ext uri="{BB962C8B-B14F-4D97-AF65-F5344CB8AC3E}">
        <p14:creationId xmlns:p14="http://schemas.microsoft.com/office/powerpoint/2010/main" val="176017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60049-A41A-10EA-46F0-3C54F38C2F85}"/>
              </a:ext>
            </a:extLst>
          </p:cNvPr>
          <p:cNvSpPr>
            <a:spLocks noGrp="1"/>
          </p:cNvSpPr>
          <p:nvPr>
            <p:ph type="title"/>
          </p:nvPr>
        </p:nvSpPr>
        <p:spPr>
          <a:xfrm>
            <a:off x="838200" y="0"/>
            <a:ext cx="10515600" cy="1325563"/>
          </a:xfrm>
        </p:spPr>
        <p:txBody>
          <a:bodyPr/>
          <a:lstStyle/>
          <a:p>
            <a:r>
              <a:rPr lang="en-GB" dirty="0"/>
              <a:t>Formal Language Variation</a:t>
            </a:r>
          </a:p>
        </p:txBody>
      </p:sp>
      <p:sp>
        <p:nvSpPr>
          <p:cNvPr id="3" name="Content Placeholder 2">
            <a:extLst>
              <a:ext uri="{FF2B5EF4-FFF2-40B4-BE49-F238E27FC236}">
                <a16:creationId xmlns:a16="http://schemas.microsoft.com/office/drawing/2014/main" id="{42FAB7AA-0873-1390-73FE-96A301812519}"/>
              </a:ext>
            </a:extLst>
          </p:cNvPr>
          <p:cNvSpPr>
            <a:spLocks noGrp="1"/>
          </p:cNvSpPr>
          <p:nvPr>
            <p:ph idx="1"/>
          </p:nvPr>
        </p:nvSpPr>
        <p:spPr>
          <a:xfrm>
            <a:off x="838200" y="1325563"/>
            <a:ext cx="10515600" cy="4351338"/>
          </a:xfrm>
        </p:spPr>
        <p:txBody>
          <a:bodyPr/>
          <a:lstStyle/>
          <a:p>
            <a:pPr marL="0" indent="0">
              <a:buNone/>
            </a:pPr>
            <a:r>
              <a:rPr lang="en-GB" dirty="0"/>
              <a:t>Cross-linguistic comparative data &gt; Linguistic Universals and Variation</a:t>
            </a:r>
          </a:p>
        </p:txBody>
      </p:sp>
      <p:sp>
        <p:nvSpPr>
          <p:cNvPr id="4" name="Content Placeholder 2">
            <a:extLst>
              <a:ext uri="{FF2B5EF4-FFF2-40B4-BE49-F238E27FC236}">
                <a16:creationId xmlns:a16="http://schemas.microsoft.com/office/drawing/2014/main" id="{2C846B3A-1480-C111-1B30-ED497DC5926F}"/>
              </a:ext>
            </a:extLst>
          </p:cNvPr>
          <p:cNvSpPr txBox="1">
            <a:spLocks/>
          </p:cNvSpPr>
          <p:nvPr/>
        </p:nvSpPr>
        <p:spPr>
          <a:xfrm>
            <a:off x="0" y="1833564"/>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Cartography: Universal Projection of Linguistic Categories (Cinque (1999 </a:t>
            </a:r>
            <a:r>
              <a:rPr lang="en-GB" i="1" dirty="0"/>
              <a:t>et </a:t>
            </a:r>
            <a:r>
              <a:rPr lang="en-GB" i="1" dirty="0" err="1"/>
              <a:t>seq</a:t>
            </a:r>
            <a:r>
              <a:rPr lang="en-GB" dirty="0"/>
              <a:t>))</a:t>
            </a:r>
          </a:p>
        </p:txBody>
      </p:sp>
      <p:sp>
        <p:nvSpPr>
          <p:cNvPr id="5" name="Content Placeholder 2">
            <a:extLst>
              <a:ext uri="{FF2B5EF4-FFF2-40B4-BE49-F238E27FC236}">
                <a16:creationId xmlns:a16="http://schemas.microsoft.com/office/drawing/2014/main" id="{54ECFA0D-36D8-DBD0-EAC3-3BF615FFD8DE}"/>
              </a:ext>
            </a:extLst>
          </p:cNvPr>
          <p:cNvSpPr txBox="1">
            <a:spLocks/>
          </p:cNvSpPr>
          <p:nvPr/>
        </p:nvSpPr>
        <p:spPr>
          <a:xfrm>
            <a:off x="0" y="234156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600" dirty="0"/>
              <a:t>Clause vs Noun (two domains- parallel structure) (Abney (1987), </a:t>
            </a:r>
            <a:r>
              <a:rPr lang="en-GB" sz="2600" dirty="0" err="1"/>
              <a:t>Longobardi</a:t>
            </a:r>
            <a:r>
              <a:rPr lang="en-GB" sz="2600" dirty="0"/>
              <a:t> (2001)))</a:t>
            </a:r>
          </a:p>
        </p:txBody>
      </p:sp>
      <p:sp>
        <p:nvSpPr>
          <p:cNvPr id="6" name="Content Placeholder 2">
            <a:extLst>
              <a:ext uri="{FF2B5EF4-FFF2-40B4-BE49-F238E27FC236}">
                <a16:creationId xmlns:a16="http://schemas.microsoft.com/office/drawing/2014/main" id="{DC2BCBA7-76C2-7DCC-C52C-24D3D080FE78}"/>
              </a:ext>
            </a:extLst>
          </p:cNvPr>
          <p:cNvSpPr txBox="1">
            <a:spLocks/>
          </p:cNvSpPr>
          <p:nvPr/>
        </p:nvSpPr>
        <p:spPr>
          <a:xfrm>
            <a:off x="0" y="354412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a:t>
            </a:r>
            <a:r>
              <a:rPr lang="en-GB" dirty="0" err="1"/>
              <a:t>omp</a:t>
            </a:r>
            <a:r>
              <a:rPr lang="en-GB" dirty="0"/>
              <a:t>)	Subj(</a:t>
            </a:r>
            <a:r>
              <a:rPr lang="en-GB" dirty="0" err="1"/>
              <a:t>ect</a:t>
            </a:r>
            <a:r>
              <a:rPr lang="en-GB" dirty="0"/>
              <a:t>)	T(</a:t>
            </a:r>
            <a:r>
              <a:rPr lang="en-GB" dirty="0" err="1"/>
              <a:t>ense</a:t>
            </a:r>
            <a:r>
              <a:rPr lang="en-GB" dirty="0"/>
              <a:t>)	AUX(</a:t>
            </a:r>
            <a:r>
              <a:rPr lang="en-GB" dirty="0" err="1"/>
              <a:t>iliary</a:t>
            </a:r>
            <a:r>
              <a:rPr lang="en-GB" dirty="0"/>
              <a:t>)	Asp(</a:t>
            </a:r>
            <a:r>
              <a:rPr lang="en-GB" dirty="0" err="1"/>
              <a:t>ect</a:t>
            </a:r>
            <a:r>
              <a:rPr lang="en-GB" dirty="0"/>
              <a:t>)    V(</a:t>
            </a:r>
            <a:r>
              <a:rPr lang="en-GB" dirty="0" err="1"/>
              <a:t>erb</a:t>
            </a:r>
            <a:r>
              <a:rPr lang="en-GB" dirty="0"/>
              <a:t>)	</a:t>
            </a:r>
            <a:r>
              <a:rPr lang="en-GB" dirty="0" err="1"/>
              <a:t>Obj</a:t>
            </a:r>
            <a:r>
              <a:rPr lang="en-GB" dirty="0"/>
              <a:t>(</a:t>
            </a:r>
            <a:r>
              <a:rPr lang="en-GB" dirty="0" err="1"/>
              <a:t>ect</a:t>
            </a:r>
            <a:r>
              <a:rPr lang="en-GB" dirty="0"/>
              <a:t>)</a:t>
            </a:r>
          </a:p>
        </p:txBody>
      </p:sp>
      <p:sp>
        <p:nvSpPr>
          <p:cNvPr id="7" name="Content Placeholder 2">
            <a:extLst>
              <a:ext uri="{FF2B5EF4-FFF2-40B4-BE49-F238E27FC236}">
                <a16:creationId xmlns:a16="http://schemas.microsoft.com/office/drawing/2014/main" id="{BFCB3489-8E24-64DD-0265-1586D0899D4A}"/>
              </a:ext>
            </a:extLst>
          </p:cNvPr>
          <p:cNvSpPr txBox="1">
            <a:spLocks/>
          </p:cNvSpPr>
          <p:nvPr/>
        </p:nvSpPr>
        <p:spPr>
          <a:xfrm>
            <a:off x="0" y="5025917"/>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D(</a:t>
            </a:r>
            <a:r>
              <a:rPr lang="en-GB" dirty="0" err="1"/>
              <a:t>efinite</a:t>
            </a:r>
            <a:r>
              <a:rPr lang="en-GB" dirty="0"/>
              <a:t>)	Possessor	</a:t>
            </a:r>
            <a:r>
              <a:rPr lang="en-GB" dirty="0" err="1"/>
              <a:t>Poss</a:t>
            </a:r>
            <a:r>
              <a:rPr lang="en-GB" dirty="0"/>
              <a:t>(</a:t>
            </a:r>
            <a:r>
              <a:rPr lang="en-GB" dirty="0" err="1"/>
              <a:t>ession</a:t>
            </a:r>
            <a:r>
              <a:rPr lang="en-GB" dirty="0"/>
              <a:t>)	Dem(</a:t>
            </a:r>
            <a:r>
              <a:rPr lang="en-GB" dirty="0" err="1"/>
              <a:t>onstrative</a:t>
            </a:r>
            <a:r>
              <a:rPr lang="en-GB" dirty="0"/>
              <a:t>)   </a:t>
            </a:r>
            <a:r>
              <a:rPr lang="en-GB" dirty="0" err="1"/>
              <a:t>Num</a:t>
            </a:r>
            <a:r>
              <a:rPr lang="en-GB" dirty="0"/>
              <a:t>(</a:t>
            </a:r>
            <a:r>
              <a:rPr lang="en-GB" dirty="0" err="1"/>
              <a:t>ber</a:t>
            </a:r>
            <a:r>
              <a:rPr lang="en-GB" dirty="0"/>
              <a:t>)/Q(</a:t>
            </a:r>
            <a:r>
              <a:rPr lang="en-GB" dirty="0" err="1"/>
              <a:t>uant</a:t>
            </a:r>
            <a:r>
              <a:rPr lang="en-GB" dirty="0"/>
              <a:t>) N(</a:t>
            </a:r>
            <a:r>
              <a:rPr lang="en-GB" dirty="0" err="1"/>
              <a:t>oun</a:t>
            </a:r>
            <a:r>
              <a:rPr lang="en-GB" dirty="0"/>
              <a:t>)</a:t>
            </a:r>
          </a:p>
        </p:txBody>
      </p:sp>
      <p:sp>
        <p:nvSpPr>
          <p:cNvPr id="8" name="Content Placeholder 2">
            <a:extLst>
              <a:ext uri="{FF2B5EF4-FFF2-40B4-BE49-F238E27FC236}">
                <a16:creationId xmlns:a16="http://schemas.microsoft.com/office/drawing/2014/main" id="{AD6DC49A-97FB-BBC8-6E81-D7843EAA1302}"/>
              </a:ext>
            </a:extLst>
          </p:cNvPr>
          <p:cNvSpPr txBox="1">
            <a:spLocks/>
          </p:cNvSpPr>
          <p:nvPr/>
        </p:nvSpPr>
        <p:spPr>
          <a:xfrm>
            <a:off x="0" y="2827970"/>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Assuming head-</a:t>
            </a:r>
            <a:r>
              <a:rPr lang="en-GB" dirty="0" err="1"/>
              <a:t>initiality</a:t>
            </a:r>
            <a:r>
              <a:rPr lang="en-GB" dirty="0"/>
              <a:t> i.e. Head + Complement (Kayne (2001))</a:t>
            </a:r>
          </a:p>
        </p:txBody>
      </p:sp>
      <p:sp>
        <p:nvSpPr>
          <p:cNvPr id="9" name="Content Placeholder 2">
            <a:extLst>
              <a:ext uri="{FF2B5EF4-FFF2-40B4-BE49-F238E27FC236}">
                <a16:creationId xmlns:a16="http://schemas.microsoft.com/office/drawing/2014/main" id="{06C435DE-FEDF-92FB-E661-38C52CE2E6EE}"/>
              </a:ext>
            </a:extLst>
          </p:cNvPr>
          <p:cNvSpPr txBox="1">
            <a:spLocks/>
          </p:cNvSpPr>
          <p:nvPr/>
        </p:nvSpPr>
        <p:spPr>
          <a:xfrm>
            <a:off x="0" y="319167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Clause: </a:t>
            </a:r>
          </a:p>
        </p:txBody>
      </p:sp>
      <p:sp>
        <p:nvSpPr>
          <p:cNvPr id="10" name="Content Placeholder 2">
            <a:extLst>
              <a:ext uri="{FF2B5EF4-FFF2-40B4-BE49-F238E27FC236}">
                <a16:creationId xmlns:a16="http://schemas.microsoft.com/office/drawing/2014/main" id="{1D6002E9-4E39-34EA-73F3-776E700415B8}"/>
              </a:ext>
            </a:extLst>
          </p:cNvPr>
          <p:cNvSpPr txBox="1">
            <a:spLocks/>
          </p:cNvSpPr>
          <p:nvPr/>
        </p:nvSpPr>
        <p:spPr>
          <a:xfrm>
            <a:off x="-76200" y="4666896"/>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Noun:</a:t>
            </a:r>
          </a:p>
        </p:txBody>
      </p:sp>
      <p:sp>
        <p:nvSpPr>
          <p:cNvPr id="11" name="Content Placeholder 2">
            <a:extLst>
              <a:ext uri="{FF2B5EF4-FFF2-40B4-BE49-F238E27FC236}">
                <a16:creationId xmlns:a16="http://schemas.microsoft.com/office/drawing/2014/main" id="{E3AFAA48-8E83-A755-02B3-82F6F81244FE}"/>
              </a:ext>
            </a:extLst>
          </p:cNvPr>
          <p:cNvSpPr txBox="1">
            <a:spLocks/>
          </p:cNvSpPr>
          <p:nvPr/>
        </p:nvSpPr>
        <p:spPr>
          <a:xfrm>
            <a:off x="0" y="3903142"/>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That		he		will		want		to		go	home			 </a:t>
            </a:r>
          </a:p>
        </p:txBody>
      </p:sp>
      <p:sp>
        <p:nvSpPr>
          <p:cNvPr id="12" name="Content Placeholder 2">
            <a:extLst>
              <a:ext uri="{FF2B5EF4-FFF2-40B4-BE49-F238E27FC236}">
                <a16:creationId xmlns:a16="http://schemas.microsoft.com/office/drawing/2014/main" id="{2C6E0709-4315-6BDC-3C28-8A084446BE45}"/>
              </a:ext>
            </a:extLst>
          </p:cNvPr>
          <p:cNvSpPr txBox="1">
            <a:spLocks/>
          </p:cNvSpPr>
          <p:nvPr/>
        </p:nvSpPr>
        <p:spPr>
          <a:xfrm>
            <a:off x="0" y="5537569"/>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						Those			two			books </a:t>
            </a:r>
          </a:p>
        </p:txBody>
      </p:sp>
      <p:sp>
        <p:nvSpPr>
          <p:cNvPr id="13" name="Content Placeholder 2">
            <a:extLst>
              <a:ext uri="{FF2B5EF4-FFF2-40B4-BE49-F238E27FC236}">
                <a16:creationId xmlns:a16="http://schemas.microsoft.com/office/drawing/2014/main" id="{24BF0D42-AB5D-91DA-FB79-9ECA4E8D80CC}"/>
              </a:ext>
            </a:extLst>
          </p:cNvPr>
          <p:cNvSpPr txBox="1">
            <a:spLocks/>
          </p:cNvSpPr>
          <p:nvPr/>
        </p:nvSpPr>
        <p:spPr>
          <a:xfrm>
            <a:off x="0" y="4314446"/>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If		I				want		to		be	butterfly			 </a:t>
            </a:r>
          </a:p>
        </p:txBody>
      </p:sp>
      <p:sp>
        <p:nvSpPr>
          <p:cNvPr id="14" name="Content Placeholder 2">
            <a:extLst>
              <a:ext uri="{FF2B5EF4-FFF2-40B4-BE49-F238E27FC236}">
                <a16:creationId xmlns:a16="http://schemas.microsoft.com/office/drawing/2014/main" id="{7402F16C-30B4-EDFF-D518-B1F3ED7B7247}"/>
              </a:ext>
            </a:extLst>
          </p:cNvPr>
          <p:cNvSpPr txBox="1">
            <a:spLocks/>
          </p:cNvSpPr>
          <p:nvPr/>
        </p:nvSpPr>
        <p:spPr>
          <a:xfrm>
            <a:off x="0" y="589930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		Chomsky	‘s					many			pubs </a:t>
            </a:r>
          </a:p>
        </p:txBody>
      </p:sp>
    </p:spTree>
    <p:extLst>
      <p:ext uri="{BB962C8B-B14F-4D97-AF65-F5344CB8AC3E}">
        <p14:creationId xmlns:p14="http://schemas.microsoft.com/office/powerpoint/2010/main" val="2851149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P spid="9" grpId="0"/>
      <p:bldP spid="10" grpId="0"/>
      <p:bldP spid="11" grpId="0"/>
      <p:bldP spid="12" grpId="0"/>
      <p:bldP spid="13"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15070-4D8E-1C59-FA2A-5A67EFC3F9A5}"/>
              </a:ext>
            </a:extLst>
          </p:cNvPr>
          <p:cNvSpPr>
            <a:spLocks noGrp="1"/>
          </p:cNvSpPr>
          <p:nvPr>
            <p:ph type="title"/>
          </p:nvPr>
        </p:nvSpPr>
        <p:spPr>
          <a:xfrm>
            <a:off x="838200" y="0"/>
            <a:ext cx="10515600" cy="1325563"/>
          </a:xfrm>
        </p:spPr>
        <p:txBody>
          <a:bodyPr/>
          <a:lstStyle/>
          <a:p>
            <a:r>
              <a:rPr lang="en-GB" dirty="0"/>
              <a:t>Clause (Chinese dialects)</a:t>
            </a:r>
          </a:p>
        </p:txBody>
      </p:sp>
      <p:sp>
        <p:nvSpPr>
          <p:cNvPr id="3" name="Content Placeholder 2">
            <a:extLst>
              <a:ext uri="{FF2B5EF4-FFF2-40B4-BE49-F238E27FC236}">
                <a16:creationId xmlns:a16="http://schemas.microsoft.com/office/drawing/2014/main" id="{A6ED85F4-35E8-7370-9F52-C48F82B15BED}"/>
              </a:ext>
            </a:extLst>
          </p:cNvPr>
          <p:cNvSpPr>
            <a:spLocks noGrp="1"/>
          </p:cNvSpPr>
          <p:nvPr>
            <p:ph idx="1"/>
          </p:nvPr>
        </p:nvSpPr>
        <p:spPr>
          <a:xfrm>
            <a:off x="0" y="1504521"/>
            <a:ext cx="12192000" cy="4351338"/>
          </a:xfrm>
        </p:spPr>
        <p:txBody>
          <a:bodyPr/>
          <a:lstStyle/>
          <a:p>
            <a:pPr marL="0" indent="0">
              <a:buNone/>
            </a:pPr>
            <a:r>
              <a:rPr lang="en-GB" dirty="0"/>
              <a:t>C	S	T	AUX	Adv(</a:t>
            </a:r>
            <a:r>
              <a:rPr lang="en-GB" dirty="0" err="1"/>
              <a:t>erb</a:t>
            </a:r>
            <a:r>
              <a:rPr lang="en-GB" dirty="0"/>
              <a:t>)	V		O      </a:t>
            </a:r>
            <a:r>
              <a:rPr lang="en-GB" dirty="0" err="1"/>
              <a:t>SentenceFinalParticle</a:t>
            </a:r>
            <a:r>
              <a:rPr lang="en-GB" dirty="0"/>
              <a:t> (SFP)</a:t>
            </a:r>
          </a:p>
        </p:txBody>
      </p:sp>
      <p:sp>
        <p:nvSpPr>
          <p:cNvPr id="4" name="Content Placeholder 2">
            <a:extLst>
              <a:ext uri="{FF2B5EF4-FFF2-40B4-BE49-F238E27FC236}">
                <a16:creationId xmlns:a16="http://schemas.microsoft.com/office/drawing/2014/main" id="{5F8E5EEF-E045-34AB-CE9D-DDCA25B23D6A}"/>
              </a:ext>
            </a:extLst>
          </p:cNvPr>
          <p:cNvSpPr txBox="1">
            <a:spLocks/>
          </p:cNvSpPr>
          <p:nvPr/>
        </p:nvSpPr>
        <p:spPr>
          <a:xfrm>
            <a:off x="838200" y="1067064"/>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Chinese dialects, like English, are head-initial and S(</a:t>
            </a:r>
            <a:r>
              <a:rPr lang="en-GB" dirty="0" err="1"/>
              <a:t>ubj</a:t>
            </a:r>
            <a:r>
              <a:rPr lang="en-GB" dirty="0"/>
              <a:t>)V(</a:t>
            </a:r>
            <a:r>
              <a:rPr lang="en-GB" dirty="0" err="1"/>
              <a:t>erb</a:t>
            </a:r>
            <a:r>
              <a:rPr lang="en-GB" dirty="0"/>
              <a:t>)O(</a:t>
            </a:r>
            <a:r>
              <a:rPr lang="en-GB" dirty="0" err="1"/>
              <a:t>bject</a:t>
            </a:r>
            <a:r>
              <a:rPr lang="en-GB" dirty="0"/>
              <a:t>)</a:t>
            </a:r>
          </a:p>
        </p:txBody>
      </p:sp>
      <p:sp>
        <p:nvSpPr>
          <p:cNvPr id="5" name="Content Placeholder 2">
            <a:extLst>
              <a:ext uri="{FF2B5EF4-FFF2-40B4-BE49-F238E27FC236}">
                <a16:creationId xmlns:a16="http://schemas.microsoft.com/office/drawing/2014/main" id="{5A7D6553-1003-4D89-773A-29404FD8E758}"/>
              </a:ext>
            </a:extLst>
          </p:cNvPr>
          <p:cNvSpPr txBox="1">
            <a:spLocks/>
          </p:cNvSpPr>
          <p:nvPr/>
        </p:nvSpPr>
        <p:spPr>
          <a:xfrm>
            <a:off x="0" y="1962316"/>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GB" altLang="zh-CN" sz="1800" dirty="0"/>
              <a:t>	</a:t>
            </a:r>
            <a:r>
              <a:rPr lang="zh-CN" altLang="en-US" sz="1800" dirty="0"/>
              <a:t>他</a:t>
            </a:r>
            <a:r>
              <a:rPr lang="en-GB" altLang="zh-CN" sz="1800" dirty="0"/>
              <a:t>	</a:t>
            </a:r>
            <a:r>
              <a:rPr lang="zh-CN" altLang="en-US" sz="1800" dirty="0"/>
              <a:t>會</a:t>
            </a:r>
            <a:r>
              <a:rPr lang="en-GB" altLang="zh-CN" sz="1800" dirty="0"/>
              <a:t>	</a:t>
            </a:r>
            <a:r>
              <a:rPr lang="zh-CN" altLang="en-US" sz="1800" dirty="0"/>
              <a:t>想</a:t>
            </a:r>
            <a:r>
              <a:rPr lang="en-GB" altLang="zh-CN" sz="1800" dirty="0"/>
              <a:t>			</a:t>
            </a:r>
            <a:r>
              <a:rPr lang="zh-CN" altLang="en-US" sz="1800" dirty="0"/>
              <a:t>回</a:t>
            </a:r>
            <a:r>
              <a:rPr lang="en-GB" altLang="zh-CN" sz="1800" dirty="0"/>
              <a:t>		</a:t>
            </a:r>
            <a:r>
              <a:rPr lang="zh-CN" altLang="en-US" sz="1800" dirty="0"/>
              <a:t>家</a:t>
            </a:r>
            <a:r>
              <a:rPr lang="en-GB" altLang="zh-CN" sz="1800" dirty="0"/>
              <a:t>	</a:t>
            </a:r>
            <a:r>
              <a:rPr lang="zh-CN" altLang="en-US" sz="1800" dirty="0"/>
              <a:t>吧 </a:t>
            </a:r>
            <a:endParaRPr lang="en-GB" altLang="zh-CN" sz="1800" dirty="0"/>
          </a:p>
          <a:p>
            <a:pPr marL="457200" lvl="1" indent="0">
              <a:buNone/>
            </a:pPr>
            <a:r>
              <a:rPr lang="en-GB" sz="1800" dirty="0"/>
              <a:t>	ta	hui	</a:t>
            </a:r>
            <a:r>
              <a:rPr lang="en-GB" sz="1800" dirty="0" err="1"/>
              <a:t>xiang</a:t>
            </a:r>
            <a:r>
              <a:rPr lang="en-GB" sz="1800" dirty="0"/>
              <a:t>			hui		jia	</a:t>
            </a:r>
            <a:r>
              <a:rPr lang="en-GB" sz="1800" dirty="0" err="1"/>
              <a:t>ba</a:t>
            </a:r>
            <a:endParaRPr lang="en-GB" sz="1800" dirty="0"/>
          </a:p>
          <a:p>
            <a:pPr marL="457200" lvl="1" indent="0">
              <a:buNone/>
            </a:pPr>
            <a:r>
              <a:rPr lang="en-GB" sz="1800" dirty="0"/>
              <a:t>	he	will	want			return		home	EXCLAMATION</a:t>
            </a:r>
          </a:p>
          <a:p>
            <a:pPr marL="457200" lvl="1" indent="0">
              <a:buNone/>
            </a:pPr>
            <a:r>
              <a:rPr lang="en-GB" sz="1800" dirty="0"/>
              <a:t>	‘He will want to go home.’ </a:t>
            </a:r>
          </a:p>
        </p:txBody>
      </p:sp>
      <p:sp>
        <p:nvSpPr>
          <p:cNvPr id="6" name="Content Placeholder 2">
            <a:extLst>
              <a:ext uri="{FF2B5EF4-FFF2-40B4-BE49-F238E27FC236}">
                <a16:creationId xmlns:a16="http://schemas.microsoft.com/office/drawing/2014/main" id="{45B7D2A6-F3DC-76D8-6FE8-FD43D94660DD}"/>
              </a:ext>
            </a:extLst>
          </p:cNvPr>
          <p:cNvSpPr txBox="1">
            <a:spLocks/>
          </p:cNvSpPr>
          <p:nvPr/>
        </p:nvSpPr>
        <p:spPr>
          <a:xfrm>
            <a:off x="0" y="3210160"/>
            <a:ext cx="12192000" cy="36478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t>如果</a:t>
            </a:r>
            <a:r>
              <a:rPr lang="en-GB" altLang="zh-CN" sz="1800" dirty="0"/>
              <a:t>	</a:t>
            </a:r>
            <a:r>
              <a:rPr lang="zh-CN" altLang="en-US" sz="1800" dirty="0"/>
              <a:t>我</a:t>
            </a:r>
            <a:r>
              <a:rPr lang="en-GB" altLang="zh-CN" sz="1800" dirty="0"/>
              <a:t>		</a:t>
            </a:r>
            <a:r>
              <a:rPr lang="zh-CN" altLang="en-US" sz="1800" dirty="0"/>
              <a:t>要</a:t>
            </a:r>
            <a:r>
              <a:rPr lang="en-GB" altLang="zh-CN" sz="1800" dirty="0"/>
              <a:t>			</a:t>
            </a:r>
            <a:r>
              <a:rPr lang="zh-CN" altLang="en-US" sz="1800" dirty="0"/>
              <a:t>變成</a:t>
            </a:r>
            <a:r>
              <a:rPr lang="en-GB" altLang="zh-CN" sz="1800" dirty="0"/>
              <a:t>		</a:t>
            </a:r>
            <a:r>
              <a:rPr lang="zh-CN" altLang="en-US" sz="1800" dirty="0"/>
              <a:t>蝴蝶</a:t>
            </a:r>
            <a:r>
              <a:rPr lang="en-GB" altLang="zh-CN" sz="1800" dirty="0"/>
              <a:t>	</a:t>
            </a:r>
            <a:r>
              <a:rPr lang="zh-CN" altLang="en-US" sz="1800" dirty="0"/>
              <a:t>的話</a:t>
            </a:r>
            <a:endParaRPr lang="en-GB" altLang="zh-CN" sz="1800" dirty="0"/>
          </a:p>
          <a:p>
            <a:pPr marL="0" indent="0">
              <a:buFont typeface="Arial" panose="020B0604020202020204" pitchFamily="34" charset="0"/>
              <a:buNone/>
            </a:pPr>
            <a:r>
              <a:rPr lang="en-GB" sz="1800" dirty="0" err="1"/>
              <a:t>Ruguo</a:t>
            </a:r>
            <a:r>
              <a:rPr lang="en-GB" sz="1800" dirty="0"/>
              <a:t> wo		</a:t>
            </a:r>
            <a:r>
              <a:rPr lang="en-GB" sz="1800" dirty="0" err="1"/>
              <a:t>yao</a:t>
            </a:r>
            <a:r>
              <a:rPr lang="en-GB" sz="1800" dirty="0"/>
              <a:t>			</a:t>
            </a:r>
            <a:r>
              <a:rPr lang="en-GB" sz="1800" dirty="0" err="1"/>
              <a:t>biancheng</a:t>
            </a:r>
            <a:r>
              <a:rPr lang="en-GB" sz="1800" dirty="0"/>
              <a:t>	</a:t>
            </a:r>
            <a:r>
              <a:rPr lang="en-GB" sz="1800" dirty="0" err="1"/>
              <a:t>hudie</a:t>
            </a:r>
            <a:r>
              <a:rPr lang="en-GB" sz="1800" dirty="0"/>
              <a:t>	</a:t>
            </a:r>
            <a:r>
              <a:rPr lang="en-GB" sz="1800" dirty="0" err="1"/>
              <a:t>dehua</a:t>
            </a:r>
            <a:endParaRPr lang="en-GB" sz="1800" dirty="0"/>
          </a:p>
          <a:p>
            <a:pPr marL="0" indent="0">
              <a:buFont typeface="Arial" panose="020B0604020202020204" pitchFamily="34" charset="0"/>
              <a:buNone/>
            </a:pPr>
            <a:r>
              <a:rPr lang="en-GB" sz="1800" dirty="0"/>
              <a:t>If	I		want			transform	b-fly 	CONDITIONAL</a:t>
            </a:r>
          </a:p>
          <a:p>
            <a:pPr marL="0" indent="0">
              <a:buFont typeface="Arial" panose="020B0604020202020204" pitchFamily="34" charset="0"/>
              <a:buNone/>
            </a:pPr>
            <a:r>
              <a:rPr lang="en-GB" sz="1800" dirty="0"/>
              <a:t>	‘If I want to be a butterfly.’ 	</a:t>
            </a:r>
          </a:p>
        </p:txBody>
      </p:sp>
    </p:spTree>
    <p:extLst>
      <p:ext uri="{BB962C8B-B14F-4D97-AF65-F5344CB8AC3E}">
        <p14:creationId xmlns:p14="http://schemas.microsoft.com/office/powerpoint/2010/main" val="236102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15070-4D8E-1C59-FA2A-5A67EFC3F9A5}"/>
              </a:ext>
            </a:extLst>
          </p:cNvPr>
          <p:cNvSpPr>
            <a:spLocks noGrp="1"/>
          </p:cNvSpPr>
          <p:nvPr>
            <p:ph type="title"/>
          </p:nvPr>
        </p:nvSpPr>
        <p:spPr>
          <a:xfrm>
            <a:off x="838200" y="0"/>
            <a:ext cx="10515600" cy="1325563"/>
          </a:xfrm>
        </p:spPr>
        <p:txBody>
          <a:bodyPr/>
          <a:lstStyle/>
          <a:p>
            <a:r>
              <a:rPr lang="en-GB" dirty="0"/>
              <a:t>Clause (Chinese dialects)</a:t>
            </a:r>
          </a:p>
        </p:txBody>
      </p:sp>
      <p:sp>
        <p:nvSpPr>
          <p:cNvPr id="3" name="Content Placeholder 2">
            <a:extLst>
              <a:ext uri="{FF2B5EF4-FFF2-40B4-BE49-F238E27FC236}">
                <a16:creationId xmlns:a16="http://schemas.microsoft.com/office/drawing/2014/main" id="{A6ED85F4-35E8-7370-9F52-C48F82B15BED}"/>
              </a:ext>
            </a:extLst>
          </p:cNvPr>
          <p:cNvSpPr>
            <a:spLocks noGrp="1"/>
          </p:cNvSpPr>
          <p:nvPr>
            <p:ph idx="1"/>
          </p:nvPr>
        </p:nvSpPr>
        <p:spPr>
          <a:xfrm>
            <a:off x="0" y="920549"/>
            <a:ext cx="12192000" cy="4351338"/>
          </a:xfrm>
        </p:spPr>
        <p:txBody>
          <a:bodyPr/>
          <a:lstStyle/>
          <a:p>
            <a:pPr marL="0" indent="0">
              <a:buNone/>
            </a:pPr>
            <a:r>
              <a:rPr lang="en-GB" dirty="0"/>
              <a:t>C	S	T	AUX	Adv(</a:t>
            </a:r>
            <a:r>
              <a:rPr lang="en-GB" dirty="0" err="1"/>
              <a:t>erb</a:t>
            </a:r>
            <a:r>
              <a:rPr lang="en-GB" dirty="0"/>
              <a:t>)	V-Asp		O      </a:t>
            </a:r>
            <a:r>
              <a:rPr lang="en-GB" dirty="0" err="1"/>
              <a:t>SentenceFinalParticle</a:t>
            </a:r>
            <a:r>
              <a:rPr lang="en-GB" dirty="0"/>
              <a:t> (SFP)</a:t>
            </a:r>
          </a:p>
        </p:txBody>
      </p:sp>
      <p:sp>
        <p:nvSpPr>
          <p:cNvPr id="10" name="Content Placeholder 2">
            <a:extLst>
              <a:ext uri="{FF2B5EF4-FFF2-40B4-BE49-F238E27FC236}">
                <a16:creationId xmlns:a16="http://schemas.microsoft.com/office/drawing/2014/main" id="{AE4DD6D1-3E67-A2B8-759D-9A65EF19368B}"/>
              </a:ext>
            </a:extLst>
          </p:cNvPr>
          <p:cNvSpPr txBox="1">
            <a:spLocks/>
          </p:cNvSpPr>
          <p:nvPr/>
        </p:nvSpPr>
        <p:spPr>
          <a:xfrm>
            <a:off x="0" y="150452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我</a:t>
            </a:r>
            <a:r>
              <a:rPr lang="en-GB" altLang="zh-CN" sz="1800" dirty="0"/>
              <a:t>			</a:t>
            </a:r>
            <a:r>
              <a:rPr lang="zh-CN" altLang="en-US" sz="1800" b="1" dirty="0"/>
              <a:t>先</a:t>
            </a:r>
            <a:r>
              <a:rPr lang="en-GB" altLang="zh-CN" sz="1800" dirty="0"/>
              <a:t>		</a:t>
            </a:r>
            <a:r>
              <a:rPr lang="zh-CN" altLang="en-US" sz="1800" dirty="0"/>
              <a:t>喝</a:t>
            </a:r>
            <a:r>
              <a:rPr lang="en-GB" altLang="zh-CN" sz="1800" dirty="0"/>
              <a:t>		</a:t>
            </a:r>
            <a:r>
              <a:rPr lang="zh-CN" altLang="en-US" sz="1800" dirty="0"/>
              <a:t>酒</a:t>
            </a:r>
            <a:r>
              <a:rPr lang="en-GB" altLang="zh-CN" sz="1800" dirty="0"/>
              <a:t>	</a:t>
            </a:r>
            <a:r>
              <a:rPr lang="zh-CN" altLang="en-US" sz="1800" dirty="0"/>
              <a:t>了</a:t>
            </a:r>
            <a:endParaRPr lang="en-GB" altLang="zh-CN" sz="1800" dirty="0"/>
          </a:p>
          <a:p>
            <a:pPr marL="0" indent="0">
              <a:buFont typeface="Arial" panose="020B0604020202020204" pitchFamily="34" charset="0"/>
              <a:buNone/>
            </a:pPr>
            <a:r>
              <a:rPr lang="en-GB" sz="1800" dirty="0"/>
              <a:t>	wo			</a:t>
            </a:r>
            <a:r>
              <a:rPr lang="en-GB" sz="1800" dirty="0" err="1"/>
              <a:t>xian</a:t>
            </a:r>
            <a:r>
              <a:rPr lang="en-GB" sz="1800" dirty="0"/>
              <a:t>		he		jiu	le</a:t>
            </a:r>
          </a:p>
          <a:p>
            <a:pPr marL="0" indent="0">
              <a:buFont typeface="Arial" panose="020B0604020202020204" pitchFamily="34" charset="0"/>
              <a:buNone/>
            </a:pPr>
            <a:r>
              <a:rPr lang="en-GB" sz="1800" dirty="0"/>
              <a:t>	I			before(hand)	drink		wine	ASSERTION</a:t>
            </a:r>
          </a:p>
          <a:p>
            <a:pPr marL="0" indent="0">
              <a:buFont typeface="Arial" panose="020B0604020202020204" pitchFamily="34" charset="0"/>
              <a:buNone/>
            </a:pPr>
            <a:r>
              <a:rPr lang="en-GB" sz="1800" dirty="0"/>
              <a:t>	‘I first drink wine.’ (Mandarin)</a:t>
            </a:r>
          </a:p>
        </p:txBody>
      </p:sp>
      <p:sp>
        <p:nvSpPr>
          <p:cNvPr id="12" name="Content Placeholder 2">
            <a:extLst>
              <a:ext uri="{FF2B5EF4-FFF2-40B4-BE49-F238E27FC236}">
                <a16:creationId xmlns:a16="http://schemas.microsoft.com/office/drawing/2014/main" id="{F742161B-8AFD-DE98-93FD-39CED2F25A27}"/>
              </a:ext>
            </a:extLst>
          </p:cNvPr>
          <p:cNvSpPr txBox="1">
            <a:spLocks/>
          </p:cNvSpPr>
          <p:nvPr/>
        </p:nvSpPr>
        <p:spPr>
          <a:xfrm>
            <a:off x="2370667" y="7562140"/>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dirty="0"/>
              <a:t>你就少喝一點兒吧</a:t>
            </a:r>
            <a:endParaRPr lang="en-GB" dirty="0"/>
          </a:p>
        </p:txBody>
      </p:sp>
      <p:sp>
        <p:nvSpPr>
          <p:cNvPr id="13" name="Content Placeholder 2">
            <a:extLst>
              <a:ext uri="{FF2B5EF4-FFF2-40B4-BE49-F238E27FC236}">
                <a16:creationId xmlns:a16="http://schemas.microsoft.com/office/drawing/2014/main" id="{73CEE8C3-290C-AF44-C391-1F100FB287E4}"/>
              </a:ext>
            </a:extLst>
          </p:cNvPr>
          <p:cNvSpPr txBox="1">
            <a:spLocks/>
          </p:cNvSpPr>
          <p:nvPr/>
        </p:nvSpPr>
        <p:spPr>
          <a:xfrm>
            <a:off x="0" y="2972360"/>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我</a:t>
            </a:r>
            <a:r>
              <a:rPr lang="en-GB" altLang="zh-CN" sz="1800" dirty="0"/>
              <a:t>					</a:t>
            </a:r>
            <a:r>
              <a:rPr lang="zh-CN" altLang="en-US" sz="1800" dirty="0"/>
              <a:t>飲</a:t>
            </a:r>
            <a:r>
              <a:rPr lang="en-GB" altLang="zh-CN" sz="1800" dirty="0"/>
              <a:t>		</a:t>
            </a:r>
            <a:r>
              <a:rPr lang="zh-CN" altLang="en-US" sz="1800" dirty="0"/>
              <a:t>酒      </a:t>
            </a:r>
            <a:r>
              <a:rPr lang="zh-CN" altLang="en-US" sz="1800" b="1" dirty="0"/>
              <a:t>先</a:t>
            </a:r>
            <a:r>
              <a:rPr lang="en-GB" altLang="zh-CN" sz="1800" dirty="0"/>
              <a:t>	</a:t>
            </a:r>
            <a:r>
              <a:rPr lang="zh-CN" altLang="en-US" sz="1800" dirty="0"/>
              <a:t>啦</a:t>
            </a:r>
            <a:endParaRPr lang="en-GB" altLang="zh-CN" sz="1800" dirty="0"/>
          </a:p>
          <a:p>
            <a:pPr marL="0" indent="0">
              <a:buFont typeface="Arial" panose="020B0604020202020204" pitchFamily="34" charset="0"/>
              <a:buNone/>
            </a:pPr>
            <a:r>
              <a:rPr lang="en-GB" sz="1800" dirty="0"/>
              <a:t>	</a:t>
            </a:r>
            <a:r>
              <a:rPr lang="en-US" altLang="zh-CN" sz="1800" dirty="0" err="1"/>
              <a:t>ngo</a:t>
            </a:r>
            <a:r>
              <a:rPr lang="en-US" altLang="zh-CN" sz="1800" dirty="0"/>
              <a:t>					jam		</a:t>
            </a:r>
            <a:r>
              <a:rPr lang="en-US" altLang="zh-CN" sz="1800" dirty="0" err="1"/>
              <a:t>zau</a:t>
            </a:r>
            <a:r>
              <a:rPr lang="en-US" altLang="zh-CN" sz="1800" dirty="0"/>
              <a:t>     sin 	la</a:t>
            </a:r>
          </a:p>
          <a:p>
            <a:pPr marL="0" indent="0">
              <a:buFont typeface="Arial" panose="020B0604020202020204" pitchFamily="34" charset="0"/>
              <a:buNone/>
            </a:pPr>
            <a:r>
              <a:rPr lang="en-US" altLang="zh-CN" sz="1800" dirty="0"/>
              <a:t>	I					drink		wine  </a:t>
            </a:r>
            <a:r>
              <a:rPr lang="en-US" altLang="zh-CN" sz="1800" dirty="0" err="1"/>
              <a:t>bef</a:t>
            </a:r>
            <a:r>
              <a:rPr lang="en-US" altLang="zh-CN" sz="1800" dirty="0"/>
              <a:t> ASSERTION	</a:t>
            </a:r>
          </a:p>
          <a:p>
            <a:pPr marL="0" indent="0">
              <a:buFont typeface="Arial" panose="020B0604020202020204" pitchFamily="34" charset="0"/>
              <a:buNone/>
            </a:pPr>
            <a:r>
              <a:rPr lang="en-US" sz="1800" dirty="0"/>
              <a:t>	‘I first drink win</a:t>
            </a:r>
            <a:r>
              <a:rPr lang="en-GB" sz="1800" dirty="0"/>
              <a:t>e.’ (Cantonese) </a:t>
            </a:r>
          </a:p>
        </p:txBody>
      </p:sp>
      <p:sp>
        <p:nvSpPr>
          <p:cNvPr id="7" name="Content Placeholder 2">
            <a:extLst>
              <a:ext uri="{FF2B5EF4-FFF2-40B4-BE49-F238E27FC236}">
                <a16:creationId xmlns:a16="http://schemas.microsoft.com/office/drawing/2014/main" id="{64EDF9DC-7F3F-2D8D-EB90-1FD5F8227AEF}"/>
              </a:ext>
            </a:extLst>
          </p:cNvPr>
          <p:cNvSpPr txBox="1">
            <a:spLocks/>
          </p:cNvSpPr>
          <p:nvPr/>
        </p:nvSpPr>
        <p:spPr>
          <a:xfrm>
            <a:off x="0" y="432969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你</a:t>
            </a:r>
            <a:r>
              <a:rPr lang="en-GB" altLang="zh-CN" sz="1800" dirty="0"/>
              <a:t>			</a:t>
            </a:r>
            <a:r>
              <a:rPr lang="zh-CN" altLang="en-US" sz="1800" b="1" dirty="0"/>
              <a:t>多</a:t>
            </a:r>
            <a:r>
              <a:rPr lang="en-GB" altLang="zh-CN" sz="1800" b="1" dirty="0"/>
              <a:t>/</a:t>
            </a:r>
            <a:r>
              <a:rPr lang="zh-CN" altLang="en-US" sz="1800" b="1" dirty="0"/>
              <a:t>少</a:t>
            </a:r>
            <a:r>
              <a:rPr lang="en-GB" altLang="zh-CN" sz="1800" dirty="0"/>
              <a:t>		</a:t>
            </a:r>
            <a:r>
              <a:rPr lang="zh-CN" altLang="en-US" sz="1800" dirty="0"/>
              <a:t>吃</a:t>
            </a:r>
            <a:r>
              <a:rPr lang="en-GB" altLang="zh-CN" sz="1800" dirty="0"/>
              <a:t>		</a:t>
            </a:r>
            <a:r>
              <a:rPr lang="zh-CN" altLang="en-US" sz="1800" dirty="0"/>
              <a:t>一點兒</a:t>
            </a:r>
            <a:r>
              <a:rPr lang="en-GB" altLang="zh-CN" sz="1800" dirty="0"/>
              <a:t>	</a:t>
            </a:r>
            <a:r>
              <a:rPr lang="zh-CN" altLang="en-US" sz="1800" dirty="0"/>
              <a:t>吧</a:t>
            </a:r>
            <a:endParaRPr lang="en-GB" altLang="zh-CN" sz="1800" dirty="0"/>
          </a:p>
          <a:p>
            <a:pPr marL="0" indent="0">
              <a:buFont typeface="Arial" panose="020B0604020202020204" pitchFamily="34" charset="0"/>
              <a:buNone/>
            </a:pPr>
            <a:r>
              <a:rPr lang="en-GB" altLang="zh-CN" sz="1800" dirty="0"/>
              <a:t>	</a:t>
            </a:r>
            <a:r>
              <a:rPr lang="en-GB" altLang="zh-CN" sz="1800" dirty="0" err="1"/>
              <a:t>ni</a:t>
            </a:r>
            <a:r>
              <a:rPr lang="en-GB" altLang="zh-CN" sz="1800" dirty="0"/>
              <a:t>			duo/shao		chi		</a:t>
            </a:r>
            <a:r>
              <a:rPr lang="en-GB" altLang="zh-CN" sz="1800" dirty="0" err="1"/>
              <a:t>yidianr</a:t>
            </a:r>
            <a:r>
              <a:rPr lang="en-GB" altLang="zh-CN" sz="1800" dirty="0"/>
              <a:t>	</a:t>
            </a:r>
            <a:r>
              <a:rPr lang="en-GB" altLang="zh-CN" sz="1800" dirty="0" err="1"/>
              <a:t>ba</a:t>
            </a:r>
            <a:endParaRPr lang="en-GB" altLang="zh-CN" sz="1800" dirty="0"/>
          </a:p>
          <a:p>
            <a:pPr marL="0" indent="0">
              <a:buFont typeface="Arial" panose="020B0604020202020204" pitchFamily="34" charset="0"/>
              <a:buNone/>
            </a:pPr>
            <a:r>
              <a:rPr lang="en-GB" altLang="zh-CN" sz="1800" dirty="0"/>
              <a:t>	you			more/less	eat		</a:t>
            </a:r>
            <a:r>
              <a:rPr lang="en-GB" altLang="zh-CN" sz="1800" dirty="0" err="1"/>
              <a:t>a.bit</a:t>
            </a:r>
            <a:r>
              <a:rPr lang="en-GB" altLang="zh-CN" sz="1800" dirty="0"/>
              <a:t>	ENCOURAGEMENT</a:t>
            </a:r>
          </a:p>
          <a:p>
            <a:pPr marL="0" indent="0">
              <a:buFont typeface="Arial" panose="020B0604020202020204" pitchFamily="34" charset="0"/>
              <a:buNone/>
            </a:pPr>
            <a:r>
              <a:rPr lang="en-GB" altLang="zh-CN" sz="1800" dirty="0"/>
              <a:t>	‘You should eat more/less.’ (Mandarin)</a:t>
            </a:r>
            <a:endParaRPr lang="en-GB" sz="1800" dirty="0"/>
          </a:p>
        </p:txBody>
      </p:sp>
      <p:sp>
        <p:nvSpPr>
          <p:cNvPr id="8" name="Content Placeholder 2">
            <a:extLst>
              <a:ext uri="{FF2B5EF4-FFF2-40B4-BE49-F238E27FC236}">
                <a16:creationId xmlns:a16="http://schemas.microsoft.com/office/drawing/2014/main" id="{A4E7C8D6-6020-7E40-4C77-E1FEB3107FCE}"/>
              </a:ext>
            </a:extLst>
          </p:cNvPr>
          <p:cNvSpPr txBox="1">
            <a:spLocks/>
          </p:cNvSpPr>
          <p:nvPr/>
        </p:nvSpPr>
        <p:spPr>
          <a:xfrm>
            <a:off x="0" y="5723772"/>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你</a:t>
            </a:r>
            <a:r>
              <a:rPr lang="en-GB" altLang="zh-CN" sz="1800" dirty="0"/>
              <a:t>					</a:t>
            </a:r>
            <a:r>
              <a:rPr lang="zh-CN" altLang="en-US" sz="1800" dirty="0"/>
              <a:t>食</a:t>
            </a:r>
            <a:r>
              <a:rPr lang="en-GB" altLang="zh-CN" sz="1800" dirty="0"/>
              <a:t>		</a:t>
            </a:r>
            <a:r>
              <a:rPr lang="zh-CN" altLang="en-US" sz="1800" b="1" dirty="0"/>
              <a:t>多</a:t>
            </a:r>
            <a:r>
              <a:rPr lang="en-GB" altLang="zh-CN" sz="1800" b="1" dirty="0"/>
              <a:t>/</a:t>
            </a:r>
            <a:r>
              <a:rPr lang="zh-CN" altLang="en-US" sz="1800" b="1" dirty="0"/>
              <a:t>少   </a:t>
            </a:r>
            <a:r>
              <a:rPr lang="en-GB" altLang="zh-CN" sz="1800" dirty="0"/>
              <a:t>d	</a:t>
            </a:r>
            <a:r>
              <a:rPr lang="zh-CN" altLang="en-US" sz="1800" dirty="0"/>
              <a:t>啦</a:t>
            </a:r>
            <a:endParaRPr lang="en-GB" altLang="zh-CN" sz="1800" dirty="0"/>
          </a:p>
          <a:p>
            <a:pPr marL="0" indent="0">
              <a:buFont typeface="Arial" panose="020B0604020202020204" pitchFamily="34" charset="0"/>
              <a:buNone/>
            </a:pPr>
            <a:r>
              <a:rPr lang="en-GB" sz="1800" dirty="0"/>
              <a:t>	</a:t>
            </a:r>
            <a:r>
              <a:rPr lang="en-GB" sz="1800" dirty="0" err="1"/>
              <a:t>nei</a:t>
            </a:r>
            <a:r>
              <a:rPr lang="en-GB" sz="1800" dirty="0"/>
              <a:t>					</a:t>
            </a:r>
            <a:r>
              <a:rPr lang="en-GB" sz="1800" dirty="0" err="1"/>
              <a:t>sik</a:t>
            </a:r>
            <a:r>
              <a:rPr lang="en-GB" sz="1800" dirty="0"/>
              <a:t>		do/</a:t>
            </a:r>
            <a:r>
              <a:rPr lang="en-GB" sz="1800" dirty="0" err="1"/>
              <a:t>siu</a:t>
            </a:r>
            <a:r>
              <a:rPr lang="en-GB" sz="1800" dirty="0"/>
              <a:t>  d	la</a:t>
            </a:r>
            <a:endParaRPr lang="en-US" altLang="zh-CN" sz="1800" dirty="0"/>
          </a:p>
          <a:p>
            <a:pPr marL="0" indent="0">
              <a:buFont typeface="Arial" panose="020B0604020202020204" pitchFamily="34" charset="0"/>
              <a:buNone/>
            </a:pPr>
            <a:r>
              <a:rPr lang="en-US" altLang="zh-CN" sz="1800" dirty="0"/>
              <a:t>	I					eat		more/less bit ENCOURAGEMENT</a:t>
            </a:r>
            <a:endParaRPr lang="en-GB" sz="1800" dirty="0"/>
          </a:p>
        </p:txBody>
      </p:sp>
    </p:spTree>
    <p:extLst>
      <p:ext uri="{BB962C8B-B14F-4D97-AF65-F5344CB8AC3E}">
        <p14:creationId xmlns:p14="http://schemas.microsoft.com/office/powerpoint/2010/main" val="295725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P spid="13"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EF6D7-4636-AD13-46D1-97541DFFE868}"/>
              </a:ext>
            </a:extLst>
          </p:cNvPr>
          <p:cNvSpPr>
            <a:spLocks noGrp="1"/>
          </p:cNvSpPr>
          <p:nvPr>
            <p:ph type="title"/>
          </p:nvPr>
        </p:nvSpPr>
        <p:spPr>
          <a:xfrm>
            <a:off x="838200" y="0"/>
            <a:ext cx="10515600" cy="1325563"/>
          </a:xfrm>
        </p:spPr>
        <p:txBody>
          <a:bodyPr/>
          <a:lstStyle/>
          <a:p>
            <a:r>
              <a:rPr lang="en-GB" dirty="0"/>
              <a:t>Mandarin vs Cantonese (clause)</a:t>
            </a:r>
          </a:p>
        </p:txBody>
      </p:sp>
      <p:sp>
        <p:nvSpPr>
          <p:cNvPr id="3" name="Content Placeholder 2">
            <a:extLst>
              <a:ext uri="{FF2B5EF4-FFF2-40B4-BE49-F238E27FC236}">
                <a16:creationId xmlns:a16="http://schemas.microsoft.com/office/drawing/2014/main" id="{0DFED2F9-9AB0-039C-3978-79CCBF429989}"/>
              </a:ext>
            </a:extLst>
          </p:cNvPr>
          <p:cNvSpPr>
            <a:spLocks noGrp="1"/>
          </p:cNvSpPr>
          <p:nvPr>
            <p:ph idx="1"/>
          </p:nvPr>
        </p:nvSpPr>
        <p:spPr>
          <a:xfrm>
            <a:off x="0" y="950219"/>
            <a:ext cx="12192000" cy="4351338"/>
          </a:xfrm>
        </p:spPr>
        <p:txBody>
          <a:bodyPr/>
          <a:lstStyle/>
          <a:p>
            <a:pPr marL="0" indent="0">
              <a:buNone/>
            </a:pPr>
            <a:r>
              <a:rPr lang="en-GB" dirty="0"/>
              <a:t>C	Subj	T	AUX	Adv	Asp	V	</a:t>
            </a:r>
            <a:r>
              <a:rPr lang="en-GB" dirty="0" err="1"/>
              <a:t>Obj</a:t>
            </a:r>
            <a:r>
              <a:rPr lang="en-GB" dirty="0"/>
              <a:t>	SFP</a:t>
            </a:r>
          </a:p>
        </p:txBody>
      </p:sp>
      <p:sp>
        <p:nvSpPr>
          <p:cNvPr id="4" name="Content Placeholder 2">
            <a:extLst>
              <a:ext uri="{FF2B5EF4-FFF2-40B4-BE49-F238E27FC236}">
                <a16:creationId xmlns:a16="http://schemas.microsoft.com/office/drawing/2014/main" id="{3938CAF2-541A-1F88-807D-EE2E7AE27482}"/>
              </a:ext>
            </a:extLst>
          </p:cNvPr>
          <p:cNvSpPr txBox="1">
            <a:spLocks/>
          </p:cNvSpPr>
          <p:nvPr/>
        </p:nvSpPr>
        <p:spPr>
          <a:xfrm>
            <a:off x="0" y="1325563"/>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我</a:t>
            </a:r>
            <a:r>
              <a:rPr lang="en-GB" altLang="zh-CN" sz="1800" dirty="0"/>
              <a:t>			</a:t>
            </a:r>
            <a:r>
              <a:rPr lang="zh-CN" altLang="en-US" sz="1800" b="1" dirty="0"/>
              <a:t>先</a:t>
            </a:r>
            <a:r>
              <a:rPr lang="en-GB" altLang="zh-CN" sz="1800" dirty="0"/>
              <a:t>		</a:t>
            </a:r>
            <a:r>
              <a:rPr lang="zh-CN" altLang="en-US" sz="1800" dirty="0"/>
              <a:t>喝</a:t>
            </a:r>
            <a:r>
              <a:rPr lang="en-GB" altLang="zh-CN" sz="1800" dirty="0"/>
              <a:t>	</a:t>
            </a:r>
            <a:r>
              <a:rPr lang="zh-CN" altLang="en-US" sz="1800" dirty="0"/>
              <a:t>酒 </a:t>
            </a:r>
            <a:r>
              <a:rPr lang="en-GB" altLang="zh-CN" sz="1800" dirty="0"/>
              <a:t>	</a:t>
            </a:r>
            <a:r>
              <a:rPr lang="zh-CN" altLang="en-US" sz="1800" dirty="0"/>
              <a:t>了</a:t>
            </a:r>
            <a:endParaRPr lang="en-GB" altLang="zh-CN" sz="1800" dirty="0"/>
          </a:p>
          <a:p>
            <a:pPr marL="0" indent="0">
              <a:buFont typeface="Arial" panose="020B0604020202020204" pitchFamily="34" charset="0"/>
              <a:buNone/>
            </a:pPr>
            <a:r>
              <a:rPr lang="en-GB" altLang="zh-CN" sz="1800" dirty="0"/>
              <a:t>	wo			</a:t>
            </a:r>
            <a:r>
              <a:rPr lang="en-GB" altLang="zh-CN" sz="1800" dirty="0" err="1"/>
              <a:t>xian</a:t>
            </a:r>
            <a:r>
              <a:rPr lang="en-GB" altLang="zh-CN" sz="1800" dirty="0"/>
              <a:t>		he	jiu	le</a:t>
            </a:r>
          </a:p>
          <a:p>
            <a:pPr marL="0" indent="0">
              <a:buFont typeface="Arial" panose="020B0604020202020204" pitchFamily="34" charset="0"/>
              <a:buNone/>
            </a:pPr>
            <a:r>
              <a:rPr lang="en-GB" altLang="zh-CN" sz="1800" dirty="0"/>
              <a:t>	I			before		drink	wine	LE</a:t>
            </a:r>
          </a:p>
          <a:p>
            <a:pPr marL="0" indent="0">
              <a:buFont typeface="Arial" panose="020B0604020202020204" pitchFamily="34" charset="0"/>
              <a:buNone/>
            </a:pPr>
            <a:r>
              <a:rPr lang="en-GB" altLang="zh-CN" sz="1800" dirty="0"/>
              <a:t>	</a:t>
            </a:r>
            <a:r>
              <a:rPr lang="zh-CN" altLang="en-US" sz="1800" dirty="0"/>
              <a:t>我</a:t>
            </a:r>
            <a:r>
              <a:rPr lang="en-GB" altLang="zh-CN" sz="1800" dirty="0"/>
              <a:t>					</a:t>
            </a:r>
            <a:r>
              <a:rPr lang="zh-CN" altLang="en-US" sz="1800" dirty="0"/>
              <a:t>飲</a:t>
            </a:r>
            <a:r>
              <a:rPr lang="en-GB" altLang="zh-CN" sz="1800" dirty="0"/>
              <a:t>	</a:t>
            </a:r>
            <a:r>
              <a:rPr lang="zh-CN" altLang="en-US" sz="1800" dirty="0"/>
              <a:t>酒   </a:t>
            </a:r>
            <a:r>
              <a:rPr lang="zh-CN" altLang="en-US" sz="1800" b="1" dirty="0"/>
              <a:t>先</a:t>
            </a:r>
            <a:r>
              <a:rPr lang="en-GB" altLang="zh-CN" sz="1800" dirty="0"/>
              <a:t>	</a:t>
            </a:r>
            <a:r>
              <a:rPr lang="zh-CN" altLang="en-US" sz="1800" dirty="0"/>
              <a:t>啦</a:t>
            </a:r>
            <a:endParaRPr lang="en-GB" altLang="zh-CN" sz="1800" dirty="0"/>
          </a:p>
          <a:p>
            <a:pPr marL="0" indent="0">
              <a:buFont typeface="Arial" panose="020B0604020202020204" pitchFamily="34" charset="0"/>
              <a:buNone/>
            </a:pPr>
            <a:r>
              <a:rPr lang="en-GB" altLang="zh-CN" sz="1800" dirty="0"/>
              <a:t>	</a:t>
            </a:r>
            <a:r>
              <a:rPr lang="en-GB" altLang="zh-CN" sz="1800" dirty="0" err="1"/>
              <a:t>ngo</a:t>
            </a:r>
            <a:r>
              <a:rPr lang="en-GB" altLang="zh-CN" sz="1800" dirty="0"/>
              <a:t>					jam	</a:t>
            </a:r>
            <a:r>
              <a:rPr lang="en-GB" altLang="zh-CN" sz="1800" dirty="0" err="1"/>
              <a:t>zau</a:t>
            </a:r>
            <a:r>
              <a:rPr lang="en-GB" altLang="zh-CN" sz="1800" dirty="0"/>
              <a:t>  sin	la</a:t>
            </a:r>
          </a:p>
          <a:p>
            <a:pPr marL="0" indent="0">
              <a:buFont typeface="Arial" panose="020B0604020202020204" pitchFamily="34" charset="0"/>
              <a:buNone/>
            </a:pPr>
            <a:r>
              <a:rPr lang="en-GB" altLang="zh-CN" sz="1800" dirty="0"/>
              <a:t>	I					drink	wine </a:t>
            </a:r>
            <a:r>
              <a:rPr lang="en-GB" altLang="zh-CN" sz="1800" dirty="0" err="1"/>
              <a:t>bef</a:t>
            </a:r>
            <a:r>
              <a:rPr lang="en-GB" altLang="zh-CN" sz="1800" dirty="0"/>
              <a:t>	LA</a:t>
            </a:r>
          </a:p>
          <a:p>
            <a:pPr marL="0" indent="0">
              <a:buFont typeface="Arial" panose="020B0604020202020204" pitchFamily="34" charset="0"/>
              <a:buNone/>
            </a:pPr>
            <a:r>
              <a:rPr lang="en-GB" altLang="zh-CN" sz="1800" dirty="0"/>
              <a:t>	‘I drink wine first.’ </a:t>
            </a:r>
          </a:p>
        </p:txBody>
      </p:sp>
      <p:sp>
        <p:nvSpPr>
          <p:cNvPr id="5" name="Content Placeholder 2">
            <a:extLst>
              <a:ext uri="{FF2B5EF4-FFF2-40B4-BE49-F238E27FC236}">
                <a16:creationId xmlns:a16="http://schemas.microsoft.com/office/drawing/2014/main" id="{838F0216-119F-CA02-7F22-3C7398D801F2}"/>
              </a:ext>
            </a:extLst>
          </p:cNvPr>
          <p:cNvSpPr txBox="1">
            <a:spLocks/>
          </p:cNvSpPr>
          <p:nvPr/>
        </p:nvSpPr>
        <p:spPr>
          <a:xfrm>
            <a:off x="0" y="3876576"/>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你</a:t>
            </a:r>
            <a:r>
              <a:rPr lang="en-GB" altLang="zh-CN" sz="1800" dirty="0"/>
              <a:t>			</a:t>
            </a:r>
            <a:r>
              <a:rPr lang="zh-CN" altLang="en-US" sz="1800" dirty="0"/>
              <a:t>多</a:t>
            </a:r>
            <a:r>
              <a:rPr lang="en-GB" altLang="zh-CN" sz="1800" dirty="0"/>
              <a:t>/</a:t>
            </a:r>
            <a:r>
              <a:rPr lang="zh-CN" altLang="en-US" sz="1800" dirty="0"/>
              <a:t>少</a:t>
            </a:r>
            <a:r>
              <a:rPr lang="en-GB" altLang="zh-CN" sz="1800" dirty="0"/>
              <a:t>		</a:t>
            </a:r>
            <a:r>
              <a:rPr lang="zh-CN" altLang="en-US" sz="1800" dirty="0"/>
              <a:t>吃</a:t>
            </a:r>
            <a:r>
              <a:rPr lang="en-GB" altLang="zh-CN" sz="1800" dirty="0"/>
              <a:t>	</a:t>
            </a:r>
            <a:r>
              <a:rPr lang="zh-CN" altLang="en-US" sz="1800" dirty="0"/>
              <a:t>一點兒</a:t>
            </a:r>
            <a:r>
              <a:rPr lang="en-GB" altLang="zh-CN" sz="1800" dirty="0"/>
              <a:t>	</a:t>
            </a:r>
            <a:r>
              <a:rPr lang="zh-CN" altLang="en-US" sz="1800" dirty="0"/>
              <a:t>吧</a:t>
            </a:r>
            <a:endParaRPr lang="en-GB" altLang="zh-CN" sz="1800" dirty="0"/>
          </a:p>
          <a:p>
            <a:pPr marL="0" indent="0">
              <a:buFont typeface="Arial" panose="020B0604020202020204" pitchFamily="34" charset="0"/>
              <a:buNone/>
            </a:pPr>
            <a:r>
              <a:rPr lang="en-GB" altLang="zh-CN" sz="1800" dirty="0"/>
              <a:t>	</a:t>
            </a:r>
            <a:r>
              <a:rPr lang="en-GB" altLang="zh-CN" sz="1800" dirty="0" err="1"/>
              <a:t>ni</a:t>
            </a:r>
            <a:r>
              <a:rPr lang="en-GB" altLang="zh-CN" sz="1800" dirty="0"/>
              <a:t>			duo/</a:t>
            </a:r>
            <a:r>
              <a:rPr lang="en-US" altLang="zh-CN" sz="1800" dirty="0"/>
              <a:t>shao		chi	</a:t>
            </a:r>
            <a:r>
              <a:rPr lang="en-US" altLang="zh-CN" sz="1800" dirty="0" err="1"/>
              <a:t>yidianr</a:t>
            </a:r>
            <a:r>
              <a:rPr lang="en-US" altLang="zh-CN" sz="1800" dirty="0"/>
              <a:t>	</a:t>
            </a:r>
            <a:r>
              <a:rPr lang="en-US" altLang="zh-CN" sz="1800" dirty="0" err="1"/>
              <a:t>ba</a:t>
            </a:r>
            <a:endParaRPr lang="en-US" altLang="zh-CN" sz="1800" dirty="0"/>
          </a:p>
          <a:p>
            <a:pPr marL="0" indent="0">
              <a:buFont typeface="Arial" panose="020B0604020202020204" pitchFamily="34" charset="0"/>
              <a:buNone/>
            </a:pPr>
            <a:r>
              <a:rPr lang="en-US" altLang="zh-CN" sz="1800" dirty="0"/>
              <a:t>	you			more/less	eat	</a:t>
            </a:r>
            <a:r>
              <a:rPr lang="en-US" altLang="zh-CN" sz="1800" dirty="0" err="1"/>
              <a:t>a.bit</a:t>
            </a:r>
            <a:r>
              <a:rPr lang="en-US" altLang="zh-CN" sz="1800" dirty="0"/>
              <a:t>	BA</a:t>
            </a:r>
          </a:p>
          <a:p>
            <a:pPr marL="0" indent="0">
              <a:buFont typeface="Arial" panose="020B0604020202020204" pitchFamily="34" charset="0"/>
              <a:buNone/>
            </a:pPr>
            <a:r>
              <a:rPr lang="en-US" altLang="zh-CN" sz="1800" dirty="0"/>
              <a:t>	</a:t>
            </a:r>
            <a:r>
              <a:rPr lang="zh-CN" altLang="en-US" sz="1800" dirty="0"/>
              <a:t>你</a:t>
            </a:r>
            <a:r>
              <a:rPr lang="en-GB" altLang="zh-CN" sz="1800" dirty="0"/>
              <a:t>					</a:t>
            </a:r>
            <a:r>
              <a:rPr lang="zh-CN" altLang="en-US" sz="1800" dirty="0"/>
              <a:t>食   多</a:t>
            </a:r>
            <a:r>
              <a:rPr lang="en-GB" altLang="zh-CN" sz="1800" dirty="0"/>
              <a:t>/</a:t>
            </a:r>
            <a:r>
              <a:rPr lang="zh-CN" altLang="en-US" sz="1800" dirty="0"/>
              <a:t>少        </a:t>
            </a:r>
            <a:r>
              <a:rPr lang="en-GB" altLang="zh-CN" sz="1800" dirty="0"/>
              <a:t>d	</a:t>
            </a:r>
            <a:r>
              <a:rPr lang="zh-CN" altLang="en-US" sz="1800" dirty="0"/>
              <a:t>啦</a:t>
            </a:r>
            <a:endParaRPr lang="en-GB" altLang="zh-CN" sz="1800" dirty="0"/>
          </a:p>
          <a:p>
            <a:pPr marL="0" indent="0">
              <a:buFont typeface="Arial" panose="020B0604020202020204" pitchFamily="34" charset="0"/>
              <a:buNone/>
            </a:pPr>
            <a:r>
              <a:rPr lang="en-GB" sz="1800" dirty="0"/>
              <a:t>	</a:t>
            </a:r>
            <a:r>
              <a:rPr lang="en-GB" sz="1800" dirty="0" err="1"/>
              <a:t>nei</a:t>
            </a:r>
            <a:r>
              <a:rPr lang="en-GB" sz="1800" dirty="0"/>
              <a:t>					</a:t>
            </a:r>
            <a:r>
              <a:rPr lang="en-GB" sz="1800" dirty="0" err="1"/>
              <a:t>sik</a:t>
            </a:r>
            <a:r>
              <a:rPr lang="en-GB" sz="1800" dirty="0"/>
              <a:t>   do/</a:t>
            </a:r>
            <a:r>
              <a:rPr lang="en-GB" sz="1800" dirty="0" err="1"/>
              <a:t>siu</a:t>
            </a:r>
            <a:r>
              <a:rPr lang="en-GB" sz="1800" dirty="0"/>
              <a:t>        di	la</a:t>
            </a:r>
          </a:p>
          <a:p>
            <a:pPr marL="0" indent="0">
              <a:buFont typeface="Arial" panose="020B0604020202020204" pitchFamily="34" charset="0"/>
              <a:buNone/>
            </a:pPr>
            <a:r>
              <a:rPr lang="en-GB" altLang="zh-CN" sz="1800" dirty="0"/>
              <a:t>	you					eat  more/less bit	LA</a:t>
            </a:r>
          </a:p>
          <a:p>
            <a:pPr marL="0" indent="0">
              <a:buFont typeface="Arial" panose="020B0604020202020204" pitchFamily="34" charset="0"/>
              <a:buNone/>
            </a:pPr>
            <a:r>
              <a:rPr lang="en-GB" sz="1800" dirty="0"/>
              <a:t>	‘You should eat more/less.’ </a:t>
            </a:r>
          </a:p>
        </p:txBody>
      </p:sp>
      <p:sp>
        <p:nvSpPr>
          <p:cNvPr id="6" name="Content Placeholder 2">
            <a:extLst>
              <a:ext uri="{FF2B5EF4-FFF2-40B4-BE49-F238E27FC236}">
                <a16:creationId xmlns:a16="http://schemas.microsoft.com/office/drawing/2014/main" id="{B9088667-EDD1-665C-1B8B-15CC2508C519}"/>
              </a:ext>
            </a:extLst>
          </p:cNvPr>
          <p:cNvSpPr txBox="1">
            <a:spLocks/>
          </p:cNvSpPr>
          <p:nvPr/>
        </p:nvSpPr>
        <p:spPr>
          <a:xfrm>
            <a:off x="8063345" y="1312598"/>
            <a:ext cx="412865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Adverb + verb phrase (Mandarin) vs </a:t>
            </a:r>
          </a:p>
          <a:p>
            <a:pPr marL="0" indent="0">
              <a:buFont typeface="Arial" panose="020B0604020202020204" pitchFamily="34" charset="0"/>
              <a:buNone/>
            </a:pPr>
            <a:r>
              <a:rPr lang="en-GB" altLang="zh-CN" sz="1800" dirty="0"/>
              <a:t>Verb phrase + adverb (Cantonese)</a:t>
            </a:r>
          </a:p>
          <a:p>
            <a:pPr marL="0" indent="0">
              <a:buFont typeface="Arial" panose="020B0604020202020204" pitchFamily="34" charset="0"/>
              <a:buNone/>
            </a:pPr>
            <a:r>
              <a:rPr lang="zh-CN" altLang="en-US" sz="1800" dirty="0"/>
              <a:t>先 </a:t>
            </a:r>
            <a:r>
              <a:rPr lang="en-GB" altLang="zh-CN" sz="1800" dirty="0"/>
              <a:t>+ verb phrase (e.g. </a:t>
            </a:r>
            <a:r>
              <a:rPr lang="zh-CN" altLang="en-US" sz="1800" dirty="0"/>
              <a:t>喝酒</a:t>
            </a:r>
            <a:r>
              <a:rPr lang="en-GB" altLang="zh-CN" sz="1800" dirty="0"/>
              <a:t>) (Mandarin) vs </a:t>
            </a:r>
          </a:p>
          <a:p>
            <a:pPr marL="0" indent="0">
              <a:buFont typeface="Arial" panose="020B0604020202020204" pitchFamily="34" charset="0"/>
              <a:buNone/>
            </a:pPr>
            <a:r>
              <a:rPr lang="en-GB" altLang="zh-CN" sz="1800" dirty="0"/>
              <a:t>verb phrase (</a:t>
            </a:r>
            <a:r>
              <a:rPr lang="zh-CN" altLang="en-US" sz="1800" dirty="0"/>
              <a:t>飲酒</a:t>
            </a:r>
            <a:r>
              <a:rPr lang="en-GB" altLang="zh-CN" sz="1800" dirty="0"/>
              <a:t>) + </a:t>
            </a:r>
            <a:r>
              <a:rPr lang="zh-CN" altLang="en-US" sz="1800" dirty="0"/>
              <a:t>先 </a:t>
            </a:r>
            <a:r>
              <a:rPr lang="en-GB" altLang="zh-CN" sz="1800" dirty="0"/>
              <a:t>(</a:t>
            </a:r>
            <a:r>
              <a:rPr lang="en-US" altLang="zh-CN" sz="1800" dirty="0"/>
              <a:t>Cantonese)</a:t>
            </a:r>
            <a:endParaRPr lang="en-GB" sz="1800" dirty="0"/>
          </a:p>
        </p:txBody>
      </p:sp>
      <p:sp>
        <p:nvSpPr>
          <p:cNvPr id="7" name="Content Placeholder 2">
            <a:extLst>
              <a:ext uri="{FF2B5EF4-FFF2-40B4-BE49-F238E27FC236}">
                <a16:creationId xmlns:a16="http://schemas.microsoft.com/office/drawing/2014/main" id="{12DC2E2B-7343-E18A-1E9B-D702231889C2}"/>
              </a:ext>
            </a:extLst>
          </p:cNvPr>
          <p:cNvSpPr txBox="1">
            <a:spLocks/>
          </p:cNvSpPr>
          <p:nvPr/>
        </p:nvSpPr>
        <p:spPr>
          <a:xfrm>
            <a:off x="8063346" y="3876576"/>
            <a:ext cx="4710546"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Adv (quantity) + verb (Mandarin) vs </a:t>
            </a:r>
          </a:p>
          <a:p>
            <a:pPr marL="0" indent="0">
              <a:buFont typeface="Arial" panose="020B0604020202020204" pitchFamily="34" charset="0"/>
              <a:buNone/>
            </a:pPr>
            <a:r>
              <a:rPr lang="en-US" altLang="zh-CN" sz="1800" dirty="0"/>
              <a:t>Verb + </a:t>
            </a:r>
            <a:r>
              <a:rPr lang="en-US" altLang="zh-CN" sz="1800" dirty="0" err="1"/>
              <a:t>adve</a:t>
            </a:r>
            <a:r>
              <a:rPr lang="en-GB" altLang="zh-CN" sz="1800" dirty="0" err="1"/>
              <a:t>rb</a:t>
            </a:r>
            <a:r>
              <a:rPr lang="zh-CN" altLang="en-US" sz="1800" dirty="0"/>
              <a:t> </a:t>
            </a:r>
            <a:r>
              <a:rPr lang="en-GB" altLang="zh-CN" sz="1800" dirty="0"/>
              <a:t>(quantity)</a:t>
            </a:r>
            <a:r>
              <a:rPr lang="zh-CN" altLang="en-US" sz="1800" dirty="0"/>
              <a:t> </a:t>
            </a:r>
            <a:r>
              <a:rPr lang="en-GB" altLang="zh-CN" sz="1800" dirty="0"/>
              <a:t>(Cantonese)</a:t>
            </a:r>
          </a:p>
          <a:p>
            <a:pPr marL="0" indent="0">
              <a:buFont typeface="Arial" panose="020B0604020202020204" pitchFamily="34" charset="0"/>
              <a:buNone/>
            </a:pPr>
            <a:r>
              <a:rPr lang="zh-CN" altLang="en-US" sz="1800" dirty="0"/>
              <a:t>多</a:t>
            </a:r>
            <a:r>
              <a:rPr lang="en-GB" altLang="zh-CN" sz="1800" dirty="0"/>
              <a:t>/</a:t>
            </a:r>
            <a:r>
              <a:rPr lang="zh-CN" altLang="en-US" sz="1800" dirty="0"/>
              <a:t>少吃 </a:t>
            </a:r>
            <a:r>
              <a:rPr lang="en-GB" altLang="zh-CN" sz="1800" dirty="0"/>
              <a:t>(Mandarin) vs </a:t>
            </a:r>
          </a:p>
          <a:p>
            <a:pPr marL="0" indent="0">
              <a:buFont typeface="Arial" panose="020B0604020202020204" pitchFamily="34" charset="0"/>
              <a:buNone/>
            </a:pPr>
            <a:r>
              <a:rPr lang="zh-CN" altLang="en-US" sz="1800" dirty="0"/>
              <a:t>食多</a:t>
            </a:r>
            <a:r>
              <a:rPr lang="en-GB" altLang="zh-CN" sz="1800" dirty="0"/>
              <a:t>/</a:t>
            </a:r>
            <a:r>
              <a:rPr lang="zh-CN" altLang="en-US" sz="1800" dirty="0"/>
              <a:t>少 </a:t>
            </a:r>
            <a:r>
              <a:rPr lang="en-GB" altLang="zh-CN" sz="1800" dirty="0"/>
              <a:t>(Cantonese)</a:t>
            </a:r>
            <a:endParaRPr lang="en-GB" sz="1800" dirty="0"/>
          </a:p>
        </p:txBody>
      </p:sp>
    </p:spTree>
    <p:extLst>
      <p:ext uri="{BB962C8B-B14F-4D97-AF65-F5344CB8AC3E}">
        <p14:creationId xmlns:p14="http://schemas.microsoft.com/office/powerpoint/2010/main" val="258463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5482-ECB2-B859-96F9-E673378C7673}"/>
              </a:ext>
            </a:extLst>
          </p:cNvPr>
          <p:cNvSpPr>
            <a:spLocks noGrp="1"/>
          </p:cNvSpPr>
          <p:nvPr>
            <p:ph type="title"/>
          </p:nvPr>
        </p:nvSpPr>
        <p:spPr>
          <a:xfrm>
            <a:off x="838200" y="0"/>
            <a:ext cx="10515600" cy="1325563"/>
          </a:xfrm>
        </p:spPr>
        <p:txBody>
          <a:bodyPr/>
          <a:lstStyle/>
          <a:p>
            <a:r>
              <a:rPr lang="en-GB" dirty="0"/>
              <a:t>Noun (Chinese dialects)</a:t>
            </a:r>
          </a:p>
        </p:txBody>
      </p:sp>
      <p:sp>
        <p:nvSpPr>
          <p:cNvPr id="3" name="Content Placeholder 2">
            <a:extLst>
              <a:ext uri="{FF2B5EF4-FFF2-40B4-BE49-F238E27FC236}">
                <a16:creationId xmlns:a16="http://schemas.microsoft.com/office/drawing/2014/main" id="{66347424-0B20-3CBC-DC8B-581C0072DE0C}"/>
              </a:ext>
            </a:extLst>
          </p:cNvPr>
          <p:cNvSpPr>
            <a:spLocks noGrp="1"/>
          </p:cNvSpPr>
          <p:nvPr>
            <p:ph idx="1"/>
          </p:nvPr>
        </p:nvSpPr>
        <p:spPr>
          <a:xfrm>
            <a:off x="0" y="924983"/>
            <a:ext cx="12192000" cy="4351338"/>
          </a:xfrm>
        </p:spPr>
        <p:txBody>
          <a:bodyPr>
            <a:normAutofit/>
          </a:bodyPr>
          <a:lstStyle/>
          <a:p>
            <a:pPr marL="0" indent="0">
              <a:buNone/>
            </a:pPr>
            <a:r>
              <a:rPr lang="en-GB" sz="2400" dirty="0"/>
              <a:t>D  </a:t>
            </a:r>
            <a:r>
              <a:rPr lang="en-GB" sz="2400" dirty="0" err="1"/>
              <a:t>Poss</a:t>
            </a:r>
            <a:r>
              <a:rPr lang="en-GB" sz="2400" dirty="0"/>
              <a:t>(</a:t>
            </a:r>
            <a:r>
              <a:rPr lang="en-GB" sz="2400" dirty="0" err="1"/>
              <a:t>ession</a:t>
            </a:r>
            <a:r>
              <a:rPr lang="en-GB" sz="2400" dirty="0"/>
              <a:t>) Dem(</a:t>
            </a:r>
            <a:r>
              <a:rPr lang="en-GB" sz="2400" dirty="0" err="1"/>
              <a:t>onstrative</a:t>
            </a:r>
            <a:r>
              <a:rPr lang="en-GB" sz="2400" dirty="0"/>
              <a:t>)  </a:t>
            </a:r>
            <a:r>
              <a:rPr lang="en-GB" sz="2400" dirty="0" err="1"/>
              <a:t>Num</a:t>
            </a:r>
            <a:r>
              <a:rPr lang="en-GB" sz="2400" dirty="0"/>
              <a:t>(</a:t>
            </a:r>
            <a:r>
              <a:rPr lang="en-GB" sz="2400" dirty="0" err="1"/>
              <a:t>ber</a:t>
            </a:r>
            <a:r>
              <a:rPr lang="en-GB" sz="2400" dirty="0"/>
              <a:t>)/Q(</a:t>
            </a:r>
            <a:r>
              <a:rPr lang="en-GB" sz="2400" dirty="0" err="1"/>
              <a:t>uantifier</a:t>
            </a:r>
            <a:r>
              <a:rPr lang="en-GB" sz="2400" dirty="0"/>
              <a:t>) CL(</a:t>
            </a:r>
            <a:r>
              <a:rPr lang="en-GB" sz="2400" dirty="0" err="1"/>
              <a:t>assifier</a:t>
            </a:r>
            <a:r>
              <a:rPr lang="en-GB" sz="2400" dirty="0"/>
              <a:t>) </a:t>
            </a:r>
            <a:r>
              <a:rPr lang="en-GB" sz="2400" dirty="0" err="1"/>
              <a:t>Adj</a:t>
            </a:r>
            <a:r>
              <a:rPr lang="en-GB" sz="2400" dirty="0"/>
              <a:t>(</a:t>
            </a:r>
            <a:r>
              <a:rPr lang="en-GB" sz="2400" dirty="0" err="1"/>
              <a:t>ective</a:t>
            </a:r>
            <a:r>
              <a:rPr lang="en-GB" sz="2400" dirty="0"/>
              <a:t>) Mod(</a:t>
            </a:r>
            <a:r>
              <a:rPr lang="en-GB" sz="2400" dirty="0" err="1"/>
              <a:t>ifier</a:t>
            </a:r>
            <a:r>
              <a:rPr lang="en-GB" sz="2400" dirty="0"/>
              <a:t>)	  N(</a:t>
            </a:r>
            <a:r>
              <a:rPr lang="en-GB" sz="2400" dirty="0" err="1"/>
              <a:t>oun</a:t>
            </a:r>
            <a:r>
              <a:rPr lang="en-GB" sz="2400" dirty="0"/>
              <a:t>)</a:t>
            </a:r>
          </a:p>
        </p:txBody>
      </p:sp>
      <p:sp>
        <p:nvSpPr>
          <p:cNvPr id="4" name="Content Placeholder 2">
            <a:extLst>
              <a:ext uri="{FF2B5EF4-FFF2-40B4-BE49-F238E27FC236}">
                <a16:creationId xmlns:a16="http://schemas.microsoft.com/office/drawing/2014/main" id="{E4D36C36-4B3F-018C-60B2-092B2B4EC474}"/>
              </a:ext>
            </a:extLst>
          </p:cNvPr>
          <p:cNvSpPr txBox="1">
            <a:spLocks/>
          </p:cNvSpPr>
          <p:nvPr/>
        </p:nvSpPr>
        <p:spPr>
          <a:xfrm>
            <a:off x="0" y="433678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zh-CN" sz="2000" dirty="0"/>
              <a:t>De (</a:t>
            </a:r>
            <a:r>
              <a:rPr lang="zh-CN" altLang="en-US" sz="2000" dirty="0"/>
              <a:t>的</a:t>
            </a:r>
            <a:r>
              <a:rPr lang="en-GB" altLang="zh-CN" sz="2000" dirty="0"/>
              <a:t>)/Ge (</a:t>
            </a:r>
            <a:r>
              <a:rPr lang="zh-CN" altLang="en-US" sz="2000" dirty="0"/>
              <a:t>嘅</a:t>
            </a:r>
            <a:r>
              <a:rPr lang="en-GB" altLang="zh-CN" sz="2000" dirty="0"/>
              <a:t>): Possession and Modification</a:t>
            </a:r>
            <a:endParaRPr lang="en-GB" sz="2000" dirty="0"/>
          </a:p>
        </p:txBody>
      </p:sp>
      <p:sp>
        <p:nvSpPr>
          <p:cNvPr id="5" name="Content Placeholder 2">
            <a:extLst>
              <a:ext uri="{FF2B5EF4-FFF2-40B4-BE49-F238E27FC236}">
                <a16:creationId xmlns:a16="http://schemas.microsoft.com/office/drawing/2014/main" id="{2F646BAB-2C37-8063-D4F0-C94282649B0C}"/>
              </a:ext>
            </a:extLst>
          </p:cNvPr>
          <p:cNvSpPr txBox="1">
            <a:spLocks/>
          </p:cNvSpPr>
          <p:nvPr/>
        </p:nvSpPr>
        <p:spPr>
          <a:xfrm>
            <a:off x="0" y="1270529"/>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那</a:t>
            </a:r>
            <a:r>
              <a:rPr lang="en-GB" altLang="zh-CN" sz="1800" dirty="0"/>
              <a:t>			</a:t>
            </a:r>
            <a:r>
              <a:rPr lang="zh-CN" altLang="en-US" sz="1800" dirty="0"/>
              <a:t>兩</a:t>
            </a:r>
            <a:r>
              <a:rPr lang="en-GB" altLang="zh-CN" sz="1800" dirty="0"/>
              <a:t>			</a:t>
            </a:r>
            <a:r>
              <a:rPr lang="zh-CN" altLang="en-US" sz="1800" dirty="0"/>
              <a:t>本</a:t>
            </a:r>
            <a:r>
              <a:rPr lang="en-GB" altLang="zh-CN" sz="1800" dirty="0"/>
              <a:t>	</a:t>
            </a:r>
            <a:r>
              <a:rPr lang="zh-CN" altLang="en-US" sz="1800" dirty="0"/>
              <a:t>紅色</a:t>
            </a:r>
            <a:r>
              <a:rPr lang="en-GB" altLang="zh-CN" sz="1800" dirty="0"/>
              <a:t>		</a:t>
            </a:r>
            <a:r>
              <a:rPr lang="zh-CN" altLang="en-US" sz="1800" dirty="0"/>
              <a:t>的</a:t>
            </a:r>
            <a:r>
              <a:rPr lang="en-GB" altLang="zh-CN" sz="1800" dirty="0"/>
              <a:t>	</a:t>
            </a:r>
            <a:r>
              <a:rPr lang="zh-CN" altLang="en-US" sz="1800" dirty="0"/>
              <a:t>書</a:t>
            </a:r>
            <a:endParaRPr lang="en-GB" altLang="zh-CN" sz="1800" dirty="0"/>
          </a:p>
          <a:p>
            <a:pPr marL="0" indent="0">
              <a:buFont typeface="Arial" panose="020B0604020202020204" pitchFamily="34" charset="0"/>
              <a:buNone/>
            </a:pPr>
            <a:r>
              <a:rPr lang="en-GB" altLang="zh-CN" sz="1800" dirty="0"/>
              <a:t>		</a:t>
            </a:r>
            <a:r>
              <a:rPr lang="en-GB" altLang="zh-CN" sz="1800" dirty="0" err="1"/>
              <a:t>na</a:t>
            </a:r>
            <a:r>
              <a:rPr lang="en-GB" altLang="zh-CN" sz="1800" dirty="0"/>
              <a:t>			liang			ben	</a:t>
            </a:r>
            <a:r>
              <a:rPr lang="en-GB" altLang="zh-CN" sz="1800" dirty="0" err="1"/>
              <a:t>hongse</a:t>
            </a:r>
            <a:r>
              <a:rPr lang="en-GB" altLang="zh-CN" sz="1800" dirty="0"/>
              <a:t>		de	</a:t>
            </a:r>
            <a:r>
              <a:rPr lang="en-GB" altLang="zh-CN" sz="1800" dirty="0" err="1"/>
              <a:t>shu</a:t>
            </a:r>
            <a:endParaRPr lang="en-GB" altLang="zh-CN" sz="1800" dirty="0"/>
          </a:p>
          <a:p>
            <a:pPr marL="0" indent="0">
              <a:buFont typeface="Arial" panose="020B0604020202020204" pitchFamily="34" charset="0"/>
              <a:buNone/>
            </a:pPr>
            <a:r>
              <a:rPr lang="en-GB" altLang="zh-CN" sz="1800" dirty="0"/>
              <a:t>		those			two			CL (count) red		DE	book</a:t>
            </a:r>
          </a:p>
          <a:p>
            <a:pPr marL="0" indent="0">
              <a:buFont typeface="Arial" panose="020B0604020202020204" pitchFamily="34" charset="0"/>
              <a:buNone/>
            </a:pPr>
            <a:r>
              <a:rPr lang="en-GB" altLang="zh-CN" sz="1800" dirty="0"/>
              <a:t>		‘Those two red books.’	</a:t>
            </a:r>
          </a:p>
          <a:p>
            <a:pPr marL="0" indent="0">
              <a:buFont typeface="Arial" panose="020B0604020202020204" pitchFamily="34" charset="0"/>
              <a:buNone/>
            </a:pPr>
            <a:r>
              <a:rPr lang="en-GB" altLang="zh-CN" sz="1800" dirty="0"/>
              <a:t>Chomsky </a:t>
            </a:r>
            <a:r>
              <a:rPr lang="zh-CN" altLang="en-US" sz="1800" dirty="0"/>
              <a:t>的</a:t>
            </a:r>
            <a:r>
              <a:rPr lang="en-US" altLang="zh-CN" sz="1800" dirty="0"/>
              <a:t>				</a:t>
            </a:r>
            <a:r>
              <a:rPr lang="zh-CN" altLang="en-US" sz="1800" dirty="0"/>
              <a:t>很多</a:t>
            </a:r>
            <a:r>
              <a:rPr lang="en-US" altLang="zh-CN" sz="1800" dirty="0"/>
              <a:t>				</a:t>
            </a:r>
            <a:r>
              <a:rPr lang="zh-CN" altLang="en-US" sz="1800" dirty="0"/>
              <a:t>出色</a:t>
            </a:r>
            <a:r>
              <a:rPr lang="en-GB" altLang="zh-CN" sz="1800" dirty="0"/>
              <a:t>		</a:t>
            </a:r>
            <a:r>
              <a:rPr lang="zh-CN" altLang="en-US" sz="1800" dirty="0"/>
              <a:t>的</a:t>
            </a:r>
            <a:r>
              <a:rPr lang="en-GB" altLang="zh-CN" sz="1800" dirty="0"/>
              <a:t>	</a:t>
            </a:r>
            <a:r>
              <a:rPr lang="zh-CN" altLang="en-US" sz="1800" dirty="0"/>
              <a:t>出版作品</a:t>
            </a:r>
            <a:endParaRPr lang="en-GB" altLang="zh-CN" sz="1800" dirty="0"/>
          </a:p>
          <a:p>
            <a:pPr marL="0" indent="0">
              <a:buFont typeface="Arial" panose="020B0604020202020204" pitchFamily="34" charset="0"/>
              <a:buNone/>
            </a:pPr>
            <a:r>
              <a:rPr lang="en-US" altLang="zh-CN" sz="1800" dirty="0"/>
              <a:t>Chomsky	de				</a:t>
            </a:r>
            <a:r>
              <a:rPr lang="en-US" altLang="zh-CN" sz="1800" dirty="0" err="1"/>
              <a:t>henduo</a:t>
            </a:r>
            <a:r>
              <a:rPr lang="en-US" altLang="zh-CN" sz="1800" dirty="0"/>
              <a:t>				</a:t>
            </a:r>
            <a:r>
              <a:rPr lang="en-US" altLang="zh-CN" sz="1800" dirty="0" err="1"/>
              <a:t>chuse</a:t>
            </a:r>
            <a:r>
              <a:rPr lang="en-US" altLang="zh-CN" sz="1800" dirty="0"/>
              <a:t>		de       </a:t>
            </a:r>
            <a:r>
              <a:rPr lang="en-US" altLang="zh-CN" sz="1800" dirty="0" err="1"/>
              <a:t>chubanzuopin</a:t>
            </a:r>
            <a:endParaRPr lang="en-US" altLang="zh-CN" sz="1800" dirty="0"/>
          </a:p>
          <a:p>
            <a:pPr marL="0" indent="0">
              <a:buFont typeface="Arial" panose="020B0604020202020204" pitchFamily="34" charset="0"/>
              <a:buNone/>
            </a:pPr>
            <a:r>
              <a:rPr lang="en-US" altLang="zh-CN" sz="1800" dirty="0"/>
              <a:t>Chomsky DE				many				outstanding	DE       publication</a:t>
            </a:r>
          </a:p>
          <a:p>
            <a:pPr marL="0" indent="0">
              <a:buFont typeface="Arial" panose="020B0604020202020204" pitchFamily="34" charset="0"/>
              <a:buNone/>
            </a:pPr>
            <a:r>
              <a:rPr lang="en-US" altLang="zh-CN" sz="1800" dirty="0"/>
              <a:t>	‘Chomsky’s many outstanding publications’</a:t>
            </a:r>
          </a:p>
        </p:txBody>
      </p:sp>
      <p:sp>
        <p:nvSpPr>
          <p:cNvPr id="6" name="Content Placeholder 2">
            <a:extLst>
              <a:ext uri="{FF2B5EF4-FFF2-40B4-BE49-F238E27FC236}">
                <a16:creationId xmlns:a16="http://schemas.microsoft.com/office/drawing/2014/main" id="{7B3E2A6A-332D-6A4D-F883-CC72C0EB3452}"/>
              </a:ext>
            </a:extLst>
          </p:cNvPr>
          <p:cNvSpPr txBox="1">
            <a:spLocks/>
          </p:cNvSpPr>
          <p:nvPr/>
        </p:nvSpPr>
        <p:spPr>
          <a:xfrm>
            <a:off x="0" y="4682331"/>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b="1" dirty="0"/>
              <a:t>這</a:t>
            </a:r>
            <a:r>
              <a:rPr lang="en-GB" altLang="zh-CN" sz="1800" b="1" dirty="0"/>
              <a:t>/</a:t>
            </a:r>
            <a:r>
              <a:rPr lang="zh-CN" altLang="en-US" sz="1800" b="1" dirty="0"/>
              <a:t>那</a:t>
            </a:r>
            <a:r>
              <a:rPr lang="en-GB" altLang="zh-CN" sz="1800" dirty="0"/>
              <a:t>						</a:t>
            </a:r>
            <a:r>
              <a:rPr lang="zh-CN" altLang="en-US" sz="1800" dirty="0"/>
              <a:t>所</a:t>
            </a:r>
            <a:r>
              <a:rPr lang="en-GB" altLang="zh-CN" sz="1800" dirty="0"/>
              <a:t>	</a:t>
            </a:r>
            <a:r>
              <a:rPr lang="zh-CN" altLang="en-US" sz="1800" dirty="0"/>
              <a:t>很高</a:t>
            </a:r>
            <a:r>
              <a:rPr lang="en-GB" altLang="zh-CN" sz="1800" dirty="0"/>
              <a:t>		</a:t>
            </a:r>
            <a:r>
              <a:rPr lang="zh-CN" altLang="en-US" sz="1800" dirty="0"/>
              <a:t>的</a:t>
            </a:r>
            <a:r>
              <a:rPr lang="en-GB" altLang="zh-CN" sz="1800" dirty="0"/>
              <a:t>	</a:t>
            </a:r>
            <a:r>
              <a:rPr lang="zh-CN" altLang="en-US" sz="1800" dirty="0"/>
              <a:t>房子</a:t>
            </a:r>
            <a:endParaRPr lang="en-GB" altLang="zh-CN" sz="1800" dirty="0"/>
          </a:p>
          <a:p>
            <a:pPr marL="0" indent="0">
              <a:buFont typeface="Arial" panose="020B0604020202020204" pitchFamily="34" charset="0"/>
              <a:buNone/>
            </a:pPr>
            <a:r>
              <a:rPr lang="en-GB" altLang="zh-CN" sz="1800" dirty="0"/>
              <a:t>		</a:t>
            </a:r>
            <a:r>
              <a:rPr lang="en-GB" altLang="zh-CN" sz="1800" dirty="0" err="1"/>
              <a:t>zhe</a:t>
            </a:r>
            <a:r>
              <a:rPr lang="en-GB" altLang="zh-CN" sz="1800" dirty="0"/>
              <a:t>/</a:t>
            </a:r>
            <a:r>
              <a:rPr lang="en-GB" altLang="zh-CN" sz="1800" dirty="0" err="1"/>
              <a:t>na</a:t>
            </a:r>
            <a:r>
              <a:rPr lang="en-GB" altLang="zh-CN" sz="1800" dirty="0"/>
              <a:t>						</a:t>
            </a:r>
            <a:r>
              <a:rPr lang="en-GB" altLang="zh-CN" sz="1800" dirty="0" err="1"/>
              <a:t>suo</a:t>
            </a:r>
            <a:r>
              <a:rPr lang="en-GB" altLang="zh-CN" sz="1800" dirty="0"/>
              <a:t>	</a:t>
            </a:r>
            <a:r>
              <a:rPr lang="en-GB" altLang="zh-CN" sz="1800" dirty="0" err="1"/>
              <a:t>hengao</a:t>
            </a:r>
            <a:r>
              <a:rPr lang="en-GB" altLang="zh-CN" sz="1800" dirty="0"/>
              <a:t>		de	</a:t>
            </a:r>
            <a:r>
              <a:rPr lang="en-GB" altLang="zh-CN" sz="1800" dirty="0" err="1"/>
              <a:t>fangzi</a:t>
            </a:r>
            <a:r>
              <a:rPr lang="en-GB" altLang="zh-CN" sz="1800" dirty="0"/>
              <a:t>	</a:t>
            </a:r>
          </a:p>
          <a:p>
            <a:pPr marL="0" indent="0">
              <a:buFont typeface="Arial" panose="020B0604020202020204" pitchFamily="34" charset="0"/>
              <a:buNone/>
            </a:pPr>
            <a:r>
              <a:rPr lang="en-GB" altLang="zh-CN" sz="1800" dirty="0"/>
              <a:t>		this/that						CL	</a:t>
            </a:r>
            <a:r>
              <a:rPr lang="en-GB" altLang="zh-CN" sz="1800" dirty="0" err="1"/>
              <a:t>very.tall</a:t>
            </a:r>
            <a:r>
              <a:rPr lang="en-GB" altLang="zh-CN" sz="1800" dirty="0"/>
              <a:t>		DE	house</a:t>
            </a:r>
          </a:p>
          <a:p>
            <a:pPr marL="0" indent="0">
              <a:buFont typeface="Arial" panose="020B0604020202020204" pitchFamily="34" charset="0"/>
              <a:buNone/>
            </a:pPr>
            <a:r>
              <a:rPr lang="en-GB" altLang="zh-CN" sz="1800" dirty="0"/>
              <a:t>		‘This/that tall house’ (Mandarin)	</a:t>
            </a:r>
          </a:p>
          <a:p>
            <a:pPr marL="0" indent="0">
              <a:buNone/>
            </a:pPr>
            <a:r>
              <a:rPr lang="en-GB" altLang="zh-CN" sz="1800" dirty="0"/>
              <a:t>		(</a:t>
            </a:r>
            <a:r>
              <a:rPr lang="zh-CN" altLang="en-US" sz="1800" b="1" dirty="0"/>
              <a:t>呢</a:t>
            </a:r>
            <a:r>
              <a:rPr lang="en-GB" altLang="zh-CN" sz="1800" b="1" dirty="0"/>
              <a:t>/</a:t>
            </a:r>
            <a:r>
              <a:rPr lang="zh-CN" altLang="en-US" sz="1800" b="1" dirty="0"/>
              <a:t>個</a:t>
            </a:r>
            <a:r>
              <a:rPr lang="en-GB" altLang="zh-CN" sz="1800" dirty="0"/>
              <a:t>)						</a:t>
            </a:r>
            <a:r>
              <a:rPr lang="zh-CN" altLang="en-US" sz="1800" dirty="0"/>
              <a:t>間</a:t>
            </a:r>
            <a:r>
              <a:rPr lang="en-GB" altLang="zh-CN" sz="1800" dirty="0"/>
              <a:t>	</a:t>
            </a:r>
            <a:r>
              <a:rPr lang="zh-CN" altLang="en-US" sz="1800" dirty="0"/>
              <a:t>好高</a:t>
            </a:r>
            <a:r>
              <a:rPr lang="en-GB" altLang="zh-CN" sz="1800" dirty="0"/>
              <a:t>		</a:t>
            </a:r>
            <a:r>
              <a:rPr lang="zh-CN" altLang="en-US" sz="1800" dirty="0"/>
              <a:t>嘅</a:t>
            </a:r>
            <a:r>
              <a:rPr lang="en-GB" altLang="zh-CN" sz="1800" dirty="0"/>
              <a:t>	</a:t>
            </a:r>
            <a:r>
              <a:rPr lang="zh-CN" altLang="en-US" sz="1800" dirty="0"/>
              <a:t>屋</a:t>
            </a:r>
            <a:endParaRPr lang="en-GB" altLang="zh-CN" sz="1800" dirty="0"/>
          </a:p>
          <a:p>
            <a:pPr marL="0" indent="0">
              <a:buFont typeface="Arial" panose="020B0604020202020204" pitchFamily="34" charset="0"/>
              <a:buNone/>
            </a:pPr>
            <a:r>
              <a:rPr lang="en-GB" sz="1800" dirty="0"/>
              <a:t>		</a:t>
            </a:r>
            <a:r>
              <a:rPr lang="en-US" altLang="zh-CN" sz="1800" dirty="0" err="1"/>
              <a:t>ni</a:t>
            </a:r>
            <a:r>
              <a:rPr lang="en-US" altLang="zh-CN" sz="1800" dirty="0"/>
              <a:t>/go						</a:t>
            </a:r>
            <a:r>
              <a:rPr lang="en-US" altLang="zh-CN" sz="1800" dirty="0" err="1"/>
              <a:t>gaan</a:t>
            </a:r>
            <a:r>
              <a:rPr lang="en-US" altLang="zh-CN" sz="1800" dirty="0"/>
              <a:t>	</a:t>
            </a:r>
            <a:r>
              <a:rPr lang="en-US" altLang="zh-CN" sz="1800" dirty="0" err="1"/>
              <a:t>hogo</a:t>
            </a:r>
            <a:r>
              <a:rPr lang="en-US" altLang="zh-CN" sz="1800" dirty="0"/>
              <a:t>		</a:t>
            </a:r>
            <a:r>
              <a:rPr lang="en-US" altLang="zh-CN" sz="1800" dirty="0" err="1"/>
              <a:t>ge</a:t>
            </a:r>
            <a:r>
              <a:rPr lang="en-US" altLang="zh-CN" sz="1800" dirty="0"/>
              <a:t>	</a:t>
            </a:r>
            <a:r>
              <a:rPr lang="en-US" altLang="zh-CN" sz="1800" dirty="0" err="1"/>
              <a:t>nguk</a:t>
            </a:r>
            <a:endParaRPr lang="en-GB" sz="1800" dirty="0"/>
          </a:p>
        </p:txBody>
      </p:sp>
    </p:spTree>
    <p:extLst>
      <p:ext uri="{BB962C8B-B14F-4D97-AF65-F5344CB8AC3E}">
        <p14:creationId xmlns:p14="http://schemas.microsoft.com/office/powerpoint/2010/main" val="159535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1C4E1-0D0A-97A3-2555-B796085F5223}"/>
              </a:ext>
            </a:extLst>
          </p:cNvPr>
          <p:cNvSpPr>
            <a:spLocks noGrp="1"/>
          </p:cNvSpPr>
          <p:nvPr>
            <p:ph type="title"/>
          </p:nvPr>
        </p:nvSpPr>
        <p:spPr>
          <a:xfrm>
            <a:off x="838200" y="0"/>
            <a:ext cx="10515600" cy="1325563"/>
          </a:xfrm>
        </p:spPr>
        <p:txBody>
          <a:bodyPr/>
          <a:lstStyle/>
          <a:p>
            <a:r>
              <a:rPr lang="en-GB" dirty="0"/>
              <a:t>Mandarin vs Cantonese (noun)</a:t>
            </a:r>
          </a:p>
        </p:txBody>
      </p:sp>
      <p:sp>
        <p:nvSpPr>
          <p:cNvPr id="3" name="Content Placeholder 2">
            <a:extLst>
              <a:ext uri="{FF2B5EF4-FFF2-40B4-BE49-F238E27FC236}">
                <a16:creationId xmlns:a16="http://schemas.microsoft.com/office/drawing/2014/main" id="{D3D4DC8F-5717-B8F1-EACE-47F227A7B9F2}"/>
              </a:ext>
            </a:extLst>
          </p:cNvPr>
          <p:cNvSpPr>
            <a:spLocks noGrp="1"/>
          </p:cNvSpPr>
          <p:nvPr>
            <p:ph idx="1"/>
          </p:nvPr>
        </p:nvSpPr>
        <p:spPr>
          <a:xfrm>
            <a:off x="0" y="958522"/>
            <a:ext cx="12192000" cy="4351338"/>
          </a:xfrm>
        </p:spPr>
        <p:txBody>
          <a:bodyPr/>
          <a:lstStyle/>
          <a:p>
            <a:pPr marL="0" indent="0">
              <a:buNone/>
            </a:pPr>
            <a:r>
              <a:rPr lang="en-GB" dirty="0"/>
              <a:t>D	Possessor	</a:t>
            </a:r>
            <a:r>
              <a:rPr lang="en-GB" dirty="0" err="1"/>
              <a:t>Poss</a:t>
            </a:r>
            <a:r>
              <a:rPr lang="en-GB" dirty="0"/>
              <a:t>	Dem	Q	</a:t>
            </a:r>
            <a:r>
              <a:rPr lang="en-GB" dirty="0" err="1"/>
              <a:t>Num</a:t>
            </a:r>
            <a:r>
              <a:rPr lang="en-GB" dirty="0"/>
              <a:t>	CL	Mod	N</a:t>
            </a:r>
          </a:p>
        </p:txBody>
      </p:sp>
      <p:sp>
        <p:nvSpPr>
          <p:cNvPr id="4" name="Content Placeholder 2">
            <a:extLst>
              <a:ext uri="{FF2B5EF4-FFF2-40B4-BE49-F238E27FC236}">
                <a16:creationId xmlns:a16="http://schemas.microsoft.com/office/drawing/2014/main" id="{58E5C036-6573-1BFF-3E08-C92F0D300C7C}"/>
              </a:ext>
            </a:extLst>
          </p:cNvPr>
          <p:cNvSpPr txBox="1">
            <a:spLocks/>
          </p:cNvSpPr>
          <p:nvPr/>
        </p:nvSpPr>
        <p:spPr>
          <a:xfrm>
            <a:off x="0" y="1418827"/>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a:t>
            </a:r>
            <a:r>
              <a:rPr lang="zh-CN" altLang="en-US" sz="1800" dirty="0"/>
              <a:t>這</a:t>
            </a:r>
            <a:r>
              <a:rPr lang="en-GB" altLang="zh-CN" sz="1800" dirty="0"/>
              <a:t>/</a:t>
            </a:r>
            <a:r>
              <a:rPr lang="zh-CN" altLang="en-US" sz="1800" dirty="0"/>
              <a:t>那</a:t>
            </a:r>
            <a:r>
              <a:rPr lang="en-GB" altLang="zh-CN" sz="1800" dirty="0"/>
              <a:t>						</a:t>
            </a:r>
            <a:r>
              <a:rPr lang="zh-CN" altLang="en-US" sz="1800" dirty="0"/>
              <a:t>所</a:t>
            </a:r>
            <a:r>
              <a:rPr lang="en-GB" altLang="zh-CN" sz="1800" dirty="0"/>
              <a:t>	</a:t>
            </a:r>
            <a:r>
              <a:rPr lang="zh-CN" altLang="en-US" sz="1800" dirty="0"/>
              <a:t>很高</a:t>
            </a:r>
            <a:r>
              <a:rPr lang="en-GB" altLang="zh-CN" sz="1800" dirty="0"/>
              <a:t>	</a:t>
            </a:r>
            <a:r>
              <a:rPr lang="zh-CN" altLang="en-US" sz="1800" dirty="0"/>
              <a:t>的</a:t>
            </a:r>
            <a:r>
              <a:rPr lang="en-GB" altLang="zh-CN" sz="1800" dirty="0"/>
              <a:t>	</a:t>
            </a:r>
            <a:r>
              <a:rPr lang="zh-CN" altLang="en-US" sz="1800" dirty="0"/>
              <a:t>房子</a:t>
            </a:r>
            <a:endParaRPr lang="en-GB" altLang="zh-CN" sz="1800" dirty="0"/>
          </a:p>
          <a:p>
            <a:pPr marL="0" indent="0">
              <a:buFont typeface="Arial" panose="020B0604020202020204" pitchFamily="34" charset="0"/>
              <a:buNone/>
            </a:pPr>
            <a:r>
              <a:rPr lang="en-GB" altLang="zh-CN" sz="1800" dirty="0"/>
              <a:t>	</a:t>
            </a:r>
            <a:r>
              <a:rPr lang="en-GB" altLang="zh-CN" sz="1800" dirty="0" err="1"/>
              <a:t>na</a:t>
            </a:r>
            <a:r>
              <a:rPr lang="en-GB" altLang="zh-CN" sz="1800" dirty="0"/>
              <a:t>/</a:t>
            </a:r>
            <a:r>
              <a:rPr lang="en-GB" altLang="zh-CN" sz="1800" dirty="0" err="1"/>
              <a:t>zhe</a:t>
            </a:r>
            <a:r>
              <a:rPr lang="en-GB" altLang="zh-CN" sz="1800" dirty="0"/>
              <a:t>						</a:t>
            </a:r>
            <a:r>
              <a:rPr lang="en-GB" altLang="zh-CN" sz="1800" dirty="0" err="1"/>
              <a:t>suo</a:t>
            </a:r>
            <a:r>
              <a:rPr lang="en-GB" altLang="zh-CN" sz="1800" dirty="0"/>
              <a:t>	</a:t>
            </a:r>
            <a:r>
              <a:rPr lang="en-GB" altLang="zh-CN" sz="1800" dirty="0" err="1"/>
              <a:t>hengao</a:t>
            </a:r>
            <a:r>
              <a:rPr lang="en-GB" altLang="zh-CN" sz="1800" dirty="0"/>
              <a:t>	de	</a:t>
            </a:r>
            <a:r>
              <a:rPr lang="en-GB" altLang="zh-CN" sz="1800" dirty="0" err="1"/>
              <a:t>fangzi</a:t>
            </a:r>
            <a:endParaRPr lang="en-GB" altLang="zh-CN" sz="1800" dirty="0"/>
          </a:p>
          <a:p>
            <a:pPr marL="0" indent="0">
              <a:buFont typeface="Arial" panose="020B0604020202020204" pitchFamily="34" charset="0"/>
              <a:buNone/>
            </a:pPr>
            <a:r>
              <a:rPr lang="en-GB" altLang="zh-CN" sz="1800" dirty="0"/>
              <a:t>	this/that						CL	</a:t>
            </a:r>
            <a:r>
              <a:rPr lang="en-GB" altLang="zh-CN" sz="1800" dirty="0" err="1"/>
              <a:t>very.tall</a:t>
            </a:r>
            <a:r>
              <a:rPr lang="en-GB" altLang="zh-CN" sz="1800" dirty="0"/>
              <a:t>	DE	house</a:t>
            </a:r>
          </a:p>
          <a:p>
            <a:pPr marL="0" indent="0">
              <a:buFont typeface="Arial" panose="020B0604020202020204" pitchFamily="34" charset="0"/>
              <a:buNone/>
            </a:pPr>
            <a:r>
              <a:rPr lang="en-GB" altLang="zh-CN" sz="1800" dirty="0"/>
              <a:t>	‘This/that very tall house’ &gt; ‘The very tall house.’ </a:t>
            </a:r>
          </a:p>
          <a:p>
            <a:pPr marL="0" indent="0">
              <a:buNone/>
            </a:pPr>
            <a:r>
              <a:rPr lang="en-GB" altLang="zh-CN" sz="1800" dirty="0"/>
              <a:t>	(</a:t>
            </a:r>
            <a:r>
              <a:rPr lang="zh-CN" altLang="en-US" sz="1800" dirty="0"/>
              <a:t>呢</a:t>
            </a:r>
            <a:r>
              <a:rPr lang="en-GB" altLang="zh-CN" sz="1800" dirty="0"/>
              <a:t>/</a:t>
            </a:r>
            <a:r>
              <a:rPr lang="zh-CN" altLang="en-US" sz="1800" dirty="0"/>
              <a:t>個</a:t>
            </a:r>
            <a:r>
              <a:rPr lang="en-GB" altLang="zh-CN" sz="1800" dirty="0"/>
              <a:t>)						</a:t>
            </a:r>
            <a:r>
              <a:rPr lang="zh-CN" altLang="en-US" sz="1800" dirty="0"/>
              <a:t>間</a:t>
            </a:r>
            <a:r>
              <a:rPr lang="en-GB" altLang="zh-CN" sz="1800" dirty="0"/>
              <a:t>	</a:t>
            </a:r>
            <a:r>
              <a:rPr lang="zh-CN" altLang="en-US" sz="1800" dirty="0"/>
              <a:t>好高</a:t>
            </a:r>
            <a:r>
              <a:rPr lang="en-GB" altLang="zh-CN" sz="1800" dirty="0"/>
              <a:t>	</a:t>
            </a:r>
            <a:r>
              <a:rPr lang="zh-CN" altLang="en-US" sz="1800" dirty="0"/>
              <a:t>嘅</a:t>
            </a:r>
            <a:r>
              <a:rPr lang="en-GB" altLang="zh-CN" sz="1800" dirty="0"/>
              <a:t>	</a:t>
            </a:r>
            <a:r>
              <a:rPr lang="zh-CN" altLang="en-US" sz="1800" dirty="0"/>
              <a:t>屋</a:t>
            </a:r>
            <a:endParaRPr lang="en-GB" altLang="zh-CN" sz="1800" dirty="0"/>
          </a:p>
          <a:p>
            <a:pPr marL="0" indent="0">
              <a:buFont typeface="Arial" panose="020B0604020202020204" pitchFamily="34" charset="0"/>
              <a:buNone/>
            </a:pPr>
            <a:r>
              <a:rPr lang="en-GB" altLang="zh-CN" sz="1800" dirty="0"/>
              <a:t>	</a:t>
            </a:r>
            <a:r>
              <a:rPr lang="en-US" altLang="zh-CN" sz="1800" dirty="0" err="1"/>
              <a:t>ni</a:t>
            </a:r>
            <a:r>
              <a:rPr lang="en-US" altLang="zh-CN" sz="1800" dirty="0"/>
              <a:t>/go						</a:t>
            </a:r>
            <a:r>
              <a:rPr lang="en-US" altLang="zh-CN" sz="1800" dirty="0" err="1"/>
              <a:t>gaan</a:t>
            </a:r>
            <a:r>
              <a:rPr lang="en-US" altLang="zh-CN" sz="1800" dirty="0"/>
              <a:t>	</a:t>
            </a:r>
            <a:r>
              <a:rPr lang="en-US" altLang="zh-CN" sz="1800" dirty="0" err="1"/>
              <a:t>hougou</a:t>
            </a:r>
            <a:r>
              <a:rPr lang="en-US" altLang="zh-CN" sz="1800" dirty="0"/>
              <a:t>	</a:t>
            </a:r>
            <a:r>
              <a:rPr lang="en-US" altLang="zh-CN" sz="1800" dirty="0" err="1"/>
              <a:t>ge</a:t>
            </a:r>
            <a:r>
              <a:rPr lang="en-US" altLang="zh-CN" sz="1800" dirty="0"/>
              <a:t>	</a:t>
            </a:r>
            <a:r>
              <a:rPr lang="en-US" altLang="zh-CN" sz="1800" dirty="0" err="1"/>
              <a:t>nguk</a:t>
            </a:r>
            <a:endParaRPr lang="en-US" altLang="zh-CN" sz="1800" dirty="0"/>
          </a:p>
          <a:p>
            <a:pPr marL="0" indent="0">
              <a:buFont typeface="Arial" panose="020B0604020202020204" pitchFamily="34" charset="0"/>
              <a:buNone/>
            </a:pPr>
            <a:r>
              <a:rPr lang="en-US" altLang="zh-CN" sz="1800" dirty="0"/>
              <a:t>	this/that						CL	</a:t>
            </a:r>
            <a:r>
              <a:rPr lang="en-US" altLang="zh-CN" sz="1800" dirty="0" err="1"/>
              <a:t>very.tall</a:t>
            </a:r>
            <a:r>
              <a:rPr lang="en-US" altLang="zh-CN" sz="1800" dirty="0"/>
              <a:t>	GE	house</a:t>
            </a:r>
          </a:p>
          <a:p>
            <a:pPr marL="0" indent="0">
              <a:buFont typeface="Arial" panose="020B0604020202020204" pitchFamily="34" charset="0"/>
              <a:buNone/>
            </a:pPr>
            <a:r>
              <a:rPr lang="en-US" altLang="zh-CN" sz="1800" dirty="0"/>
              <a:t>	‘This/that very tall house’/’The very tall house’ (</a:t>
            </a:r>
            <a:r>
              <a:rPr lang="zh-CN" altLang="en-US" sz="1800" dirty="0"/>
              <a:t>間好高屋</a:t>
            </a:r>
            <a:r>
              <a:rPr lang="en-GB" altLang="zh-CN" sz="1800" dirty="0"/>
              <a:t>)</a:t>
            </a:r>
            <a:endParaRPr lang="en-GB" sz="1800" dirty="0"/>
          </a:p>
        </p:txBody>
      </p:sp>
      <p:sp>
        <p:nvSpPr>
          <p:cNvPr id="5" name="Content Placeholder 2">
            <a:extLst>
              <a:ext uri="{FF2B5EF4-FFF2-40B4-BE49-F238E27FC236}">
                <a16:creationId xmlns:a16="http://schemas.microsoft.com/office/drawing/2014/main" id="{E9C6AD71-45DC-3150-071A-A7D653A972CB}"/>
              </a:ext>
            </a:extLst>
          </p:cNvPr>
          <p:cNvSpPr txBox="1">
            <a:spLocks/>
          </p:cNvSpPr>
          <p:nvPr/>
        </p:nvSpPr>
        <p:spPr>
          <a:xfrm>
            <a:off x="0" y="4682330"/>
            <a:ext cx="12192000" cy="21756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altLang="zh-CN" sz="1800" dirty="0"/>
              <a:t>	DEM CL Mod N (Mandarin) vs (DEM) CL Mod N (Cantonese)</a:t>
            </a:r>
          </a:p>
          <a:p>
            <a:pPr marL="0" indent="0">
              <a:buFont typeface="Arial" panose="020B0604020202020204" pitchFamily="34" charset="0"/>
              <a:buNone/>
            </a:pPr>
            <a:r>
              <a:rPr lang="en-GB" altLang="zh-CN" sz="1800" dirty="0"/>
              <a:t>	</a:t>
            </a:r>
            <a:r>
              <a:rPr lang="zh-CN" altLang="en-US" sz="1800" dirty="0"/>
              <a:t>這</a:t>
            </a:r>
            <a:r>
              <a:rPr lang="en-GB" altLang="zh-CN" sz="1800" dirty="0"/>
              <a:t>/</a:t>
            </a:r>
            <a:r>
              <a:rPr lang="zh-CN" altLang="en-US" sz="1800" dirty="0"/>
              <a:t>那所很高的房子 </a:t>
            </a:r>
            <a:r>
              <a:rPr lang="en-GB" altLang="zh-CN" sz="1800" dirty="0"/>
              <a:t>(Mandarin) vs (</a:t>
            </a:r>
            <a:r>
              <a:rPr lang="zh-CN" altLang="en-US" sz="1800" dirty="0"/>
              <a:t>呢個</a:t>
            </a:r>
            <a:r>
              <a:rPr lang="en-GB" altLang="zh-CN" sz="1800" dirty="0"/>
              <a:t>)</a:t>
            </a:r>
            <a:r>
              <a:rPr lang="zh-CN" altLang="en-US" sz="1800" dirty="0"/>
              <a:t>間好高屋 </a:t>
            </a:r>
            <a:r>
              <a:rPr lang="en-GB" altLang="zh-CN" sz="1800" dirty="0"/>
              <a:t>(Cantonese) (CL-initial : CL moves to D)</a:t>
            </a:r>
            <a:endParaRPr lang="en-GB" sz="1800" dirty="0"/>
          </a:p>
        </p:txBody>
      </p:sp>
    </p:spTree>
    <p:extLst>
      <p:ext uri="{BB962C8B-B14F-4D97-AF65-F5344CB8AC3E}">
        <p14:creationId xmlns:p14="http://schemas.microsoft.com/office/powerpoint/2010/main" val="1368499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4F20-AB4F-8AAB-9C03-A1FE5E1057CC}"/>
              </a:ext>
            </a:extLst>
          </p:cNvPr>
          <p:cNvSpPr>
            <a:spLocks noGrp="1"/>
          </p:cNvSpPr>
          <p:nvPr>
            <p:ph type="title"/>
          </p:nvPr>
        </p:nvSpPr>
        <p:spPr>
          <a:xfrm>
            <a:off x="838200" y="0"/>
            <a:ext cx="10515600" cy="1325563"/>
          </a:xfrm>
        </p:spPr>
        <p:txBody>
          <a:bodyPr/>
          <a:lstStyle/>
          <a:p>
            <a:r>
              <a:rPr lang="en-GB" dirty="0"/>
              <a:t>Conclusion: Chinese Linguistics and </a:t>
            </a:r>
            <a:r>
              <a:rPr lang="en-US" altLang="zh-CN" dirty="0"/>
              <a:t>Teaching Chinese as a Second Language (CSL)</a:t>
            </a:r>
            <a:endParaRPr lang="en-GB" dirty="0"/>
          </a:p>
        </p:txBody>
      </p:sp>
      <p:sp>
        <p:nvSpPr>
          <p:cNvPr id="3" name="Content Placeholder 2">
            <a:extLst>
              <a:ext uri="{FF2B5EF4-FFF2-40B4-BE49-F238E27FC236}">
                <a16:creationId xmlns:a16="http://schemas.microsoft.com/office/drawing/2014/main" id="{58210F32-ADFF-31F3-EC0F-1CB8BDE021FF}"/>
              </a:ext>
            </a:extLst>
          </p:cNvPr>
          <p:cNvSpPr>
            <a:spLocks noGrp="1"/>
          </p:cNvSpPr>
          <p:nvPr>
            <p:ph idx="1"/>
          </p:nvPr>
        </p:nvSpPr>
        <p:spPr>
          <a:xfrm>
            <a:off x="838200" y="1253331"/>
            <a:ext cx="10515600" cy="4351338"/>
          </a:xfrm>
        </p:spPr>
        <p:txBody>
          <a:bodyPr/>
          <a:lstStyle/>
          <a:p>
            <a:pPr marL="0" indent="0">
              <a:buNone/>
            </a:pPr>
            <a:r>
              <a:rPr lang="en-GB" dirty="0"/>
              <a:t>Formal parametric/cartographic analysis of Chinese (Mandarin/Cantonese):</a:t>
            </a:r>
            <a:r>
              <a:rPr lang="zh-CN" altLang="en-US" dirty="0"/>
              <a:t> </a:t>
            </a:r>
            <a:endParaRPr lang="en-GB" dirty="0"/>
          </a:p>
        </p:txBody>
      </p:sp>
      <p:sp>
        <p:nvSpPr>
          <p:cNvPr id="4" name="Content Placeholder 2">
            <a:extLst>
              <a:ext uri="{FF2B5EF4-FFF2-40B4-BE49-F238E27FC236}">
                <a16:creationId xmlns:a16="http://schemas.microsoft.com/office/drawing/2014/main" id="{C9035679-DE8A-2446-1522-868F96A5DB3C}"/>
              </a:ext>
            </a:extLst>
          </p:cNvPr>
          <p:cNvSpPr txBox="1">
            <a:spLocks/>
          </p:cNvSpPr>
          <p:nvPr/>
        </p:nvSpPr>
        <p:spPr>
          <a:xfrm>
            <a:off x="0" y="4229994"/>
            <a:ext cx="12192000" cy="21034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Research into Chinese Language/Linguistics  </a:t>
            </a:r>
            <a:r>
              <a:rPr lang="en-GB" dirty="0">
                <a:sym typeface="Wingdings" panose="05000000000000000000" pitchFamily="2" charset="2"/>
              </a:rPr>
              <a:t> Teaching of Chinese to foreigners 									(CSL)</a:t>
            </a:r>
            <a:endParaRPr lang="en-GB" dirty="0"/>
          </a:p>
        </p:txBody>
      </p:sp>
      <p:sp>
        <p:nvSpPr>
          <p:cNvPr id="5" name="Content Placeholder 2">
            <a:extLst>
              <a:ext uri="{FF2B5EF4-FFF2-40B4-BE49-F238E27FC236}">
                <a16:creationId xmlns:a16="http://schemas.microsoft.com/office/drawing/2014/main" id="{523D2759-26BE-7CE6-1808-75F7C0EAA426}"/>
              </a:ext>
            </a:extLst>
          </p:cNvPr>
          <p:cNvSpPr txBox="1">
            <a:spLocks/>
          </p:cNvSpPr>
          <p:nvPr/>
        </p:nvSpPr>
        <p:spPr>
          <a:xfrm>
            <a:off x="0" y="2054325"/>
            <a:ext cx="121920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Mandarin:						Cantonese:</a:t>
            </a:r>
          </a:p>
          <a:p>
            <a:pPr marL="0" indent="0">
              <a:buFont typeface="Arial" panose="020B0604020202020204" pitchFamily="34" charset="0"/>
              <a:buNone/>
            </a:pPr>
            <a:r>
              <a:rPr lang="zh-CN" altLang="en-US" sz="2400" dirty="0"/>
              <a:t>先 </a:t>
            </a:r>
            <a:r>
              <a:rPr lang="en-GB" altLang="zh-CN" sz="2400" dirty="0"/>
              <a:t>‘before’ + verb phrase				verb phrase + </a:t>
            </a:r>
            <a:r>
              <a:rPr lang="zh-CN" altLang="en-US" sz="2400" dirty="0"/>
              <a:t>先 </a:t>
            </a:r>
            <a:r>
              <a:rPr lang="en-GB" altLang="zh-CN" sz="2400" dirty="0"/>
              <a:t>‘before’</a:t>
            </a:r>
          </a:p>
          <a:p>
            <a:pPr marL="0" indent="0">
              <a:buFont typeface="Arial" panose="020B0604020202020204" pitchFamily="34" charset="0"/>
              <a:buNone/>
            </a:pPr>
            <a:r>
              <a:rPr lang="zh-CN" altLang="en-US" sz="2400" dirty="0"/>
              <a:t>多</a:t>
            </a:r>
            <a:r>
              <a:rPr lang="en-GB" altLang="zh-CN" sz="2400" dirty="0"/>
              <a:t>/</a:t>
            </a:r>
            <a:r>
              <a:rPr lang="zh-CN" altLang="en-US" sz="2400" dirty="0"/>
              <a:t>少 </a:t>
            </a:r>
            <a:r>
              <a:rPr lang="en-GB" altLang="zh-CN" sz="2400" dirty="0"/>
              <a:t>‘more/less’ + verb				verb + </a:t>
            </a:r>
            <a:r>
              <a:rPr lang="zh-CN" altLang="en-US" sz="2400" dirty="0"/>
              <a:t>多</a:t>
            </a:r>
            <a:r>
              <a:rPr lang="en-GB" altLang="zh-CN" sz="2400" dirty="0"/>
              <a:t>/</a:t>
            </a:r>
            <a:r>
              <a:rPr lang="zh-CN" altLang="en-US" sz="2400" dirty="0"/>
              <a:t>少 </a:t>
            </a:r>
            <a:r>
              <a:rPr lang="en-GB" altLang="zh-CN" sz="2400" dirty="0"/>
              <a:t>‘more/less’ </a:t>
            </a:r>
          </a:p>
          <a:p>
            <a:pPr marL="0" indent="0">
              <a:buFont typeface="Arial" panose="020B0604020202020204" pitchFamily="34" charset="0"/>
              <a:buNone/>
            </a:pPr>
            <a:r>
              <a:rPr lang="en-GB" sz="2400" dirty="0"/>
              <a:t>DEM (</a:t>
            </a:r>
            <a:r>
              <a:rPr lang="zh-CN" altLang="en-US" sz="2400" dirty="0"/>
              <a:t>這</a:t>
            </a:r>
            <a:r>
              <a:rPr lang="en-GB" altLang="zh-CN" sz="2400" dirty="0"/>
              <a:t>/</a:t>
            </a:r>
            <a:r>
              <a:rPr lang="zh-CN" altLang="en-US" sz="2400" dirty="0"/>
              <a:t>那 </a:t>
            </a:r>
            <a:r>
              <a:rPr lang="en-GB" altLang="zh-CN" sz="2400" dirty="0"/>
              <a:t>this/that) + CL + Mod + N		(DEM (</a:t>
            </a:r>
            <a:r>
              <a:rPr lang="zh-CN" altLang="en-US" sz="2400" dirty="0"/>
              <a:t>呢</a:t>
            </a:r>
            <a:r>
              <a:rPr lang="en-GB" altLang="zh-CN" sz="2400" dirty="0"/>
              <a:t>/</a:t>
            </a:r>
            <a:r>
              <a:rPr lang="zh-CN" altLang="en-US" sz="2400" dirty="0"/>
              <a:t>個</a:t>
            </a:r>
            <a:r>
              <a:rPr lang="en-GB" altLang="zh-CN" sz="2400" dirty="0"/>
              <a:t>)) + CL + Mod + N</a:t>
            </a:r>
            <a:endParaRPr lang="en-GB" sz="2400" dirty="0"/>
          </a:p>
        </p:txBody>
      </p:sp>
    </p:spTree>
    <p:extLst>
      <p:ext uri="{BB962C8B-B14F-4D97-AF65-F5344CB8AC3E}">
        <p14:creationId xmlns:p14="http://schemas.microsoft.com/office/powerpoint/2010/main" val="81474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49C17-6FC0-0503-C8AA-72D4FBF71562}"/>
              </a:ext>
            </a:extLst>
          </p:cNvPr>
          <p:cNvSpPr>
            <a:spLocks noGrp="1"/>
          </p:cNvSpPr>
          <p:nvPr>
            <p:ph type="title"/>
          </p:nvPr>
        </p:nvSpPr>
        <p:spPr>
          <a:xfrm>
            <a:off x="838200" y="0"/>
            <a:ext cx="10515600" cy="1325563"/>
          </a:xfrm>
        </p:spPr>
        <p:txBody>
          <a:bodyPr/>
          <a:lstStyle/>
          <a:p>
            <a:r>
              <a:rPr lang="en-GB" dirty="0"/>
              <a:t>Chinese dialects (Mandarin vs Cantonese)</a:t>
            </a:r>
          </a:p>
        </p:txBody>
      </p:sp>
      <p:sp>
        <p:nvSpPr>
          <p:cNvPr id="3" name="Content Placeholder 2">
            <a:extLst>
              <a:ext uri="{FF2B5EF4-FFF2-40B4-BE49-F238E27FC236}">
                <a16:creationId xmlns:a16="http://schemas.microsoft.com/office/drawing/2014/main" id="{E84A924D-CD36-3EB2-4F42-12B5D78A0C1C}"/>
              </a:ext>
            </a:extLst>
          </p:cNvPr>
          <p:cNvSpPr>
            <a:spLocks noGrp="1"/>
          </p:cNvSpPr>
          <p:nvPr>
            <p:ph idx="1"/>
          </p:nvPr>
        </p:nvSpPr>
        <p:spPr>
          <a:xfrm>
            <a:off x="838200" y="1253331"/>
            <a:ext cx="10515600" cy="4351338"/>
          </a:xfrm>
        </p:spPr>
        <p:txBody>
          <a:bodyPr/>
          <a:lstStyle/>
          <a:p>
            <a:pPr marL="0" indent="0">
              <a:buNone/>
            </a:pPr>
            <a:r>
              <a:rPr lang="en-GB" dirty="0"/>
              <a:t>Parametric settings (non-exhaustive): </a:t>
            </a:r>
          </a:p>
        </p:txBody>
      </p:sp>
      <p:sp>
        <p:nvSpPr>
          <p:cNvPr id="4" name="Content Placeholder 2">
            <a:extLst>
              <a:ext uri="{FF2B5EF4-FFF2-40B4-BE49-F238E27FC236}">
                <a16:creationId xmlns:a16="http://schemas.microsoft.com/office/drawing/2014/main" id="{AAFE073B-1D20-0BEE-BB02-A16BBB4CE63F}"/>
              </a:ext>
            </a:extLst>
          </p:cNvPr>
          <p:cNvSpPr txBox="1">
            <a:spLocks/>
          </p:cNvSpPr>
          <p:nvPr/>
        </p:nvSpPr>
        <p:spPr>
          <a:xfrm>
            <a:off x="838200" y="1715029"/>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Clause: </a:t>
            </a:r>
          </a:p>
        </p:txBody>
      </p:sp>
      <p:sp>
        <p:nvSpPr>
          <p:cNvPr id="7" name="Content Placeholder 2">
            <a:extLst>
              <a:ext uri="{FF2B5EF4-FFF2-40B4-BE49-F238E27FC236}">
                <a16:creationId xmlns:a16="http://schemas.microsoft.com/office/drawing/2014/main" id="{97ECC4C7-C284-95EE-DD95-83E4EC9DCC05}"/>
              </a:ext>
            </a:extLst>
          </p:cNvPr>
          <p:cNvSpPr txBox="1">
            <a:spLocks/>
          </p:cNvSpPr>
          <p:nvPr/>
        </p:nvSpPr>
        <p:spPr>
          <a:xfrm>
            <a:off x="838200" y="502523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Noun: </a:t>
            </a:r>
          </a:p>
        </p:txBody>
      </p:sp>
      <p:sp>
        <p:nvSpPr>
          <p:cNvPr id="8" name="Content Placeholder 2">
            <a:extLst>
              <a:ext uri="{FF2B5EF4-FFF2-40B4-BE49-F238E27FC236}">
                <a16:creationId xmlns:a16="http://schemas.microsoft.com/office/drawing/2014/main" id="{2FFEBC08-0FE3-69C9-BC3F-CEC5C17788B2}"/>
              </a:ext>
            </a:extLst>
          </p:cNvPr>
          <p:cNvSpPr txBox="1">
            <a:spLocks/>
          </p:cNvSpPr>
          <p:nvPr/>
        </p:nvSpPr>
        <p:spPr>
          <a:xfrm>
            <a:off x="838200" y="210449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(Mandarin)</a:t>
            </a:r>
          </a:p>
          <a:p>
            <a:pPr marL="0" indent="0">
              <a:buFont typeface="Arial" panose="020B0604020202020204" pitchFamily="34" charset="0"/>
              <a:buNone/>
            </a:pPr>
            <a:r>
              <a:rPr lang="en-GB" sz="2400" dirty="0"/>
              <a:t>Aspect (verbal suffix): le (completive)/</a:t>
            </a:r>
            <a:r>
              <a:rPr lang="en-GB" sz="2400" dirty="0" err="1"/>
              <a:t>zhe</a:t>
            </a:r>
            <a:r>
              <a:rPr lang="en-GB" sz="2400" dirty="0"/>
              <a:t> (continuous)/</a:t>
            </a:r>
            <a:r>
              <a:rPr lang="en-GB" sz="2400" dirty="0" err="1"/>
              <a:t>guo</a:t>
            </a:r>
            <a:r>
              <a:rPr lang="en-GB" sz="2400" dirty="0"/>
              <a:t> (anterior)</a:t>
            </a:r>
          </a:p>
          <a:p>
            <a:pPr marL="0" indent="0">
              <a:buFont typeface="Arial" panose="020B0604020202020204" pitchFamily="34" charset="0"/>
              <a:buNone/>
            </a:pPr>
            <a:r>
              <a:rPr lang="en-GB" sz="2400" dirty="0"/>
              <a:t>preverbal quantifiers: duo ‘more’/shao ‘less’</a:t>
            </a:r>
          </a:p>
          <a:p>
            <a:pPr marL="0" indent="0">
              <a:buFont typeface="Arial" panose="020B0604020202020204" pitchFamily="34" charset="0"/>
              <a:buNone/>
            </a:pPr>
            <a:r>
              <a:rPr lang="en-GB" sz="2400" dirty="0"/>
              <a:t>Preverbal adverb: </a:t>
            </a:r>
            <a:r>
              <a:rPr lang="en-GB" sz="2400" dirty="0" err="1"/>
              <a:t>xian</a:t>
            </a:r>
            <a:r>
              <a:rPr lang="en-GB" sz="2400" dirty="0"/>
              <a:t> ‘before(hand)’</a:t>
            </a:r>
          </a:p>
        </p:txBody>
      </p:sp>
      <p:sp>
        <p:nvSpPr>
          <p:cNvPr id="9" name="Content Placeholder 2">
            <a:extLst>
              <a:ext uri="{FF2B5EF4-FFF2-40B4-BE49-F238E27FC236}">
                <a16:creationId xmlns:a16="http://schemas.microsoft.com/office/drawing/2014/main" id="{8E965E7E-8882-16BE-83AF-65F9EDF372C0}"/>
              </a:ext>
            </a:extLst>
          </p:cNvPr>
          <p:cNvSpPr txBox="1">
            <a:spLocks/>
          </p:cNvSpPr>
          <p:nvPr/>
        </p:nvSpPr>
        <p:spPr>
          <a:xfrm>
            <a:off x="6096000" y="210449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(Cantonese)</a:t>
            </a:r>
          </a:p>
          <a:p>
            <a:pPr marL="0" indent="0">
              <a:buFont typeface="Arial" panose="020B0604020202020204" pitchFamily="34" charset="0"/>
              <a:buNone/>
            </a:pPr>
            <a:r>
              <a:rPr lang="en-GB" sz="2400" dirty="0"/>
              <a:t>Aspect (verbal suffix): jo (completive)/</a:t>
            </a:r>
            <a:r>
              <a:rPr lang="en-GB" sz="2400" dirty="0" err="1"/>
              <a:t>jue</a:t>
            </a:r>
            <a:r>
              <a:rPr lang="en-GB" sz="2400" dirty="0"/>
              <a:t> (stative continuous)/</a:t>
            </a:r>
            <a:r>
              <a:rPr lang="en-GB" sz="2400" dirty="0" err="1"/>
              <a:t>gan</a:t>
            </a:r>
            <a:r>
              <a:rPr lang="en-GB" sz="2400" dirty="0"/>
              <a:t> (dynamic continuous)/</a:t>
            </a:r>
            <a:r>
              <a:rPr lang="en-GB" sz="2400" dirty="0" err="1"/>
              <a:t>gwo</a:t>
            </a:r>
            <a:r>
              <a:rPr lang="en-GB" sz="2400" dirty="0"/>
              <a:t> (anterior)</a:t>
            </a:r>
          </a:p>
          <a:p>
            <a:pPr marL="0" indent="0">
              <a:buFont typeface="Arial" panose="020B0604020202020204" pitchFamily="34" charset="0"/>
              <a:buNone/>
            </a:pPr>
            <a:r>
              <a:rPr lang="en-GB" sz="2400" dirty="0"/>
              <a:t>postverbal quantifiers: do ‘more’/</a:t>
            </a:r>
            <a:r>
              <a:rPr lang="en-GB" sz="2400" dirty="0" err="1"/>
              <a:t>siu</a:t>
            </a:r>
            <a:r>
              <a:rPr lang="en-GB" sz="2400" dirty="0"/>
              <a:t> ‘less’</a:t>
            </a:r>
          </a:p>
          <a:p>
            <a:pPr marL="0" indent="0">
              <a:buFont typeface="Arial" panose="020B0604020202020204" pitchFamily="34" charset="0"/>
              <a:buNone/>
            </a:pPr>
            <a:r>
              <a:rPr lang="en-GB" sz="2400" dirty="0"/>
              <a:t>Preverbal adverb: sin ‘before(hand)’</a:t>
            </a:r>
          </a:p>
        </p:txBody>
      </p:sp>
      <p:sp>
        <p:nvSpPr>
          <p:cNvPr id="10" name="Content Placeholder 2">
            <a:extLst>
              <a:ext uri="{FF2B5EF4-FFF2-40B4-BE49-F238E27FC236}">
                <a16:creationId xmlns:a16="http://schemas.microsoft.com/office/drawing/2014/main" id="{9CBCADFC-4AED-D002-BA72-EE2222801014}"/>
              </a:ext>
            </a:extLst>
          </p:cNvPr>
          <p:cNvSpPr txBox="1">
            <a:spLocks/>
          </p:cNvSpPr>
          <p:nvPr/>
        </p:nvSpPr>
        <p:spPr>
          <a:xfrm>
            <a:off x="838200" y="5351067"/>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(Mandarin)</a:t>
            </a:r>
          </a:p>
          <a:p>
            <a:pPr marL="0" indent="0">
              <a:buFont typeface="Arial" panose="020B0604020202020204" pitchFamily="34" charset="0"/>
              <a:buNone/>
            </a:pPr>
            <a:r>
              <a:rPr lang="en-GB" sz="2400" dirty="0"/>
              <a:t>De (possessive/</a:t>
            </a:r>
            <a:r>
              <a:rPr lang="en-GB" sz="2400" dirty="0" err="1"/>
              <a:t>modificational</a:t>
            </a:r>
            <a:r>
              <a:rPr lang="en-GB" sz="2400" dirty="0"/>
              <a:t> marker)</a:t>
            </a:r>
          </a:p>
        </p:txBody>
      </p:sp>
      <p:sp>
        <p:nvSpPr>
          <p:cNvPr id="11" name="Content Placeholder 2">
            <a:extLst>
              <a:ext uri="{FF2B5EF4-FFF2-40B4-BE49-F238E27FC236}">
                <a16:creationId xmlns:a16="http://schemas.microsoft.com/office/drawing/2014/main" id="{DBF50C1E-5279-0B47-1B4C-E4EFC7CA2E3D}"/>
              </a:ext>
            </a:extLst>
          </p:cNvPr>
          <p:cNvSpPr txBox="1">
            <a:spLocks/>
          </p:cNvSpPr>
          <p:nvPr/>
        </p:nvSpPr>
        <p:spPr>
          <a:xfrm>
            <a:off x="6096000" y="5418665"/>
            <a:ext cx="5257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a:t>(Cantonese)</a:t>
            </a:r>
          </a:p>
          <a:p>
            <a:pPr marL="0" indent="0">
              <a:buFont typeface="Arial" panose="020B0604020202020204" pitchFamily="34" charset="0"/>
              <a:buNone/>
            </a:pPr>
            <a:r>
              <a:rPr lang="en-GB" sz="2400" dirty="0"/>
              <a:t>Ge (possessive/</a:t>
            </a:r>
            <a:r>
              <a:rPr lang="en-GB" sz="2400" dirty="0" err="1"/>
              <a:t>modificational</a:t>
            </a:r>
            <a:r>
              <a:rPr lang="en-GB" sz="2400" dirty="0"/>
              <a:t> marker)</a:t>
            </a:r>
          </a:p>
          <a:p>
            <a:pPr marL="0" indent="0">
              <a:buFont typeface="Arial" panose="020B0604020202020204" pitchFamily="34" charset="0"/>
              <a:buNone/>
            </a:pPr>
            <a:r>
              <a:rPr lang="en-GB" sz="2400" dirty="0"/>
              <a:t>preverbal quantifiers: duo/shao</a:t>
            </a:r>
          </a:p>
          <a:p>
            <a:pPr marL="0" indent="0">
              <a:buFont typeface="Arial" panose="020B0604020202020204" pitchFamily="34" charset="0"/>
              <a:buNone/>
            </a:pPr>
            <a:r>
              <a:rPr lang="en-GB" sz="2400" dirty="0"/>
              <a:t>Preverbal adverb: </a:t>
            </a:r>
            <a:r>
              <a:rPr lang="en-GB" sz="2400" dirty="0" err="1"/>
              <a:t>xian</a:t>
            </a:r>
            <a:r>
              <a:rPr lang="en-GB" sz="2400" dirty="0"/>
              <a:t> ‘before(hand’)</a:t>
            </a:r>
          </a:p>
        </p:txBody>
      </p:sp>
    </p:spTree>
    <p:extLst>
      <p:ext uri="{BB962C8B-B14F-4D97-AF65-F5344CB8AC3E}">
        <p14:creationId xmlns:p14="http://schemas.microsoft.com/office/powerpoint/2010/main" val="2692364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11321</TotalTime>
  <Words>1972</Words>
  <Application>Microsoft Office PowerPoint</Application>
  <PresentationFormat>Widescreen</PresentationFormat>
  <Paragraphs>143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Mandarin vs Cantonese  (and more)</vt:lpstr>
      <vt:lpstr>Chinese dialects (background)</vt:lpstr>
      <vt:lpstr>Chinese dialects (sociolinguistics)</vt:lpstr>
      <vt:lpstr>Formal Language Variation</vt:lpstr>
      <vt:lpstr>Clause (Chinese dialects)</vt:lpstr>
      <vt:lpstr>Clause (Chinese dialects)</vt:lpstr>
      <vt:lpstr>Mandarin vs Cantonese (clause)</vt:lpstr>
      <vt:lpstr>Noun (Chinese dialects)</vt:lpstr>
      <vt:lpstr>Mandarin vs Cantonese (noun)</vt:lpstr>
      <vt:lpstr>Conclusion: Chinese Linguistics and Teaching Chinese as a Second Language (CSL)</vt:lpstr>
      <vt:lpstr>Chinese dialects (Mandarin vs Cantonese)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Mandarin vs Cantonese (and more)</dc:title>
  <dc:creator>Keith Tse</dc:creator>
  <cp:lastModifiedBy>Keith Tse</cp:lastModifiedBy>
  <cp:revision>18</cp:revision>
  <dcterms:created xsi:type="dcterms:W3CDTF">2023-08-28T04:51:55Z</dcterms:created>
  <dcterms:modified xsi:type="dcterms:W3CDTF">2023-09-22T00:03:03Z</dcterms:modified>
</cp:coreProperties>
</file>