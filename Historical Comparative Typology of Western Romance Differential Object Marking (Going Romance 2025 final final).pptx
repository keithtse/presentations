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5" r:id="rId10"/>
    <p:sldId id="266" r:id="rId11"/>
    <p:sldId id="274" r:id="rId12"/>
    <p:sldId id="275" r:id="rId13"/>
    <p:sldId id="267" r:id="rId14"/>
    <p:sldId id="268" r:id="rId15"/>
    <p:sldId id="276" r:id="rId16"/>
    <p:sldId id="277" r:id="rId17"/>
    <p:sldId id="270" r:id="rId18"/>
    <p:sldId id="271" r:id="rId19"/>
    <p:sldId id="272" r:id="rId20"/>
    <p:sldId id="278" r:id="rId21"/>
    <p:sldId id="279" r:id="rId22"/>
    <p:sldId id="280" r:id="rId23"/>
    <p:sldId id="281" r:id="rId24"/>
    <p:sldId id="269" r:id="rId25"/>
    <p:sldId id="28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D0EF41-BC2C-42F0-A88B-52D92E830C08}" v="25" dt="2025-12-03T04:34:57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64" autoAdjust="0"/>
  </p:normalViewPr>
  <p:slideViewPr>
    <p:cSldViewPr snapToGrid="0">
      <p:cViewPr varScale="1">
        <p:scale>
          <a:sx n="71" d="100"/>
          <a:sy n="71" d="100"/>
        </p:scale>
        <p:origin x="1786" y="-6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253EC-7893-4999-B2F0-D9A5D371962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3DEA1-52B3-4E2E-82E4-57522E01931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D6F8-945B-4255-903E-0F45145CF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48680"/>
            <a:ext cx="8766047" cy="211725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Romance Differential Object Marking (</a:t>
            </a:r>
            <a:r>
              <a:rPr lang="en-US" altLang="zh-CN" i="1" dirty="0"/>
              <a:t>ad</a:t>
            </a:r>
            <a:r>
              <a:rPr lang="en-US" altLang="zh-CN" dirty="0"/>
              <a:t>): Universals and Parameters: Cross-Linguistic and Language/Culture-Specific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9BF02-F0A8-4043-A0F2-7589D07E7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6903" y="2579872"/>
            <a:ext cx="6858000" cy="2333277"/>
          </a:xfrm>
        </p:spPr>
        <p:txBody>
          <a:bodyPr>
            <a:noAutofit/>
          </a:bodyPr>
          <a:lstStyle/>
          <a:p>
            <a:r>
              <a:rPr lang="en-GB" sz="1800" dirty="0"/>
              <a:t>Keith Tse (MCIL CL) 1, 2 /Francesco-Alessio Ursini 3</a:t>
            </a:r>
          </a:p>
          <a:p>
            <a:r>
              <a:rPr lang="en-GB" sz="1800" dirty="0"/>
              <a:t>keith.tse@balliol-oxford.com</a:t>
            </a:r>
          </a:p>
          <a:p>
            <a:pPr marL="514350" indent="-514350">
              <a:buAutoNum type="arabicPeriod"/>
            </a:pPr>
            <a:r>
              <a:rPr lang="en-GB" sz="1800" dirty="0"/>
              <a:t>Ronin Institute for Independent Scholarship (RIIS 2.0)</a:t>
            </a:r>
          </a:p>
          <a:p>
            <a:pPr marL="514350" indent="-514350">
              <a:buAutoNum type="arabicPeriod"/>
            </a:pPr>
            <a:r>
              <a:rPr lang="en-GB" sz="1800" dirty="0"/>
              <a:t>Institute for Globally Distributed Open Research and Education (IGDORE)</a:t>
            </a:r>
          </a:p>
          <a:p>
            <a:pPr marL="514350" indent="-514350">
              <a:buAutoNum type="arabicPeriod"/>
            </a:pPr>
            <a:r>
              <a:rPr lang="en-GB" sz="1800" dirty="0"/>
              <a:t>Central China Normal University</a:t>
            </a:r>
          </a:p>
          <a:p>
            <a:r>
              <a:rPr lang="en-GB" sz="1800" dirty="0"/>
              <a:t>Going Romance 2025</a:t>
            </a:r>
          </a:p>
          <a:p>
            <a:r>
              <a:rPr lang="en-GB" sz="1800" dirty="0"/>
              <a:t>University of Venice</a:t>
            </a:r>
          </a:p>
          <a:p>
            <a:r>
              <a:rPr lang="en-GB" sz="1800" dirty="0"/>
              <a:t>3rd December 2025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242ED3-2CCF-4438-8810-B09EA1B2ED3B}"/>
              </a:ext>
            </a:extLst>
          </p:cNvPr>
          <p:cNvSpPr txBox="1">
            <a:spLocks/>
          </p:cNvSpPr>
          <p:nvPr/>
        </p:nvSpPr>
        <p:spPr>
          <a:xfrm>
            <a:off x="0" y="5583219"/>
            <a:ext cx="9144000" cy="127478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Many people have advised me on Romance Differential Object Marking, namely Professors Nigel Vincent, Ian Roberts, Chris </a:t>
            </a:r>
            <a:r>
              <a:rPr lang="en-GB" sz="2000" dirty="0" err="1"/>
              <a:t>Pountain</a:t>
            </a:r>
            <a:r>
              <a:rPr lang="en-GB" sz="2000" dirty="0"/>
              <a:t> and Roger Wright. My understanding on this topic has also benefitted enormously from the feedback from audiences at previous conference venues (Going Romance 2013 (Amsterdam), </a:t>
            </a:r>
            <a:r>
              <a:rPr lang="en-GB" sz="2000" dirty="0" err="1"/>
              <a:t>OSUCHiLL</a:t>
            </a:r>
            <a:r>
              <a:rPr lang="en-GB" sz="2000" dirty="0"/>
              <a:t> 2018 (Ohio State University), Workshops on DOM 2017, 2018 (</a:t>
            </a:r>
            <a:r>
              <a:rPr lang="en-GB" sz="2000" dirty="0" err="1"/>
              <a:t>Inalco</a:t>
            </a:r>
            <a:r>
              <a:rPr lang="en-GB" sz="2000" dirty="0"/>
              <a:t>, Paris/Zurich)). All errors are mine. Finally, I owe my greatest gratitude to Dr Jim Adams who was my mentor in Latin/Romance historical linguistics when I was an undergraduate at Oxford. This is evident in all my references to his seminal publications in this presentation.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2025 has been a difficult year for all of us. May I wish you all a Merry Christmas and a Happy New Year! </a:t>
            </a:r>
          </a:p>
        </p:txBody>
      </p:sp>
    </p:spTree>
    <p:extLst>
      <p:ext uri="{BB962C8B-B14F-4D97-AF65-F5344CB8AC3E}">
        <p14:creationId xmlns:p14="http://schemas.microsoft.com/office/powerpoint/2010/main" val="2404981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DCA0-C876-4DB3-BDB5-BB0EECF0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80727"/>
          </a:xfrm>
        </p:spPr>
        <p:txBody>
          <a:bodyPr>
            <a:normAutofit/>
          </a:bodyPr>
          <a:lstStyle/>
          <a:p>
            <a:r>
              <a:rPr lang="en-GB" sz="3600"/>
              <a:t>Romance Differential Object Marking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EB498-076E-44B7-9A76-C6B8EE1B7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1389"/>
            <a:ext cx="91440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200" dirty="0"/>
              <a:t>Romance Differential Object Marking (DOM)- major phenomenon attested in most Romance varieties (</a:t>
            </a:r>
            <a:r>
              <a:rPr lang="en-GB" sz="2200" dirty="0" err="1"/>
              <a:t>Rolhfs</a:t>
            </a:r>
            <a:r>
              <a:rPr lang="en-GB" sz="2200" dirty="0"/>
              <a:t> (1971), </a:t>
            </a:r>
            <a:r>
              <a:rPr lang="en-GB" sz="2200" dirty="0" err="1"/>
              <a:t>Roegiest</a:t>
            </a:r>
            <a:r>
              <a:rPr lang="en-GB" sz="2200" dirty="0"/>
              <a:t> (1979), Zamboni (1993)):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FD2117-FB07-4733-B560-EAFD6E5D142E}"/>
              </a:ext>
            </a:extLst>
          </p:cNvPr>
          <p:cNvSpPr txBox="1">
            <a:spLocks/>
          </p:cNvSpPr>
          <p:nvPr/>
        </p:nvSpPr>
        <p:spPr>
          <a:xfrm>
            <a:off x="611560" y="2996952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i="1" dirty="0"/>
              <a:t>ad</a:t>
            </a:r>
            <a:r>
              <a:rPr lang="en-GB" sz="2400" dirty="0"/>
              <a:t> (Western Romance)/</a:t>
            </a:r>
            <a:r>
              <a:rPr lang="en-GB" sz="2400" i="1" dirty="0"/>
              <a:t>pe</a:t>
            </a:r>
            <a:r>
              <a:rPr lang="en-GB" sz="2400" dirty="0"/>
              <a:t> (Romanian)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B2F5AE-CFA4-43D0-8CA1-F16041E691F9}"/>
              </a:ext>
            </a:extLst>
          </p:cNvPr>
          <p:cNvSpPr txBox="1">
            <a:spLocks/>
          </p:cNvSpPr>
          <p:nvPr/>
        </p:nvSpPr>
        <p:spPr>
          <a:xfrm>
            <a:off x="0" y="1665523"/>
            <a:ext cx="9144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‘… </a:t>
            </a:r>
            <a:r>
              <a:rPr lang="en-GB" sz="2400" dirty="0" err="1"/>
              <a:t>si</a:t>
            </a:r>
            <a:r>
              <a:rPr lang="en-GB" sz="2400" dirty="0"/>
              <a:t> </a:t>
            </a:r>
            <a:r>
              <a:rPr lang="en-GB" sz="2400" dirty="0" err="1"/>
              <a:t>tratta</a:t>
            </a:r>
            <a:r>
              <a:rPr lang="en-GB" sz="2400" dirty="0"/>
              <a:t> di </a:t>
            </a:r>
            <a:r>
              <a:rPr lang="en-GB" sz="2400" dirty="0" err="1"/>
              <a:t>un’innovazione</a:t>
            </a:r>
            <a:r>
              <a:rPr lang="en-GB" sz="2400" dirty="0"/>
              <a:t> </a:t>
            </a:r>
            <a:r>
              <a:rPr lang="en-GB" sz="2400" dirty="0" err="1"/>
              <a:t>che</a:t>
            </a:r>
            <a:r>
              <a:rPr lang="en-GB" sz="2400" dirty="0"/>
              <a:t> </a:t>
            </a:r>
            <a:r>
              <a:rPr lang="en-GB" sz="2400" dirty="0" err="1"/>
              <a:t>nel</a:t>
            </a:r>
            <a:r>
              <a:rPr lang="en-GB" sz="2400" dirty="0"/>
              <a:t> </a:t>
            </a:r>
            <a:r>
              <a:rPr lang="en-GB" sz="2400" dirty="0" err="1"/>
              <a:t>dominio</a:t>
            </a:r>
            <a:r>
              <a:rPr lang="en-GB" sz="2400" dirty="0"/>
              <a:t> </a:t>
            </a:r>
            <a:r>
              <a:rPr lang="en-GB" sz="2400" dirty="0" err="1"/>
              <a:t>romanzo</a:t>
            </a:r>
            <a:r>
              <a:rPr lang="en-GB" sz="2400" dirty="0"/>
              <a:t> </a:t>
            </a:r>
            <a:r>
              <a:rPr lang="en-GB" sz="2400" dirty="0" err="1"/>
              <a:t>si</a:t>
            </a:r>
            <a:r>
              <a:rPr lang="en-GB" sz="2400" dirty="0"/>
              <a:t> </a:t>
            </a:r>
            <a:r>
              <a:rPr lang="en-GB" sz="2400" dirty="0" err="1"/>
              <a:t>presenta</a:t>
            </a:r>
            <a:r>
              <a:rPr lang="en-GB" sz="2400" dirty="0"/>
              <a:t> </a:t>
            </a:r>
            <a:r>
              <a:rPr lang="en-GB" sz="2400" b="1" dirty="0" err="1"/>
              <a:t>sfasata</a:t>
            </a:r>
            <a:r>
              <a:rPr lang="en-GB" sz="2400" b="1" dirty="0"/>
              <a:t> </a:t>
            </a:r>
            <a:r>
              <a:rPr lang="en-GB" sz="2400" b="1" dirty="0" err="1"/>
              <a:t>nel</a:t>
            </a:r>
            <a:r>
              <a:rPr lang="en-GB" sz="2400" b="1" dirty="0"/>
              <a:t> tempo</a:t>
            </a:r>
            <a:r>
              <a:rPr lang="en-GB" sz="2400" dirty="0"/>
              <a:t>, </a:t>
            </a:r>
            <a:r>
              <a:rPr lang="en-GB" sz="2400" b="1" dirty="0" err="1"/>
              <a:t>discontinua</a:t>
            </a:r>
            <a:r>
              <a:rPr lang="en-GB" sz="2400" b="1" dirty="0"/>
              <a:t> </a:t>
            </a:r>
            <a:r>
              <a:rPr lang="en-GB" sz="2400" b="1" dirty="0" err="1"/>
              <a:t>nello</a:t>
            </a:r>
            <a:r>
              <a:rPr lang="en-GB" sz="2400" b="1" dirty="0"/>
              <a:t> </a:t>
            </a:r>
            <a:r>
              <a:rPr lang="en-GB" sz="2400" b="1" dirty="0" err="1"/>
              <a:t>spazio</a:t>
            </a:r>
            <a:r>
              <a:rPr lang="en-GB" sz="2400" b="1" dirty="0"/>
              <a:t> </a:t>
            </a:r>
            <a:r>
              <a:rPr lang="en-GB" sz="2400" dirty="0"/>
              <a:t>e </a:t>
            </a:r>
            <a:r>
              <a:rPr lang="en-GB" sz="2400" dirty="0" err="1"/>
              <a:t>si</a:t>
            </a:r>
            <a:r>
              <a:rPr lang="en-GB" sz="2400" dirty="0"/>
              <a:t> trova in </a:t>
            </a:r>
            <a:r>
              <a:rPr lang="en-GB" sz="2400" dirty="0" err="1"/>
              <a:t>molte</a:t>
            </a:r>
            <a:r>
              <a:rPr lang="en-GB" sz="2400" dirty="0"/>
              <a:t> </a:t>
            </a:r>
            <a:r>
              <a:rPr lang="en-GB" sz="2400" dirty="0" err="1"/>
              <a:t>aree</a:t>
            </a:r>
            <a:r>
              <a:rPr lang="en-GB" sz="2400" dirty="0"/>
              <a:t> </a:t>
            </a:r>
            <a:r>
              <a:rPr lang="en-GB" sz="2400" b="1" dirty="0" err="1"/>
              <a:t>nella</a:t>
            </a:r>
            <a:r>
              <a:rPr lang="en-GB" sz="2400" b="1" dirty="0"/>
              <a:t> </a:t>
            </a:r>
            <a:r>
              <a:rPr lang="en-GB" sz="2400" b="1" dirty="0" err="1"/>
              <a:t>fase</a:t>
            </a:r>
            <a:r>
              <a:rPr lang="en-GB" sz="2400" b="1" dirty="0"/>
              <a:t> </a:t>
            </a:r>
            <a:r>
              <a:rPr lang="en-GB" sz="2400" b="1" dirty="0" err="1"/>
              <a:t>incipiente</a:t>
            </a:r>
            <a:r>
              <a:rPr lang="en-GB" sz="2400" dirty="0"/>
              <a:t>.’ (</a:t>
            </a:r>
            <a:r>
              <a:rPr lang="en-GB" sz="2400" dirty="0" err="1"/>
              <a:t>Nocentini</a:t>
            </a:r>
            <a:r>
              <a:rPr lang="en-GB" sz="2400" dirty="0"/>
              <a:t> (1985:303), emphasis in Zamboni (1992:787), </a:t>
            </a:r>
            <a:r>
              <a:rPr lang="en-GB" sz="2400" dirty="0" err="1"/>
              <a:t>cf</a:t>
            </a:r>
            <a:r>
              <a:rPr lang="en-GB" sz="2400" dirty="0"/>
              <a:t> </a:t>
            </a:r>
            <a:r>
              <a:rPr lang="en-GB" sz="2400" dirty="0" err="1"/>
              <a:t>Sornicola</a:t>
            </a:r>
            <a:r>
              <a:rPr lang="en-GB" sz="2400" dirty="0"/>
              <a:t> (1998:420))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6ED535-9901-4597-9116-314678A771B5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91440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/>
              <a:t>Different etymologies (AD/PER) and different properties (Irimia (2018), </a:t>
            </a:r>
            <a:r>
              <a:rPr lang="en-GB" sz="2400" dirty="0" err="1"/>
              <a:t>Mardale</a:t>
            </a:r>
            <a:r>
              <a:rPr lang="en-GB" sz="2400" dirty="0"/>
              <a:t> (2018))</a:t>
            </a:r>
            <a:endParaRPr lang="en-GB" sz="2400" dirty="0">
              <a:ea typeface="Calibri"/>
              <a:cs typeface="Calibr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D205F3-EE00-4D5D-B0D8-22F28BEDD3EC}"/>
              </a:ext>
            </a:extLst>
          </p:cNvPr>
          <p:cNvSpPr txBox="1">
            <a:spLocks/>
          </p:cNvSpPr>
          <p:nvPr/>
        </p:nvSpPr>
        <p:spPr>
          <a:xfrm>
            <a:off x="611560" y="2996952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__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59EB72-B061-4488-9BD0-8C98B3A866E0}"/>
              </a:ext>
            </a:extLst>
          </p:cNvPr>
          <p:cNvSpPr txBox="1">
            <a:spLocks/>
          </p:cNvSpPr>
          <p:nvPr/>
        </p:nvSpPr>
        <p:spPr>
          <a:xfrm>
            <a:off x="-16565" y="5173081"/>
            <a:ext cx="917712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Such a wide distribution of DOM &lt; proto-Romance/Latin AD (</a:t>
            </a:r>
            <a:r>
              <a:rPr lang="en-GB" sz="2400" dirty="0" err="1"/>
              <a:t>Sornicola</a:t>
            </a:r>
            <a:r>
              <a:rPr lang="en-GB" sz="2400" dirty="0"/>
              <a:t> (1997, 1998), </a:t>
            </a:r>
            <a:r>
              <a:rPr lang="en-GB" sz="2400" dirty="0" err="1"/>
              <a:t>Fagard</a:t>
            </a:r>
            <a:r>
              <a:rPr lang="en-GB" sz="2400" dirty="0"/>
              <a:t> and </a:t>
            </a:r>
            <a:r>
              <a:rPr lang="en-GB" sz="2400" dirty="0" err="1"/>
              <a:t>Mardale</a:t>
            </a:r>
            <a:r>
              <a:rPr lang="en-GB" sz="2400" dirty="0"/>
              <a:t> (2017))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BFD8497-99B6-4B13-A405-93B072170CAE}"/>
              </a:ext>
            </a:extLst>
          </p:cNvPr>
          <p:cNvSpPr txBox="1">
            <a:spLocks/>
          </p:cNvSpPr>
          <p:nvPr/>
        </p:nvSpPr>
        <p:spPr>
          <a:xfrm>
            <a:off x="-11043" y="4104455"/>
            <a:ext cx="9144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200" dirty="0"/>
              <a:t>Microvariation of </a:t>
            </a:r>
            <a:r>
              <a:rPr lang="en-GB" sz="2200" i="1" dirty="0"/>
              <a:t>ad</a:t>
            </a:r>
            <a:r>
              <a:rPr lang="en-GB" sz="2200" dirty="0"/>
              <a:t>-marking (</a:t>
            </a:r>
            <a:r>
              <a:rPr lang="en-GB" sz="2200" dirty="0" err="1"/>
              <a:t>Mardale</a:t>
            </a:r>
            <a:r>
              <a:rPr lang="en-GB" sz="2200" dirty="0"/>
              <a:t> (2011)): Spanish, Romanian, Sardinian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48B0A5B-56BA-44FF-B079-A75D74DC34B3}"/>
              </a:ext>
            </a:extLst>
          </p:cNvPr>
          <p:cNvSpPr txBox="1">
            <a:spLocks/>
          </p:cNvSpPr>
          <p:nvPr/>
        </p:nvSpPr>
        <p:spPr>
          <a:xfrm>
            <a:off x="628650" y="587767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Historical-comparative microvariation of Western Romance DOM (</a:t>
            </a:r>
            <a:r>
              <a:rPr lang="en-GB" i="1" dirty="0"/>
              <a:t>ad</a:t>
            </a:r>
            <a:r>
              <a:rPr lang="en-GB" dirty="0"/>
              <a:t>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06F60E9-34B8-4165-8A4D-8C1991BABD1A}"/>
              </a:ext>
            </a:extLst>
          </p:cNvPr>
          <p:cNvSpPr txBox="1">
            <a:spLocks/>
          </p:cNvSpPr>
          <p:nvPr/>
        </p:nvSpPr>
        <p:spPr>
          <a:xfrm>
            <a:off x="-16565" y="4468487"/>
            <a:ext cx="917712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Holistic account of Western Romance DOM (</a:t>
            </a:r>
            <a:r>
              <a:rPr lang="en-GB" sz="2400" i="1" dirty="0"/>
              <a:t>ad</a:t>
            </a:r>
            <a:r>
              <a:rPr lang="en-GB" sz="2400" dirty="0"/>
              <a:t>): all major varieties (Spanish, Catalán, Italian dialects, Portuguese))</a:t>
            </a:r>
          </a:p>
        </p:txBody>
      </p:sp>
    </p:spTree>
    <p:extLst>
      <p:ext uri="{BB962C8B-B14F-4D97-AF65-F5344CB8AC3E}">
        <p14:creationId xmlns:p14="http://schemas.microsoft.com/office/powerpoint/2010/main" val="383105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10508-54C2-4684-8F3F-B35C5309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80727"/>
          </a:xfrm>
        </p:spPr>
        <p:txBody>
          <a:bodyPr>
            <a:noAutofit/>
          </a:bodyPr>
          <a:lstStyle/>
          <a:p>
            <a:r>
              <a:rPr lang="en-GB" sz="3200"/>
              <a:t>Differential Object Marking: </a:t>
            </a:r>
            <a:r>
              <a:rPr lang="en-US" altLang="zh-CN" sz="3200"/>
              <a:t>theory and data</a:t>
            </a:r>
            <a:endParaRPr lang="en-GB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56D1E-BD00-4652-83C5-7C156D26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" y="836712"/>
            <a:ext cx="91376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Typological patterns: DOM in world’s languages (</a:t>
            </a:r>
            <a:r>
              <a:rPr lang="en-GB" sz="1800" dirty="0" err="1"/>
              <a:t>Serzant</a:t>
            </a:r>
            <a:r>
              <a:rPr lang="en-GB" sz="1800" dirty="0"/>
              <a:t> and </a:t>
            </a:r>
            <a:r>
              <a:rPr lang="en-GB" sz="1800" dirty="0" err="1"/>
              <a:t>Witzlack</a:t>
            </a:r>
            <a:r>
              <a:rPr lang="en-GB" sz="1800" dirty="0"/>
              <a:t>-Makarevich (2018))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5C5188-DFF8-4E2C-92CA-29B7F59E7597}"/>
              </a:ext>
            </a:extLst>
          </p:cNvPr>
          <p:cNvSpPr txBox="1">
            <a:spLocks/>
          </p:cNvSpPr>
          <p:nvPr/>
        </p:nvSpPr>
        <p:spPr>
          <a:xfrm>
            <a:off x="0" y="1196752"/>
            <a:ext cx="91313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Markedness: ‘marked’ categories can be </a:t>
            </a:r>
            <a:r>
              <a:rPr lang="en-GB" sz="2000" dirty="0" err="1"/>
              <a:t>morphosyntactically</a:t>
            </a:r>
            <a:r>
              <a:rPr lang="en-GB" sz="2000" dirty="0"/>
              <a:t> marked (</a:t>
            </a:r>
            <a:r>
              <a:rPr lang="en-GB" sz="2000" dirty="0" err="1"/>
              <a:t>Aissen</a:t>
            </a:r>
            <a:r>
              <a:rPr lang="en-GB" sz="2000" dirty="0"/>
              <a:t> (2003))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D218399-6F52-47B4-9B99-2D700A673890}"/>
              </a:ext>
            </a:extLst>
          </p:cNvPr>
          <p:cNvSpPr txBox="1">
            <a:spLocks/>
          </p:cNvSpPr>
          <p:nvPr/>
        </p:nvSpPr>
        <p:spPr>
          <a:xfrm>
            <a:off x="0" y="1499616"/>
            <a:ext cx="4552533" cy="4449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/>
              <a:t>Nominal</a:t>
            </a:r>
            <a:r>
              <a:rPr lang="en-GB" sz="2000" dirty="0"/>
              <a:t>: animacy / referentiality</a:t>
            </a:r>
          </a:p>
          <a:p>
            <a:r>
              <a:rPr lang="en-GB" sz="2000" dirty="0"/>
              <a:t>Human &gt; (Non-human) Animate &gt; Inanimate (Silverstein (1976), </a:t>
            </a:r>
            <a:r>
              <a:rPr lang="en-GB" sz="2000" dirty="0" err="1"/>
              <a:t>Aissen</a:t>
            </a:r>
            <a:r>
              <a:rPr lang="en-GB" sz="2000" dirty="0"/>
              <a:t> (2003), Croft (2003))</a:t>
            </a:r>
          </a:p>
          <a:p>
            <a:r>
              <a:rPr lang="en-GB" sz="2000" dirty="0"/>
              <a:t>Definite &gt; indefinite specific &gt; indefinite non-specific</a:t>
            </a:r>
          </a:p>
          <a:p>
            <a:r>
              <a:rPr lang="en-GB" sz="2000" dirty="0"/>
              <a:t>(Silverstein (1976), Dixon (1979), Lazard (1984)):</a:t>
            </a:r>
          </a:p>
          <a:p>
            <a:r>
              <a:rPr lang="en-GB" sz="2000" dirty="0"/>
              <a:t>Person : 1</a:t>
            </a:r>
            <a:r>
              <a:rPr lang="en-GB" sz="2000" baseline="30000" dirty="0"/>
              <a:t>st</a:t>
            </a:r>
            <a:r>
              <a:rPr lang="en-GB" sz="2000" dirty="0"/>
              <a:t> &gt; 2</a:t>
            </a:r>
            <a:r>
              <a:rPr lang="en-GB" sz="2000" baseline="30000" dirty="0"/>
              <a:t>nd</a:t>
            </a:r>
            <a:r>
              <a:rPr lang="en-GB" sz="2000" dirty="0"/>
              <a:t> &gt; 3</a:t>
            </a:r>
            <a:r>
              <a:rPr lang="en-GB" sz="2000" baseline="30000" dirty="0"/>
              <a:t>rd</a:t>
            </a:r>
            <a:r>
              <a:rPr lang="en-GB" sz="2000" dirty="0"/>
              <a:t> </a:t>
            </a:r>
          </a:p>
          <a:p>
            <a:r>
              <a:rPr lang="en-GB" sz="2000" dirty="0"/>
              <a:t>Number: singular (individual) &gt; dual &gt; plural (mass/group)</a:t>
            </a:r>
          </a:p>
          <a:p>
            <a:r>
              <a:rPr lang="en-GB" sz="2000" dirty="0"/>
              <a:t>Pronouns &gt; Proper Names &gt; Common Nouns (Silverstein (1976), Dixon (1979), Lazard (1984), Croft (2003)) </a:t>
            </a:r>
          </a:p>
          <a:p>
            <a:endParaRPr lang="en-GB" sz="2000" dirty="0"/>
          </a:p>
          <a:p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2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CEC6A6B-B669-4EAD-AC84-E02DD9337215}"/>
              </a:ext>
            </a:extLst>
          </p:cNvPr>
          <p:cNvSpPr txBox="1">
            <a:spLocks/>
          </p:cNvSpPr>
          <p:nvPr/>
        </p:nvSpPr>
        <p:spPr>
          <a:xfrm>
            <a:off x="4211960" y="1499616"/>
            <a:ext cx="4904828" cy="4333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/>
              <a:t>Verbal</a:t>
            </a:r>
            <a:r>
              <a:rPr lang="en-GB" sz="2000" dirty="0"/>
              <a:t>: transitivity/affectedness/kinesis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28639D-07A9-4746-BBF9-4644EB1057D3}"/>
              </a:ext>
            </a:extLst>
          </p:cNvPr>
          <p:cNvSpPr txBox="1">
            <a:spLocks/>
          </p:cNvSpPr>
          <p:nvPr/>
        </p:nvSpPr>
        <p:spPr>
          <a:xfrm>
            <a:off x="-4764" y="5808737"/>
            <a:ext cx="9163049" cy="1049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1</a:t>
            </a:r>
            <a:r>
              <a:rPr lang="en-GB" sz="2000" baseline="30000" dirty="0"/>
              <a:t>st</a:t>
            </a:r>
            <a:r>
              <a:rPr lang="en-GB" sz="2000" dirty="0"/>
              <a:t> Pronoun &gt; 2</a:t>
            </a:r>
            <a:r>
              <a:rPr lang="en-GB" sz="2000" baseline="30000" dirty="0"/>
              <a:t>nd</a:t>
            </a:r>
            <a:r>
              <a:rPr lang="en-GB" sz="2000" dirty="0"/>
              <a:t> Pronoun &gt; 3</a:t>
            </a:r>
            <a:r>
              <a:rPr lang="en-GB" sz="2000" baseline="30000" dirty="0"/>
              <a:t>rd</a:t>
            </a:r>
            <a:r>
              <a:rPr lang="en-GB" sz="2000" dirty="0"/>
              <a:t> Pronoun &gt; Proper Names &gt; Human Common Nouns &gt; Animate Common Nouns &gt; Inanimate Common Nouns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(Silverstein (1976), Dixon (1979), Lazard (1984), Croft (2003))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B625DA9-E1EF-4718-9631-DDF6618FC9F2}"/>
              </a:ext>
            </a:extLst>
          </p:cNvPr>
          <p:cNvSpPr txBox="1">
            <a:spLocks/>
          </p:cNvSpPr>
          <p:nvPr/>
        </p:nvSpPr>
        <p:spPr>
          <a:xfrm>
            <a:off x="4208718" y="1817439"/>
            <a:ext cx="4928933" cy="4335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Formally, verbs denoting achievement and accomplishment (Vendler (1979)) have BECOME as a semantic primitive, different from Activities (DO) and States (BE) (Dowty (1991))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2C04391-5051-4D93-9BDA-7297FE3A36EB}"/>
              </a:ext>
            </a:extLst>
          </p:cNvPr>
          <p:cNvSpPr txBox="1">
            <a:spLocks/>
          </p:cNvSpPr>
          <p:nvPr/>
        </p:nvSpPr>
        <p:spPr>
          <a:xfrm>
            <a:off x="4205611" y="3666584"/>
            <a:ext cx="4952674" cy="4206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BECOME &gt; </a:t>
            </a:r>
            <a:r>
              <a:rPr lang="en-GB" sz="2000" dirty="0" err="1"/>
              <a:t>agentivity</a:t>
            </a:r>
            <a:r>
              <a:rPr lang="en-GB" sz="2000" dirty="0"/>
              <a:t> and affectedness (</a:t>
            </a:r>
            <a:r>
              <a:rPr lang="en-GB" sz="2000" dirty="0" err="1"/>
              <a:t>Kliffer</a:t>
            </a:r>
            <a:r>
              <a:rPr lang="en-GB" sz="2000" dirty="0"/>
              <a:t> (1995), </a:t>
            </a:r>
            <a:r>
              <a:rPr lang="en-GB" sz="2000" dirty="0" err="1"/>
              <a:t>cf</a:t>
            </a:r>
            <a:r>
              <a:rPr lang="en-GB" sz="2000" dirty="0"/>
              <a:t> Hopper and Thompson (1980))</a:t>
            </a:r>
          </a:p>
        </p:txBody>
      </p:sp>
    </p:spTree>
    <p:extLst>
      <p:ext uri="{BB962C8B-B14F-4D97-AF65-F5344CB8AC3E}">
        <p14:creationId xmlns:p14="http://schemas.microsoft.com/office/powerpoint/2010/main" val="368405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11" grpId="0"/>
      <p:bldP spid="1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94646-1502-4F40-A715-F39EE5184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836711"/>
          </a:xfrm>
        </p:spPr>
        <p:txBody>
          <a:bodyPr>
            <a:normAutofit/>
          </a:bodyPr>
          <a:lstStyle/>
          <a:p>
            <a:r>
              <a:rPr lang="en-GB" sz="3600"/>
              <a:t>Romance </a:t>
            </a:r>
            <a:r>
              <a:rPr lang="en-GB" sz="3600" i="1"/>
              <a:t>ad</a:t>
            </a:r>
            <a:r>
              <a:rPr lang="en-GB" sz="3600"/>
              <a:t>: illustrative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AC353-6E6A-4885-BC03-F9DAFC0DC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" y="658368"/>
            <a:ext cx="9143996" cy="4622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dirty="0"/>
              <a:t>Two main nominal factors: </a:t>
            </a:r>
            <a:r>
              <a:rPr lang="en-GB" sz="2000" b="1" dirty="0"/>
              <a:t>animacy</a:t>
            </a:r>
            <a:r>
              <a:rPr lang="en-GB" sz="2000" dirty="0"/>
              <a:t> and </a:t>
            </a:r>
            <a:r>
              <a:rPr lang="en-GB" sz="2000" b="1" dirty="0"/>
              <a:t>referentiality </a:t>
            </a:r>
            <a:r>
              <a:rPr lang="en-GB" sz="2000" dirty="0"/>
              <a:t>of object noun (</a:t>
            </a:r>
            <a:r>
              <a:rPr lang="en-GB" sz="2000" dirty="0" err="1"/>
              <a:t>Roegiest</a:t>
            </a:r>
            <a:r>
              <a:rPr lang="en-GB" sz="2000" dirty="0"/>
              <a:t> (1979), </a:t>
            </a:r>
            <a:r>
              <a:rPr lang="en-GB" sz="2000" dirty="0" err="1"/>
              <a:t>Nocentini</a:t>
            </a:r>
            <a:r>
              <a:rPr lang="en-GB" sz="2000" dirty="0"/>
              <a:t> (1985), Zamboni (1992))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421FE3-4D8E-47EB-A9BB-880DC980B5EE}"/>
              </a:ext>
            </a:extLst>
          </p:cNvPr>
          <p:cNvSpPr txBox="1">
            <a:spLocks/>
          </p:cNvSpPr>
          <p:nvPr/>
        </p:nvSpPr>
        <p:spPr>
          <a:xfrm>
            <a:off x="-8" y="2353783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Transitivity/affectedness of the verb (</a:t>
            </a:r>
            <a:r>
              <a:rPr lang="en-US" sz="2000" i="1" dirty="0"/>
              <a:t>A</a:t>
            </a:r>
            <a:r>
              <a:rPr lang="en-US" sz="2000" dirty="0"/>
              <a:t> denotes agency and kinesis)</a:t>
            </a:r>
            <a:r>
              <a:rPr lang="en-GB" sz="2000" dirty="0"/>
              <a:t>: </a:t>
            </a:r>
            <a:endParaRPr lang="zh-TW" alt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ea typeface="Calibri"/>
                <a:cs typeface="Calibri"/>
              </a:rPr>
              <a:t>Spanish (Pottier (1968), von Heusinger (2008)):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i="1" dirty="0" err="1">
                <a:ea typeface="Calibri"/>
                <a:cs typeface="Calibri"/>
              </a:rPr>
              <a:t>matar</a:t>
            </a:r>
            <a:r>
              <a:rPr lang="en-US" sz="2000" i="1" dirty="0">
                <a:ea typeface="Calibri"/>
                <a:cs typeface="Calibri"/>
              </a:rPr>
              <a:t> </a:t>
            </a:r>
            <a:r>
              <a:rPr lang="en-US" sz="2000" dirty="0">
                <a:ea typeface="Calibri"/>
                <a:cs typeface="Calibri"/>
              </a:rPr>
              <a:t>‘to kill’ &gt; </a:t>
            </a:r>
            <a:r>
              <a:rPr lang="en-US" sz="2000" i="1" dirty="0" err="1">
                <a:ea typeface="Calibri"/>
                <a:cs typeface="Calibri"/>
              </a:rPr>
              <a:t>ver</a:t>
            </a:r>
            <a:r>
              <a:rPr lang="en-US" sz="2000" i="1" dirty="0">
                <a:ea typeface="Calibri"/>
                <a:cs typeface="Calibri"/>
              </a:rPr>
              <a:t> </a:t>
            </a:r>
            <a:r>
              <a:rPr lang="en-US" sz="2000" dirty="0">
                <a:ea typeface="Calibri"/>
                <a:cs typeface="Calibri"/>
              </a:rPr>
              <a:t>‘to see’ &gt; </a:t>
            </a:r>
            <a:r>
              <a:rPr lang="en-US" sz="2000" i="1" dirty="0" err="1">
                <a:ea typeface="Calibri"/>
                <a:cs typeface="Calibri"/>
              </a:rPr>
              <a:t>considerar</a:t>
            </a:r>
            <a:r>
              <a:rPr lang="en-US" sz="2000" i="1" dirty="0">
                <a:ea typeface="Calibri"/>
                <a:cs typeface="Calibri"/>
              </a:rPr>
              <a:t> </a:t>
            </a:r>
            <a:r>
              <a:rPr lang="en-US" sz="2000" dirty="0">
                <a:ea typeface="Calibri"/>
                <a:cs typeface="Calibri"/>
              </a:rPr>
              <a:t>‘to consider &gt; </a:t>
            </a:r>
            <a:r>
              <a:rPr lang="en-US" sz="2000" i="1" dirty="0" err="1">
                <a:ea typeface="Calibri"/>
                <a:cs typeface="Calibri"/>
              </a:rPr>
              <a:t>tener</a:t>
            </a:r>
            <a:r>
              <a:rPr lang="en-US" sz="2000" dirty="0">
                <a:ea typeface="Calibri"/>
                <a:cs typeface="Calibri"/>
              </a:rPr>
              <a:t> ‘to have’ </a:t>
            </a: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dirty="0">
              <a:ea typeface="Calibri"/>
              <a:cs typeface="Calibri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E44DB09-A864-467D-85CC-FEC31FAB3217}"/>
              </a:ext>
            </a:extLst>
          </p:cNvPr>
          <p:cNvSpPr txBox="1">
            <a:spLocks/>
          </p:cNvSpPr>
          <p:nvPr/>
        </p:nvSpPr>
        <p:spPr>
          <a:xfrm>
            <a:off x="-4" y="1223190"/>
            <a:ext cx="9144000" cy="1877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Busco </a:t>
            </a:r>
            <a:r>
              <a:rPr lang="en-US" b="1" i="1" dirty="0"/>
              <a:t>a</a:t>
            </a:r>
            <a:r>
              <a:rPr lang="en-US" i="1" dirty="0"/>
              <a:t> </a:t>
            </a:r>
            <a:r>
              <a:rPr lang="en-US" i="1" dirty="0" err="1"/>
              <a:t>una</a:t>
            </a:r>
            <a:r>
              <a:rPr lang="en-US" i="1" dirty="0"/>
              <a:t> persona </a:t>
            </a:r>
            <a:r>
              <a:rPr lang="en-US" dirty="0"/>
              <a:t>(animate) </a:t>
            </a:r>
            <a:r>
              <a:rPr lang="en-US" i="1" dirty="0" err="1"/>
              <a:t>que</a:t>
            </a:r>
            <a:r>
              <a:rPr lang="en-US" i="1" dirty="0"/>
              <a:t> </a:t>
            </a:r>
            <a:r>
              <a:rPr lang="en-US" b="1" i="1" dirty="0"/>
              <a:t>sabe</a:t>
            </a:r>
            <a:r>
              <a:rPr lang="en-US" i="1" dirty="0"/>
              <a:t> </a:t>
            </a:r>
            <a:r>
              <a:rPr lang="en-US" dirty="0"/>
              <a:t>(indicative) </a:t>
            </a:r>
            <a:r>
              <a:rPr lang="en-US" i="1" dirty="0"/>
              <a:t>usar la </a:t>
            </a:r>
            <a:r>
              <a:rPr lang="en-US" i="1" dirty="0" err="1"/>
              <a:t>computadora</a:t>
            </a:r>
            <a:r>
              <a:rPr lang="en-US" i="1" dirty="0"/>
              <a:t> </a:t>
            </a:r>
            <a:r>
              <a:rPr lang="en-US" dirty="0"/>
              <a:t>(indefinite specific)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‘I am looking for a (specific) person who knows how to use the computer.’ (Spanish)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Busco</a:t>
            </a:r>
            <a:r>
              <a:rPr lang="en-US" dirty="0"/>
              <a:t> (</a:t>
            </a:r>
            <a:r>
              <a:rPr lang="en-US" b="1" i="1" dirty="0"/>
              <a:t>a</a:t>
            </a:r>
            <a:r>
              <a:rPr lang="en-US" dirty="0"/>
              <a:t>) </a:t>
            </a:r>
            <a:r>
              <a:rPr lang="en-US" i="1" dirty="0" err="1"/>
              <a:t>una</a:t>
            </a:r>
            <a:r>
              <a:rPr lang="en-US" i="1" dirty="0"/>
              <a:t> persona </a:t>
            </a:r>
            <a:r>
              <a:rPr lang="en-US" dirty="0"/>
              <a:t>(animate) </a:t>
            </a:r>
            <a:r>
              <a:rPr lang="en-US" i="1" dirty="0" err="1"/>
              <a:t>que</a:t>
            </a:r>
            <a:r>
              <a:rPr lang="en-US" i="1" dirty="0"/>
              <a:t> </a:t>
            </a:r>
            <a:r>
              <a:rPr lang="en-US" b="1" i="1" dirty="0" err="1"/>
              <a:t>sepa</a:t>
            </a:r>
            <a:r>
              <a:rPr lang="en-US" i="1" dirty="0"/>
              <a:t> </a:t>
            </a:r>
            <a:r>
              <a:rPr lang="en-US" dirty="0"/>
              <a:t>(subjunctive) </a:t>
            </a:r>
            <a:r>
              <a:rPr lang="en-US" i="1" dirty="0"/>
              <a:t>usar la </a:t>
            </a:r>
            <a:r>
              <a:rPr lang="en-US" i="1" dirty="0" err="1"/>
              <a:t>computadora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dirty="0" err="1"/>
              <a:t>indef</a:t>
            </a:r>
            <a:r>
              <a:rPr lang="en-US" dirty="0"/>
              <a:t> non-spec)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‘I am looking for a(</a:t>
            </a:r>
            <a:r>
              <a:rPr lang="en-US" dirty="0" err="1"/>
              <a:t>ny</a:t>
            </a:r>
            <a:r>
              <a:rPr lang="en-US" dirty="0"/>
              <a:t>) (non-specific) person who knows how to use the computer.’ (Spanish)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7ACAA32-5209-4954-A82E-7EF9A28B2F0E}"/>
              </a:ext>
            </a:extLst>
          </p:cNvPr>
          <p:cNvSpPr txBox="1">
            <a:spLocks/>
          </p:cNvSpPr>
          <p:nvPr/>
        </p:nvSpPr>
        <p:spPr>
          <a:xfrm>
            <a:off x="0" y="5159023"/>
            <a:ext cx="9144000" cy="16684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Topicality (topical preposed objects can be marked): </a:t>
            </a:r>
          </a:p>
          <a:p>
            <a:r>
              <a:rPr lang="en-GB" sz="2000" b="1" dirty="0">
                <a:ea typeface="Calibri"/>
                <a:cs typeface="Calibri"/>
              </a:rPr>
              <a:t>A</a:t>
            </a:r>
            <a:r>
              <a:rPr lang="en-GB" sz="2000" dirty="0">
                <a:ea typeface="Calibri"/>
                <a:cs typeface="Calibri"/>
              </a:rPr>
              <a:t> Gianni </a:t>
            </a:r>
            <a:r>
              <a:rPr lang="en-GB" sz="2000" dirty="0" err="1">
                <a:ea typeface="Calibri"/>
                <a:cs typeface="Calibri"/>
              </a:rPr>
              <a:t>questi</a:t>
            </a:r>
            <a:r>
              <a:rPr lang="en-GB" sz="2000" dirty="0">
                <a:ea typeface="Calibri"/>
                <a:cs typeface="Calibri"/>
              </a:rPr>
              <a:t> </a:t>
            </a:r>
            <a:r>
              <a:rPr lang="en-GB" sz="2000" dirty="0" err="1">
                <a:ea typeface="Calibri"/>
                <a:cs typeface="Calibri"/>
              </a:rPr>
              <a:t>argomenti</a:t>
            </a:r>
            <a:r>
              <a:rPr lang="en-GB" sz="2000" dirty="0">
                <a:ea typeface="Calibri"/>
                <a:cs typeface="Calibri"/>
              </a:rPr>
              <a:t> non </a:t>
            </a:r>
            <a:r>
              <a:rPr lang="en-GB" sz="2000" dirty="0" err="1">
                <a:ea typeface="Calibri"/>
                <a:cs typeface="Calibri"/>
              </a:rPr>
              <a:t>convincono</a:t>
            </a:r>
            <a:r>
              <a:rPr lang="en-GB" sz="2000" dirty="0">
                <a:ea typeface="Calibri"/>
                <a:cs typeface="Calibri"/>
              </a:rPr>
              <a:t>/</a:t>
            </a:r>
            <a:r>
              <a:rPr lang="en-GB" sz="2000" dirty="0" err="1">
                <a:ea typeface="Calibri"/>
                <a:cs typeface="Calibri"/>
              </a:rPr>
              <a:t>questi</a:t>
            </a:r>
            <a:r>
              <a:rPr lang="en-GB" sz="2000" dirty="0">
                <a:ea typeface="Calibri"/>
                <a:cs typeface="Calibri"/>
              </a:rPr>
              <a:t> </a:t>
            </a:r>
            <a:r>
              <a:rPr lang="en-GB" sz="2000" dirty="0" err="1">
                <a:ea typeface="Calibri"/>
                <a:cs typeface="Calibri"/>
              </a:rPr>
              <a:t>argomenti</a:t>
            </a:r>
            <a:r>
              <a:rPr lang="en-GB" sz="2000" dirty="0">
                <a:ea typeface="Calibri"/>
                <a:cs typeface="Calibri"/>
              </a:rPr>
              <a:t> non </a:t>
            </a:r>
            <a:r>
              <a:rPr lang="en-GB" sz="2000" dirty="0" err="1">
                <a:ea typeface="Calibri"/>
                <a:cs typeface="Calibri"/>
              </a:rPr>
              <a:t>convincono</a:t>
            </a:r>
            <a:r>
              <a:rPr lang="en-GB" sz="2000" dirty="0">
                <a:ea typeface="Calibri"/>
                <a:cs typeface="Calibri"/>
              </a:rPr>
              <a:t> (*</a:t>
            </a:r>
            <a:r>
              <a:rPr lang="en-GB" sz="2000" b="1" dirty="0">
                <a:ea typeface="Calibri"/>
                <a:cs typeface="Calibri"/>
              </a:rPr>
              <a:t>a</a:t>
            </a:r>
            <a:r>
              <a:rPr lang="en-GB" sz="2000" dirty="0">
                <a:ea typeface="Calibri"/>
                <a:cs typeface="Calibri"/>
              </a:rPr>
              <a:t>) Gianni ‘These arguments do not convince Gianni.’ (Standard Italian) (Rizzi and </a:t>
            </a:r>
            <a:r>
              <a:rPr lang="en-US" sz="2000" dirty="0">
                <a:ea typeface="Calibri"/>
                <a:cs typeface="Calibri"/>
              </a:rPr>
              <a:t>Belletti (1993)) </a:t>
            </a:r>
          </a:p>
          <a:p>
            <a:r>
              <a:rPr lang="en-US" sz="2000" b="1" dirty="0">
                <a:ea typeface="Calibri"/>
                <a:cs typeface="Calibri"/>
              </a:rPr>
              <a:t>a </a:t>
            </a:r>
            <a:r>
              <a:rPr lang="en-US" sz="2000" b="1" dirty="0" err="1">
                <a:ea typeface="Calibri"/>
                <a:cs typeface="Calibri"/>
              </a:rPr>
              <a:t>te</a:t>
            </a:r>
            <a:r>
              <a:rPr lang="en-US" sz="2000" b="1" dirty="0">
                <a:ea typeface="Calibri"/>
                <a:cs typeface="Calibri"/>
              </a:rPr>
              <a:t> </a:t>
            </a:r>
            <a:r>
              <a:rPr lang="en-US" sz="2000" dirty="0">
                <a:ea typeface="Calibri"/>
                <a:cs typeface="Calibri"/>
              </a:rPr>
              <a:t>non </a:t>
            </a:r>
            <a:r>
              <a:rPr lang="en-US" sz="2000" dirty="0" err="1">
                <a:ea typeface="Calibri"/>
                <a:cs typeface="Calibri"/>
              </a:rPr>
              <a:t>ti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conoscono</a:t>
            </a:r>
            <a:r>
              <a:rPr lang="en-US" sz="2000" dirty="0">
                <a:ea typeface="Calibri"/>
                <a:cs typeface="Calibri"/>
              </a:rPr>
              <a:t> / </a:t>
            </a:r>
            <a:r>
              <a:rPr lang="en-US" sz="2000" b="1" dirty="0">
                <a:ea typeface="Calibri"/>
                <a:cs typeface="Calibri"/>
              </a:rPr>
              <a:t>a me </a:t>
            </a:r>
            <a:r>
              <a:rPr lang="en-US" sz="2000" dirty="0">
                <a:ea typeface="Calibri"/>
                <a:cs typeface="Calibri"/>
              </a:rPr>
              <a:t>non mi </a:t>
            </a:r>
            <a:r>
              <a:rPr lang="en-US" sz="2000" dirty="0" err="1">
                <a:ea typeface="Calibri"/>
                <a:cs typeface="Calibri"/>
              </a:rPr>
              <a:t>hanno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invitato</a:t>
            </a:r>
            <a:r>
              <a:rPr lang="en-US" sz="2000" dirty="0">
                <a:ea typeface="Calibri"/>
                <a:cs typeface="Calibri"/>
              </a:rPr>
              <a:t> </a:t>
            </a:r>
          </a:p>
          <a:p>
            <a:r>
              <a:rPr lang="en-US" sz="2000" dirty="0">
                <a:ea typeface="Calibri"/>
                <a:cs typeface="Calibri"/>
              </a:rPr>
              <a:t>‘As for you, they do not know you / as for me, they did not invite me.’ (Standard Italian) (Berretta (1989, 1990))</a:t>
            </a:r>
            <a:endParaRPr lang="en-GB" sz="2000" dirty="0">
              <a:ea typeface="Calibri"/>
              <a:cs typeface="Calibri"/>
            </a:endParaRPr>
          </a:p>
          <a:p>
            <a:endParaRPr lang="en-GB" sz="2000" dirty="0">
              <a:ea typeface="Calibri"/>
              <a:cs typeface="Calibri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4C663E0-039B-4E08-B74F-3A90E8D0E14A}"/>
              </a:ext>
            </a:extLst>
          </p:cNvPr>
          <p:cNvSpPr txBox="1">
            <a:spLocks/>
          </p:cNvSpPr>
          <p:nvPr/>
        </p:nvSpPr>
        <p:spPr>
          <a:xfrm>
            <a:off x="1" y="3235912"/>
            <a:ext cx="914399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Minimal pairs of </a:t>
            </a:r>
            <a:r>
              <a:rPr lang="en-US" sz="2000" i="1" dirty="0" err="1"/>
              <a:t>tener</a:t>
            </a:r>
            <a:r>
              <a:rPr lang="en-US" sz="2000" dirty="0"/>
              <a:t> ‘to have’ </a:t>
            </a:r>
            <a:r>
              <a:rPr lang="en-GB" sz="2000" dirty="0"/>
              <a:t>(</a:t>
            </a:r>
            <a:r>
              <a:rPr lang="en-GB" sz="2000" dirty="0" err="1"/>
              <a:t>Delbecque</a:t>
            </a:r>
            <a:r>
              <a:rPr lang="zh-CN" altLang="en-US" sz="2000" dirty="0"/>
              <a:t> </a:t>
            </a:r>
            <a:r>
              <a:rPr lang="en-GB" altLang="zh-CN" sz="2000" dirty="0"/>
              <a:t>(1994)):</a:t>
            </a:r>
            <a:r>
              <a:rPr lang="zh-CN" altLang="en-US" sz="2000" dirty="0"/>
              <a:t> </a:t>
            </a:r>
            <a:endParaRPr lang="en-US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i="1" dirty="0"/>
              <a:t>Tiene (*</a:t>
            </a:r>
            <a:r>
              <a:rPr lang="en-US" sz="2000" b="1" i="1" dirty="0"/>
              <a:t>a</a:t>
            </a:r>
            <a:r>
              <a:rPr lang="en-US" sz="2000" i="1" dirty="0"/>
              <a:t>) </a:t>
            </a:r>
            <a:r>
              <a:rPr lang="en-US" sz="2000" i="1" dirty="0" err="1"/>
              <a:t>doce</a:t>
            </a:r>
            <a:r>
              <a:rPr lang="en-US" sz="2000" i="1" dirty="0"/>
              <a:t> </a:t>
            </a:r>
            <a:r>
              <a:rPr lang="en-US" sz="2000" i="1" dirty="0" err="1"/>
              <a:t>hijos</a:t>
            </a:r>
            <a:r>
              <a:rPr lang="en-US" sz="2000" i="1" dirty="0"/>
              <a:t> </a:t>
            </a:r>
            <a:r>
              <a:rPr lang="en-US" sz="2000" dirty="0"/>
              <a:t>‘she has twelve children’ (possession)</a:t>
            </a:r>
          </a:p>
          <a:p>
            <a:r>
              <a:rPr lang="en-US" sz="2000" i="1" dirty="0"/>
              <a:t>Tiene </a:t>
            </a:r>
            <a:r>
              <a:rPr lang="en-US" sz="2000" b="1" i="1" dirty="0"/>
              <a:t>a</a:t>
            </a:r>
            <a:r>
              <a:rPr lang="en-US" sz="2000" i="1" dirty="0"/>
              <a:t> </a:t>
            </a:r>
            <a:r>
              <a:rPr lang="en-US" sz="2000" i="1" dirty="0" err="1"/>
              <a:t>su</a:t>
            </a:r>
            <a:r>
              <a:rPr lang="en-US" sz="2000" i="1" dirty="0"/>
              <a:t> madre </a:t>
            </a:r>
            <a:r>
              <a:rPr lang="en-US" sz="2000" i="1" dirty="0" err="1"/>
              <a:t>cerca</a:t>
            </a:r>
            <a:r>
              <a:rPr lang="en-US" sz="2000" i="1" dirty="0"/>
              <a:t> / </a:t>
            </a:r>
            <a:r>
              <a:rPr lang="en-US" sz="2000" i="1" dirty="0" err="1"/>
              <a:t>consigo</a:t>
            </a:r>
            <a:r>
              <a:rPr lang="en-US" sz="2000" i="1" dirty="0"/>
              <a:t> /a </a:t>
            </a:r>
            <a:r>
              <a:rPr lang="en-US" sz="2000" i="1" dirty="0" err="1"/>
              <a:t>su</a:t>
            </a:r>
            <a:r>
              <a:rPr lang="en-US" sz="2000" i="1" dirty="0"/>
              <a:t> </a:t>
            </a:r>
            <a:r>
              <a:rPr lang="en-US" sz="2000" i="1" dirty="0" err="1"/>
              <a:t>lado</a:t>
            </a:r>
            <a:r>
              <a:rPr lang="en-US" sz="2000" i="1" dirty="0"/>
              <a:t> </a:t>
            </a:r>
            <a:r>
              <a:rPr lang="en-US" sz="2000" dirty="0"/>
              <a:t>‘she has her mother nearby/with her/by her side’ (control) / </a:t>
            </a:r>
            <a:r>
              <a:rPr lang="en-US" sz="2000" i="1" dirty="0"/>
              <a:t>Tengo </a:t>
            </a:r>
            <a:r>
              <a:rPr lang="en-US" sz="2000" b="1" i="1" dirty="0"/>
              <a:t>a</a:t>
            </a:r>
            <a:r>
              <a:rPr lang="en-US" sz="2000" i="1" dirty="0"/>
              <a:t>l </a:t>
            </a:r>
            <a:r>
              <a:rPr lang="en-US" sz="2000" i="1" dirty="0" err="1"/>
              <a:t>presidente</a:t>
            </a:r>
            <a:r>
              <a:rPr lang="en-US" sz="2000" i="1" dirty="0"/>
              <a:t> </a:t>
            </a:r>
            <a:r>
              <a:rPr lang="en-US" sz="2000" i="1" dirty="0" err="1"/>
              <a:t>por</a:t>
            </a:r>
            <a:r>
              <a:rPr lang="en-US" sz="2000" i="1" dirty="0"/>
              <a:t> un hombre </a:t>
            </a:r>
            <a:r>
              <a:rPr lang="en-US" sz="2000" i="1" dirty="0" err="1"/>
              <a:t>honrado</a:t>
            </a:r>
            <a:r>
              <a:rPr lang="en-US" sz="2000" i="1" dirty="0"/>
              <a:t> </a:t>
            </a:r>
            <a:r>
              <a:rPr lang="en-US" sz="2000" dirty="0"/>
              <a:t>‘I consider the President as an </a:t>
            </a:r>
            <a:r>
              <a:rPr lang="en-US" sz="2000" dirty="0" err="1"/>
              <a:t>honourable</a:t>
            </a:r>
            <a:r>
              <a:rPr lang="en-US" sz="2000" dirty="0"/>
              <a:t> man’ (depictive) / </a:t>
            </a:r>
            <a:r>
              <a:rPr lang="en-US" sz="2000" i="1" dirty="0" err="1"/>
              <a:t>Estos</a:t>
            </a:r>
            <a:r>
              <a:rPr lang="en-US" sz="2000" i="1" dirty="0"/>
              <a:t> </a:t>
            </a:r>
            <a:r>
              <a:rPr lang="en-US" sz="2000" i="1" dirty="0" err="1"/>
              <a:t>estados</a:t>
            </a:r>
            <a:r>
              <a:rPr lang="en-US" sz="2000" i="1" dirty="0"/>
              <a:t> </a:t>
            </a:r>
            <a:r>
              <a:rPr lang="en-US" sz="2000" i="1" dirty="0" err="1"/>
              <a:t>tienen</a:t>
            </a:r>
            <a:r>
              <a:rPr lang="en-US" sz="2000" i="1" dirty="0"/>
              <a:t> </a:t>
            </a:r>
            <a:r>
              <a:rPr lang="en-US" sz="2000" b="1" i="1" dirty="0"/>
              <a:t>a</a:t>
            </a:r>
            <a:r>
              <a:rPr lang="en-US" sz="2000" i="1" dirty="0"/>
              <a:t>l </a:t>
            </a:r>
            <a:r>
              <a:rPr lang="en-US" sz="2000" i="1" dirty="0" err="1"/>
              <a:t>español</a:t>
            </a:r>
            <a:r>
              <a:rPr lang="en-US" sz="2000" i="1" dirty="0"/>
              <a:t> </a:t>
            </a:r>
            <a:r>
              <a:rPr lang="en-US" sz="2000" i="1" dirty="0" err="1"/>
              <a:t>como</a:t>
            </a:r>
            <a:r>
              <a:rPr lang="en-US" sz="2000" i="1" dirty="0"/>
              <a:t> </a:t>
            </a:r>
            <a:r>
              <a:rPr lang="en-US" sz="2000" i="1" dirty="0" err="1"/>
              <a:t>idioma</a:t>
            </a:r>
            <a:r>
              <a:rPr lang="en-US" sz="2000" i="1" dirty="0"/>
              <a:t> official </a:t>
            </a:r>
            <a:r>
              <a:rPr lang="en-US" sz="2000" dirty="0"/>
              <a:t>‘these states designate Spanish as official L’ (designating) 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762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9" grpId="0"/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6E8D-56C5-4FAD-A539-A2CE1C06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08719"/>
          </a:xfrm>
        </p:spPr>
        <p:txBody>
          <a:bodyPr>
            <a:normAutofit/>
          </a:bodyPr>
          <a:lstStyle/>
          <a:p>
            <a:r>
              <a:rPr lang="en-GB" sz="3100"/>
              <a:t>Formal analysis of Differential Object Marking (nominal)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4AC8-8A95-4A86-8F3C-0F07E9A4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0424"/>
            <a:ext cx="91440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/>
              <a:t>Nominal markedness (DP-hypothesis (Valois (1986), </a:t>
            </a:r>
            <a:r>
              <a:rPr lang="en-GB" sz="2000" err="1"/>
              <a:t>Longobardi</a:t>
            </a:r>
            <a:r>
              <a:rPr lang="en-GB" sz="2000"/>
              <a:t> and Silvestri (2013)):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6D436-B3DD-4523-A61E-A26193A2EE1F}"/>
              </a:ext>
            </a:extLst>
          </p:cNvPr>
          <p:cNvSpPr txBox="1">
            <a:spLocks/>
          </p:cNvSpPr>
          <p:nvPr/>
        </p:nvSpPr>
        <p:spPr>
          <a:xfrm>
            <a:off x="0" y="1185334"/>
            <a:ext cx="9144000" cy="56726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VP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 err="1"/>
              <a:t>SpecVP</a:t>
            </a:r>
            <a:r>
              <a:rPr lang="en-GB" sz="1600" dirty="0"/>
              <a:t>		V’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V		KP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</a:t>
            </a:r>
            <a:r>
              <a:rPr lang="en-GB" sz="1600" dirty="0" err="1"/>
              <a:t>SpecKP</a:t>
            </a:r>
            <a:r>
              <a:rPr lang="en-GB" sz="1600" dirty="0"/>
              <a:t>		K’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K(</a:t>
            </a:r>
            <a:r>
              <a:rPr lang="en-GB" sz="1600" dirty="0" err="1"/>
              <a:t>ase</a:t>
            </a:r>
            <a:r>
              <a:rPr lang="en-GB" sz="1600" dirty="0"/>
              <a:t>)		DP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	</a:t>
            </a:r>
            <a:r>
              <a:rPr lang="en-GB" sz="1600" dirty="0" err="1"/>
              <a:t>SpecD</a:t>
            </a:r>
            <a:r>
              <a:rPr lang="en-US" altLang="zh-CN" sz="1600" dirty="0"/>
              <a:t>P		D’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					D		</a:t>
            </a:r>
            <a:r>
              <a:rPr lang="en-US" sz="1600" dirty="0" err="1"/>
              <a:t>PhiP</a:t>
            </a: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						</a:t>
            </a:r>
            <a:r>
              <a:rPr lang="en-US" sz="1600" dirty="0" err="1"/>
              <a:t>SpecPhi</a:t>
            </a:r>
            <a:r>
              <a:rPr lang="en-US" sz="1600" dirty="0"/>
              <a:t>		Phi’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							Phi	           </a:t>
            </a:r>
            <a:r>
              <a:rPr lang="en-US" sz="1600" dirty="0" err="1"/>
              <a:t>nP</a:t>
            </a: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					            n’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					n	NP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     									N’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					       	N	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EE6FE-9AC3-4499-94A4-0A847E3D28C5}"/>
              </a:ext>
            </a:extLst>
          </p:cNvPr>
          <p:cNvSpPr txBox="1"/>
          <p:nvPr/>
        </p:nvSpPr>
        <p:spPr>
          <a:xfrm>
            <a:off x="4027211" y="4879462"/>
            <a:ext cx="254780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dirty="0"/>
              <a:t>Personal pronouns </a:t>
            </a:r>
            <a:endParaRPr lang="en-GB" dirty="0">
              <a:ea typeface="Calibri"/>
              <a:cs typeface="Calibri"/>
            </a:endParaRPr>
          </a:p>
          <a:p>
            <a:r>
              <a:rPr lang="en-GB" dirty="0"/>
              <a:t>(bare Ds) (Postal (1969))</a:t>
            </a:r>
            <a:endParaRPr lang="en-GB" dirty="0">
              <a:ea typeface="Calibri"/>
              <a:cs typeface="Calibri"/>
            </a:endParaRPr>
          </a:p>
          <a:p>
            <a:r>
              <a:rPr lang="en-GB" dirty="0"/>
              <a:t>Person: 1</a:t>
            </a:r>
            <a:r>
              <a:rPr lang="en-GB" baseline="30000" dirty="0"/>
              <a:t>st</a:t>
            </a:r>
            <a:r>
              <a:rPr lang="en-GB" dirty="0"/>
              <a:t>/2</a:t>
            </a:r>
            <a:r>
              <a:rPr lang="en-GB" baseline="30000" dirty="0"/>
              <a:t>nd</a:t>
            </a:r>
            <a:r>
              <a:rPr lang="en-GB" dirty="0"/>
              <a:t>/3</a:t>
            </a:r>
            <a:r>
              <a:rPr lang="en-GB" baseline="30000" dirty="0"/>
              <a:t>rd</a:t>
            </a:r>
            <a:endParaRPr lang="en-GB" dirty="0">
              <a:ea typeface="Calibri"/>
              <a:cs typeface="Calibri"/>
            </a:endParaRPr>
          </a:p>
          <a:p>
            <a:r>
              <a:rPr lang="en-GB" dirty="0"/>
              <a:t>Number: sg/pl</a:t>
            </a:r>
            <a:endParaRPr lang="en-GB" dirty="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D500F-51EA-4CE4-816E-CB7812A0C095}"/>
              </a:ext>
            </a:extLst>
          </p:cNvPr>
          <p:cNvSpPr txBox="1"/>
          <p:nvPr/>
        </p:nvSpPr>
        <p:spPr>
          <a:xfrm>
            <a:off x="7074589" y="5659496"/>
            <a:ext cx="2080455" cy="657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Semantic features: </a:t>
            </a:r>
            <a:r>
              <a:rPr lang="en-GB" err="1"/>
              <a:t>animacy</a:t>
            </a:r>
            <a:r>
              <a:rPr lang="en-GB"/>
              <a:t> (N)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25F3C9-D10A-41D9-99A8-63B30B6A3494}"/>
              </a:ext>
            </a:extLst>
          </p:cNvPr>
          <p:cNvSpPr txBox="1">
            <a:spLocks/>
          </p:cNvSpPr>
          <p:nvPr/>
        </p:nvSpPr>
        <p:spPr>
          <a:xfrm>
            <a:off x="4022011" y="3499357"/>
            <a:ext cx="2002330" cy="20843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Definiteness </a:t>
            </a:r>
          </a:p>
          <a:p>
            <a:r>
              <a:rPr lang="en-GB" dirty="0"/>
              <a:t>Specificity</a:t>
            </a:r>
            <a:endParaRPr lang="en-GB" dirty="0">
              <a:ea typeface="Calibri"/>
              <a:cs typeface="Calibri"/>
            </a:endParaRPr>
          </a:p>
          <a:p>
            <a:r>
              <a:rPr lang="en-GB" dirty="0"/>
              <a:t>(N-D Agree/Move)</a:t>
            </a:r>
            <a:endParaRPr lang="en-GB" sz="1200" dirty="0"/>
          </a:p>
          <a:p>
            <a:r>
              <a:rPr lang="en-GB" dirty="0"/>
              <a:t>(Lyons (1991), Zamparelli (1994))</a:t>
            </a:r>
            <a:endParaRPr lang="en-GB" sz="1200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92B52-DF07-4D8F-831F-B48EEF9AB280}"/>
              </a:ext>
            </a:extLst>
          </p:cNvPr>
          <p:cNvSpPr txBox="1"/>
          <p:nvPr/>
        </p:nvSpPr>
        <p:spPr>
          <a:xfrm>
            <a:off x="2849103" y="2885194"/>
            <a:ext cx="1339868" cy="2053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AD </a:t>
            </a:r>
          </a:p>
          <a:p>
            <a:r>
              <a:rPr lang="en-GB" dirty="0"/>
              <a:t>(</a:t>
            </a:r>
            <a:r>
              <a:rPr lang="en-GB" dirty="0" err="1"/>
              <a:t>Brugè</a:t>
            </a:r>
            <a:r>
              <a:rPr lang="en-GB" dirty="0"/>
              <a:t> (1996)); formal triggers of DOM: </a:t>
            </a:r>
          </a:p>
          <a:p>
            <a:r>
              <a:rPr lang="en-GB" dirty="0"/>
              <a:t>[u-K(</a:t>
            </a:r>
            <a:r>
              <a:rPr lang="en-GB" dirty="0" err="1"/>
              <a:t>ase</a:t>
            </a:r>
            <a:r>
              <a:rPr lang="en-GB" dirty="0"/>
              <a:t>)]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F9C86-AB40-4F84-8F5D-B5A49D7391DC}"/>
              </a:ext>
            </a:extLst>
          </p:cNvPr>
          <p:cNvSpPr txBox="1"/>
          <p:nvPr/>
        </p:nvSpPr>
        <p:spPr>
          <a:xfrm>
            <a:off x="4027210" y="6007231"/>
            <a:ext cx="22129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Proper names (D) </a:t>
            </a:r>
          </a:p>
          <a:p>
            <a:r>
              <a:rPr lang="en-GB" dirty="0"/>
              <a:t>(Longobardi (1994, 1996))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850C04-5E16-28CC-0427-3BD9F65B9941}"/>
              </a:ext>
            </a:extLst>
          </p:cNvPr>
          <p:cNvCxnSpPr>
            <a:cxnSpLocks/>
          </p:cNvCxnSpPr>
          <p:nvPr/>
        </p:nvCxnSpPr>
        <p:spPr>
          <a:xfrm flipH="1">
            <a:off x="683568" y="1412776"/>
            <a:ext cx="465178" cy="212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497350-674D-11AA-C8D4-551204080EF7}"/>
              </a:ext>
            </a:extLst>
          </p:cNvPr>
          <p:cNvCxnSpPr>
            <a:cxnSpLocks/>
          </p:cNvCxnSpPr>
          <p:nvPr/>
        </p:nvCxnSpPr>
        <p:spPr>
          <a:xfrm>
            <a:off x="1148746" y="1412776"/>
            <a:ext cx="863560" cy="1795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76384D-AEA1-1164-305D-C07823FF352F}"/>
              </a:ext>
            </a:extLst>
          </p:cNvPr>
          <p:cNvCxnSpPr/>
          <p:nvPr/>
        </p:nvCxnSpPr>
        <p:spPr>
          <a:xfrm flipH="1">
            <a:off x="1072344" y="1778563"/>
            <a:ext cx="973994" cy="1387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636484-413B-AAFF-E30A-9BF4E52079E5}"/>
              </a:ext>
            </a:extLst>
          </p:cNvPr>
          <p:cNvCxnSpPr/>
          <p:nvPr/>
        </p:nvCxnSpPr>
        <p:spPr>
          <a:xfrm>
            <a:off x="2001798" y="1778563"/>
            <a:ext cx="873901" cy="144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2C46EB-3AD5-00B9-64BF-9C7C2B06A903}"/>
              </a:ext>
            </a:extLst>
          </p:cNvPr>
          <p:cNvCxnSpPr>
            <a:cxnSpLocks/>
          </p:cNvCxnSpPr>
          <p:nvPr/>
        </p:nvCxnSpPr>
        <p:spPr>
          <a:xfrm flipH="1">
            <a:off x="2433847" y="2138604"/>
            <a:ext cx="470926" cy="1571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265AFB-4393-EE6B-83F3-A610DD54FBCC}"/>
              </a:ext>
            </a:extLst>
          </p:cNvPr>
          <p:cNvCxnSpPr>
            <a:cxnSpLocks/>
          </p:cNvCxnSpPr>
          <p:nvPr/>
        </p:nvCxnSpPr>
        <p:spPr>
          <a:xfrm>
            <a:off x="2904773" y="2138604"/>
            <a:ext cx="899702" cy="1239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C01D0A-0575-4537-C74D-BBE55190F9C6}"/>
              </a:ext>
            </a:extLst>
          </p:cNvPr>
          <p:cNvCxnSpPr/>
          <p:nvPr/>
        </p:nvCxnSpPr>
        <p:spPr>
          <a:xfrm flipH="1">
            <a:off x="3199003" y="2487600"/>
            <a:ext cx="642128" cy="149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FFFCD4-6239-6A33-AAD7-DE3EC57E2019}"/>
              </a:ext>
            </a:extLst>
          </p:cNvPr>
          <p:cNvCxnSpPr/>
          <p:nvPr/>
        </p:nvCxnSpPr>
        <p:spPr>
          <a:xfrm>
            <a:off x="3829833" y="2498643"/>
            <a:ext cx="783035" cy="1662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BC022B-E1B1-ABA9-DB31-E3249C391C5C}"/>
              </a:ext>
            </a:extLst>
          </p:cNvPr>
          <p:cNvCxnSpPr>
            <a:cxnSpLocks/>
          </p:cNvCxnSpPr>
          <p:nvPr/>
        </p:nvCxnSpPr>
        <p:spPr>
          <a:xfrm flipH="1">
            <a:off x="4022011" y="2821458"/>
            <a:ext cx="788098" cy="129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346363-368A-98A8-E18D-37239D17F373}"/>
              </a:ext>
            </a:extLst>
          </p:cNvPr>
          <p:cNvCxnSpPr>
            <a:cxnSpLocks/>
          </p:cNvCxnSpPr>
          <p:nvPr/>
        </p:nvCxnSpPr>
        <p:spPr>
          <a:xfrm>
            <a:off x="4810110" y="2822108"/>
            <a:ext cx="790904" cy="1288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A5AC62-B6A6-6DBD-4103-A055714E63BF}"/>
              </a:ext>
            </a:extLst>
          </p:cNvPr>
          <p:cNvCxnSpPr>
            <a:cxnSpLocks/>
          </p:cNvCxnSpPr>
          <p:nvPr/>
        </p:nvCxnSpPr>
        <p:spPr>
          <a:xfrm flipH="1">
            <a:off x="4718304" y="3142568"/>
            <a:ext cx="894655" cy="1834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754E31-2769-C2E9-D30A-265456F06C4C}"/>
              </a:ext>
            </a:extLst>
          </p:cNvPr>
          <p:cNvCxnSpPr/>
          <p:nvPr/>
        </p:nvCxnSpPr>
        <p:spPr>
          <a:xfrm>
            <a:off x="5591155" y="3151314"/>
            <a:ext cx="1033346" cy="1746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A7B546-39D9-41F8-C24B-3F8B6B69A683}"/>
              </a:ext>
            </a:extLst>
          </p:cNvPr>
          <p:cNvCxnSpPr>
            <a:cxnSpLocks/>
          </p:cNvCxnSpPr>
          <p:nvPr/>
        </p:nvCxnSpPr>
        <p:spPr>
          <a:xfrm flipH="1">
            <a:off x="6118087" y="3499357"/>
            <a:ext cx="536327" cy="187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E829E9C-0283-5194-31A1-2FC95C41551F}"/>
              </a:ext>
            </a:extLst>
          </p:cNvPr>
          <p:cNvCxnSpPr>
            <a:cxnSpLocks/>
          </p:cNvCxnSpPr>
          <p:nvPr/>
        </p:nvCxnSpPr>
        <p:spPr>
          <a:xfrm>
            <a:off x="6654414" y="3502623"/>
            <a:ext cx="903892" cy="168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57E6B70-AC74-8AB2-7E2A-61AA4214CE30}"/>
              </a:ext>
            </a:extLst>
          </p:cNvPr>
          <p:cNvCxnSpPr>
            <a:cxnSpLocks/>
          </p:cNvCxnSpPr>
          <p:nvPr/>
        </p:nvCxnSpPr>
        <p:spPr>
          <a:xfrm flipH="1">
            <a:off x="6578259" y="3860922"/>
            <a:ext cx="903134" cy="1644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6B58BB7-1A76-5300-948B-707108754A74}"/>
              </a:ext>
            </a:extLst>
          </p:cNvPr>
          <p:cNvCxnSpPr>
            <a:cxnSpLocks/>
          </p:cNvCxnSpPr>
          <p:nvPr/>
        </p:nvCxnSpPr>
        <p:spPr>
          <a:xfrm>
            <a:off x="7481393" y="3876420"/>
            <a:ext cx="550430" cy="1094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F6A7198-90F5-0142-C7FC-04D46229F61C}"/>
              </a:ext>
            </a:extLst>
          </p:cNvPr>
          <p:cNvCxnSpPr/>
          <p:nvPr/>
        </p:nvCxnSpPr>
        <p:spPr>
          <a:xfrm flipH="1">
            <a:off x="8031823" y="4125811"/>
            <a:ext cx="1745" cy="2657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99995F2-8235-BDC6-5357-74E88DA397E4}"/>
              </a:ext>
            </a:extLst>
          </p:cNvPr>
          <p:cNvCxnSpPr>
            <a:cxnSpLocks/>
          </p:cNvCxnSpPr>
          <p:nvPr/>
        </p:nvCxnSpPr>
        <p:spPr>
          <a:xfrm flipH="1">
            <a:off x="7481393" y="4572074"/>
            <a:ext cx="550430" cy="1004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26ECD1-A9E7-A391-2DD8-1C05C7D23196}"/>
              </a:ext>
            </a:extLst>
          </p:cNvPr>
          <p:cNvCxnSpPr/>
          <p:nvPr/>
        </p:nvCxnSpPr>
        <p:spPr>
          <a:xfrm>
            <a:off x="7998692" y="4572074"/>
            <a:ext cx="447120" cy="894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9D0977-F084-BAF1-1853-9791B63E8892}"/>
              </a:ext>
            </a:extLst>
          </p:cNvPr>
          <p:cNvCxnSpPr>
            <a:cxnSpLocks/>
          </p:cNvCxnSpPr>
          <p:nvPr/>
        </p:nvCxnSpPr>
        <p:spPr>
          <a:xfrm>
            <a:off x="8410385" y="5230960"/>
            <a:ext cx="10167" cy="162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0F255C-9378-2545-41C2-70E323958361}"/>
              </a:ext>
            </a:extLst>
          </p:cNvPr>
          <p:cNvCxnSpPr>
            <a:cxnSpLocks/>
          </p:cNvCxnSpPr>
          <p:nvPr/>
        </p:nvCxnSpPr>
        <p:spPr>
          <a:xfrm flipH="1">
            <a:off x="8420552" y="4878604"/>
            <a:ext cx="25260" cy="174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8">
            <a:extLst>
              <a:ext uri="{FF2B5EF4-FFF2-40B4-BE49-F238E27FC236}">
                <a16:creationId xmlns:a16="http://schemas.microsoft.com/office/drawing/2014/main" id="{52A81A87-D94E-62D6-312C-FF3D27CA5ED3}"/>
              </a:ext>
            </a:extLst>
          </p:cNvPr>
          <p:cNvSpPr txBox="1"/>
          <p:nvPr/>
        </p:nvSpPr>
        <p:spPr>
          <a:xfrm>
            <a:off x="7562010" y="6324127"/>
            <a:ext cx="13398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/>
              <a:t>[u-K(</a:t>
            </a:r>
            <a:r>
              <a:rPr lang="en-GB" err="1"/>
              <a:t>ase</a:t>
            </a:r>
            <a:r>
              <a:rPr lang="en-GB"/>
              <a:t>)]</a:t>
            </a:r>
            <a:endParaRPr lang="zh-TW" altLang="en-US"/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4CBA8906-DE45-72DC-D69E-B0EE4E3C0B4D}"/>
              </a:ext>
            </a:extLst>
          </p:cNvPr>
          <p:cNvSpPr txBox="1"/>
          <p:nvPr/>
        </p:nvSpPr>
        <p:spPr>
          <a:xfrm>
            <a:off x="2840329" y="5199822"/>
            <a:ext cx="133986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dirty="0"/>
              <a:t>[u-K(</a:t>
            </a:r>
            <a:r>
              <a:rPr lang="en-GB" dirty="0" err="1"/>
              <a:t>ase</a:t>
            </a:r>
            <a:r>
              <a:rPr lang="en-GB" dirty="0"/>
              <a:t>)]</a:t>
            </a:r>
            <a:endParaRPr lang="zh-TW" alt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4CC92D-664E-DA3A-3B34-30A2D67AA4CA}"/>
              </a:ext>
            </a:extLst>
          </p:cNvPr>
          <p:cNvCxnSpPr/>
          <p:nvPr/>
        </p:nvCxnSpPr>
        <p:spPr>
          <a:xfrm flipV="1">
            <a:off x="451104" y="1185334"/>
            <a:ext cx="2747899" cy="19781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06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7" grpId="0"/>
      <p:bldP spid="9" grpId="0"/>
      <p:bldP spid="10" grpId="0"/>
      <p:bldP spid="15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6E8D-56C5-4FAD-A539-A2CE1C06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52735"/>
          </a:xfrm>
        </p:spPr>
        <p:txBody>
          <a:bodyPr>
            <a:noAutofit/>
          </a:bodyPr>
          <a:lstStyle/>
          <a:p>
            <a:r>
              <a:rPr lang="en-GB" sz="2800"/>
              <a:t>Formal analysis of Differential Object Marking (verbal/clausal)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4AC8-8A95-4A86-8F3C-0F07E9A4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136"/>
            <a:ext cx="9144000" cy="4474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Verbal/clausal markedness (Light Verb projections for thematic roles (Rappaport </a:t>
            </a:r>
            <a:r>
              <a:rPr lang="en-GB" sz="2000" dirty="0" err="1"/>
              <a:t>Hovav</a:t>
            </a:r>
            <a:r>
              <a:rPr lang="en-GB" sz="2000" dirty="0"/>
              <a:t> and Levin (2005), Folli and Ramchand (2002), Ramchand (2008)):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6D436-B3DD-4523-A61E-A26193A2EE1F}"/>
              </a:ext>
            </a:extLst>
          </p:cNvPr>
          <p:cNvSpPr txBox="1">
            <a:spLocks/>
          </p:cNvSpPr>
          <p:nvPr/>
        </p:nvSpPr>
        <p:spPr>
          <a:xfrm>
            <a:off x="0" y="1475825"/>
            <a:ext cx="9144000" cy="5382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</a:t>
            </a:r>
            <a:r>
              <a:rPr lang="en-GB" sz="1800" dirty="0" err="1"/>
              <a:t>TopP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 err="1"/>
              <a:t>SpecTop</a:t>
            </a:r>
            <a:r>
              <a:rPr lang="en-GB" sz="1800" dirty="0"/>
              <a:t>		Top’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KP	Top		TP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AD		</a:t>
            </a:r>
            <a:r>
              <a:rPr lang="en-GB" sz="1800" dirty="0" err="1"/>
              <a:t>SpecTP</a:t>
            </a:r>
            <a:r>
              <a:rPr lang="en-GB" sz="1800" dirty="0"/>
              <a:t>		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T		</a:t>
            </a:r>
            <a:r>
              <a:rPr lang="en-GB" sz="1800" dirty="0" err="1"/>
              <a:t>InitiateP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	</a:t>
            </a:r>
            <a:r>
              <a:rPr lang="en-GB" sz="1800" dirty="0" err="1"/>
              <a:t>SpecInit</a:t>
            </a:r>
            <a:r>
              <a:rPr lang="en-US" altLang="zh-CN" sz="1800" dirty="0"/>
              <a:t>P		Init’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					Init		</a:t>
            </a:r>
            <a:r>
              <a:rPr lang="en-US" sz="1800" dirty="0" err="1"/>
              <a:t>AffectP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						</a:t>
            </a:r>
            <a:r>
              <a:rPr lang="en-US" sz="1800" dirty="0" err="1"/>
              <a:t>SpecAff</a:t>
            </a:r>
            <a:r>
              <a:rPr lang="en-US" sz="1800" dirty="0"/>
              <a:t>		Aff’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						KP	Aff	        </a:t>
            </a:r>
            <a:r>
              <a:rPr lang="en-US" sz="1800" dirty="0" err="1"/>
              <a:t>vP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			AD		         v’																		v	VP																		V’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					V	         KP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						        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EE6FE-9AC3-4499-94A4-0A847E3D28C5}"/>
              </a:ext>
            </a:extLst>
          </p:cNvPr>
          <p:cNvSpPr txBox="1"/>
          <p:nvPr/>
        </p:nvSpPr>
        <p:spPr>
          <a:xfrm>
            <a:off x="706285" y="2576183"/>
            <a:ext cx="1587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Ad</a:t>
            </a:r>
            <a:r>
              <a:rPr lang="en-GB" dirty="0"/>
              <a:t> topic-marking (Belletti (2020))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D500F-51EA-4CE4-816E-CB7812A0C095}"/>
              </a:ext>
            </a:extLst>
          </p:cNvPr>
          <p:cNvSpPr txBox="1"/>
          <p:nvPr/>
        </p:nvSpPr>
        <p:spPr>
          <a:xfrm>
            <a:off x="1768731" y="4086933"/>
            <a:ext cx="36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Kinesis: </a:t>
            </a:r>
            <a:r>
              <a:rPr lang="en-GB" dirty="0" err="1"/>
              <a:t>agentivity</a:t>
            </a:r>
            <a:r>
              <a:rPr lang="en-GB" dirty="0"/>
              <a:t> (</a:t>
            </a:r>
            <a:r>
              <a:rPr lang="en-GB" dirty="0" err="1"/>
              <a:t>SpecInitP</a:t>
            </a:r>
            <a:r>
              <a:rPr lang="en-GB" dirty="0"/>
              <a:t>)/ </a:t>
            </a:r>
          </a:p>
          <a:p>
            <a:r>
              <a:rPr lang="en-GB" dirty="0"/>
              <a:t>              affectedness (</a:t>
            </a:r>
            <a:r>
              <a:rPr lang="en-GB" dirty="0" err="1"/>
              <a:t>SpecAffP</a:t>
            </a:r>
            <a:r>
              <a:rPr lang="en-GB" dirty="0"/>
              <a:t>)</a:t>
            </a:r>
          </a:p>
          <a:p>
            <a:r>
              <a:rPr lang="en-GB" dirty="0"/>
              <a:t>(</a:t>
            </a:r>
            <a:r>
              <a:rPr lang="en-GB" dirty="0" err="1"/>
              <a:t>Torrego</a:t>
            </a:r>
            <a:r>
              <a:rPr lang="en-GB" dirty="0"/>
              <a:t> (1998), </a:t>
            </a:r>
            <a:r>
              <a:rPr lang="en-GB" dirty="0" err="1"/>
              <a:t>Mordoñedo</a:t>
            </a:r>
            <a:r>
              <a:rPr lang="en-GB" dirty="0"/>
              <a:t> (2007), López (2012))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BD94B0-314A-91C0-6D93-BDC2BAB9EC0B}"/>
              </a:ext>
            </a:extLst>
          </p:cNvPr>
          <p:cNvCxnSpPr>
            <a:cxnSpLocks/>
          </p:cNvCxnSpPr>
          <p:nvPr/>
        </p:nvCxnSpPr>
        <p:spPr>
          <a:xfrm flipH="1">
            <a:off x="827584" y="1772816"/>
            <a:ext cx="448887" cy="1662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FCCC3E-CC9B-B163-CF13-8C663E8D9B6B}"/>
              </a:ext>
            </a:extLst>
          </p:cNvPr>
          <p:cNvCxnSpPr>
            <a:cxnSpLocks/>
          </p:cNvCxnSpPr>
          <p:nvPr/>
        </p:nvCxnSpPr>
        <p:spPr>
          <a:xfrm>
            <a:off x="1259632" y="1772816"/>
            <a:ext cx="652319" cy="133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75852E-F395-385A-EE67-C9A866A18F63}"/>
              </a:ext>
            </a:extLst>
          </p:cNvPr>
          <p:cNvCxnSpPr/>
          <p:nvPr/>
        </p:nvCxnSpPr>
        <p:spPr>
          <a:xfrm flipH="1">
            <a:off x="1149649" y="2132856"/>
            <a:ext cx="928404" cy="2123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C5BFD3-06E6-22EC-2CAC-84017A15D459}"/>
              </a:ext>
            </a:extLst>
          </p:cNvPr>
          <p:cNvCxnSpPr>
            <a:cxnSpLocks/>
          </p:cNvCxnSpPr>
          <p:nvPr/>
        </p:nvCxnSpPr>
        <p:spPr>
          <a:xfrm>
            <a:off x="2078053" y="2132856"/>
            <a:ext cx="868263" cy="907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403471-18C1-6C5A-FCF8-CA9861292266}"/>
              </a:ext>
            </a:extLst>
          </p:cNvPr>
          <p:cNvCxnSpPr>
            <a:cxnSpLocks/>
          </p:cNvCxnSpPr>
          <p:nvPr/>
        </p:nvCxnSpPr>
        <p:spPr>
          <a:xfrm flipH="1">
            <a:off x="2316480" y="2503939"/>
            <a:ext cx="629836" cy="1402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596544D-74FE-29F3-6A4D-B6C4A3C5472C}"/>
              </a:ext>
            </a:extLst>
          </p:cNvPr>
          <p:cNvCxnSpPr/>
          <p:nvPr/>
        </p:nvCxnSpPr>
        <p:spPr>
          <a:xfrm>
            <a:off x="2937902" y="2481853"/>
            <a:ext cx="786257" cy="1477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BD7026-A0B0-9461-9E9F-6FDD26870E40}"/>
              </a:ext>
            </a:extLst>
          </p:cNvPr>
          <p:cNvCxnSpPr>
            <a:cxnSpLocks/>
          </p:cNvCxnSpPr>
          <p:nvPr/>
        </p:nvCxnSpPr>
        <p:spPr>
          <a:xfrm flipH="1">
            <a:off x="2937902" y="2855185"/>
            <a:ext cx="864013" cy="1477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7D02AD-9906-D523-03BB-7BED7BA45E9F}"/>
              </a:ext>
            </a:extLst>
          </p:cNvPr>
          <p:cNvCxnSpPr>
            <a:cxnSpLocks/>
          </p:cNvCxnSpPr>
          <p:nvPr/>
        </p:nvCxnSpPr>
        <p:spPr>
          <a:xfrm>
            <a:off x="3781056" y="2840042"/>
            <a:ext cx="1099407" cy="204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DB8B09-5DCC-F213-1FAA-07DD968867D9}"/>
              </a:ext>
            </a:extLst>
          </p:cNvPr>
          <p:cNvCxnSpPr>
            <a:cxnSpLocks/>
          </p:cNvCxnSpPr>
          <p:nvPr/>
        </p:nvCxnSpPr>
        <p:spPr>
          <a:xfrm flipH="1">
            <a:off x="4262783" y="3284201"/>
            <a:ext cx="784290" cy="1448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605EC8-06E6-5917-E16F-04A7DE464C65}"/>
              </a:ext>
            </a:extLst>
          </p:cNvPr>
          <p:cNvCxnSpPr/>
          <p:nvPr/>
        </p:nvCxnSpPr>
        <p:spPr>
          <a:xfrm>
            <a:off x="5047073" y="3261749"/>
            <a:ext cx="644117" cy="1816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0A90A5-648B-83A0-6FFB-BCE95BC9BA4E}"/>
              </a:ext>
            </a:extLst>
          </p:cNvPr>
          <p:cNvCxnSpPr/>
          <p:nvPr/>
        </p:nvCxnSpPr>
        <p:spPr>
          <a:xfrm flipH="1">
            <a:off x="4717820" y="3622938"/>
            <a:ext cx="1102115" cy="1775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1A674E-F8B4-F0C8-D814-636379A34CC2}"/>
              </a:ext>
            </a:extLst>
          </p:cNvPr>
          <p:cNvCxnSpPr/>
          <p:nvPr/>
        </p:nvCxnSpPr>
        <p:spPr>
          <a:xfrm>
            <a:off x="5811327" y="3616041"/>
            <a:ext cx="958095" cy="1831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8D26D3-9EAF-EF4F-7AB6-95732B0EF985}"/>
              </a:ext>
            </a:extLst>
          </p:cNvPr>
          <p:cNvCxnSpPr>
            <a:cxnSpLocks/>
          </p:cNvCxnSpPr>
          <p:nvPr/>
        </p:nvCxnSpPr>
        <p:spPr>
          <a:xfrm flipH="1">
            <a:off x="5985228" y="3979863"/>
            <a:ext cx="819020" cy="1831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D0F8A13-2B9E-F891-37A6-670A2A6A9D57}"/>
              </a:ext>
            </a:extLst>
          </p:cNvPr>
          <p:cNvCxnSpPr/>
          <p:nvPr/>
        </p:nvCxnSpPr>
        <p:spPr>
          <a:xfrm>
            <a:off x="6767672" y="3982978"/>
            <a:ext cx="876147" cy="1942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0389975-43AF-9357-3FFD-620A5DD1FB89}"/>
              </a:ext>
            </a:extLst>
          </p:cNvPr>
          <p:cNvCxnSpPr>
            <a:cxnSpLocks/>
          </p:cNvCxnSpPr>
          <p:nvPr/>
        </p:nvCxnSpPr>
        <p:spPr>
          <a:xfrm flipH="1">
            <a:off x="6804248" y="4355302"/>
            <a:ext cx="686950" cy="1942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F5CDD6-933F-A234-F978-66D2435AC8CD}"/>
              </a:ext>
            </a:extLst>
          </p:cNvPr>
          <p:cNvCxnSpPr>
            <a:cxnSpLocks/>
          </p:cNvCxnSpPr>
          <p:nvPr/>
        </p:nvCxnSpPr>
        <p:spPr>
          <a:xfrm>
            <a:off x="7491198" y="4355302"/>
            <a:ext cx="438487" cy="189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E9865F7-DC8B-58B6-A7BC-B9323BFC1D32}"/>
              </a:ext>
            </a:extLst>
          </p:cNvPr>
          <p:cNvCxnSpPr>
            <a:cxnSpLocks/>
          </p:cNvCxnSpPr>
          <p:nvPr/>
        </p:nvCxnSpPr>
        <p:spPr>
          <a:xfrm flipH="1">
            <a:off x="7491198" y="5114079"/>
            <a:ext cx="407882" cy="268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13B0A7-FD53-8C3C-4015-CB16717E6B7F}"/>
              </a:ext>
            </a:extLst>
          </p:cNvPr>
          <p:cNvCxnSpPr>
            <a:cxnSpLocks/>
          </p:cNvCxnSpPr>
          <p:nvPr/>
        </p:nvCxnSpPr>
        <p:spPr>
          <a:xfrm>
            <a:off x="7929685" y="4699607"/>
            <a:ext cx="0" cy="223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4AE6FAE-4EAD-EB42-029F-387FD148B698}"/>
              </a:ext>
            </a:extLst>
          </p:cNvPr>
          <p:cNvCxnSpPr>
            <a:cxnSpLocks/>
          </p:cNvCxnSpPr>
          <p:nvPr/>
        </p:nvCxnSpPr>
        <p:spPr>
          <a:xfrm>
            <a:off x="7899080" y="5123509"/>
            <a:ext cx="537547" cy="3049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ADA275-7248-FA66-1914-FF0AA0B063E7}"/>
              </a:ext>
            </a:extLst>
          </p:cNvPr>
          <p:cNvCxnSpPr>
            <a:cxnSpLocks/>
          </p:cNvCxnSpPr>
          <p:nvPr/>
        </p:nvCxnSpPr>
        <p:spPr>
          <a:xfrm>
            <a:off x="8399016" y="5586242"/>
            <a:ext cx="18916" cy="285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15972C-F10B-8ABD-4E72-39880EDA74CA}"/>
              </a:ext>
            </a:extLst>
          </p:cNvPr>
          <p:cNvCxnSpPr/>
          <p:nvPr/>
        </p:nvCxnSpPr>
        <p:spPr>
          <a:xfrm flipH="1">
            <a:off x="7406298" y="6118649"/>
            <a:ext cx="1036340" cy="1607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115E23-0F08-4932-A2BA-302DC7320020}"/>
              </a:ext>
            </a:extLst>
          </p:cNvPr>
          <p:cNvCxnSpPr/>
          <p:nvPr/>
        </p:nvCxnSpPr>
        <p:spPr>
          <a:xfrm>
            <a:off x="8441212" y="6113187"/>
            <a:ext cx="402225" cy="149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0A92B52-DF07-4D8F-831F-B48EEF9AB280}"/>
              </a:ext>
            </a:extLst>
          </p:cNvPr>
          <p:cNvSpPr txBox="1"/>
          <p:nvPr/>
        </p:nvSpPr>
        <p:spPr>
          <a:xfrm>
            <a:off x="707385" y="3696116"/>
            <a:ext cx="115212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dirty="0"/>
              <a:t>[u-K(</a:t>
            </a:r>
            <a:r>
              <a:rPr lang="en-GB" dirty="0" err="1"/>
              <a:t>ase</a:t>
            </a:r>
            <a:r>
              <a:rPr lang="en-GB" dirty="0"/>
              <a:t>)]</a:t>
            </a:r>
            <a:endParaRPr lang="zh-TW" altLang="en-US" dirty="0"/>
          </a:p>
        </p:txBody>
      </p:sp>
      <p:sp>
        <p:nvSpPr>
          <p:cNvPr id="9" name="TextBox 32">
            <a:extLst>
              <a:ext uri="{FF2B5EF4-FFF2-40B4-BE49-F238E27FC236}">
                <a16:creationId xmlns:a16="http://schemas.microsoft.com/office/drawing/2014/main" id="{B9F40B7A-5359-A08A-8232-CF16132706A0}"/>
              </a:ext>
            </a:extLst>
          </p:cNvPr>
          <p:cNvSpPr txBox="1"/>
          <p:nvPr/>
        </p:nvSpPr>
        <p:spPr>
          <a:xfrm>
            <a:off x="2793844" y="5290288"/>
            <a:ext cx="115212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dirty="0"/>
              <a:t>[u-K(</a:t>
            </a:r>
            <a:r>
              <a:rPr lang="en-GB" dirty="0" err="1"/>
              <a:t>ase</a:t>
            </a:r>
            <a:r>
              <a:rPr lang="en-GB" dirty="0"/>
              <a:t>)]</a:t>
            </a:r>
            <a:endParaRPr lang="zh-TW" alt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DA960A-0404-CACB-ED96-5DB0AEC86DBD}"/>
              </a:ext>
            </a:extLst>
          </p:cNvPr>
          <p:cNvCxnSpPr/>
          <p:nvPr/>
        </p:nvCxnSpPr>
        <p:spPr>
          <a:xfrm flipV="1">
            <a:off x="7967419" y="5811783"/>
            <a:ext cx="1079045" cy="9303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55F53AF-6393-DA74-1F5F-6A2CBA25EB16}"/>
              </a:ext>
            </a:extLst>
          </p:cNvPr>
          <p:cNvCxnSpPr/>
          <p:nvPr/>
        </p:nvCxnSpPr>
        <p:spPr>
          <a:xfrm>
            <a:off x="5691190" y="4355302"/>
            <a:ext cx="0" cy="1896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659AFEF-04BC-90AA-0396-F1BD336CEA04}"/>
              </a:ext>
            </a:extLst>
          </p:cNvPr>
          <p:cNvCxnSpPr/>
          <p:nvPr/>
        </p:nvCxnSpPr>
        <p:spPr>
          <a:xfrm>
            <a:off x="179512" y="2132856"/>
            <a:ext cx="0" cy="2123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87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33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EDBAD-6AB4-48AA-BB7E-D73A4D23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764703"/>
          </a:xfrm>
        </p:spPr>
        <p:txBody>
          <a:bodyPr>
            <a:normAutofit/>
          </a:bodyPr>
          <a:lstStyle/>
          <a:p>
            <a:r>
              <a:rPr lang="en-GB" sz="2800" dirty="0"/>
              <a:t>Typology of Romance Differential Object Marking (Spanish)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F4E33-4D40-4274-B7CF-CACA7B985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688"/>
            <a:ext cx="849826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Spanish- classic example of (Romance) DOM (Bossong (1980, 1991))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5BB5DE-9412-4BAE-AADC-8DFC40037D1C}"/>
              </a:ext>
            </a:extLst>
          </p:cNvPr>
          <p:cNvSpPr txBox="1">
            <a:spLocks/>
          </p:cNvSpPr>
          <p:nvPr/>
        </p:nvSpPr>
        <p:spPr>
          <a:xfrm>
            <a:off x="0" y="908720"/>
            <a:ext cx="5508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Nominal markedness: animacy/referentiality          </a:t>
            </a:r>
            <a:r>
              <a:rPr lang="en-GB" sz="1800" dirty="0" err="1"/>
              <a:t>Necesita</a:t>
            </a:r>
            <a:r>
              <a:rPr lang="en-GB" sz="1800" dirty="0"/>
              <a:t> </a:t>
            </a:r>
            <a:r>
              <a:rPr lang="en-GB" sz="1800" b="1" dirty="0"/>
              <a:t>a</a:t>
            </a:r>
            <a:r>
              <a:rPr lang="en-GB" sz="1800" dirty="0"/>
              <a:t> </a:t>
            </a:r>
            <a:r>
              <a:rPr lang="en-GB" sz="1800" dirty="0" err="1"/>
              <a:t>una</a:t>
            </a:r>
            <a:r>
              <a:rPr lang="en-GB" sz="1800" dirty="0"/>
              <a:t> </a:t>
            </a:r>
            <a:r>
              <a:rPr lang="en-GB" sz="1800" dirty="0" err="1"/>
              <a:t>enfermera</a:t>
            </a:r>
            <a:r>
              <a:rPr lang="en-GB" sz="1800" dirty="0"/>
              <a:t> </a:t>
            </a:r>
            <a:r>
              <a:rPr lang="en-GB" sz="1800" dirty="0" err="1"/>
              <a:t>que</a:t>
            </a:r>
            <a:r>
              <a:rPr lang="en-GB" sz="1800" dirty="0"/>
              <a:t> </a:t>
            </a:r>
            <a:r>
              <a:rPr lang="en-GB" sz="1800" dirty="0" err="1"/>
              <a:t>pasa</a:t>
            </a:r>
            <a:r>
              <a:rPr lang="en-GB" sz="1800" dirty="0"/>
              <a:t> la </a:t>
            </a:r>
            <a:r>
              <a:rPr lang="en-GB" sz="1800" dirty="0" err="1"/>
              <a:t>mañana</a:t>
            </a:r>
            <a:r>
              <a:rPr lang="en-GB" sz="1800" dirty="0"/>
              <a:t> con </a:t>
            </a:r>
            <a:r>
              <a:rPr lang="en-GB" sz="1800" dirty="0" err="1"/>
              <a:t>ella</a:t>
            </a:r>
            <a:endParaRPr lang="en-GB" sz="1800" dirty="0"/>
          </a:p>
          <a:p>
            <a:pPr>
              <a:buNone/>
            </a:pPr>
            <a:r>
              <a:rPr lang="en-GB" sz="1800" dirty="0"/>
              <a:t>‘She needs a nurse to spend the morning with her.’</a:t>
            </a:r>
          </a:p>
          <a:p>
            <a:pPr marL="0" indent="0">
              <a:buNone/>
            </a:pPr>
            <a:r>
              <a:rPr lang="en-GB" sz="1800" dirty="0" err="1"/>
              <a:t>Necesita</a:t>
            </a:r>
            <a:r>
              <a:rPr lang="en-GB" sz="1800" dirty="0"/>
              <a:t> (</a:t>
            </a:r>
            <a:r>
              <a:rPr lang="en-GB" sz="1800" b="1" dirty="0"/>
              <a:t>a</a:t>
            </a:r>
            <a:r>
              <a:rPr lang="en-GB" sz="1800" dirty="0"/>
              <a:t>) </a:t>
            </a:r>
            <a:r>
              <a:rPr lang="en-GB" sz="1800" dirty="0" err="1"/>
              <a:t>una</a:t>
            </a:r>
            <a:r>
              <a:rPr lang="en-GB" sz="1800" dirty="0"/>
              <a:t> </a:t>
            </a:r>
            <a:r>
              <a:rPr lang="en-GB" sz="1800" dirty="0" err="1"/>
              <a:t>enfermera</a:t>
            </a:r>
            <a:r>
              <a:rPr lang="en-GB" sz="1800" dirty="0"/>
              <a:t> </a:t>
            </a:r>
            <a:r>
              <a:rPr lang="en-GB" sz="1800" dirty="0" err="1"/>
              <a:t>que</a:t>
            </a:r>
            <a:r>
              <a:rPr lang="en-GB" sz="1800" dirty="0"/>
              <a:t> </a:t>
            </a:r>
            <a:r>
              <a:rPr lang="en-GB" sz="1800" dirty="0" err="1"/>
              <a:t>pase</a:t>
            </a:r>
            <a:r>
              <a:rPr lang="en-GB" sz="1800" dirty="0"/>
              <a:t> la </a:t>
            </a:r>
            <a:r>
              <a:rPr lang="en-GB" sz="1800" dirty="0" err="1"/>
              <a:t>mañana</a:t>
            </a:r>
            <a:r>
              <a:rPr lang="en-GB" sz="1800" dirty="0"/>
              <a:t> con </a:t>
            </a:r>
            <a:r>
              <a:rPr lang="en-GB" sz="1800" dirty="0" err="1"/>
              <a:t>ella</a:t>
            </a:r>
            <a:endParaRPr lang="en-GB" sz="1800" dirty="0"/>
          </a:p>
          <a:p>
            <a:pPr marL="0" indent="0">
              <a:buNone/>
            </a:pPr>
            <a:r>
              <a:rPr lang="en-GB" sz="1800" dirty="0"/>
              <a:t>‘She needs a(</a:t>
            </a:r>
            <a:r>
              <a:rPr lang="en-GB" sz="1800" dirty="0" err="1"/>
              <a:t>ny</a:t>
            </a:r>
            <a:r>
              <a:rPr lang="en-GB" sz="1800" dirty="0"/>
              <a:t>) nurse to spend the morning with her.’ (Leonetti (2004:80)) </a:t>
            </a:r>
          </a:p>
          <a:p>
            <a:pPr marL="0" indent="0">
              <a:buNone/>
            </a:pPr>
            <a:r>
              <a:rPr lang="en-GB" sz="1800" dirty="0"/>
              <a:t>(</a:t>
            </a:r>
            <a:r>
              <a:rPr lang="en-GB" sz="1800" i="1" dirty="0"/>
              <a:t>a </a:t>
            </a:r>
            <a:r>
              <a:rPr lang="en-GB" sz="1800" dirty="0"/>
              <a:t>+ mood (indicative/subjunctive))</a:t>
            </a:r>
          </a:p>
          <a:p>
            <a:pPr marL="0" indent="0">
              <a:buNone/>
            </a:pPr>
            <a:r>
              <a:rPr lang="en-GB" sz="1800" i="1" dirty="0"/>
              <a:t>A</a:t>
            </a:r>
            <a:r>
              <a:rPr lang="en-GB" sz="1800" dirty="0"/>
              <a:t> is optional, not ungrammatical, with non-specific objects (</a:t>
            </a:r>
            <a:r>
              <a:rPr lang="en-GB" sz="1800" dirty="0" err="1"/>
              <a:t>Kliffer</a:t>
            </a:r>
            <a:r>
              <a:rPr lang="en-GB" sz="1800" dirty="0"/>
              <a:t> (1995:102), Leonetti (2008:80))  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676F55-7B66-47CB-91C4-5F53C4EC512B}"/>
              </a:ext>
            </a:extLst>
          </p:cNvPr>
          <p:cNvSpPr txBox="1"/>
          <p:nvPr/>
        </p:nvSpPr>
        <p:spPr>
          <a:xfrm>
            <a:off x="0" y="6017592"/>
            <a:ext cx="7099301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/>
              <a:t>(Extended) animacy is a sufficient condition for Sp. DOM</a:t>
            </a:r>
          </a:p>
          <a:p>
            <a:r>
              <a:rPr lang="en-GB" sz="2000" dirty="0"/>
              <a:t>(non-specificity gives rise to optionality, not ungrammaticality)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9D0D6-0723-4C74-A098-91C6EBCEC142}"/>
              </a:ext>
            </a:extLst>
          </p:cNvPr>
          <p:cNvSpPr txBox="1"/>
          <p:nvPr/>
        </p:nvSpPr>
        <p:spPr>
          <a:xfrm>
            <a:off x="0" y="3789040"/>
            <a:ext cx="52920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A-marking also applies to communities and works/compositions that relate to animate objects: </a:t>
            </a:r>
          </a:p>
          <a:p>
            <a:r>
              <a:rPr lang="en-GB" dirty="0" err="1"/>
              <a:t>Estudia</a:t>
            </a:r>
            <a:r>
              <a:rPr lang="en-GB" dirty="0"/>
              <a:t> </a:t>
            </a:r>
            <a:r>
              <a:rPr lang="en-GB" b="1" dirty="0"/>
              <a:t>al</a:t>
            </a:r>
            <a:r>
              <a:rPr lang="en-GB" dirty="0"/>
              <a:t> </a:t>
            </a:r>
            <a:r>
              <a:rPr lang="en-GB" b="1" dirty="0"/>
              <a:t>pueblo de </a:t>
            </a:r>
            <a:r>
              <a:rPr lang="en-GB" b="1" dirty="0" err="1"/>
              <a:t>Numancia</a:t>
            </a:r>
            <a:endParaRPr lang="en-GB" b="1" dirty="0"/>
          </a:p>
          <a:p>
            <a:r>
              <a:rPr lang="en-GB" dirty="0"/>
              <a:t>‘S/he investigates the town of </a:t>
            </a:r>
            <a:r>
              <a:rPr lang="en-GB" dirty="0" err="1"/>
              <a:t>Numancia</a:t>
            </a:r>
            <a:r>
              <a:rPr lang="en-GB" dirty="0"/>
              <a:t> </a:t>
            </a:r>
          </a:p>
          <a:p>
            <a:r>
              <a:rPr lang="en-GB" dirty="0"/>
              <a:t>(</a:t>
            </a:r>
            <a:r>
              <a:rPr lang="en-GB" dirty="0" err="1"/>
              <a:t>Torrego</a:t>
            </a:r>
            <a:r>
              <a:rPr lang="en-GB" dirty="0"/>
              <a:t> (1999:1799))</a:t>
            </a:r>
          </a:p>
          <a:p>
            <a:r>
              <a:rPr lang="en-GB" dirty="0"/>
              <a:t>… </a:t>
            </a:r>
            <a:r>
              <a:rPr lang="en-GB" dirty="0" err="1"/>
              <a:t>tocar</a:t>
            </a:r>
            <a:r>
              <a:rPr lang="en-GB" dirty="0"/>
              <a:t> </a:t>
            </a:r>
            <a:r>
              <a:rPr lang="en-GB" dirty="0" err="1"/>
              <a:t>mucho</a:t>
            </a:r>
            <a:r>
              <a:rPr lang="en-GB" dirty="0"/>
              <a:t> </a:t>
            </a:r>
            <a:r>
              <a:rPr lang="en-GB" b="1" dirty="0"/>
              <a:t>a</a:t>
            </a:r>
            <a:r>
              <a:rPr lang="en-GB" dirty="0"/>
              <a:t> </a:t>
            </a:r>
            <a:r>
              <a:rPr lang="en-GB" b="1" dirty="0"/>
              <a:t>Beethoven</a:t>
            </a:r>
            <a:r>
              <a:rPr lang="en-GB" dirty="0"/>
              <a:t>? / he </a:t>
            </a:r>
            <a:r>
              <a:rPr lang="en-GB" dirty="0" err="1"/>
              <a:t>leído</a:t>
            </a:r>
            <a:r>
              <a:rPr lang="en-GB" dirty="0"/>
              <a:t> </a:t>
            </a:r>
            <a:r>
              <a:rPr lang="en-GB" b="1" dirty="0"/>
              <a:t>a</a:t>
            </a:r>
            <a:r>
              <a:rPr lang="en-GB" dirty="0"/>
              <a:t> </a:t>
            </a:r>
            <a:r>
              <a:rPr lang="en-GB" b="1" dirty="0"/>
              <a:t>Virgilio</a:t>
            </a:r>
            <a:r>
              <a:rPr lang="en-GB" dirty="0"/>
              <a:t> </a:t>
            </a:r>
          </a:p>
          <a:p>
            <a:r>
              <a:rPr lang="en-GB" dirty="0"/>
              <a:t>‘… to play Beethoven?’ (Laca (1995:62)) / ‘I have read Vergil.’ (Hill (1920:217))</a:t>
            </a:r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B7C08-11D5-4B39-956E-B9176DF74ACD}"/>
              </a:ext>
            </a:extLst>
          </p:cNvPr>
          <p:cNvSpPr txBox="1"/>
          <p:nvPr/>
        </p:nvSpPr>
        <p:spPr>
          <a:xfrm>
            <a:off x="5292080" y="980728"/>
            <a:ext cx="38519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Verbal markedness: kinesis applies to inanimate objects in technical scientific prose (García (2007), </a:t>
            </a:r>
            <a:r>
              <a:rPr lang="en-GB" dirty="0" err="1"/>
              <a:t>cf</a:t>
            </a:r>
            <a:r>
              <a:rPr lang="en-GB" dirty="0"/>
              <a:t> </a:t>
            </a:r>
            <a:r>
              <a:rPr lang="en-GB" dirty="0" err="1"/>
              <a:t>Weissenrieder</a:t>
            </a:r>
            <a:r>
              <a:rPr lang="en-GB" dirty="0"/>
              <a:t> (1985, 1991)):</a:t>
            </a:r>
          </a:p>
          <a:p>
            <a:r>
              <a:rPr lang="en-GB" dirty="0"/>
              <a:t>La primavera precede </a:t>
            </a:r>
            <a:r>
              <a:rPr lang="en-GB" b="1" dirty="0"/>
              <a:t>al </a:t>
            </a:r>
            <a:r>
              <a:rPr lang="en-GB" b="1" dirty="0" err="1"/>
              <a:t>verano</a:t>
            </a:r>
            <a:r>
              <a:rPr lang="en-GB" b="1" dirty="0"/>
              <a:t> </a:t>
            </a:r>
            <a:r>
              <a:rPr lang="en-GB" dirty="0"/>
              <a:t>/ las </a:t>
            </a:r>
            <a:r>
              <a:rPr lang="en-GB" dirty="0" err="1"/>
              <a:t>dificultades</a:t>
            </a:r>
            <a:r>
              <a:rPr lang="en-GB" dirty="0"/>
              <a:t> </a:t>
            </a:r>
            <a:r>
              <a:rPr lang="en-GB" dirty="0" err="1"/>
              <a:t>privan</a:t>
            </a:r>
            <a:r>
              <a:rPr lang="en-GB" dirty="0"/>
              <a:t> </a:t>
            </a:r>
            <a:r>
              <a:rPr lang="en-GB" b="1" dirty="0"/>
              <a:t>al </a:t>
            </a:r>
            <a:r>
              <a:rPr lang="en-GB" b="1" dirty="0" err="1"/>
              <a:t>proyecto</a:t>
            </a:r>
            <a:r>
              <a:rPr lang="en-GB" b="1" dirty="0"/>
              <a:t> </a:t>
            </a:r>
            <a:r>
              <a:rPr lang="en-GB" dirty="0"/>
              <a:t>de </a:t>
            </a:r>
            <a:r>
              <a:rPr lang="en-GB" dirty="0" err="1"/>
              <a:t>todo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atractivo</a:t>
            </a:r>
            <a:r>
              <a:rPr lang="en-GB" dirty="0"/>
              <a:t> </a:t>
            </a:r>
            <a:r>
              <a:rPr lang="en-GB" dirty="0" err="1"/>
              <a:t>inicial</a:t>
            </a:r>
            <a:endParaRPr lang="en-GB" dirty="0"/>
          </a:p>
          <a:p>
            <a:r>
              <a:rPr lang="en-GB" dirty="0"/>
              <a:t>‘Spring precedes winter’ / ‘difficulties deprive the project of all its initial attractiveness (Laca (1995:67))</a:t>
            </a:r>
          </a:p>
          <a:p>
            <a:r>
              <a:rPr lang="en-GB" dirty="0"/>
              <a:t>El </a:t>
            </a:r>
            <a:r>
              <a:rPr lang="en-GB" dirty="0" err="1"/>
              <a:t>adjetivo</a:t>
            </a:r>
            <a:r>
              <a:rPr lang="en-GB" dirty="0"/>
              <a:t> </a:t>
            </a:r>
            <a:r>
              <a:rPr lang="en-GB" dirty="0" err="1"/>
              <a:t>modifica</a:t>
            </a:r>
            <a:r>
              <a:rPr lang="en-GB" dirty="0"/>
              <a:t> </a:t>
            </a:r>
            <a:r>
              <a:rPr lang="en-GB" b="1" dirty="0"/>
              <a:t>al </a:t>
            </a:r>
            <a:r>
              <a:rPr lang="en-GB" b="1" dirty="0" err="1"/>
              <a:t>sustantivo</a:t>
            </a:r>
            <a:r>
              <a:rPr lang="en-GB" b="1" dirty="0"/>
              <a:t> </a:t>
            </a:r>
            <a:r>
              <a:rPr lang="en-GB" dirty="0"/>
              <a:t>(</a:t>
            </a:r>
            <a:r>
              <a:rPr lang="en-GB" dirty="0" err="1"/>
              <a:t>Torrego</a:t>
            </a:r>
            <a:r>
              <a:rPr lang="en-GB" dirty="0"/>
              <a:t> (1999:1801))</a:t>
            </a:r>
          </a:p>
          <a:p>
            <a:r>
              <a:rPr lang="en-GB" dirty="0"/>
              <a:t>Los </a:t>
            </a:r>
            <a:r>
              <a:rPr lang="en-GB" dirty="0" err="1"/>
              <a:t>ácidos</a:t>
            </a:r>
            <a:r>
              <a:rPr lang="en-GB" dirty="0"/>
              <a:t> </a:t>
            </a:r>
            <a:r>
              <a:rPr lang="en-GB" dirty="0" err="1"/>
              <a:t>atacan</a:t>
            </a:r>
            <a:r>
              <a:rPr lang="en-GB" dirty="0"/>
              <a:t> </a:t>
            </a:r>
            <a:r>
              <a:rPr lang="en-GB" b="1" dirty="0"/>
              <a:t>a </a:t>
            </a:r>
            <a:r>
              <a:rPr lang="en-GB" b="1" dirty="0" err="1"/>
              <a:t>los</a:t>
            </a:r>
            <a:r>
              <a:rPr lang="en-GB" b="1" dirty="0"/>
              <a:t> </a:t>
            </a:r>
            <a:r>
              <a:rPr lang="en-GB" b="1" dirty="0" err="1"/>
              <a:t>metales</a:t>
            </a:r>
            <a:r>
              <a:rPr lang="en-GB" b="1" dirty="0"/>
              <a:t> </a:t>
            </a:r>
          </a:p>
          <a:p>
            <a:r>
              <a:rPr lang="en-GB" dirty="0"/>
              <a:t>(</a:t>
            </a:r>
            <a:r>
              <a:rPr lang="en-GB" dirty="0" err="1"/>
              <a:t>Mohlo</a:t>
            </a:r>
            <a:r>
              <a:rPr lang="en-GB" dirty="0"/>
              <a:t> (1958:214))</a:t>
            </a:r>
          </a:p>
          <a:p>
            <a:r>
              <a:rPr lang="en-GB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6682C-BB4F-43F3-BAF9-4298D2E9C43F}"/>
              </a:ext>
            </a:extLst>
          </p:cNvPr>
          <p:cNvSpPr txBox="1"/>
          <p:nvPr/>
        </p:nvSpPr>
        <p:spPr>
          <a:xfrm>
            <a:off x="4933951" y="4824234"/>
            <a:ext cx="43307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/>
              <a:t>Verbal kinesis independently triggers DOM, since even inanimate objects can be marked by affective verbs</a:t>
            </a:r>
          </a:p>
        </p:txBody>
      </p:sp>
    </p:spTree>
    <p:extLst>
      <p:ext uri="{BB962C8B-B14F-4D97-AF65-F5344CB8AC3E}">
        <p14:creationId xmlns:p14="http://schemas.microsoft.com/office/powerpoint/2010/main" val="25878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2"/>
      <p:bldP spid="8" grpId="0"/>
      <p:bldP spid="11" grpId="0"/>
      <p:bldP spid="14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0BA19-6F70-4454-9D1C-5D887C29A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36711"/>
          </a:xfrm>
        </p:spPr>
        <p:txBody>
          <a:bodyPr>
            <a:normAutofit/>
          </a:bodyPr>
          <a:lstStyle/>
          <a:p>
            <a:pPr algn="ctr"/>
            <a:r>
              <a:rPr lang="en-GB" sz="2800" dirty="0"/>
              <a:t>Typology of Differential Object Marking (Catalán)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2FE07-1D97-419B-8C4B-3CDD52C1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4349"/>
            <a:ext cx="9144000" cy="4519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Catalán (bilingual processing between Spanish and Catalán): genuine Catalán or borrowing from Spanish? Despite normative/prescriptive pressures, DOM exists in colloquial Catalán (Escandell-Vidal (2007, 2009), Benito (2013), Pineda (2021)). </a:t>
            </a:r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424B35-71DF-4A2F-B6AF-96454DF83665}"/>
              </a:ext>
            </a:extLst>
          </p:cNvPr>
          <p:cNvSpPr txBox="1">
            <a:spLocks/>
          </p:cNvSpPr>
          <p:nvPr/>
        </p:nvSpPr>
        <p:spPr>
          <a:xfrm>
            <a:off x="0" y="1267968"/>
            <a:ext cx="4427984" cy="47312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Nominal: animacy / referentiality</a:t>
            </a:r>
          </a:p>
          <a:p>
            <a:r>
              <a:rPr lang="en-GB" dirty="0"/>
              <a:t>Personal Pronouns: </a:t>
            </a:r>
          </a:p>
          <a:p>
            <a:r>
              <a:rPr lang="en-US" i="1" dirty="0"/>
              <a:t>Jo </a:t>
            </a:r>
            <a:r>
              <a:rPr lang="en-US" i="1" dirty="0" err="1"/>
              <a:t>t’ajudo</a:t>
            </a:r>
            <a:r>
              <a:rPr lang="en-US" i="1" dirty="0"/>
              <a:t> </a:t>
            </a:r>
            <a:r>
              <a:rPr lang="en-US" b="1" i="1" dirty="0"/>
              <a:t>a</a:t>
            </a:r>
            <a:r>
              <a:rPr lang="en-US" i="1" dirty="0"/>
              <a:t> </a:t>
            </a:r>
            <a:r>
              <a:rPr lang="en-US" i="1" dirty="0" err="1"/>
              <a:t>tu</a:t>
            </a:r>
            <a:r>
              <a:rPr lang="en-US" i="1" dirty="0"/>
              <a:t>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i="1" dirty="0" err="1"/>
              <a:t>tu</a:t>
            </a:r>
            <a:r>
              <a:rPr lang="en-US" i="1" dirty="0"/>
              <a:t> </a:t>
            </a:r>
            <a:r>
              <a:rPr lang="en-US" i="1" dirty="0" err="1"/>
              <a:t>m’ajudaràs</a:t>
            </a:r>
            <a:r>
              <a:rPr lang="en-US" i="1" dirty="0"/>
              <a:t> </a:t>
            </a:r>
            <a:r>
              <a:rPr lang="en-US" b="1" i="1" dirty="0"/>
              <a:t>a</a:t>
            </a:r>
            <a:r>
              <a:rPr lang="en-US" i="1" dirty="0"/>
              <a:t> mi </a:t>
            </a:r>
            <a:r>
              <a:rPr lang="en-US" dirty="0"/>
              <a:t>‘I help you and you will help me’ (Spoken Catalán) (Escandell-Vidal (2007, 2009))</a:t>
            </a:r>
          </a:p>
          <a:p>
            <a:r>
              <a:rPr lang="en-US" dirty="0"/>
              <a:t>Proper Names, common animate nouns and other pronouns (optional):</a:t>
            </a:r>
          </a:p>
          <a:p>
            <a:r>
              <a:rPr lang="en-US" i="1" dirty="0" err="1"/>
              <a:t>veuré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b="1" i="1" dirty="0"/>
              <a:t>a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b="1" i="1" dirty="0"/>
              <a:t>la Maria </a:t>
            </a:r>
            <a:r>
              <a:rPr lang="en-US" dirty="0"/>
              <a:t>‘I shall see Maria’ </a:t>
            </a:r>
          </a:p>
          <a:p>
            <a:r>
              <a:rPr lang="en-US" dirty="0"/>
              <a:t>(Escandell-Vidal (2007, 2009))</a:t>
            </a:r>
          </a:p>
          <a:p>
            <a:r>
              <a:rPr lang="en-US" dirty="0"/>
              <a:t>Les </a:t>
            </a:r>
            <a:r>
              <a:rPr lang="en-US" dirty="0" err="1"/>
              <a:t>monges</a:t>
            </a:r>
            <a:r>
              <a:rPr lang="en-US" dirty="0"/>
              <a:t> no </a:t>
            </a:r>
            <a:r>
              <a:rPr lang="en-US" dirty="0" err="1"/>
              <a:t>estimen</a:t>
            </a:r>
            <a:r>
              <a:rPr lang="en-US" dirty="0"/>
              <a:t> (</a:t>
            </a:r>
            <a:r>
              <a:rPr lang="en-US" b="1" dirty="0"/>
              <a:t>a</a:t>
            </a:r>
            <a:r>
              <a:rPr lang="en-US" dirty="0"/>
              <a:t>/</a:t>
            </a:r>
            <a:r>
              <a:rPr lang="en-US" b="1" dirty="0"/>
              <a:t>ana</a:t>
            </a:r>
            <a:r>
              <a:rPr lang="en-US" dirty="0"/>
              <a:t>) </a:t>
            </a:r>
            <a:r>
              <a:rPr lang="en-US" b="1" dirty="0"/>
              <a:t>les </a:t>
            </a:r>
            <a:r>
              <a:rPr lang="en-US" b="1" dirty="0" err="1"/>
              <a:t>nenes</a:t>
            </a:r>
            <a:endParaRPr lang="en-US" b="1" dirty="0"/>
          </a:p>
          <a:p>
            <a:r>
              <a:rPr lang="en-US" dirty="0"/>
              <a:t>‘The nuns do not like the girls.’ </a:t>
            </a:r>
          </a:p>
          <a:p>
            <a:r>
              <a:rPr lang="en-US" dirty="0"/>
              <a:t>(Escandell-Vidal (2009:840))</a:t>
            </a:r>
          </a:p>
          <a:p>
            <a:r>
              <a:rPr lang="en-US" i="1" dirty="0"/>
              <a:t>(</a:t>
            </a:r>
            <a:r>
              <a:rPr lang="en-US" b="1" i="1" dirty="0"/>
              <a:t>a</a:t>
            </a:r>
            <a:r>
              <a:rPr lang="en-US" i="1" dirty="0"/>
              <a:t>) </a:t>
            </a:r>
            <a:r>
              <a:rPr lang="en-US" b="1" i="1" dirty="0"/>
              <a:t>qui</a:t>
            </a:r>
            <a:r>
              <a:rPr lang="en-US" i="1" dirty="0"/>
              <a:t> ha </a:t>
            </a:r>
            <a:r>
              <a:rPr lang="en-US" i="1" dirty="0" err="1"/>
              <a:t>vist</a:t>
            </a:r>
            <a:r>
              <a:rPr lang="en-US" i="1" dirty="0"/>
              <a:t> </a:t>
            </a:r>
            <a:r>
              <a:rPr lang="en-US" i="1" dirty="0" err="1"/>
              <a:t>en</a:t>
            </a:r>
            <a:r>
              <a:rPr lang="en-US" i="1" dirty="0"/>
              <a:t> Miquel</a:t>
            </a:r>
            <a:r>
              <a:rPr lang="en-US" dirty="0"/>
              <a:t>? /</a:t>
            </a:r>
            <a:endParaRPr lang="en-US" i="1" dirty="0"/>
          </a:p>
          <a:p>
            <a:r>
              <a:rPr lang="en-US" i="1" dirty="0" err="1"/>
              <a:t>Aquí</a:t>
            </a:r>
            <a:r>
              <a:rPr lang="en-US" i="1" dirty="0"/>
              <a:t> </a:t>
            </a:r>
            <a:r>
              <a:rPr lang="en-US" i="1" dirty="0" err="1"/>
              <a:t>premien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b="1" i="1" dirty="0"/>
              <a:t>a</a:t>
            </a:r>
            <a:r>
              <a:rPr lang="en-US" dirty="0"/>
              <a:t>) </a:t>
            </a:r>
            <a:r>
              <a:rPr lang="en-US" b="1" i="1" dirty="0" err="1"/>
              <a:t>qualsevol</a:t>
            </a:r>
            <a:r>
              <a:rPr lang="en-US" i="1" dirty="0"/>
              <a:t> / </a:t>
            </a:r>
          </a:p>
          <a:p>
            <a:r>
              <a:rPr lang="en-US" i="1" dirty="0" err="1"/>
              <a:t>Això</a:t>
            </a:r>
            <a:r>
              <a:rPr lang="en-US" i="1" dirty="0"/>
              <a:t> </a:t>
            </a:r>
            <a:r>
              <a:rPr lang="en-US" i="1" dirty="0" err="1"/>
              <a:t>afectarà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b="1" i="1" dirty="0"/>
              <a:t>a</a:t>
            </a:r>
            <a:r>
              <a:rPr lang="en-US" dirty="0"/>
              <a:t>) </a:t>
            </a:r>
            <a:r>
              <a:rPr lang="en-US" b="1" i="1" dirty="0"/>
              <a:t>molts</a:t>
            </a:r>
            <a:endParaRPr lang="en-US" b="1" dirty="0"/>
          </a:p>
          <a:p>
            <a:r>
              <a:rPr lang="en-US" dirty="0"/>
              <a:t>‘Who has Miquel seen?’ / ‘Here they award anyone’ / </a:t>
            </a:r>
          </a:p>
          <a:p>
            <a:r>
              <a:rPr lang="en-US" dirty="0"/>
              <a:t>‘This will affect many people’ (Pineda (2021))</a:t>
            </a:r>
          </a:p>
          <a:p>
            <a:endParaRPr lang="en-US" dirty="0"/>
          </a:p>
          <a:p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09F53-E985-462E-B662-142411E072D0}"/>
              </a:ext>
            </a:extLst>
          </p:cNvPr>
          <p:cNvSpPr txBox="1"/>
          <p:nvPr/>
        </p:nvSpPr>
        <p:spPr>
          <a:xfrm>
            <a:off x="4716018" y="1217402"/>
            <a:ext cx="4427982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Verbal : affectedness on inanimate objects:  </a:t>
            </a:r>
          </a:p>
          <a:p>
            <a:r>
              <a:rPr lang="en-GB" sz="1600" dirty="0"/>
              <a:t>Com </a:t>
            </a:r>
            <a:r>
              <a:rPr lang="en-GB" sz="1600" dirty="0" err="1"/>
              <a:t>penseu</a:t>
            </a:r>
            <a:r>
              <a:rPr lang="en-GB" sz="1600" dirty="0"/>
              <a:t> </a:t>
            </a:r>
            <a:r>
              <a:rPr lang="en-GB" sz="1600" dirty="0" err="1"/>
              <a:t>que</a:t>
            </a:r>
            <a:r>
              <a:rPr lang="en-GB" sz="1600" dirty="0"/>
              <a:t> </a:t>
            </a:r>
            <a:r>
              <a:rPr lang="en-GB" sz="1600" dirty="0" err="1"/>
              <a:t>afectarà</a:t>
            </a:r>
            <a:r>
              <a:rPr lang="en-GB" sz="1600" dirty="0"/>
              <a:t> </a:t>
            </a:r>
            <a:r>
              <a:rPr lang="en-GB" sz="1600" dirty="0" err="1"/>
              <a:t>el</a:t>
            </a:r>
            <a:r>
              <a:rPr lang="en-GB" sz="1600" dirty="0"/>
              <a:t> </a:t>
            </a:r>
            <a:r>
              <a:rPr lang="en-GB" sz="1600" dirty="0" err="1"/>
              <a:t>món</a:t>
            </a:r>
            <a:r>
              <a:rPr lang="en-GB" sz="1600" dirty="0"/>
              <a:t> </a:t>
            </a:r>
            <a:r>
              <a:rPr lang="en-GB" sz="1600" dirty="0" err="1"/>
              <a:t>d’Internet</a:t>
            </a:r>
            <a:r>
              <a:rPr lang="en-GB" sz="1600" dirty="0"/>
              <a:t> </a:t>
            </a:r>
            <a:r>
              <a:rPr lang="en-GB" sz="1600" b="1" dirty="0"/>
              <a:t>a</a:t>
            </a:r>
            <a:r>
              <a:rPr lang="en-GB" sz="1600" dirty="0"/>
              <a:t> </a:t>
            </a:r>
            <a:r>
              <a:rPr lang="en-GB" sz="1600" b="1" dirty="0" err="1"/>
              <a:t>l’economia</a:t>
            </a:r>
            <a:r>
              <a:rPr lang="en-GB" sz="1600" b="1" dirty="0"/>
              <a:t> </a:t>
            </a:r>
            <a:r>
              <a:rPr lang="en-GB" sz="1600" b="1" dirty="0" err="1"/>
              <a:t>mundial</a:t>
            </a:r>
            <a:r>
              <a:rPr lang="en-GB" sz="1600" dirty="0"/>
              <a:t>? </a:t>
            </a:r>
          </a:p>
          <a:p>
            <a:r>
              <a:rPr lang="en-GB" sz="1600" dirty="0"/>
              <a:t>‘How do you think the world of the Internet will affect global economy?’ (Pineda (2021:249))</a:t>
            </a:r>
          </a:p>
          <a:p>
            <a:r>
              <a:rPr lang="en-GB" sz="1600" dirty="0"/>
              <a:t>Els determinants </a:t>
            </a:r>
            <a:r>
              <a:rPr lang="en-GB" sz="1600" dirty="0" err="1"/>
              <a:t>acompanyen</a:t>
            </a:r>
            <a:r>
              <a:rPr lang="en-GB" sz="1600" dirty="0"/>
              <a:t> </a:t>
            </a:r>
            <a:r>
              <a:rPr lang="en-GB" sz="1600" b="1" dirty="0" err="1"/>
              <a:t>als</a:t>
            </a:r>
            <a:r>
              <a:rPr lang="en-GB" sz="1600" b="1" dirty="0"/>
              <a:t> noms </a:t>
            </a:r>
            <a:r>
              <a:rPr lang="en-GB" sz="1600" dirty="0"/>
              <a:t>/ </a:t>
            </a:r>
          </a:p>
          <a:p>
            <a:r>
              <a:rPr lang="en-GB" sz="1600" dirty="0"/>
              <a:t>… pot </a:t>
            </a:r>
            <a:r>
              <a:rPr lang="en-GB" sz="1600" dirty="0" err="1"/>
              <a:t>modificar</a:t>
            </a:r>
            <a:r>
              <a:rPr lang="en-GB" sz="1600" dirty="0"/>
              <a:t> </a:t>
            </a:r>
            <a:r>
              <a:rPr lang="en-GB" sz="1600" b="1" dirty="0"/>
              <a:t>a un </a:t>
            </a:r>
            <a:r>
              <a:rPr lang="en-GB" sz="1600" b="1" dirty="0" err="1"/>
              <a:t>adjectiu</a:t>
            </a:r>
            <a:r>
              <a:rPr lang="en-GB" sz="1600" b="1" dirty="0"/>
              <a:t> </a:t>
            </a:r>
            <a:r>
              <a:rPr lang="en-GB" sz="1600" dirty="0"/>
              <a:t>/ Aquest </a:t>
            </a:r>
            <a:r>
              <a:rPr lang="en-GB" sz="1600" dirty="0" err="1"/>
              <a:t>és</a:t>
            </a:r>
            <a:r>
              <a:rPr lang="en-GB" sz="1600" dirty="0"/>
              <a:t> </a:t>
            </a:r>
            <a:r>
              <a:rPr lang="en-GB" sz="1600" dirty="0" err="1"/>
              <a:t>l’objectiu</a:t>
            </a:r>
            <a:r>
              <a:rPr lang="en-GB" sz="1600" dirty="0"/>
              <a:t> </a:t>
            </a:r>
            <a:r>
              <a:rPr lang="en-GB" sz="1600" dirty="0" err="1"/>
              <a:t>que</a:t>
            </a:r>
            <a:r>
              <a:rPr lang="en-GB" sz="1600" dirty="0"/>
              <a:t> </a:t>
            </a:r>
            <a:r>
              <a:rPr lang="en-GB" sz="1600" dirty="0" err="1"/>
              <a:t>defineix</a:t>
            </a:r>
            <a:r>
              <a:rPr lang="en-GB" sz="1600" dirty="0"/>
              <a:t> </a:t>
            </a:r>
            <a:r>
              <a:rPr lang="en-GB" sz="1600" b="1" dirty="0"/>
              <a:t>a</a:t>
            </a:r>
            <a:r>
              <a:rPr lang="en-GB" sz="1600" dirty="0"/>
              <a:t> </a:t>
            </a:r>
            <a:r>
              <a:rPr lang="en-GB" sz="1600" b="1" dirty="0"/>
              <a:t>la </a:t>
            </a:r>
            <a:r>
              <a:rPr lang="en-GB" sz="1600" b="1" dirty="0" err="1"/>
              <a:t>biolinguística</a:t>
            </a:r>
            <a:endParaRPr lang="en-GB" sz="1600" b="1" dirty="0"/>
          </a:p>
          <a:p>
            <a:r>
              <a:rPr lang="en-GB" sz="1600" dirty="0"/>
              <a:t>‘Determiners accompany nouns/… can modify an adjective / this is the objective that defines biolinguistics.’ (Pineda (2021:250))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A7FF24-8327-4C32-94EC-1CDCF031DF8D}"/>
              </a:ext>
            </a:extLst>
          </p:cNvPr>
          <p:cNvSpPr txBox="1"/>
          <p:nvPr/>
        </p:nvSpPr>
        <p:spPr>
          <a:xfrm>
            <a:off x="3013244" y="3923528"/>
            <a:ext cx="6234387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Like Spanish, affective verbs can independently trigger DOM (</a:t>
            </a:r>
            <a:r>
              <a:rPr lang="en-US" b="1" i="1" dirty="0"/>
              <a:t>ad</a:t>
            </a:r>
            <a:r>
              <a:rPr lang="en-US" b="1" dirty="0"/>
              <a:t>-marked inanimate objects).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0F69DAF-3818-419C-B4DA-41184E8D8AF8}"/>
              </a:ext>
            </a:extLst>
          </p:cNvPr>
          <p:cNvSpPr txBox="1">
            <a:spLocks/>
          </p:cNvSpPr>
          <p:nvPr/>
        </p:nvSpPr>
        <p:spPr>
          <a:xfrm>
            <a:off x="0" y="6239748"/>
            <a:ext cx="54132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GB" sz="1800" b="1" dirty="0"/>
              <a:t>DOM is obligatory on personal pronouns. </a:t>
            </a:r>
            <a:endParaRPr lang="en-GB" sz="18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8F1BB-B26D-B3C8-E501-C151545E52A1}"/>
              </a:ext>
            </a:extLst>
          </p:cNvPr>
          <p:cNvSpPr txBox="1"/>
          <p:nvPr/>
        </p:nvSpPr>
        <p:spPr>
          <a:xfrm>
            <a:off x="4242815" y="4435870"/>
            <a:ext cx="49011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Topical: in Balearic Catalán, dislocated inanimate objects can also be marked:   </a:t>
            </a:r>
          </a:p>
          <a:p>
            <a:r>
              <a:rPr lang="en-GB" b="1" dirty="0"/>
              <a:t>An </a:t>
            </a:r>
            <a:r>
              <a:rPr lang="en-GB" b="1" dirty="0" err="1"/>
              <a:t>aquesta</a:t>
            </a:r>
            <a:r>
              <a:rPr lang="en-GB" b="1" dirty="0"/>
              <a:t> </a:t>
            </a:r>
            <a:r>
              <a:rPr lang="en-GB" b="1" dirty="0" err="1"/>
              <a:t>darrera</a:t>
            </a:r>
            <a:r>
              <a:rPr lang="en-GB" b="1" dirty="0"/>
              <a:t> </a:t>
            </a:r>
            <a:r>
              <a:rPr lang="en-GB" b="1" dirty="0" err="1"/>
              <a:t>frase</a:t>
            </a:r>
            <a:r>
              <a:rPr lang="en-GB" b="1" dirty="0"/>
              <a:t> </a:t>
            </a:r>
            <a:r>
              <a:rPr lang="en-GB" dirty="0" err="1"/>
              <a:t>noltros</a:t>
            </a:r>
            <a:r>
              <a:rPr lang="en-GB" dirty="0"/>
              <a:t> la </a:t>
            </a:r>
            <a:r>
              <a:rPr lang="en-GB" dirty="0" err="1"/>
              <a:t>diríem</a:t>
            </a:r>
            <a:r>
              <a:rPr lang="en-GB" dirty="0"/>
              <a:t> </a:t>
            </a:r>
            <a:r>
              <a:rPr lang="en-GB" dirty="0" err="1"/>
              <a:t>així</a:t>
            </a:r>
            <a:r>
              <a:rPr lang="en-GB" dirty="0"/>
              <a:t> ‘This last sentence, we would say it like this.’ (Escandell-Vidal (2009:847))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818AC-4C12-6CF3-076B-7742A7E868C0}"/>
              </a:ext>
            </a:extLst>
          </p:cNvPr>
          <p:cNvSpPr txBox="1"/>
          <p:nvPr/>
        </p:nvSpPr>
        <p:spPr>
          <a:xfrm>
            <a:off x="4242815" y="5827100"/>
            <a:ext cx="4901185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In Balearic Catalán, topicality can also independently trigger DOM on dislocated inanimate objects. </a:t>
            </a:r>
          </a:p>
        </p:txBody>
      </p:sp>
    </p:spTree>
    <p:extLst>
      <p:ext uri="{BB962C8B-B14F-4D97-AF65-F5344CB8AC3E}">
        <p14:creationId xmlns:p14="http://schemas.microsoft.com/office/powerpoint/2010/main" val="26528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14" grpId="0"/>
      <p:bldP spid="15" grpId="0"/>
      <p:bldP spid="5" grpId="0"/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45EF-AD2D-4443-A5A8-332BC6A8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08719"/>
          </a:xfrm>
        </p:spPr>
        <p:txBody>
          <a:bodyPr>
            <a:normAutofit/>
          </a:bodyPr>
          <a:lstStyle/>
          <a:p>
            <a:r>
              <a:rPr lang="en-GB" sz="2800"/>
              <a:t>Typology of Differential Object Marking (Italian dialects)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6DF56-B4F5-4E3F-84D8-0C285D7BF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4" y="602204"/>
            <a:ext cx="9144000" cy="4386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Central-southern Italian dialects (including Sardinian) (</a:t>
            </a:r>
            <a:r>
              <a:rPr lang="en-GB" sz="2000" dirty="0" err="1"/>
              <a:t>Ledgeway</a:t>
            </a:r>
            <a:r>
              <a:rPr lang="en-GB" sz="2000" dirty="0"/>
              <a:t> (2018, 2023))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E4D9D6-D643-49D2-B29F-A3C3A56BB577}"/>
              </a:ext>
            </a:extLst>
          </p:cNvPr>
          <p:cNvSpPr txBox="1">
            <a:spLocks/>
          </p:cNvSpPr>
          <p:nvPr/>
        </p:nvSpPr>
        <p:spPr>
          <a:xfrm>
            <a:off x="1518" y="908720"/>
            <a:ext cx="4483652" cy="4218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Nominal: animacy / referentiality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8F1700-EEA5-4D7E-8B0D-C623CEE4BE55}"/>
              </a:ext>
            </a:extLst>
          </p:cNvPr>
          <p:cNvSpPr txBox="1"/>
          <p:nvPr/>
        </p:nvSpPr>
        <p:spPr>
          <a:xfrm>
            <a:off x="4302268" y="908720"/>
            <a:ext cx="5091042" cy="13542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Verbal : affectedness on inanimate objects:  </a:t>
            </a:r>
          </a:p>
          <a:p>
            <a:r>
              <a:rPr lang="en-GB" sz="1600" dirty="0"/>
              <a:t>U </a:t>
            </a:r>
            <a:r>
              <a:rPr lang="en-GB" sz="1600" dirty="0" err="1"/>
              <a:t>stagnare</a:t>
            </a:r>
            <a:r>
              <a:rPr lang="en-GB" sz="1600" dirty="0"/>
              <a:t> </a:t>
            </a:r>
            <a:r>
              <a:rPr lang="en-GB" sz="1600" dirty="0" err="1"/>
              <a:t>squagghje</a:t>
            </a:r>
            <a:r>
              <a:rPr lang="en-GB" sz="1600" dirty="0"/>
              <a:t> (*</a:t>
            </a:r>
            <a:r>
              <a:rPr lang="en-GB" sz="1600" b="1" dirty="0"/>
              <a:t>a</a:t>
            </a:r>
            <a:r>
              <a:rPr lang="en-GB" sz="1600" dirty="0"/>
              <a:t>) u </a:t>
            </a:r>
            <a:r>
              <a:rPr lang="en-GB" sz="1600" dirty="0" err="1"/>
              <a:t>ffierre</a:t>
            </a:r>
            <a:r>
              <a:rPr lang="en-GB" sz="1600" dirty="0"/>
              <a:t> </a:t>
            </a:r>
          </a:p>
          <a:p>
            <a:r>
              <a:rPr lang="en-GB" sz="1600" dirty="0"/>
              <a:t>‘The tinsmith melts iron.’ (Andriani (2015:70))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GB" sz="1600" dirty="0"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020BE-CD81-44A7-8008-01A9F2BB458B}"/>
              </a:ext>
            </a:extLst>
          </p:cNvPr>
          <p:cNvSpPr txBox="1"/>
          <p:nvPr/>
        </p:nvSpPr>
        <p:spPr>
          <a:xfrm>
            <a:off x="-10492" y="4070821"/>
            <a:ext cx="4576971" cy="23698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DOM applies to toponyms denoting communities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but not to literary/musical works: </a:t>
            </a:r>
            <a:endParaRPr lang="en-GB" sz="1600" dirty="0">
              <a:ea typeface="Calibri"/>
              <a:cs typeface="Calibri"/>
            </a:endParaRPr>
          </a:p>
          <a:p>
            <a:r>
              <a:rPr lang="en-GB" sz="1600" dirty="0">
                <a:ea typeface="Calibri"/>
                <a:cs typeface="Calibri"/>
              </a:rPr>
              <a:t>Appo </a:t>
            </a:r>
            <a:r>
              <a:rPr lang="en-GB" sz="1600" dirty="0" err="1">
                <a:ea typeface="Calibri"/>
                <a:cs typeface="Calibri"/>
              </a:rPr>
              <a:t>vistu</a:t>
            </a:r>
            <a:r>
              <a:rPr lang="en-GB" sz="1600" dirty="0">
                <a:ea typeface="Calibri"/>
                <a:cs typeface="Calibri"/>
              </a:rPr>
              <a:t> </a:t>
            </a:r>
            <a:r>
              <a:rPr lang="en-GB" sz="1600" b="1" dirty="0">
                <a:ea typeface="Calibri"/>
                <a:cs typeface="Calibri"/>
              </a:rPr>
              <a:t>a</a:t>
            </a:r>
            <a:r>
              <a:rPr lang="en-GB" sz="1600" dirty="0">
                <a:ea typeface="Calibri"/>
                <a:cs typeface="Calibri"/>
              </a:rPr>
              <a:t> Napoli / </a:t>
            </a:r>
            <a:r>
              <a:rPr lang="en-GB" sz="1600" dirty="0" err="1">
                <a:ea typeface="Calibri"/>
                <a:cs typeface="Calibri"/>
              </a:rPr>
              <a:t>soccorrere</a:t>
            </a:r>
            <a:r>
              <a:rPr lang="en-GB" sz="1600" dirty="0">
                <a:ea typeface="Calibri"/>
                <a:cs typeface="Calibri"/>
              </a:rPr>
              <a:t> </a:t>
            </a:r>
            <a:r>
              <a:rPr lang="en-GB" sz="1600" b="1" dirty="0">
                <a:ea typeface="Calibri"/>
                <a:cs typeface="Calibri"/>
              </a:rPr>
              <a:t>a</a:t>
            </a:r>
            <a:r>
              <a:rPr lang="en-GB" sz="1600" dirty="0">
                <a:ea typeface="Calibri"/>
                <a:cs typeface="Calibri"/>
              </a:rPr>
              <a:t> la </a:t>
            </a:r>
            <a:r>
              <a:rPr lang="en-GB" sz="1600" dirty="0" err="1">
                <a:ea typeface="Calibri"/>
                <a:cs typeface="Calibri"/>
              </a:rPr>
              <a:t>cittate</a:t>
            </a:r>
            <a:r>
              <a:rPr lang="en-GB" sz="1600" dirty="0">
                <a:ea typeface="Calibri"/>
                <a:cs typeface="Calibri"/>
              </a:rPr>
              <a:t> loro </a:t>
            </a:r>
            <a:endParaRPr lang="en-US" sz="1600" dirty="0">
              <a:ea typeface="Calibri"/>
              <a:cs typeface="Calibri"/>
            </a:endParaRPr>
          </a:p>
          <a:p>
            <a:r>
              <a:rPr lang="en-GB" sz="1600" dirty="0">
                <a:ea typeface="Calibri"/>
                <a:cs typeface="Calibri"/>
              </a:rPr>
              <a:t>‘I saw Napoli.’ (Sardinian) (Jones (1995:38))</a:t>
            </a:r>
            <a:endParaRPr lang="en-US" sz="1600" dirty="0">
              <a:ea typeface="Calibri"/>
              <a:cs typeface="Calibri"/>
            </a:endParaRPr>
          </a:p>
          <a:p>
            <a:r>
              <a:rPr lang="en-GB" sz="1600" dirty="0">
                <a:ea typeface="Calibri"/>
                <a:cs typeface="Calibri"/>
              </a:rPr>
              <a:t>/’to help their city’ (Neapolitan (Fiorentino(2003:124))</a:t>
            </a:r>
            <a:endParaRPr lang="en-US" sz="1600" dirty="0">
              <a:ea typeface="Calibri"/>
              <a:cs typeface="Calibri"/>
            </a:endParaRPr>
          </a:p>
          <a:p>
            <a:r>
              <a:rPr lang="en-GB" sz="1600" dirty="0">
                <a:ea typeface="Calibri"/>
                <a:cs typeface="Calibri"/>
              </a:rPr>
              <a:t>Appo </a:t>
            </a:r>
            <a:r>
              <a:rPr lang="en-GB" sz="1600" dirty="0" err="1">
                <a:ea typeface="Calibri"/>
                <a:cs typeface="Calibri"/>
              </a:rPr>
              <a:t>leggidu</a:t>
            </a:r>
            <a:r>
              <a:rPr lang="en-GB" sz="1600" dirty="0">
                <a:ea typeface="Calibri"/>
                <a:cs typeface="Calibri"/>
              </a:rPr>
              <a:t> (*</a:t>
            </a:r>
            <a:r>
              <a:rPr lang="en-GB" sz="1600" b="1" dirty="0">
                <a:ea typeface="Calibri"/>
                <a:cs typeface="Calibri"/>
              </a:rPr>
              <a:t>a</a:t>
            </a:r>
            <a:r>
              <a:rPr lang="en-GB" sz="1600" dirty="0">
                <a:ea typeface="Calibri"/>
                <a:cs typeface="Calibri"/>
              </a:rPr>
              <a:t>) Platone</a:t>
            </a:r>
          </a:p>
          <a:p>
            <a:r>
              <a:rPr lang="en-GB" sz="1600" dirty="0">
                <a:ea typeface="Calibri"/>
                <a:cs typeface="Calibri"/>
              </a:rPr>
              <a:t>‘I read Plato.’ (Sardinian) (</a:t>
            </a:r>
            <a:r>
              <a:rPr lang="en-GB" sz="1600" dirty="0" err="1">
                <a:ea typeface="Calibri"/>
                <a:cs typeface="Calibri"/>
              </a:rPr>
              <a:t>Floricic</a:t>
            </a:r>
            <a:r>
              <a:rPr lang="en-GB" sz="1600" dirty="0">
                <a:ea typeface="Calibri"/>
                <a:cs typeface="Calibri"/>
              </a:rPr>
              <a:t> (2003:251))</a:t>
            </a:r>
            <a:endParaRPr lang="en-US" sz="1600" dirty="0">
              <a:ea typeface="Calibri"/>
              <a:cs typeface="Calibri"/>
            </a:endParaRPr>
          </a:p>
          <a:p>
            <a:pPr>
              <a:buFont typeface="Arial" panose="020B0604020202020204" pitchFamily="34" charset="0"/>
            </a:pPr>
            <a:endParaRPr lang="en-GB" sz="1600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364447-6875-415A-BE5F-17552D0E6660}"/>
              </a:ext>
            </a:extLst>
          </p:cNvPr>
          <p:cNvSpPr txBox="1"/>
          <p:nvPr/>
        </p:nvSpPr>
        <p:spPr>
          <a:xfrm>
            <a:off x="4248150" y="2365547"/>
            <a:ext cx="490689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600" dirty="0">
                <a:ea typeface="Calibri"/>
                <a:cs typeface="Calibri"/>
              </a:rPr>
              <a:t>Common Nouns (optional or ungrammatical if lack of definiteness/specificity/individualization):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4A320E-EF1E-4C4C-8CCD-854036D9E07E}"/>
              </a:ext>
            </a:extLst>
          </p:cNvPr>
          <p:cNvSpPr txBox="1"/>
          <p:nvPr/>
        </p:nvSpPr>
        <p:spPr>
          <a:xfrm>
            <a:off x="4300242" y="4789784"/>
            <a:ext cx="4911239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1600" dirty="0" err="1"/>
              <a:t>Arrubbaru</a:t>
            </a:r>
            <a:r>
              <a:rPr lang="en-GB" sz="1600" dirty="0"/>
              <a:t> (</a:t>
            </a:r>
            <a:r>
              <a:rPr lang="en-GB" sz="1600" b="1" dirty="0"/>
              <a:t>a</a:t>
            </a:r>
            <a:r>
              <a:rPr lang="en-GB" sz="1600" dirty="0"/>
              <a:t>) </a:t>
            </a:r>
            <a:r>
              <a:rPr lang="en-GB" sz="1600" dirty="0" err="1"/>
              <a:t>i</a:t>
            </a:r>
            <a:r>
              <a:rPr lang="en-GB" sz="1600" dirty="0"/>
              <a:t> so </a:t>
            </a:r>
            <a:r>
              <a:rPr lang="en-GB" sz="1600" dirty="0" err="1"/>
              <a:t>cuscini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‘They snatched his cousins.’ (Sicilian) (</a:t>
            </a:r>
            <a:r>
              <a:rPr lang="en-GB" sz="1600" dirty="0" err="1"/>
              <a:t>Iemmolo</a:t>
            </a:r>
            <a:r>
              <a:rPr lang="en-GB" sz="1600" dirty="0"/>
              <a:t> (2007:5))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Io servo (*</a:t>
            </a:r>
            <a:r>
              <a:rPr lang="en-GB" sz="1600" b="1" dirty="0"/>
              <a:t>a</a:t>
            </a:r>
            <a:r>
              <a:rPr lang="en-GB" sz="1600" dirty="0"/>
              <a:t>) </a:t>
            </a:r>
            <a:r>
              <a:rPr lang="en-GB" sz="1600" dirty="0" err="1"/>
              <a:t>uomini</a:t>
            </a:r>
            <a:r>
              <a:rPr lang="en-GB" sz="1600" dirty="0"/>
              <a:t> e </a:t>
            </a:r>
            <a:r>
              <a:rPr lang="en-GB" sz="1600" dirty="0" err="1"/>
              <a:t>donne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‘I serve men and women.’ (Neapolitan) (Fiorentino (2003:127))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Appu </a:t>
            </a:r>
            <a:r>
              <a:rPr lang="en-GB" sz="1600" dirty="0" err="1"/>
              <a:t>biu</a:t>
            </a:r>
            <a:r>
              <a:rPr lang="en-GB" sz="1600" dirty="0"/>
              <a:t> (</a:t>
            </a:r>
            <a:r>
              <a:rPr lang="en-GB" sz="1600" b="1" dirty="0"/>
              <a:t>a</a:t>
            </a:r>
            <a:r>
              <a:rPr lang="en-GB" sz="1600" dirty="0"/>
              <a:t>) is </a:t>
            </a:r>
            <a:r>
              <a:rPr lang="en-GB" sz="1600" dirty="0" err="1"/>
              <a:t>pippiusu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‘I saw the children.’ (Sardinian) (</a:t>
            </a:r>
            <a:r>
              <a:rPr lang="en-GB" sz="1600" dirty="0" err="1"/>
              <a:t>Iemmolo</a:t>
            </a:r>
            <a:r>
              <a:rPr lang="en-GB" sz="1600" dirty="0"/>
              <a:t> (2007:8))</a:t>
            </a:r>
            <a:endParaRPr lang="en-GB" sz="1600" dirty="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290371-1143-4864-BD20-625DCF5CD43B}"/>
              </a:ext>
            </a:extLst>
          </p:cNvPr>
          <p:cNvSpPr txBox="1"/>
          <p:nvPr/>
        </p:nvSpPr>
        <p:spPr>
          <a:xfrm>
            <a:off x="4303640" y="2825432"/>
            <a:ext cx="4882874" cy="13234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1600" dirty="0" err="1"/>
              <a:t>Ammazzaru</a:t>
            </a:r>
            <a:r>
              <a:rPr lang="en-GB" sz="1600" dirty="0"/>
              <a:t> (*</a:t>
            </a:r>
            <a:r>
              <a:rPr lang="en-GB" sz="1600" b="1" dirty="0"/>
              <a:t>a</a:t>
            </a:r>
            <a:r>
              <a:rPr lang="en-GB" sz="1600" dirty="0"/>
              <a:t>) un </a:t>
            </a:r>
            <a:r>
              <a:rPr lang="en-GB" sz="1600" dirty="0" err="1"/>
              <a:t>cristianu</a:t>
            </a:r>
            <a:r>
              <a:rPr lang="en-GB" sz="1600" dirty="0"/>
              <a:t> a </a:t>
            </a:r>
            <a:r>
              <a:rPr lang="en-GB" sz="1600" dirty="0" err="1"/>
              <a:t>Giurgenti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‘They killed a man in Agrigento.’ (Sicilian) (</a:t>
            </a:r>
            <a:r>
              <a:rPr lang="en-GB" sz="1600" dirty="0" err="1"/>
              <a:t>Iemmolo</a:t>
            </a:r>
            <a:r>
              <a:rPr lang="en-GB" sz="1600" dirty="0"/>
              <a:t> (2007:347))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La </a:t>
            </a:r>
            <a:r>
              <a:rPr lang="en-GB" sz="1600" dirty="0" err="1"/>
              <a:t>uardje</a:t>
            </a:r>
            <a:r>
              <a:rPr lang="en-GB" sz="1600" dirty="0"/>
              <a:t> </a:t>
            </a:r>
            <a:r>
              <a:rPr lang="en-GB" sz="1600" dirty="0" err="1"/>
              <a:t>ammenò</a:t>
            </a:r>
            <a:r>
              <a:rPr lang="en-GB" sz="1600" dirty="0"/>
              <a:t> (</a:t>
            </a:r>
            <a:r>
              <a:rPr lang="en-GB" sz="1600" b="1" dirty="0"/>
              <a:t>a</a:t>
            </a:r>
            <a:r>
              <a:rPr lang="en-GB" sz="1600" dirty="0"/>
              <a:t>) nu </a:t>
            </a:r>
            <a:r>
              <a:rPr lang="en-GB" sz="1600" dirty="0" err="1"/>
              <a:t>carcerate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‘The soldier hit a prisoner.’ (Barese) (Andriani (2015:71))</a:t>
            </a:r>
            <a:endParaRPr lang="en-GB" sz="1600" dirty="0"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A0DE1D-9B92-47D5-B96F-A9893F145288}"/>
              </a:ext>
            </a:extLst>
          </p:cNvPr>
          <p:cNvSpPr txBox="1"/>
          <p:nvPr/>
        </p:nvSpPr>
        <p:spPr>
          <a:xfrm>
            <a:off x="4303643" y="4047212"/>
            <a:ext cx="4882871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1600" dirty="0" err="1"/>
              <a:t>Cercava</a:t>
            </a:r>
            <a:r>
              <a:rPr lang="en-GB" sz="1600" dirty="0"/>
              <a:t> *(</a:t>
            </a:r>
            <a:r>
              <a:rPr lang="en-GB" sz="1600" b="1" dirty="0"/>
              <a:t>a</a:t>
            </a:r>
            <a:r>
              <a:rPr lang="en-GB" sz="1600" dirty="0"/>
              <a:t>) nu </a:t>
            </a:r>
            <a:r>
              <a:rPr lang="en-GB" sz="1600" dirty="0" err="1"/>
              <a:t>crestiane</a:t>
            </a:r>
            <a:r>
              <a:rPr lang="en-GB" sz="1600" dirty="0"/>
              <a:t> ca </a:t>
            </a:r>
            <a:r>
              <a:rPr lang="en-GB" sz="1600" dirty="0" err="1"/>
              <a:t>sape</a:t>
            </a:r>
            <a:r>
              <a:rPr lang="en-GB" sz="1600" dirty="0"/>
              <a:t> </a:t>
            </a:r>
            <a:r>
              <a:rPr lang="en-GB" sz="1600" dirty="0" err="1"/>
              <a:t>lesca</a:t>
            </a:r>
            <a:r>
              <a:rPr lang="en-GB" sz="1600" dirty="0"/>
              <a:t> u </a:t>
            </a:r>
            <a:r>
              <a:rPr lang="en-GB" sz="1600" dirty="0" err="1"/>
              <a:t>Bbarese</a:t>
            </a:r>
            <a:r>
              <a:rPr lang="en-GB" sz="1600" dirty="0"/>
              <a:t> 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‘I was looking for a(</a:t>
            </a:r>
            <a:r>
              <a:rPr lang="en-GB" sz="1600" dirty="0" err="1"/>
              <a:t>ny</a:t>
            </a:r>
            <a:r>
              <a:rPr lang="en-GB" sz="1600" dirty="0"/>
              <a:t>) person who can read Barese.’ (Andriani (2015:66))</a:t>
            </a:r>
            <a:endParaRPr lang="en-GB" sz="1600" dirty="0">
              <a:ea typeface="Calibri"/>
              <a:cs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AF127D-8003-4ACF-905B-70B90F74B10A}"/>
              </a:ext>
            </a:extLst>
          </p:cNvPr>
          <p:cNvSpPr txBox="1"/>
          <p:nvPr/>
        </p:nvSpPr>
        <p:spPr>
          <a:xfrm>
            <a:off x="-177627" y="5990112"/>
            <a:ext cx="4911240" cy="1189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b="1" dirty="0"/>
              <a:t>DOM on personal pronouns, proper names and referential (definite/specific/individual (sg)) animate common nouns</a:t>
            </a:r>
          </a:p>
          <a:p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3F4D0A-8A94-412E-BCCE-60FB8859C8D5}"/>
              </a:ext>
            </a:extLst>
          </p:cNvPr>
          <p:cNvSpPr txBox="1"/>
          <p:nvPr/>
        </p:nvSpPr>
        <p:spPr>
          <a:xfrm>
            <a:off x="3931637" y="1595652"/>
            <a:ext cx="53362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b="1" dirty="0"/>
              <a:t>Unlike Spanish and Catalán, verbal affectedness </a:t>
            </a:r>
            <a:r>
              <a:rPr lang="en-US" sz="1800" b="1" i="1" dirty="0"/>
              <a:t>cannot</a:t>
            </a:r>
            <a:r>
              <a:rPr lang="en-US" sz="1800" b="1" dirty="0"/>
              <a:t> independently trigger DOM &gt; animacy is essential for DOM </a:t>
            </a:r>
          </a:p>
          <a:p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44CFD3-268E-8220-1C97-193150FD6A87}"/>
              </a:ext>
            </a:extLst>
          </p:cNvPr>
          <p:cNvSpPr txBox="1">
            <a:spLocks/>
          </p:cNvSpPr>
          <p:nvPr/>
        </p:nvSpPr>
        <p:spPr>
          <a:xfrm>
            <a:off x="-23470" y="1160275"/>
            <a:ext cx="4483651" cy="42181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Personal Pronouns and Proper Names (obligatory): </a:t>
            </a:r>
          </a:p>
          <a:p>
            <a:r>
              <a:rPr lang="en-GB" sz="1600" dirty="0"/>
              <a:t>Vitti </a:t>
            </a:r>
            <a:r>
              <a:rPr lang="en-GB" sz="1600" b="1" dirty="0"/>
              <a:t>a</a:t>
            </a:r>
            <a:r>
              <a:rPr lang="en-GB" sz="1600" dirty="0"/>
              <a:t> </a:t>
            </a:r>
            <a:r>
              <a:rPr lang="en-GB" sz="1600" dirty="0" err="1"/>
              <a:t>ttia</a:t>
            </a:r>
            <a:r>
              <a:rPr lang="en-GB" sz="1600" dirty="0"/>
              <a:t>/</a:t>
            </a:r>
            <a:r>
              <a:rPr lang="en-GB" sz="1600" dirty="0" err="1"/>
              <a:t>idu</a:t>
            </a:r>
            <a:r>
              <a:rPr lang="en-GB" sz="1600" dirty="0"/>
              <a:t>/</a:t>
            </a:r>
            <a:r>
              <a:rPr lang="en-GB" sz="1600" dirty="0" err="1"/>
              <a:t>iddi</a:t>
            </a:r>
            <a:r>
              <a:rPr lang="en-GB" sz="1600" dirty="0"/>
              <a:t>/</a:t>
            </a:r>
            <a:r>
              <a:rPr lang="en-GB" sz="1600" dirty="0" err="1"/>
              <a:t>ggiovanni</a:t>
            </a:r>
            <a:r>
              <a:rPr lang="en-GB" sz="1600" dirty="0"/>
              <a:t> </a:t>
            </a:r>
          </a:p>
          <a:p>
            <a:r>
              <a:rPr lang="en-GB" sz="1600" dirty="0"/>
              <a:t>‘I saw you/him/them/Giovanni.’ (Sicilian) (Guardiano (2000))</a:t>
            </a:r>
          </a:p>
          <a:p>
            <a:r>
              <a:rPr lang="en-GB" sz="1600" dirty="0" err="1"/>
              <a:t>Siente</a:t>
            </a:r>
            <a:r>
              <a:rPr lang="en-GB" sz="1600" dirty="0"/>
              <a:t> </a:t>
            </a:r>
            <a:r>
              <a:rPr lang="en-GB" sz="1600" b="1" dirty="0"/>
              <a:t>a</a:t>
            </a:r>
            <a:r>
              <a:rPr lang="en-GB" sz="1600" dirty="0"/>
              <a:t> me / Aggio visto </a:t>
            </a:r>
            <a:r>
              <a:rPr lang="en-GB" sz="1600" b="1" dirty="0"/>
              <a:t>a</a:t>
            </a:r>
            <a:r>
              <a:rPr lang="en-GB" sz="1600" dirty="0"/>
              <a:t> Don Gennarino</a:t>
            </a:r>
          </a:p>
          <a:p>
            <a:r>
              <a:rPr lang="en-GB" sz="1600" dirty="0"/>
              <a:t>‘Listen to me’ / I saw Don Gennarino’ (</a:t>
            </a:r>
            <a:r>
              <a:rPr lang="en-GB" sz="1600" dirty="0" err="1"/>
              <a:t>Neapolian</a:t>
            </a:r>
            <a:r>
              <a:rPr lang="en-GB" sz="1600" dirty="0"/>
              <a:t>) (Fiorentino (2003:128-9))</a:t>
            </a:r>
          </a:p>
          <a:p>
            <a:r>
              <a:rPr lang="en-GB" sz="1600" dirty="0" err="1"/>
              <a:t>Accamend</a:t>
            </a:r>
            <a:r>
              <a:rPr lang="en-GB" sz="1600" dirty="0"/>
              <a:t> </a:t>
            </a:r>
            <a:r>
              <a:rPr lang="en-GB" sz="1600" b="1" dirty="0"/>
              <a:t>a</a:t>
            </a:r>
            <a:r>
              <a:rPr lang="en-GB" sz="1600" dirty="0"/>
              <a:t> ‘</a:t>
            </a:r>
            <a:r>
              <a:rPr lang="en-GB" sz="1600" dirty="0" err="1"/>
              <a:t>mme</a:t>
            </a:r>
            <a:r>
              <a:rPr lang="en-GB" sz="1600" dirty="0"/>
              <a:t>/ ‘</a:t>
            </a:r>
            <a:r>
              <a:rPr lang="en-GB" sz="1600" dirty="0" err="1"/>
              <a:t>jjedde</a:t>
            </a:r>
            <a:r>
              <a:rPr lang="en-GB" sz="1600" dirty="0"/>
              <a:t> / ‘</a:t>
            </a:r>
            <a:r>
              <a:rPr lang="en-GB" sz="1600" dirty="0" err="1"/>
              <a:t>kkidde</a:t>
            </a:r>
            <a:r>
              <a:rPr lang="en-GB" sz="1600" dirty="0"/>
              <a:t> / </a:t>
            </a:r>
            <a:r>
              <a:rPr lang="en-GB" sz="1600" dirty="0" err="1"/>
              <a:t>mmarie</a:t>
            </a:r>
            <a:endParaRPr lang="en-GB" sz="1600" dirty="0"/>
          </a:p>
          <a:p>
            <a:r>
              <a:rPr lang="en-GB" sz="1600" dirty="0"/>
              <a:t>‘He looks at me/her/them/Mary’(Barese) (Andriani (2015))</a:t>
            </a:r>
          </a:p>
          <a:p>
            <a:r>
              <a:rPr lang="en-GB" sz="1600" dirty="0"/>
              <a:t>Appo </a:t>
            </a:r>
            <a:r>
              <a:rPr lang="en-GB" sz="1600" dirty="0" err="1"/>
              <a:t>vistu</a:t>
            </a:r>
            <a:r>
              <a:rPr lang="en-GB" sz="1600" dirty="0"/>
              <a:t> </a:t>
            </a:r>
            <a:r>
              <a:rPr lang="en-GB" sz="1600" dirty="0" err="1"/>
              <a:t>solu</a:t>
            </a:r>
            <a:r>
              <a:rPr lang="en-GB" sz="1600" dirty="0"/>
              <a:t> </a:t>
            </a:r>
            <a:r>
              <a:rPr lang="en-GB" sz="1600" b="1" dirty="0"/>
              <a:t>a</a:t>
            </a:r>
            <a:r>
              <a:rPr lang="en-GB" sz="1600" dirty="0"/>
              <a:t> </a:t>
            </a:r>
            <a:r>
              <a:rPr lang="en-GB" sz="1600" dirty="0" err="1"/>
              <a:t>isse</a:t>
            </a:r>
            <a:r>
              <a:rPr lang="en-GB" sz="1600" dirty="0"/>
              <a:t> / Juanne </a:t>
            </a:r>
          </a:p>
          <a:p>
            <a:r>
              <a:rPr lang="en-GB" sz="1600" dirty="0"/>
              <a:t>‘I saw only him/John.’ (Sardinian) (Jones (1995:38))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27737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10" grpId="0"/>
      <p:bldP spid="12" grpId="0"/>
      <p:bldP spid="13" grpId="0"/>
      <p:bldP spid="16" grpId="0"/>
      <p:bldP spid="18" grpId="0"/>
      <p:bldP spid="20" grpId="1"/>
      <p:bldP spid="22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BA00-AC97-4C05-B4B3-E9EBA9DCE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3999" cy="792479"/>
          </a:xfrm>
        </p:spPr>
        <p:txBody>
          <a:bodyPr>
            <a:normAutofit/>
          </a:bodyPr>
          <a:lstStyle/>
          <a:p>
            <a:r>
              <a:rPr lang="en-GB" sz="3200" dirty="0"/>
              <a:t>Typology of Differential Object Marking (Portuguese)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07262-375E-475B-8E57-08FC64E6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70560"/>
            <a:ext cx="9144000" cy="4462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Marking of divinity (</a:t>
            </a:r>
            <a:r>
              <a:rPr lang="en-GB" sz="1800" i="1" dirty="0" err="1"/>
              <a:t>marcação</a:t>
            </a:r>
            <a:r>
              <a:rPr lang="en-GB" sz="1800" i="1" dirty="0"/>
              <a:t> de </a:t>
            </a:r>
            <a:r>
              <a:rPr lang="en-GB" sz="1800" i="1" dirty="0" err="1"/>
              <a:t>divindade</a:t>
            </a:r>
            <a:r>
              <a:rPr lang="en-GB" sz="1800" dirty="0"/>
              <a:t>) is attested in both Brazilian (BP) and European Portuguese (EP), which is the main criterion for DOM in the history of Portuguese (Aldon and Costanza (2013)).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971212-1926-4148-8935-223E0ADAF134}"/>
              </a:ext>
            </a:extLst>
          </p:cNvPr>
          <p:cNvSpPr txBox="1">
            <a:spLocks/>
          </p:cNvSpPr>
          <p:nvPr/>
        </p:nvSpPr>
        <p:spPr>
          <a:xfrm>
            <a:off x="-2" y="1460296"/>
            <a:ext cx="8802624" cy="4380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Nominal (divinity (names of Gods) as the object in acts of worship):</a:t>
            </a:r>
          </a:p>
          <a:p>
            <a:r>
              <a:rPr lang="en-GB" i="1" dirty="0" err="1"/>
              <a:t>temer</a:t>
            </a:r>
            <a:r>
              <a:rPr lang="en-GB" i="1" dirty="0"/>
              <a:t> </a:t>
            </a:r>
            <a:r>
              <a:rPr lang="en-GB" b="1" i="1" dirty="0"/>
              <a:t>a</a:t>
            </a:r>
            <a:r>
              <a:rPr lang="en-GB" i="1" dirty="0"/>
              <a:t> Deus</a:t>
            </a:r>
          </a:p>
          <a:p>
            <a:r>
              <a:rPr lang="en-GB" dirty="0"/>
              <a:t>‘revere God’ (Teyssier (2001:71-72))</a:t>
            </a:r>
          </a:p>
          <a:p>
            <a:r>
              <a:rPr lang="en-GB" i="1" dirty="0" err="1"/>
              <a:t>devemos</a:t>
            </a:r>
            <a:r>
              <a:rPr lang="en-GB" i="1" dirty="0"/>
              <a:t> </a:t>
            </a:r>
            <a:r>
              <a:rPr lang="en-GB" i="1" dirty="0" err="1"/>
              <a:t>amar</a:t>
            </a:r>
            <a:r>
              <a:rPr lang="en-GB" i="1" dirty="0"/>
              <a:t> </a:t>
            </a:r>
            <a:r>
              <a:rPr lang="en-GB" b="1" i="1" dirty="0"/>
              <a:t>a</a:t>
            </a:r>
            <a:r>
              <a:rPr lang="en-GB" i="1" dirty="0"/>
              <a:t> Deus </a:t>
            </a:r>
          </a:p>
          <a:p>
            <a:r>
              <a:rPr lang="en-GB" dirty="0"/>
              <a:t>‘We should love God.’ (</a:t>
            </a:r>
            <a:r>
              <a:rPr lang="en-GB" dirty="0" err="1"/>
              <a:t>Schwenter</a:t>
            </a:r>
            <a:r>
              <a:rPr lang="en-GB" dirty="0"/>
              <a:t> (2014:238))</a:t>
            </a:r>
          </a:p>
          <a:p>
            <a:r>
              <a:rPr lang="en-GB" dirty="0"/>
              <a:t>… </a:t>
            </a:r>
            <a:r>
              <a:rPr lang="en-GB" i="1" dirty="0"/>
              <a:t>para </a:t>
            </a:r>
            <a:r>
              <a:rPr lang="en-GB" i="1" dirty="0" err="1"/>
              <a:t>adorar</a:t>
            </a:r>
            <a:r>
              <a:rPr lang="en-GB" i="1" dirty="0"/>
              <a:t>… </a:t>
            </a:r>
            <a:r>
              <a:rPr lang="en-GB" b="1" i="1" dirty="0"/>
              <a:t>a</a:t>
            </a:r>
            <a:r>
              <a:rPr lang="en-GB" i="1" dirty="0"/>
              <a:t> Deus </a:t>
            </a:r>
          </a:p>
          <a:p>
            <a:r>
              <a:rPr lang="en-GB" dirty="0"/>
              <a:t>‘… in order to adore God.’ (Rui Barbosa, </a:t>
            </a:r>
            <a:r>
              <a:rPr lang="en-GB" i="1" dirty="0" err="1"/>
              <a:t>Escritos</a:t>
            </a:r>
            <a:r>
              <a:rPr lang="en-GB" i="1" dirty="0"/>
              <a:t> e </a:t>
            </a:r>
            <a:r>
              <a:rPr lang="en-GB" i="1" dirty="0" err="1"/>
              <a:t>discursos</a:t>
            </a:r>
            <a:r>
              <a:rPr lang="en-GB" i="1" dirty="0"/>
              <a:t> </a:t>
            </a:r>
            <a:r>
              <a:rPr lang="en-GB" i="1" dirty="0" err="1"/>
              <a:t>seletos</a:t>
            </a:r>
            <a:r>
              <a:rPr lang="en-GB" i="1" dirty="0"/>
              <a:t> </a:t>
            </a:r>
            <a:r>
              <a:rPr lang="en-GB" dirty="0"/>
              <a:t>653)</a:t>
            </a:r>
          </a:p>
          <a:p>
            <a:r>
              <a:rPr lang="en-GB" i="1" dirty="0" err="1"/>
              <a:t>Beijo</a:t>
            </a:r>
            <a:r>
              <a:rPr lang="en-GB" i="1" dirty="0"/>
              <a:t> </a:t>
            </a:r>
            <a:r>
              <a:rPr lang="en-GB" b="1" i="1" dirty="0"/>
              <a:t>a</a:t>
            </a:r>
            <a:r>
              <a:rPr lang="en-GB" i="1" dirty="0"/>
              <a:t> Deus </a:t>
            </a:r>
          </a:p>
          <a:p>
            <a:r>
              <a:rPr lang="en-GB" dirty="0"/>
              <a:t>‘I kiss God…’ (</a:t>
            </a:r>
            <a:r>
              <a:rPr lang="en-GB" dirty="0" err="1"/>
              <a:t>Teixiera</a:t>
            </a:r>
            <a:r>
              <a:rPr lang="en-GB" dirty="0"/>
              <a:t> e </a:t>
            </a:r>
            <a:r>
              <a:rPr lang="en-GB" dirty="0" err="1"/>
              <a:t>Pascoaes</a:t>
            </a:r>
            <a:r>
              <a:rPr lang="en-GB" dirty="0"/>
              <a:t>, </a:t>
            </a:r>
            <a:r>
              <a:rPr lang="en-GB" i="1" dirty="0"/>
              <a:t>Obras </a:t>
            </a:r>
            <a:r>
              <a:rPr lang="en-GB" i="1" dirty="0" err="1"/>
              <a:t>Completas</a:t>
            </a:r>
            <a:r>
              <a:rPr lang="en-GB" dirty="0"/>
              <a:t>, vii, 91)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8729E9-AA15-4233-9E72-70E480EDEF73}"/>
              </a:ext>
            </a:extLst>
          </p:cNvPr>
          <p:cNvSpPr txBox="1"/>
          <p:nvPr/>
        </p:nvSpPr>
        <p:spPr>
          <a:xfrm>
            <a:off x="0" y="3932725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Common nouns of social superiority (idols ~ divinity): </a:t>
            </a:r>
          </a:p>
          <a:p>
            <a:r>
              <a:rPr lang="en-GB" i="1" dirty="0" err="1"/>
              <a:t>tem</a:t>
            </a:r>
            <a:r>
              <a:rPr lang="en-GB" i="1" dirty="0"/>
              <a:t> </a:t>
            </a:r>
            <a:r>
              <a:rPr lang="en-GB" i="1" dirty="0" err="1"/>
              <a:t>que</a:t>
            </a:r>
            <a:r>
              <a:rPr lang="en-GB" i="1" dirty="0"/>
              <a:t> </a:t>
            </a:r>
            <a:r>
              <a:rPr lang="en-GB" i="1" dirty="0" err="1"/>
              <a:t>respeitar</a:t>
            </a:r>
            <a:r>
              <a:rPr lang="en-GB" i="1" dirty="0"/>
              <a:t> </a:t>
            </a:r>
            <a:r>
              <a:rPr lang="en-GB" b="1" i="1" dirty="0"/>
              <a:t>a</a:t>
            </a:r>
            <a:r>
              <a:rPr lang="en-GB" i="1" dirty="0"/>
              <a:t>-o </a:t>
            </a:r>
            <a:r>
              <a:rPr lang="en-GB" i="1" dirty="0" err="1"/>
              <a:t>chefe</a:t>
            </a:r>
            <a:r>
              <a:rPr lang="en-GB" i="1" dirty="0"/>
              <a:t>/</a:t>
            </a:r>
            <a:r>
              <a:rPr lang="en-GB" i="1" dirty="0" err="1"/>
              <a:t>presidente</a:t>
            </a:r>
            <a:r>
              <a:rPr lang="en-GB" i="1" dirty="0"/>
              <a:t>/supervisor/professor </a:t>
            </a:r>
          </a:p>
          <a:p>
            <a:r>
              <a:rPr lang="en-GB" dirty="0"/>
              <a:t>‘one must respect one’s boss/president/supervisor/teacher’</a:t>
            </a:r>
            <a:r>
              <a:rPr lang="en-GB" i="1" dirty="0"/>
              <a:t> </a:t>
            </a:r>
            <a:r>
              <a:rPr lang="en-GB" dirty="0"/>
              <a:t>(</a:t>
            </a:r>
            <a:r>
              <a:rPr lang="en-GB" dirty="0" err="1"/>
              <a:t>Kliffer</a:t>
            </a:r>
            <a:r>
              <a:rPr lang="en-GB" dirty="0"/>
              <a:t> (1995:109))</a:t>
            </a:r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3DA16-C1D5-44F9-8EB3-CF1600D2DBFF}"/>
              </a:ext>
            </a:extLst>
          </p:cNvPr>
          <p:cNvSpPr txBox="1"/>
          <p:nvPr/>
        </p:nvSpPr>
        <p:spPr>
          <a:xfrm>
            <a:off x="109728" y="5840708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dirty="0"/>
              <a:t>DOM on certain types of human/animate objects: </a:t>
            </a:r>
          </a:p>
          <a:p>
            <a:r>
              <a:rPr lang="en-GB" sz="2000" b="1" dirty="0"/>
              <a:t>Divine (religious)/Superior (secular) and some personal pronouns (1</a:t>
            </a:r>
            <a:r>
              <a:rPr lang="en-GB" sz="2000" b="1" baseline="30000" dirty="0"/>
              <a:t>st</a:t>
            </a:r>
            <a:r>
              <a:rPr lang="en-GB" sz="2000" b="1" dirty="0"/>
              <a:t>/2</a:t>
            </a:r>
            <a:r>
              <a:rPr lang="en-GB" sz="2000" b="1" baseline="30000" dirty="0"/>
              <a:t>nd</a:t>
            </a:r>
            <a:r>
              <a:rPr lang="en-GB" sz="2000" b="1" dirty="0"/>
              <a:t> singular)</a:t>
            </a:r>
          </a:p>
          <a:p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2095A3-DE8E-4F6A-8190-549BC8830288}"/>
              </a:ext>
            </a:extLst>
          </p:cNvPr>
          <p:cNvSpPr txBox="1"/>
          <p:nvPr/>
        </p:nvSpPr>
        <p:spPr>
          <a:xfrm>
            <a:off x="1" y="4722461"/>
            <a:ext cx="9143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Personal Pronouns (1</a:t>
            </a:r>
            <a:r>
              <a:rPr lang="en-GB" baseline="30000" dirty="0"/>
              <a:t>st</a:t>
            </a:r>
            <a:r>
              <a:rPr lang="en-GB" dirty="0"/>
              <a:t>/2</a:t>
            </a:r>
            <a:r>
              <a:rPr lang="en-GB" baseline="30000" dirty="0"/>
              <a:t>nd</a:t>
            </a:r>
            <a:r>
              <a:rPr lang="en-GB" dirty="0"/>
              <a:t> singular): </a:t>
            </a:r>
          </a:p>
          <a:p>
            <a:r>
              <a:rPr lang="en-GB" dirty="0" err="1"/>
              <a:t>ela</a:t>
            </a:r>
            <a:r>
              <a:rPr lang="en-GB" dirty="0"/>
              <a:t> </a:t>
            </a:r>
            <a:r>
              <a:rPr lang="en-GB" dirty="0" err="1"/>
              <a:t>odia</a:t>
            </a:r>
            <a:r>
              <a:rPr lang="en-GB" dirty="0"/>
              <a:t> </a:t>
            </a:r>
            <a:r>
              <a:rPr lang="en-GB" b="1" dirty="0"/>
              <a:t>a</a:t>
            </a:r>
            <a:r>
              <a:rPr lang="en-GB" dirty="0"/>
              <a:t> </a:t>
            </a:r>
            <a:r>
              <a:rPr lang="en-GB" dirty="0" err="1"/>
              <a:t>mim</a:t>
            </a:r>
            <a:r>
              <a:rPr lang="en-GB" dirty="0"/>
              <a:t> /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odeio</a:t>
            </a:r>
            <a:r>
              <a:rPr lang="en-GB" dirty="0"/>
              <a:t> </a:t>
            </a:r>
            <a:r>
              <a:rPr lang="en-GB" b="1" dirty="0"/>
              <a:t>a</a:t>
            </a:r>
            <a:r>
              <a:rPr lang="en-GB" dirty="0"/>
              <a:t> </a:t>
            </a:r>
            <a:r>
              <a:rPr lang="en-GB" dirty="0" err="1"/>
              <a:t>ti</a:t>
            </a:r>
            <a:r>
              <a:rPr lang="en-GB" dirty="0"/>
              <a:t> /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odeio</a:t>
            </a:r>
            <a:r>
              <a:rPr lang="en-GB" dirty="0"/>
              <a:t> (</a:t>
            </a:r>
            <a:r>
              <a:rPr lang="en-GB" b="1" dirty="0"/>
              <a:t>a</a:t>
            </a:r>
            <a:r>
              <a:rPr lang="en-GB" dirty="0"/>
              <a:t>) </a:t>
            </a:r>
            <a:r>
              <a:rPr lang="en-GB" dirty="0" err="1"/>
              <a:t>ele</a:t>
            </a:r>
            <a:r>
              <a:rPr lang="en-GB" dirty="0"/>
              <a:t>/</a:t>
            </a:r>
            <a:r>
              <a:rPr lang="en-GB" dirty="0" err="1"/>
              <a:t>ela</a:t>
            </a:r>
            <a:r>
              <a:rPr lang="en-GB" dirty="0"/>
              <a:t>/</a:t>
            </a:r>
            <a:r>
              <a:rPr lang="en-GB" dirty="0" err="1"/>
              <a:t>eles</a:t>
            </a:r>
            <a:r>
              <a:rPr lang="en-GB" dirty="0"/>
              <a:t>/</a:t>
            </a:r>
            <a:r>
              <a:rPr lang="en-GB" dirty="0" err="1"/>
              <a:t>elas</a:t>
            </a:r>
            <a:r>
              <a:rPr lang="en-GB" dirty="0"/>
              <a:t> / </a:t>
            </a:r>
            <a:r>
              <a:rPr lang="en-GB" dirty="0" err="1"/>
              <a:t>ele</a:t>
            </a:r>
            <a:r>
              <a:rPr lang="en-GB" dirty="0"/>
              <a:t> </a:t>
            </a:r>
            <a:r>
              <a:rPr lang="en-GB" dirty="0" err="1"/>
              <a:t>odia</a:t>
            </a:r>
            <a:r>
              <a:rPr lang="en-GB" dirty="0"/>
              <a:t> (*</a:t>
            </a:r>
            <a:r>
              <a:rPr lang="en-GB" b="1" dirty="0"/>
              <a:t>a</a:t>
            </a:r>
            <a:r>
              <a:rPr lang="en-GB" dirty="0"/>
              <a:t>) </a:t>
            </a:r>
            <a:r>
              <a:rPr lang="en-GB" dirty="0" err="1"/>
              <a:t>nos</a:t>
            </a:r>
            <a:r>
              <a:rPr lang="en-GB" dirty="0"/>
              <a:t>/</a:t>
            </a:r>
            <a:r>
              <a:rPr lang="en-GB" dirty="0" err="1"/>
              <a:t>vos</a:t>
            </a:r>
            <a:endParaRPr lang="en-GB" dirty="0"/>
          </a:p>
          <a:p>
            <a:r>
              <a:rPr lang="en-GB" dirty="0"/>
              <a:t> ‘she hates me’ / ‘I hate you’ / ‘I hate him/her/them’ / he hates us/you (pl) (</a:t>
            </a:r>
            <a:r>
              <a:rPr lang="en-GB" dirty="0" err="1"/>
              <a:t>Kliffer</a:t>
            </a:r>
            <a:r>
              <a:rPr lang="en-GB" dirty="0"/>
              <a:t> (1995:109), </a:t>
            </a:r>
            <a:r>
              <a:rPr lang="en-GB" dirty="0" err="1"/>
              <a:t>Schwenter</a:t>
            </a:r>
            <a:r>
              <a:rPr lang="en-GB" dirty="0"/>
              <a:t> (2014:238)) </a:t>
            </a:r>
          </a:p>
        </p:txBody>
      </p:sp>
    </p:spTree>
    <p:extLst>
      <p:ext uri="{BB962C8B-B14F-4D97-AF65-F5344CB8AC3E}">
        <p14:creationId xmlns:p14="http://schemas.microsoft.com/office/powerpoint/2010/main" val="105334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12" grpId="1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6E8D-56C5-4FAD-A539-A2CE1C06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908719"/>
          </a:xfrm>
        </p:spPr>
        <p:txBody>
          <a:bodyPr>
            <a:normAutofit/>
          </a:bodyPr>
          <a:lstStyle/>
          <a:p>
            <a:r>
              <a:rPr lang="en-GB" sz="3100"/>
              <a:t>Formal analysis of Differential Object Marking (nominal)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4AC8-8A95-4A86-8F3C-0F07E9A4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0424"/>
            <a:ext cx="91440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/>
              <a:t>Nominal markedness (DP-hypothesis (Valois (1986), </a:t>
            </a:r>
            <a:r>
              <a:rPr lang="en-GB" sz="2000" err="1"/>
              <a:t>Longobardi</a:t>
            </a:r>
            <a:r>
              <a:rPr lang="en-GB" sz="2000"/>
              <a:t> and Silvestri (2013)):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6D436-B3DD-4523-A61E-A26193A2EE1F}"/>
              </a:ext>
            </a:extLst>
          </p:cNvPr>
          <p:cNvSpPr txBox="1">
            <a:spLocks/>
          </p:cNvSpPr>
          <p:nvPr/>
        </p:nvSpPr>
        <p:spPr>
          <a:xfrm>
            <a:off x="0" y="1185334"/>
            <a:ext cx="9144000" cy="56726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VP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 err="1"/>
              <a:t>SpecVP</a:t>
            </a:r>
            <a:r>
              <a:rPr lang="en-GB" sz="1600" dirty="0"/>
              <a:t>		V’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V		KP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</a:t>
            </a:r>
            <a:r>
              <a:rPr lang="en-GB" sz="1600" dirty="0" err="1"/>
              <a:t>SpecKP</a:t>
            </a:r>
            <a:r>
              <a:rPr lang="en-GB" sz="1600" dirty="0"/>
              <a:t>		K’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K(</a:t>
            </a:r>
            <a:r>
              <a:rPr lang="en-GB" sz="1600" dirty="0" err="1"/>
              <a:t>ase</a:t>
            </a:r>
            <a:r>
              <a:rPr lang="en-GB" sz="1600" dirty="0"/>
              <a:t>)		DP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	</a:t>
            </a:r>
            <a:r>
              <a:rPr lang="en-GB" sz="1600" dirty="0" err="1"/>
              <a:t>SpecD</a:t>
            </a:r>
            <a:r>
              <a:rPr lang="en-US" altLang="zh-CN" sz="1600" dirty="0"/>
              <a:t>P		D’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					D		</a:t>
            </a:r>
            <a:r>
              <a:rPr lang="en-US" sz="1600" dirty="0" err="1"/>
              <a:t>PhiP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						</a:t>
            </a:r>
            <a:r>
              <a:rPr lang="en-US" sz="1600" dirty="0" err="1"/>
              <a:t>SpecPhi</a:t>
            </a:r>
            <a:r>
              <a:rPr lang="en-US" sz="1600" dirty="0"/>
              <a:t>		Phi’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							Phi	           </a:t>
            </a:r>
            <a:r>
              <a:rPr lang="en-US" sz="1600" dirty="0" err="1"/>
              <a:t>nP</a:t>
            </a: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					            n’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					n	NP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     									N’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								       	N	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EE6FE-9AC3-4499-94A4-0A847E3D28C5}"/>
              </a:ext>
            </a:extLst>
          </p:cNvPr>
          <p:cNvSpPr txBox="1"/>
          <p:nvPr/>
        </p:nvSpPr>
        <p:spPr>
          <a:xfrm>
            <a:off x="3974877" y="4855968"/>
            <a:ext cx="23195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Personal pronouns </a:t>
            </a:r>
          </a:p>
          <a:p>
            <a:r>
              <a:rPr lang="en-GB" sz="1600" dirty="0"/>
              <a:t>(bare Ds) ([u-K]) </a:t>
            </a:r>
          </a:p>
          <a:p>
            <a:r>
              <a:rPr lang="en-GB" sz="1600" dirty="0"/>
              <a:t>(</a:t>
            </a:r>
            <a:r>
              <a:rPr lang="en-GB" sz="1600" dirty="0" err="1"/>
              <a:t>Sp</a:t>
            </a:r>
            <a:r>
              <a:rPr lang="en-GB" sz="1600" dirty="0"/>
              <a:t>, Cat, Italo-, </a:t>
            </a:r>
          </a:p>
          <a:p>
            <a:r>
              <a:rPr lang="en-GB" sz="1600" dirty="0"/>
              <a:t>Port (1</a:t>
            </a:r>
            <a:r>
              <a:rPr lang="en-GB" sz="1600" baseline="30000" dirty="0"/>
              <a:t>st</a:t>
            </a:r>
            <a:r>
              <a:rPr lang="en-GB" sz="1600" dirty="0"/>
              <a:t>/2</a:t>
            </a:r>
            <a:r>
              <a:rPr lang="en-GB" sz="1600" baseline="30000" dirty="0"/>
              <a:t>nd</a:t>
            </a:r>
            <a:r>
              <a:rPr lang="en-GB" sz="1600" dirty="0"/>
              <a:t> sg)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D500F-51EA-4CE4-816E-CB7812A0C095}"/>
              </a:ext>
            </a:extLst>
          </p:cNvPr>
          <p:cNvSpPr txBox="1"/>
          <p:nvPr/>
        </p:nvSpPr>
        <p:spPr>
          <a:xfrm>
            <a:off x="7041460" y="5482799"/>
            <a:ext cx="21467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Semantic features: animacy (N)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825F3C9-D10A-41D9-99A8-63B30B6A3494}"/>
              </a:ext>
            </a:extLst>
          </p:cNvPr>
          <p:cNvSpPr txBox="1">
            <a:spLocks/>
          </p:cNvSpPr>
          <p:nvPr/>
        </p:nvSpPr>
        <p:spPr>
          <a:xfrm>
            <a:off x="4006506" y="3501223"/>
            <a:ext cx="1969783" cy="1609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Definiteness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Specificity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(N-D Agree/Move)</a:t>
            </a:r>
          </a:p>
          <a:p>
            <a:r>
              <a:rPr lang="en-GB" sz="1600" dirty="0"/>
              <a:t>[u-K(</a:t>
            </a:r>
            <a:r>
              <a:rPr lang="en-GB" sz="1600" dirty="0" err="1"/>
              <a:t>ase</a:t>
            </a:r>
            <a:r>
              <a:rPr lang="en-GB" sz="1600" dirty="0"/>
              <a:t>)] (Italo- (human/referential)</a:t>
            </a:r>
            <a:endParaRPr lang="en-GB" sz="16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92B52-DF07-4D8F-831F-B48EEF9AB280}"/>
              </a:ext>
            </a:extLst>
          </p:cNvPr>
          <p:cNvSpPr txBox="1"/>
          <p:nvPr/>
        </p:nvSpPr>
        <p:spPr>
          <a:xfrm>
            <a:off x="2822749" y="2827106"/>
            <a:ext cx="11521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AD </a:t>
            </a:r>
          </a:p>
          <a:p>
            <a:r>
              <a:rPr lang="en-GB" dirty="0"/>
              <a:t>formal triggers of DOM: </a:t>
            </a:r>
          </a:p>
          <a:p>
            <a:r>
              <a:rPr lang="en-GB" dirty="0"/>
              <a:t>[u-K(</a:t>
            </a:r>
            <a:r>
              <a:rPr lang="en-GB" dirty="0" err="1"/>
              <a:t>ase</a:t>
            </a:r>
            <a:r>
              <a:rPr lang="en-GB" dirty="0"/>
              <a:t>)]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F9C86-AB40-4F84-8F5D-B5A49D7391DC}"/>
              </a:ext>
            </a:extLst>
          </p:cNvPr>
          <p:cNvSpPr txBox="1"/>
          <p:nvPr/>
        </p:nvSpPr>
        <p:spPr>
          <a:xfrm>
            <a:off x="3974877" y="5999950"/>
            <a:ext cx="2720975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600" dirty="0"/>
              <a:t>Proper names (D) </a:t>
            </a:r>
          </a:p>
          <a:p>
            <a:r>
              <a:rPr lang="en-GB" sz="1600" dirty="0"/>
              <a:t>([u-K]) (</a:t>
            </a:r>
            <a:r>
              <a:rPr lang="en-GB" sz="1600" dirty="0" err="1"/>
              <a:t>Sp</a:t>
            </a:r>
            <a:r>
              <a:rPr lang="en-GB" sz="1600" dirty="0"/>
              <a:t>, Italo-, Port (divine))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850C04-5E16-28CC-0427-3BD9F65B9941}"/>
              </a:ext>
            </a:extLst>
          </p:cNvPr>
          <p:cNvCxnSpPr/>
          <p:nvPr/>
        </p:nvCxnSpPr>
        <p:spPr>
          <a:xfrm flipH="1">
            <a:off x="683568" y="1412776"/>
            <a:ext cx="448887" cy="212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497350-674D-11AA-C8D4-551204080EF7}"/>
              </a:ext>
            </a:extLst>
          </p:cNvPr>
          <p:cNvCxnSpPr>
            <a:cxnSpLocks/>
          </p:cNvCxnSpPr>
          <p:nvPr/>
        </p:nvCxnSpPr>
        <p:spPr>
          <a:xfrm>
            <a:off x="1132455" y="1410843"/>
            <a:ext cx="835677" cy="2036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76384D-AEA1-1164-305D-C07823FF352F}"/>
              </a:ext>
            </a:extLst>
          </p:cNvPr>
          <p:cNvCxnSpPr/>
          <p:nvPr/>
        </p:nvCxnSpPr>
        <p:spPr>
          <a:xfrm flipH="1">
            <a:off x="1094432" y="1755328"/>
            <a:ext cx="885647" cy="1607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636484-413B-AAFF-E30A-9BF4E52079E5}"/>
              </a:ext>
            </a:extLst>
          </p:cNvPr>
          <p:cNvCxnSpPr/>
          <p:nvPr/>
        </p:nvCxnSpPr>
        <p:spPr>
          <a:xfrm>
            <a:off x="1990755" y="1756477"/>
            <a:ext cx="895987" cy="1663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32C46EB-3AD5-00B9-64BF-9C7C2B06A903}"/>
              </a:ext>
            </a:extLst>
          </p:cNvPr>
          <p:cNvCxnSpPr>
            <a:cxnSpLocks/>
          </p:cNvCxnSpPr>
          <p:nvPr/>
        </p:nvCxnSpPr>
        <p:spPr>
          <a:xfrm flipH="1">
            <a:off x="2316480" y="2136306"/>
            <a:ext cx="610427" cy="1203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265AFB-4393-EE6B-83F3-A610DD54FBCC}"/>
              </a:ext>
            </a:extLst>
          </p:cNvPr>
          <p:cNvCxnSpPr>
            <a:cxnSpLocks/>
          </p:cNvCxnSpPr>
          <p:nvPr/>
        </p:nvCxnSpPr>
        <p:spPr>
          <a:xfrm>
            <a:off x="2915815" y="2124114"/>
            <a:ext cx="899702" cy="179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4C01D0A-0575-4537-C74D-BBE55190F9C6}"/>
              </a:ext>
            </a:extLst>
          </p:cNvPr>
          <p:cNvCxnSpPr>
            <a:cxnSpLocks/>
          </p:cNvCxnSpPr>
          <p:nvPr/>
        </p:nvCxnSpPr>
        <p:spPr>
          <a:xfrm flipH="1">
            <a:off x="3187959" y="2432912"/>
            <a:ext cx="627558" cy="182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FFFCD4-6239-6A33-AAD7-DE3EC57E2019}"/>
              </a:ext>
            </a:extLst>
          </p:cNvPr>
          <p:cNvCxnSpPr>
            <a:cxnSpLocks/>
          </p:cNvCxnSpPr>
          <p:nvPr/>
        </p:nvCxnSpPr>
        <p:spPr>
          <a:xfrm>
            <a:off x="3815517" y="2434845"/>
            <a:ext cx="928724" cy="2201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BBC022B-E1B1-ABA9-DB31-E3249C391C5C}"/>
              </a:ext>
            </a:extLst>
          </p:cNvPr>
          <p:cNvCxnSpPr>
            <a:cxnSpLocks/>
          </p:cNvCxnSpPr>
          <p:nvPr/>
        </p:nvCxnSpPr>
        <p:spPr>
          <a:xfrm flipH="1">
            <a:off x="4168237" y="2824120"/>
            <a:ext cx="619787" cy="129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E346363-368A-98A8-E18D-37239D17F373}"/>
              </a:ext>
            </a:extLst>
          </p:cNvPr>
          <p:cNvCxnSpPr>
            <a:cxnSpLocks/>
          </p:cNvCxnSpPr>
          <p:nvPr/>
        </p:nvCxnSpPr>
        <p:spPr>
          <a:xfrm>
            <a:off x="4788024" y="2825268"/>
            <a:ext cx="824033" cy="129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A5AC62-B6A6-6DBD-4103-A055714E63BF}"/>
              </a:ext>
            </a:extLst>
          </p:cNvPr>
          <p:cNvCxnSpPr>
            <a:cxnSpLocks/>
          </p:cNvCxnSpPr>
          <p:nvPr/>
        </p:nvCxnSpPr>
        <p:spPr>
          <a:xfrm flipH="1">
            <a:off x="4744241" y="3119333"/>
            <a:ext cx="957066" cy="1654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3754E31-2769-C2E9-D30A-265456F06C4C}"/>
              </a:ext>
            </a:extLst>
          </p:cNvPr>
          <p:cNvCxnSpPr>
            <a:cxnSpLocks/>
          </p:cNvCxnSpPr>
          <p:nvPr/>
        </p:nvCxnSpPr>
        <p:spPr>
          <a:xfrm>
            <a:off x="5690546" y="3119333"/>
            <a:ext cx="957066" cy="2036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A7B546-39D9-41F8-C24B-3F8B6B69A683}"/>
              </a:ext>
            </a:extLst>
          </p:cNvPr>
          <p:cNvCxnSpPr>
            <a:cxnSpLocks/>
          </p:cNvCxnSpPr>
          <p:nvPr/>
        </p:nvCxnSpPr>
        <p:spPr>
          <a:xfrm flipH="1">
            <a:off x="5897218" y="3469494"/>
            <a:ext cx="824605" cy="1183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E829E9C-0283-5194-31A1-2FC95C41551F}"/>
              </a:ext>
            </a:extLst>
          </p:cNvPr>
          <p:cNvCxnSpPr/>
          <p:nvPr/>
        </p:nvCxnSpPr>
        <p:spPr>
          <a:xfrm>
            <a:off x="6688693" y="3491580"/>
            <a:ext cx="826515" cy="794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57E6B70-AC74-8AB2-7E2A-61AA4214CE30}"/>
              </a:ext>
            </a:extLst>
          </p:cNvPr>
          <p:cNvCxnSpPr>
            <a:cxnSpLocks/>
          </p:cNvCxnSpPr>
          <p:nvPr/>
        </p:nvCxnSpPr>
        <p:spPr>
          <a:xfrm flipH="1">
            <a:off x="6611390" y="3842769"/>
            <a:ext cx="959036" cy="1274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6B58BB7-1A76-5300-948B-707108754A74}"/>
              </a:ext>
            </a:extLst>
          </p:cNvPr>
          <p:cNvCxnSpPr>
            <a:cxnSpLocks/>
          </p:cNvCxnSpPr>
          <p:nvPr/>
        </p:nvCxnSpPr>
        <p:spPr>
          <a:xfrm>
            <a:off x="7493121" y="3842769"/>
            <a:ext cx="573578" cy="1163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10A1780-0E26-952E-5806-0EB6791A5F90}"/>
              </a:ext>
            </a:extLst>
          </p:cNvPr>
          <p:cNvCxnSpPr>
            <a:cxnSpLocks/>
          </p:cNvCxnSpPr>
          <p:nvPr/>
        </p:nvCxnSpPr>
        <p:spPr>
          <a:xfrm flipH="1">
            <a:off x="7383945" y="4568563"/>
            <a:ext cx="573578" cy="1983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F6A7198-90F5-0142-C7FC-04D46229F61C}"/>
              </a:ext>
            </a:extLst>
          </p:cNvPr>
          <p:cNvCxnSpPr/>
          <p:nvPr/>
        </p:nvCxnSpPr>
        <p:spPr>
          <a:xfrm flipH="1">
            <a:off x="8020779" y="4115916"/>
            <a:ext cx="12788" cy="2767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26ECD1-A9E7-A391-2DD8-1C05C7D23196}"/>
              </a:ext>
            </a:extLst>
          </p:cNvPr>
          <p:cNvCxnSpPr>
            <a:cxnSpLocks/>
          </p:cNvCxnSpPr>
          <p:nvPr/>
        </p:nvCxnSpPr>
        <p:spPr>
          <a:xfrm>
            <a:off x="7957523" y="4557520"/>
            <a:ext cx="478395" cy="158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9D0977-F084-BAF1-1853-9791B63E8892}"/>
              </a:ext>
            </a:extLst>
          </p:cNvPr>
          <p:cNvCxnSpPr>
            <a:cxnSpLocks/>
          </p:cNvCxnSpPr>
          <p:nvPr/>
        </p:nvCxnSpPr>
        <p:spPr>
          <a:xfrm>
            <a:off x="8418004" y="5181762"/>
            <a:ext cx="0" cy="258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0F255C-9378-2545-41C2-70E323958361}"/>
              </a:ext>
            </a:extLst>
          </p:cNvPr>
          <p:cNvCxnSpPr/>
          <p:nvPr/>
        </p:nvCxnSpPr>
        <p:spPr>
          <a:xfrm>
            <a:off x="8423725" y="4889761"/>
            <a:ext cx="7871" cy="1720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8">
            <a:extLst>
              <a:ext uri="{FF2B5EF4-FFF2-40B4-BE49-F238E27FC236}">
                <a16:creationId xmlns:a16="http://schemas.microsoft.com/office/drawing/2014/main" id="{137C2DC1-F352-259B-E12B-4B6FD278D7C9}"/>
              </a:ext>
            </a:extLst>
          </p:cNvPr>
          <p:cNvSpPr txBox="1"/>
          <p:nvPr/>
        </p:nvSpPr>
        <p:spPr>
          <a:xfrm>
            <a:off x="7041460" y="6012185"/>
            <a:ext cx="2134997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600" dirty="0"/>
              <a:t>[u-K(</a:t>
            </a:r>
            <a:r>
              <a:rPr lang="en-GB" sz="1600" dirty="0" err="1"/>
              <a:t>ase</a:t>
            </a:r>
            <a:r>
              <a:rPr lang="en-GB" sz="1600" dirty="0"/>
              <a:t>)] (</a:t>
            </a:r>
            <a:r>
              <a:rPr lang="en-GB" sz="1600" dirty="0" err="1"/>
              <a:t>Sp</a:t>
            </a:r>
            <a:r>
              <a:rPr lang="en-GB" sz="1600" dirty="0"/>
              <a:t> (animate works, toponyms, Italo- (human, toponyms))</a:t>
            </a:r>
            <a:endParaRPr lang="en-GB" sz="1600" dirty="0">
              <a:ea typeface="Calibri"/>
              <a:cs typeface="Calibri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C87A891-9DD3-F4FD-40BE-FF85A3450C1B}"/>
              </a:ext>
            </a:extLst>
          </p:cNvPr>
          <p:cNvCxnSpPr/>
          <p:nvPr/>
        </p:nvCxnSpPr>
        <p:spPr>
          <a:xfrm flipV="1">
            <a:off x="341376" y="1185334"/>
            <a:ext cx="1649379" cy="9387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006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6E8D-56C5-4FAD-A539-A2CE1C06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52735"/>
          </a:xfrm>
        </p:spPr>
        <p:txBody>
          <a:bodyPr>
            <a:noAutofit/>
          </a:bodyPr>
          <a:lstStyle/>
          <a:p>
            <a:r>
              <a:rPr lang="en-GB" sz="2800"/>
              <a:t>Formal analysis of Differential Object Marking (verbal/clausal)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4AC8-8A95-4A86-8F3C-0F07E9A48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07136"/>
            <a:ext cx="9144000" cy="44746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Verbal/clausal markedness (Light Verb projections for thematic roles (Rappaport </a:t>
            </a:r>
            <a:r>
              <a:rPr lang="en-GB" sz="2000" dirty="0" err="1"/>
              <a:t>Hovav</a:t>
            </a:r>
            <a:r>
              <a:rPr lang="en-GB" sz="2000" dirty="0"/>
              <a:t> and Levin (2005), Folli and Ramchand (2002), Ramchand (2008)):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6D436-B3DD-4523-A61E-A26193A2EE1F}"/>
              </a:ext>
            </a:extLst>
          </p:cNvPr>
          <p:cNvSpPr txBox="1">
            <a:spLocks/>
          </p:cNvSpPr>
          <p:nvPr/>
        </p:nvSpPr>
        <p:spPr>
          <a:xfrm>
            <a:off x="0" y="1490133"/>
            <a:ext cx="9144000" cy="53678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</a:t>
            </a:r>
            <a:r>
              <a:rPr lang="en-GB" sz="1800" dirty="0" err="1"/>
              <a:t>TopicP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 err="1"/>
              <a:t>SpecTop</a:t>
            </a:r>
            <a:r>
              <a:rPr lang="en-GB" sz="1800" dirty="0"/>
              <a:t>		Top’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KP	Top		TP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AD		</a:t>
            </a:r>
            <a:r>
              <a:rPr lang="en-GB" sz="1800" dirty="0" err="1"/>
              <a:t>SpecTP</a:t>
            </a:r>
            <a:r>
              <a:rPr lang="en-GB" sz="1800" dirty="0"/>
              <a:t>		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T		</a:t>
            </a:r>
            <a:r>
              <a:rPr lang="en-GB" sz="1800" dirty="0" err="1"/>
              <a:t>InitiateP</a:t>
            </a:r>
            <a:endParaRPr lang="en-GB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	</a:t>
            </a:r>
            <a:r>
              <a:rPr lang="en-GB" sz="1800" dirty="0" err="1"/>
              <a:t>SpecInit</a:t>
            </a:r>
            <a:r>
              <a:rPr lang="en-US" altLang="zh-CN" sz="1800" dirty="0"/>
              <a:t>P		Init’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					Init		</a:t>
            </a:r>
            <a:r>
              <a:rPr lang="en-US" sz="1800" dirty="0" err="1"/>
              <a:t>AffectP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						</a:t>
            </a:r>
            <a:r>
              <a:rPr lang="en-US" sz="1800" dirty="0" err="1"/>
              <a:t>SpecAff</a:t>
            </a:r>
            <a:r>
              <a:rPr lang="en-US" sz="1800" dirty="0"/>
              <a:t>		Aff’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						KP	Aff	        </a:t>
            </a:r>
            <a:r>
              <a:rPr lang="en-US" sz="1800" dirty="0" err="1"/>
              <a:t>vP</a:t>
            </a: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			AD		         v’																		v	VP																		V’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					V	         KP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								        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EE6FE-9AC3-4499-94A4-0A847E3D28C5}"/>
              </a:ext>
            </a:extLst>
          </p:cNvPr>
          <p:cNvSpPr txBox="1"/>
          <p:nvPr/>
        </p:nvSpPr>
        <p:spPr>
          <a:xfrm>
            <a:off x="676265" y="2504967"/>
            <a:ext cx="1587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Ad</a:t>
            </a:r>
            <a:r>
              <a:rPr lang="en-GB" dirty="0"/>
              <a:t> topic-marking (Balearic Catalán)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D500F-51EA-4CE4-816E-CB7812A0C095}"/>
              </a:ext>
            </a:extLst>
          </p:cNvPr>
          <p:cNvSpPr txBox="1"/>
          <p:nvPr/>
        </p:nvSpPr>
        <p:spPr>
          <a:xfrm>
            <a:off x="1526319" y="3869756"/>
            <a:ext cx="360040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dirty="0"/>
              <a:t>Kinesis: </a:t>
            </a:r>
            <a:r>
              <a:rPr lang="en-GB" dirty="0" err="1"/>
              <a:t>agentivity</a:t>
            </a:r>
            <a:r>
              <a:rPr lang="en-GB" dirty="0"/>
              <a:t> (</a:t>
            </a:r>
            <a:r>
              <a:rPr lang="en-GB" dirty="0" err="1"/>
              <a:t>SpecInitP</a:t>
            </a:r>
            <a:r>
              <a:rPr lang="en-GB" dirty="0"/>
              <a:t>)/ </a:t>
            </a:r>
          </a:p>
          <a:p>
            <a:r>
              <a:rPr lang="en-GB" dirty="0"/>
              <a:t>              affectedness (</a:t>
            </a:r>
            <a:r>
              <a:rPr lang="en-GB" dirty="0" err="1"/>
              <a:t>SpecAffP</a:t>
            </a:r>
            <a:r>
              <a:rPr lang="en-GB" dirty="0"/>
              <a:t>)</a:t>
            </a:r>
          </a:p>
          <a:p>
            <a:r>
              <a:rPr lang="en-GB" dirty="0"/>
              <a:t>([u-K(</a:t>
            </a:r>
            <a:r>
              <a:rPr lang="en-GB" dirty="0" err="1"/>
              <a:t>ase</a:t>
            </a:r>
            <a:r>
              <a:rPr lang="en-GB" dirty="0"/>
              <a:t>)] in </a:t>
            </a:r>
            <a:r>
              <a:rPr lang="en-GB" dirty="0" err="1"/>
              <a:t>Sp</a:t>
            </a:r>
            <a:r>
              <a:rPr lang="en-GB" dirty="0"/>
              <a:t>, Cat, </a:t>
            </a:r>
          </a:p>
          <a:p>
            <a:r>
              <a:rPr lang="en-GB" dirty="0"/>
              <a:t>Port (worship/respect))</a:t>
            </a:r>
            <a:endParaRPr lang="en-GB" dirty="0">
              <a:ea typeface="Calibri"/>
              <a:cs typeface="Calibri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BD94B0-314A-91C0-6D93-BDC2BAB9EC0B}"/>
              </a:ext>
            </a:extLst>
          </p:cNvPr>
          <p:cNvCxnSpPr>
            <a:cxnSpLocks/>
          </p:cNvCxnSpPr>
          <p:nvPr/>
        </p:nvCxnSpPr>
        <p:spPr>
          <a:xfrm flipH="1">
            <a:off x="548640" y="1772816"/>
            <a:ext cx="727831" cy="133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FCCC3E-CC9B-B163-CF13-8C663E8D9B6B}"/>
              </a:ext>
            </a:extLst>
          </p:cNvPr>
          <p:cNvCxnSpPr>
            <a:cxnSpLocks/>
          </p:cNvCxnSpPr>
          <p:nvPr/>
        </p:nvCxnSpPr>
        <p:spPr>
          <a:xfrm>
            <a:off x="1259632" y="1772816"/>
            <a:ext cx="652319" cy="1330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A75852E-F395-385A-EE67-C9A866A18F63}"/>
              </a:ext>
            </a:extLst>
          </p:cNvPr>
          <p:cNvCxnSpPr>
            <a:cxnSpLocks/>
          </p:cNvCxnSpPr>
          <p:nvPr/>
        </p:nvCxnSpPr>
        <p:spPr>
          <a:xfrm flipH="1">
            <a:off x="1259632" y="2121812"/>
            <a:ext cx="840509" cy="206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C5BFD3-06E6-22EC-2CAC-84017A15D459}"/>
              </a:ext>
            </a:extLst>
          </p:cNvPr>
          <p:cNvCxnSpPr>
            <a:cxnSpLocks/>
          </p:cNvCxnSpPr>
          <p:nvPr/>
        </p:nvCxnSpPr>
        <p:spPr>
          <a:xfrm>
            <a:off x="2112685" y="2121813"/>
            <a:ext cx="825217" cy="2068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403471-18C1-6C5A-FCF8-CA9861292266}"/>
              </a:ext>
            </a:extLst>
          </p:cNvPr>
          <p:cNvCxnSpPr/>
          <p:nvPr/>
        </p:nvCxnSpPr>
        <p:spPr>
          <a:xfrm flipH="1">
            <a:off x="2268646" y="2481853"/>
            <a:ext cx="659777" cy="158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596544D-74FE-29F3-6A4D-B6C4A3C5472C}"/>
              </a:ext>
            </a:extLst>
          </p:cNvPr>
          <p:cNvCxnSpPr/>
          <p:nvPr/>
        </p:nvCxnSpPr>
        <p:spPr>
          <a:xfrm>
            <a:off x="2937902" y="2481853"/>
            <a:ext cx="808344" cy="1587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BD7026-A0B0-9461-9E9F-6FDD26870E40}"/>
              </a:ext>
            </a:extLst>
          </p:cNvPr>
          <p:cNvCxnSpPr>
            <a:cxnSpLocks/>
          </p:cNvCxnSpPr>
          <p:nvPr/>
        </p:nvCxnSpPr>
        <p:spPr>
          <a:xfrm flipH="1">
            <a:off x="2928423" y="2864430"/>
            <a:ext cx="906622" cy="1238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7D02AD-9906-D523-03BB-7BED7BA45E9F}"/>
              </a:ext>
            </a:extLst>
          </p:cNvPr>
          <p:cNvCxnSpPr>
            <a:cxnSpLocks/>
          </p:cNvCxnSpPr>
          <p:nvPr/>
        </p:nvCxnSpPr>
        <p:spPr>
          <a:xfrm>
            <a:off x="3840425" y="2869727"/>
            <a:ext cx="1130586" cy="1185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DB8B09-5DCC-F213-1FAA-07DD968867D9}"/>
              </a:ext>
            </a:extLst>
          </p:cNvPr>
          <p:cNvCxnSpPr>
            <a:cxnSpLocks/>
          </p:cNvCxnSpPr>
          <p:nvPr/>
        </p:nvCxnSpPr>
        <p:spPr>
          <a:xfrm flipH="1">
            <a:off x="4240696" y="3296027"/>
            <a:ext cx="730315" cy="998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605EC8-06E6-5917-E16F-04A7DE464C65}"/>
              </a:ext>
            </a:extLst>
          </p:cNvPr>
          <p:cNvCxnSpPr/>
          <p:nvPr/>
        </p:nvCxnSpPr>
        <p:spPr>
          <a:xfrm>
            <a:off x="4959875" y="3284984"/>
            <a:ext cx="809767" cy="933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0A90A5-648B-83A0-6FFB-BCE95BC9BA4E}"/>
              </a:ext>
            </a:extLst>
          </p:cNvPr>
          <p:cNvCxnSpPr/>
          <p:nvPr/>
        </p:nvCxnSpPr>
        <p:spPr>
          <a:xfrm flipH="1">
            <a:off x="4795124" y="3645024"/>
            <a:ext cx="991681" cy="1002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1A674E-F8B4-F0C8-D814-636379A34CC2}"/>
              </a:ext>
            </a:extLst>
          </p:cNvPr>
          <p:cNvCxnSpPr/>
          <p:nvPr/>
        </p:nvCxnSpPr>
        <p:spPr>
          <a:xfrm>
            <a:off x="5768301" y="3650319"/>
            <a:ext cx="980182" cy="726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8D26D3-9EAF-EF4F-7AB6-95732B0EF985}"/>
              </a:ext>
            </a:extLst>
          </p:cNvPr>
          <p:cNvCxnSpPr>
            <a:cxnSpLocks/>
          </p:cNvCxnSpPr>
          <p:nvPr/>
        </p:nvCxnSpPr>
        <p:spPr>
          <a:xfrm flipH="1">
            <a:off x="6228184" y="3994019"/>
            <a:ext cx="576064" cy="1445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D0F8A13-2B9E-F891-37A6-670A2A6A9D57}"/>
              </a:ext>
            </a:extLst>
          </p:cNvPr>
          <p:cNvCxnSpPr/>
          <p:nvPr/>
        </p:nvCxnSpPr>
        <p:spPr>
          <a:xfrm>
            <a:off x="6726944" y="3994019"/>
            <a:ext cx="710495" cy="1389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0389975-43AF-9357-3FFD-620A5DD1FB89}"/>
              </a:ext>
            </a:extLst>
          </p:cNvPr>
          <p:cNvCxnSpPr/>
          <p:nvPr/>
        </p:nvCxnSpPr>
        <p:spPr>
          <a:xfrm flipH="1">
            <a:off x="6804248" y="4365104"/>
            <a:ext cx="648393" cy="1844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AF5CDD6-933F-A234-F978-66D2435AC8CD}"/>
              </a:ext>
            </a:extLst>
          </p:cNvPr>
          <p:cNvCxnSpPr>
            <a:cxnSpLocks/>
          </p:cNvCxnSpPr>
          <p:nvPr/>
        </p:nvCxnSpPr>
        <p:spPr>
          <a:xfrm>
            <a:off x="7437439" y="4365104"/>
            <a:ext cx="483728" cy="1622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E9865F7-DC8B-58B6-A7BC-B9323BFC1D32}"/>
              </a:ext>
            </a:extLst>
          </p:cNvPr>
          <p:cNvCxnSpPr/>
          <p:nvPr/>
        </p:nvCxnSpPr>
        <p:spPr>
          <a:xfrm flipH="1">
            <a:off x="7524328" y="5173982"/>
            <a:ext cx="390819" cy="197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13B0A7-FD53-8C3C-4015-CB16717E6B7F}"/>
              </a:ext>
            </a:extLst>
          </p:cNvPr>
          <p:cNvCxnSpPr>
            <a:cxnSpLocks/>
          </p:cNvCxnSpPr>
          <p:nvPr/>
        </p:nvCxnSpPr>
        <p:spPr>
          <a:xfrm>
            <a:off x="7942585" y="4710650"/>
            <a:ext cx="0" cy="263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4AE6FAE-4EAD-EB42-029F-387FD148B698}"/>
              </a:ext>
            </a:extLst>
          </p:cNvPr>
          <p:cNvCxnSpPr/>
          <p:nvPr/>
        </p:nvCxnSpPr>
        <p:spPr>
          <a:xfrm>
            <a:off x="7912202" y="5162939"/>
            <a:ext cx="469208" cy="1992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ADA275-7248-FA66-1914-FF0AA0B063E7}"/>
              </a:ext>
            </a:extLst>
          </p:cNvPr>
          <p:cNvCxnSpPr>
            <a:cxnSpLocks/>
          </p:cNvCxnSpPr>
          <p:nvPr/>
        </p:nvCxnSpPr>
        <p:spPr>
          <a:xfrm flipH="1">
            <a:off x="8417933" y="5617075"/>
            <a:ext cx="3171" cy="285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915972C-F10B-8ABD-4E72-39880EDA74CA}"/>
              </a:ext>
            </a:extLst>
          </p:cNvPr>
          <p:cNvCxnSpPr/>
          <p:nvPr/>
        </p:nvCxnSpPr>
        <p:spPr>
          <a:xfrm flipH="1">
            <a:off x="7693428" y="6096562"/>
            <a:ext cx="660863" cy="182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115E23-0F08-4932-A2BA-302DC7320020}"/>
              </a:ext>
            </a:extLst>
          </p:cNvPr>
          <p:cNvCxnSpPr/>
          <p:nvPr/>
        </p:nvCxnSpPr>
        <p:spPr>
          <a:xfrm>
            <a:off x="8352865" y="6091100"/>
            <a:ext cx="523702" cy="182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F4E9AC-5758-85CA-F4A1-8E6F7E4EEBC8}"/>
              </a:ext>
            </a:extLst>
          </p:cNvPr>
          <p:cNvCxnSpPr/>
          <p:nvPr/>
        </p:nvCxnSpPr>
        <p:spPr>
          <a:xfrm>
            <a:off x="219456" y="2121812"/>
            <a:ext cx="0" cy="206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F1DFCC7-3746-7976-AE27-BE192139EF38}"/>
              </a:ext>
            </a:extLst>
          </p:cNvPr>
          <p:cNvCxnSpPr/>
          <p:nvPr/>
        </p:nvCxnSpPr>
        <p:spPr>
          <a:xfrm>
            <a:off x="5707341" y="4365104"/>
            <a:ext cx="0" cy="1844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0E28A7-1F42-93DF-B93D-FBDA6D496D2A}"/>
              </a:ext>
            </a:extLst>
          </p:cNvPr>
          <p:cNvCxnSpPr/>
          <p:nvPr/>
        </p:nvCxnSpPr>
        <p:spPr>
          <a:xfrm flipV="1">
            <a:off x="7912202" y="5902570"/>
            <a:ext cx="1061110" cy="7786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87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AA7B7-818C-4AFE-AB33-D17C248C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50" y="1"/>
            <a:ext cx="912494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/>
              <a:t>Comparative Typology of Differential Object Marking (</a:t>
            </a:r>
            <a:r>
              <a:rPr lang="en-GB" i="1"/>
              <a:t>ad</a:t>
            </a:r>
            <a:r>
              <a:rPr lang="en-GB"/>
              <a:t>)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4036991-3243-46FC-AF1C-A54CDC2B6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878613"/>
              </p:ext>
            </p:extLst>
          </p:nvPr>
        </p:nvGraphicFramePr>
        <p:xfrm>
          <a:off x="0" y="1408092"/>
          <a:ext cx="9124950" cy="420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990">
                  <a:extLst>
                    <a:ext uri="{9D8B030D-6E8A-4147-A177-3AD203B41FA5}">
                      <a16:colId xmlns:a16="http://schemas.microsoft.com/office/drawing/2014/main" val="2418125747"/>
                    </a:ext>
                  </a:extLst>
                </a:gridCol>
                <a:gridCol w="1824990">
                  <a:extLst>
                    <a:ext uri="{9D8B030D-6E8A-4147-A177-3AD203B41FA5}">
                      <a16:colId xmlns:a16="http://schemas.microsoft.com/office/drawing/2014/main" val="1429743651"/>
                    </a:ext>
                  </a:extLst>
                </a:gridCol>
                <a:gridCol w="1824990">
                  <a:extLst>
                    <a:ext uri="{9D8B030D-6E8A-4147-A177-3AD203B41FA5}">
                      <a16:colId xmlns:a16="http://schemas.microsoft.com/office/drawing/2014/main" val="4206326562"/>
                    </a:ext>
                  </a:extLst>
                </a:gridCol>
                <a:gridCol w="1824990">
                  <a:extLst>
                    <a:ext uri="{9D8B030D-6E8A-4147-A177-3AD203B41FA5}">
                      <a16:colId xmlns:a16="http://schemas.microsoft.com/office/drawing/2014/main" val="2850691038"/>
                    </a:ext>
                  </a:extLst>
                </a:gridCol>
                <a:gridCol w="1824990">
                  <a:extLst>
                    <a:ext uri="{9D8B030D-6E8A-4147-A177-3AD203B41FA5}">
                      <a16:colId xmlns:a16="http://schemas.microsoft.com/office/drawing/2014/main" val="2463808376"/>
                    </a:ext>
                  </a:extLst>
                </a:gridCol>
              </a:tblGrid>
              <a:tr h="867929">
                <a:tc>
                  <a:txBody>
                    <a:bodyPr/>
                    <a:lstStyle/>
                    <a:p>
                      <a:r>
                        <a:rPr lang="en-GB"/>
                        <a:t>Language variety</a:t>
                      </a:r>
                    </a:p>
                    <a:p>
                      <a:endParaRPr lang="en-GB"/>
                    </a:p>
                    <a:p>
                      <a:r>
                        <a:rPr lang="en-GB"/>
                        <a:t>DOM-parameter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GB"/>
                        <a:t>Spanish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GB" err="1"/>
                        <a:t>Catalán</a:t>
                      </a:r>
                      <a:endParaRPr lang="en-GB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GB"/>
                        <a:t>Italian dialects (central-southern)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GB"/>
                        <a:t>Portuguese (BP/EP)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302082368"/>
                  </a:ext>
                </a:extLst>
              </a:tr>
              <a:tr h="1693918">
                <a:tc>
                  <a:txBody>
                    <a:bodyPr/>
                    <a:lstStyle/>
                    <a:p>
                      <a:r>
                        <a:rPr lang="en-GB"/>
                        <a:t>Nominal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GB"/>
                    </a:p>
                    <a:p>
                      <a:endParaRPr lang="en-GB"/>
                    </a:p>
                    <a:p>
                      <a:endParaRPr lang="en-GB"/>
                    </a:p>
                    <a:p>
                      <a:endParaRPr lang="en-GB"/>
                    </a:p>
                    <a:p>
                      <a:endParaRPr lang="en-GB"/>
                    </a:p>
                    <a:p>
                      <a:endParaRPr lang="en-GB"/>
                    </a:p>
                    <a:p>
                      <a:endParaRPr lang="en-GB"/>
                    </a:p>
                    <a:p>
                      <a:endParaRPr lang="en-GB"/>
                    </a:p>
                    <a:p>
                      <a:endParaRPr lang="en-GB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57574892"/>
                  </a:ext>
                </a:extLst>
              </a:tr>
              <a:tr h="727240">
                <a:tc>
                  <a:txBody>
                    <a:bodyPr/>
                    <a:lstStyle/>
                    <a:p>
                      <a:r>
                        <a:rPr lang="en-GB"/>
                        <a:t>Verbal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69278739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5C5C66B-4E5F-4E84-B0A0-E128880B24A7}"/>
              </a:ext>
            </a:extLst>
          </p:cNvPr>
          <p:cNvSpPr txBox="1"/>
          <p:nvPr/>
        </p:nvSpPr>
        <p:spPr>
          <a:xfrm>
            <a:off x="0" y="5918031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Personal Pronouns (1</a:t>
            </a:r>
            <a:r>
              <a:rPr lang="en-GB" baseline="30000" dirty="0"/>
              <a:t>st</a:t>
            </a:r>
            <a:r>
              <a:rPr lang="en-GB" dirty="0"/>
              <a:t>/2</a:t>
            </a:r>
            <a:r>
              <a:rPr lang="en-GB" baseline="30000" dirty="0"/>
              <a:t>nd</a:t>
            </a:r>
            <a:r>
              <a:rPr lang="en-GB" dirty="0"/>
              <a:t> singular) &gt; Divine (Proper) &gt; Superior (Common) (Pt) &gt; </a:t>
            </a:r>
          </a:p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Person Pronouns &gt; Proper Names &gt; Referential Personal Common Nouns (It) &gt; </a:t>
            </a:r>
          </a:p>
          <a:p>
            <a:r>
              <a:rPr lang="en-GB" dirty="0"/>
              <a:t>Non-referential Personal Common Nouns (</a:t>
            </a:r>
            <a:r>
              <a:rPr lang="en-GB" dirty="0" err="1"/>
              <a:t>Sp</a:t>
            </a:r>
            <a:r>
              <a:rPr lang="en-GB" dirty="0"/>
              <a:t>/Cat)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354BD8-890C-486A-BC6C-18090EDE85EA}"/>
              </a:ext>
            </a:extLst>
          </p:cNvPr>
          <p:cNvSpPr txBox="1"/>
          <p:nvPr/>
        </p:nvSpPr>
        <p:spPr>
          <a:xfrm>
            <a:off x="1784350" y="2292419"/>
            <a:ext cx="18224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Animacy (personal and analogical e.g. communities and works)</a:t>
            </a:r>
          </a:p>
          <a:p>
            <a:r>
              <a:rPr lang="en-GB"/>
              <a:t>Optional when non-specific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0AAAEE-8C25-4582-BA49-E8A8F3C21D36}"/>
              </a:ext>
            </a:extLst>
          </p:cNvPr>
          <p:cNvSpPr txBox="1"/>
          <p:nvPr/>
        </p:nvSpPr>
        <p:spPr>
          <a:xfrm>
            <a:off x="1831976" y="4828937"/>
            <a:ext cx="1882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Agentive/affective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F095B8-0383-4427-AFF3-65F19F9035AB}"/>
              </a:ext>
            </a:extLst>
          </p:cNvPr>
          <p:cNvSpPr txBox="1"/>
          <p:nvPr/>
        </p:nvSpPr>
        <p:spPr>
          <a:xfrm>
            <a:off x="3606800" y="2292419"/>
            <a:ext cx="18224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Personal Pronouns (obligatory)</a:t>
            </a:r>
          </a:p>
          <a:p>
            <a:r>
              <a:rPr lang="en-GB"/>
              <a:t>Optional with Proper Names and other types of pronouns and animate nouns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490FDB-491D-4426-95EE-3D7847347002}"/>
              </a:ext>
            </a:extLst>
          </p:cNvPr>
          <p:cNvSpPr txBox="1"/>
          <p:nvPr/>
        </p:nvSpPr>
        <p:spPr>
          <a:xfrm>
            <a:off x="3568700" y="4828937"/>
            <a:ext cx="1949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Agentive/affective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7BDD10-82B7-4610-A646-26DC96E6D50D}"/>
              </a:ext>
            </a:extLst>
          </p:cNvPr>
          <p:cNvSpPr txBox="1"/>
          <p:nvPr/>
        </p:nvSpPr>
        <p:spPr>
          <a:xfrm>
            <a:off x="5489574" y="2294604"/>
            <a:ext cx="18224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/>
              <a:t>Personal Pronouns and Proper Names (obligatory)</a:t>
            </a:r>
          </a:p>
          <a:p>
            <a:r>
              <a:rPr lang="en-GB" sz="1600" dirty="0"/>
              <a:t>Optional/ungrammatical when animate common nouns are indefinite, non-specific or plural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401436-7FF9-4877-B380-CF6A2FC402D9}"/>
              </a:ext>
            </a:extLst>
          </p:cNvPr>
          <p:cNvSpPr txBox="1"/>
          <p:nvPr/>
        </p:nvSpPr>
        <p:spPr>
          <a:xfrm>
            <a:off x="7312024" y="2292420"/>
            <a:ext cx="18224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Divine (Proper) /Superior (Common)</a:t>
            </a:r>
          </a:p>
          <a:p>
            <a:r>
              <a:rPr lang="en-GB"/>
              <a:t>Personal Pronouns (1</a:t>
            </a:r>
            <a:r>
              <a:rPr lang="en-GB" baseline="30000"/>
              <a:t>st</a:t>
            </a:r>
            <a:r>
              <a:rPr lang="en-GB"/>
              <a:t>/2</a:t>
            </a:r>
            <a:r>
              <a:rPr lang="en-GB" baseline="30000"/>
              <a:t>nd</a:t>
            </a:r>
            <a:r>
              <a:rPr lang="en-GB"/>
              <a:t> singular)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71A2CD-A761-4634-90F3-439E64499A8C}"/>
              </a:ext>
            </a:extLst>
          </p:cNvPr>
          <p:cNvSpPr txBox="1"/>
          <p:nvPr/>
        </p:nvSpPr>
        <p:spPr>
          <a:xfrm>
            <a:off x="5429251" y="4853338"/>
            <a:ext cx="1822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F3E05-E2DB-4FD1-9D08-0FC7541AE52D}"/>
              </a:ext>
            </a:extLst>
          </p:cNvPr>
          <p:cNvSpPr txBox="1"/>
          <p:nvPr/>
        </p:nvSpPr>
        <p:spPr>
          <a:xfrm>
            <a:off x="7312024" y="4849104"/>
            <a:ext cx="1822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Worship/respect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C58EEC-66CC-4A44-BF30-F45AF979F7CF}"/>
              </a:ext>
            </a:extLst>
          </p:cNvPr>
          <p:cNvSpPr txBox="1"/>
          <p:nvPr/>
        </p:nvSpPr>
        <p:spPr>
          <a:xfrm>
            <a:off x="7312024" y="5286886"/>
            <a:ext cx="1831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Most ‘marked’ categories (DOM)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54C79B-793B-4463-84D2-7FCABF7B6E5B}"/>
              </a:ext>
            </a:extLst>
          </p:cNvPr>
          <p:cNvSpPr txBox="1"/>
          <p:nvPr/>
        </p:nvSpPr>
        <p:spPr>
          <a:xfrm>
            <a:off x="1831976" y="5271700"/>
            <a:ext cx="19494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Least ‘marked’ categories (DOM)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DAC5AB4-F8DF-D4CD-C425-BDBA4B03547C}"/>
              </a:ext>
            </a:extLst>
          </p:cNvPr>
          <p:cNvCxnSpPr>
            <a:cxnSpLocks/>
          </p:cNvCxnSpPr>
          <p:nvPr/>
        </p:nvCxnSpPr>
        <p:spPr>
          <a:xfrm>
            <a:off x="3781423" y="5485070"/>
            <a:ext cx="3470279" cy="15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07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2" grpId="0"/>
      <p:bldP spid="3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3BC56-6208-47BA-A06B-8F19D9C8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GB" sz="3600" dirty="0"/>
              <a:t>Proto-Romance Formation of Differential Object Marking (Latin AD)</a:t>
            </a:r>
            <a:endParaRPr lang="en-GB" sz="3600" dirty="0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5E15B-28E2-4E80-A37D-09B051B1D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3" y="1170504"/>
            <a:ext cx="9144828" cy="45169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dirty="0"/>
              <a:t>AD: </a:t>
            </a:r>
            <a:r>
              <a:rPr lang="en-GB" sz="2000" dirty="0" err="1"/>
              <a:t>Pallative</a:t>
            </a:r>
            <a:r>
              <a:rPr lang="en-GB" sz="2000" dirty="0"/>
              <a:t> &gt; K(</a:t>
            </a:r>
            <a:r>
              <a:rPr lang="en-GB" sz="2000" dirty="0" err="1"/>
              <a:t>ase</a:t>
            </a:r>
            <a:r>
              <a:rPr lang="en-GB" sz="2000" dirty="0"/>
              <a:t>) (Romance dative case-marking of indirect objects (Pinkster (1990), Adams (2013), De Melo and Adams (2016)) (Plautus (2nd century BC, pre-classical Latin)</a:t>
            </a:r>
            <a:endParaRPr lang="en-GB" sz="2000" dirty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D010D3-3E88-48DC-A5D1-DE467F432E73}"/>
              </a:ext>
            </a:extLst>
          </p:cNvPr>
          <p:cNvSpPr txBox="1"/>
          <p:nvPr/>
        </p:nvSpPr>
        <p:spPr>
          <a:xfrm>
            <a:off x="1795" y="5901646"/>
            <a:ext cx="911777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dirty="0">
                <a:latin typeface="Aptos"/>
              </a:rPr>
              <a:t>Reanalysis: direction of vision (</a:t>
            </a:r>
            <a:r>
              <a:rPr lang="en-GB" i="1" dirty="0">
                <a:latin typeface="Aptos"/>
              </a:rPr>
              <a:t>ad </a:t>
            </a:r>
            <a:r>
              <a:rPr lang="en-GB" i="1" dirty="0" err="1">
                <a:latin typeface="Aptos"/>
              </a:rPr>
              <a:t>eram</a:t>
            </a:r>
            <a:r>
              <a:rPr lang="en-GB" dirty="0">
                <a:latin typeface="Aptos"/>
              </a:rPr>
              <a:t>) = object of vision (</a:t>
            </a:r>
            <a:r>
              <a:rPr lang="en-GB" i="1" dirty="0">
                <a:latin typeface="Aptos"/>
              </a:rPr>
              <a:t>vide</a:t>
            </a:r>
            <a:r>
              <a:rPr lang="en-GB" dirty="0">
                <a:latin typeface="Aptos"/>
              </a:rPr>
              <a:t>) (direct object)</a:t>
            </a:r>
            <a:endParaRPr lang="zh-TW" altLang="en-US" sz="1400" dirty="0">
              <a:ea typeface="新細明體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B9CF78-184B-4111-AD4D-31527BD9EE81}"/>
              </a:ext>
            </a:extLst>
          </p:cNvPr>
          <p:cNvSpPr txBox="1"/>
          <p:nvPr/>
        </p:nvSpPr>
        <p:spPr>
          <a:xfrm>
            <a:off x="-9111" y="3736971"/>
            <a:ext cx="913958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dirty="0">
                <a:latin typeface="Aptos"/>
              </a:rPr>
              <a:t>Reanalysis: direction of speech (</a:t>
            </a:r>
            <a:r>
              <a:rPr lang="en-GB" i="1" dirty="0">
                <a:latin typeface="Aptos"/>
              </a:rPr>
              <a:t>ad </a:t>
            </a:r>
            <a:r>
              <a:rPr lang="en-GB" i="1" dirty="0" err="1">
                <a:latin typeface="Aptos"/>
              </a:rPr>
              <a:t>patrem</a:t>
            </a:r>
            <a:r>
              <a:rPr lang="en-GB" dirty="0">
                <a:latin typeface="Aptos"/>
              </a:rPr>
              <a:t>) = recipient of speech (</a:t>
            </a:r>
            <a:r>
              <a:rPr lang="en-GB" i="1" dirty="0" err="1">
                <a:latin typeface="Aptos"/>
              </a:rPr>
              <a:t>patri</a:t>
            </a:r>
            <a:r>
              <a:rPr lang="en-GB" dirty="0">
                <a:latin typeface="Aptos"/>
              </a:rPr>
              <a:t>) (indirect object)</a:t>
            </a:r>
            <a:endParaRPr lang="zh-TW" altLang="en-US" sz="1400" dirty="0">
              <a:ea typeface="新細明體"/>
              <a:cs typeface="Calibri"/>
            </a:endParaRPr>
          </a:p>
          <a:p>
            <a:endParaRPr lang="en-GB" dirty="0">
              <a:ea typeface="Calibri"/>
              <a:cs typeface="Calibri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104FB38-27A7-0340-5873-ED2676718E9A}"/>
              </a:ext>
            </a:extLst>
          </p:cNvPr>
          <p:cNvSpPr txBox="1">
            <a:spLocks/>
          </p:cNvSpPr>
          <p:nvPr/>
        </p:nvSpPr>
        <p:spPr>
          <a:xfrm>
            <a:off x="-827" y="2149430"/>
            <a:ext cx="9144827" cy="44949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Quae</a:t>
            </a:r>
            <a:r>
              <a:rPr lang="en-GB" sz="2000" dirty="0"/>
              <a:t> </a:t>
            </a:r>
            <a:r>
              <a:rPr lang="en-GB" sz="2000" b="1" dirty="0"/>
              <a:t>ad </a:t>
            </a:r>
            <a:r>
              <a:rPr lang="en-GB" sz="2000" b="1" dirty="0" err="1"/>
              <a:t>patrem</a:t>
            </a:r>
            <a:r>
              <a:rPr lang="en-GB" sz="2000" b="1" dirty="0"/>
              <a:t> </a:t>
            </a:r>
            <a:r>
              <a:rPr lang="en-GB" sz="2000" dirty="0"/>
              <a:t>vis </a:t>
            </a:r>
            <a:r>
              <a:rPr lang="en-GB" sz="2000" dirty="0" err="1"/>
              <a:t>nuntiari</a:t>
            </a:r>
            <a:endParaRPr lang="en-GB" sz="20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‘… the things which you want to be announced to your father.’ (</a:t>
            </a:r>
            <a:r>
              <a:rPr lang="en-GB" sz="2000" i="1" dirty="0" err="1"/>
              <a:t>Captivi</a:t>
            </a:r>
            <a:r>
              <a:rPr lang="en-GB" sz="2000" dirty="0"/>
              <a:t> 360)</a:t>
            </a:r>
            <a:endParaRPr lang="en-GB" sz="20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Numquid</a:t>
            </a:r>
            <a:r>
              <a:rPr lang="en-GB" sz="2000" dirty="0"/>
              <a:t> </a:t>
            </a:r>
            <a:r>
              <a:rPr lang="en-GB" sz="2000" dirty="0" err="1"/>
              <a:t>aliud</a:t>
            </a:r>
            <a:r>
              <a:rPr lang="en-GB" sz="2000" dirty="0"/>
              <a:t> vis </a:t>
            </a:r>
            <a:r>
              <a:rPr lang="en-GB" sz="2000" b="1" dirty="0" err="1"/>
              <a:t>patri</a:t>
            </a:r>
            <a:r>
              <a:rPr lang="en-GB" sz="2000" dirty="0"/>
              <a:t> </a:t>
            </a:r>
            <a:r>
              <a:rPr lang="en-GB" sz="2000" dirty="0" err="1"/>
              <a:t>nuntiari</a:t>
            </a:r>
            <a:endParaRPr lang="en-GB" sz="20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‘… whether you want something else to be announced to your father.’ (</a:t>
            </a:r>
            <a:r>
              <a:rPr lang="en-GB" sz="2000" i="1" dirty="0" err="1"/>
              <a:t>Captivi</a:t>
            </a:r>
            <a:r>
              <a:rPr lang="en-GB" sz="2000" dirty="0"/>
              <a:t> 400)</a:t>
            </a:r>
            <a:endParaRPr lang="en-GB" sz="2000" dirty="0">
              <a:ea typeface="Calibri"/>
              <a:cs typeface="Calibri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1E20036-8EDD-F93F-29BF-2B39445D3F1D}"/>
              </a:ext>
            </a:extLst>
          </p:cNvPr>
          <p:cNvSpPr txBox="1">
            <a:spLocks/>
          </p:cNvSpPr>
          <p:nvPr/>
        </p:nvSpPr>
        <p:spPr>
          <a:xfrm>
            <a:off x="-12286" y="4230715"/>
            <a:ext cx="9167743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b="1" dirty="0"/>
              <a:t>Ad </a:t>
            </a:r>
            <a:r>
              <a:rPr lang="en-GB" sz="2000" b="1" dirty="0" err="1"/>
              <a:t>eram</a:t>
            </a:r>
            <a:r>
              <a:rPr lang="en-GB" sz="2000" b="1" dirty="0"/>
              <a:t> </a:t>
            </a:r>
            <a:r>
              <a:rPr lang="en-GB" sz="2000" dirty="0" err="1"/>
              <a:t>revidebo</a:t>
            </a:r>
            <a:endParaRPr lang="en-GB" sz="20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‘I shall revisit our mistress…’ (</a:t>
            </a:r>
            <a:r>
              <a:rPr lang="en-GB" sz="2000" i="1" dirty="0" err="1"/>
              <a:t>Truculentus</a:t>
            </a:r>
            <a:r>
              <a:rPr lang="en-GB" sz="2000" dirty="0"/>
              <a:t> 320)</a:t>
            </a:r>
            <a:endParaRPr lang="en-GB" sz="2000" dirty="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Ver </a:t>
            </a:r>
            <a:r>
              <a:rPr lang="en-GB" sz="2000" b="1" dirty="0"/>
              <a:t>vide</a:t>
            </a:r>
            <a:endParaRPr lang="en-GB" sz="2000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/>
              <a:t>‘See spring…’ (</a:t>
            </a:r>
            <a:r>
              <a:rPr lang="en-GB" sz="2000" i="1" dirty="0" err="1"/>
              <a:t>Truculentus</a:t>
            </a:r>
            <a:r>
              <a:rPr lang="en-GB" sz="2000" i="1" dirty="0"/>
              <a:t> </a:t>
            </a:r>
            <a:r>
              <a:rPr lang="en-GB" sz="2000" dirty="0"/>
              <a:t>353)</a:t>
            </a:r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369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5" grpId="0"/>
      <p:bldP spid="16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6145CA-5D1D-A8FC-EE9E-AEE7E043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69"/>
            <a:ext cx="8229600" cy="884207"/>
          </a:xfrm>
        </p:spPr>
        <p:txBody>
          <a:bodyPr/>
          <a:lstStyle/>
          <a:p>
            <a:r>
              <a:rPr lang="zh-TW" i="1">
                <a:latin typeface="Aptos Display"/>
              </a:rPr>
              <a:t>Verba videndi </a:t>
            </a:r>
            <a:r>
              <a:rPr lang="zh-TW">
                <a:latin typeface="Aptos Display"/>
              </a:rPr>
              <a:t>+ AD (Latin) 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5B327F-CD3C-15FA-17AA-78FF357B2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418197"/>
            <a:ext cx="902208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zh-TW" sz="2000" i="1" dirty="0">
                <a:latin typeface="Aptos"/>
                <a:ea typeface="新細明體"/>
              </a:rPr>
              <a:t>Verba videndi </a:t>
            </a:r>
            <a:r>
              <a:rPr lang="zh-TW" sz="2000" dirty="0">
                <a:latin typeface="Aptos"/>
                <a:ea typeface="新細明體"/>
              </a:rPr>
              <a:t>+ AD (Plautus </a:t>
            </a:r>
            <a:r>
              <a:rPr lang="en-US" altLang="zh-TW" sz="2000" dirty="0">
                <a:latin typeface="Aptos"/>
                <a:ea typeface="新細明體"/>
              </a:rPr>
              <a:t>&gt;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Late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Republica</a:t>
            </a:r>
            <a:r>
              <a:rPr lang="zh-TW" sz="2000" dirty="0">
                <a:latin typeface="Aptos"/>
                <a:ea typeface="新細明體"/>
              </a:rPr>
              <a:t>n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&gt;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Classic</a:t>
            </a:r>
            <a:r>
              <a:rPr lang="zh-TW" sz="2000" dirty="0">
                <a:latin typeface="Aptos"/>
                <a:ea typeface="新細明體"/>
              </a:rPr>
              <a:t>a</a:t>
            </a:r>
            <a:r>
              <a:rPr lang="en-US" altLang="zh-TW" sz="2000" dirty="0">
                <a:latin typeface="Aptos"/>
                <a:ea typeface="新細明體"/>
              </a:rPr>
              <a:t>l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&gt;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Ch</a:t>
            </a:r>
            <a:r>
              <a:rPr lang="zh-TW" sz="2000" dirty="0">
                <a:latin typeface="Aptos"/>
                <a:ea typeface="新細明體"/>
              </a:rPr>
              <a:t>r</a:t>
            </a:r>
            <a:r>
              <a:rPr lang="en-US" altLang="zh-TW" sz="2000" dirty="0" err="1">
                <a:latin typeface="Aptos"/>
                <a:ea typeface="新細明體"/>
              </a:rPr>
              <a:t>istian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&gt;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Me</a:t>
            </a:r>
            <a:r>
              <a:rPr lang="zh-TW" sz="2000" dirty="0">
                <a:latin typeface="Aptos"/>
                <a:ea typeface="新細明體"/>
              </a:rPr>
              <a:t>d</a:t>
            </a:r>
            <a:r>
              <a:rPr lang="en-US" altLang="zh-TW" sz="2000" dirty="0" err="1">
                <a:latin typeface="Aptos"/>
                <a:ea typeface="新細明體"/>
              </a:rPr>
              <a:t>ieval</a:t>
            </a:r>
            <a:r>
              <a:rPr lang="zh-TW" sz="2000" dirty="0">
                <a:latin typeface="Aptos"/>
                <a:ea typeface="新細明體"/>
              </a:rPr>
              <a:t>) </a:t>
            </a:r>
            <a:endParaRPr lang="zh-TW" sz="2000" dirty="0">
              <a:ea typeface="新細明體"/>
              <a:cs typeface="Calibri"/>
            </a:endParaRPr>
          </a:p>
          <a:p>
            <a:pPr>
              <a:buNone/>
            </a:pPr>
            <a:endParaRPr lang="zh-TW" sz="1800" dirty="0">
              <a:latin typeface="Aptos"/>
              <a:ea typeface="新細明體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51F65A2E-9DCC-7B90-3F16-CBD01C561140}"/>
              </a:ext>
            </a:extLst>
          </p:cNvPr>
          <p:cNvSpPr txBox="1">
            <a:spLocks/>
          </p:cNvSpPr>
          <p:nvPr/>
        </p:nvSpPr>
        <p:spPr>
          <a:xfrm>
            <a:off x="451449" y="746393"/>
            <a:ext cx="8218557" cy="46695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2000" dirty="0" err="1">
                <a:latin typeface="Aptos"/>
                <a:ea typeface="新細明體"/>
              </a:rPr>
              <a:t>Respice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ad</a:t>
            </a:r>
            <a:r>
              <a:rPr lang="zh-TW" sz="2000" b="1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m</a:t>
            </a:r>
            <a:r>
              <a:rPr lang="zh-TW" sz="2000" b="1" dirty="0">
                <a:latin typeface="Aptos"/>
                <a:ea typeface="新細明體"/>
              </a:rPr>
              <a:t>e</a:t>
            </a:r>
            <a:r>
              <a:rPr lang="en-US" altLang="zh-TW" sz="2000" dirty="0">
                <a:latin typeface="Aptos"/>
                <a:ea typeface="新細明體"/>
              </a:rPr>
              <a:t>…</a:t>
            </a:r>
            <a:r>
              <a:rPr lang="zh-TW" sz="2000" dirty="0">
                <a:latin typeface="Aptos"/>
                <a:ea typeface="新細明體"/>
              </a:rPr>
              <a:t> 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</a:rPr>
              <a:t>‘</a:t>
            </a:r>
            <a:r>
              <a:rPr lang="en-US" altLang="zh-TW" sz="2000" dirty="0">
                <a:latin typeface="Aptos"/>
                <a:ea typeface="新細明體"/>
              </a:rPr>
              <a:t>Look</a:t>
            </a:r>
            <a:r>
              <a:rPr lang="zh-TW" sz="2000" dirty="0">
                <a:latin typeface="Aptos"/>
                <a:ea typeface="新細明體"/>
              </a:rPr>
              <a:t> ba</a:t>
            </a:r>
            <a:r>
              <a:rPr lang="en-US" altLang="zh-TW" sz="2000" dirty="0">
                <a:latin typeface="Aptos"/>
                <a:ea typeface="新細明體"/>
              </a:rPr>
              <a:t>ck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at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m</a:t>
            </a:r>
            <a:r>
              <a:rPr lang="zh-TW" sz="2000" dirty="0">
                <a:latin typeface="Aptos"/>
                <a:ea typeface="新細明體"/>
              </a:rPr>
              <a:t>e</a:t>
            </a:r>
            <a:r>
              <a:rPr lang="en-US" altLang="zh-TW" sz="2000" dirty="0">
                <a:latin typeface="Aptos"/>
                <a:ea typeface="新細明體"/>
              </a:rPr>
              <a:t>.</a:t>
            </a:r>
            <a:r>
              <a:rPr lang="zh-TW" sz="2000" dirty="0">
                <a:latin typeface="Aptos"/>
                <a:ea typeface="新細明體"/>
              </a:rPr>
              <a:t>’ (</a:t>
            </a:r>
            <a:r>
              <a:rPr lang="en-GB" altLang="zh-TW" sz="2000" dirty="0">
                <a:latin typeface="Aptos"/>
                <a:ea typeface="新細明體"/>
              </a:rPr>
              <a:t>Plautus </a:t>
            </a:r>
            <a:r>
              <a:rPr lang="en-US" altLang="zh-TW" sz="2000" i="1" dirty="0">
                <a:latin typeface="Aptos"/>
                <a:ea typeface="新細明體"/>
              </a:rPr>
              <a:t>Truc</a:t>
            </a:r>
            <a:r>
              <a:rPr lang="zh-TW" sz="2000" i="1" dirty="0">
                <a:latin typeface="Aptos"/>
                <a:ea typeface="新細明體"/>
              </a:rPr>
              <a:t>u</a:t>
            </a:r>
            <a:r>
              <a:rPr lang="en-US" altLang="zh-TW" sz="2000" i="1" dirty="0" err="1">
                <a:latin typeface="Aptos"/>
                <a:ea typeface="新細明體"/>
              </a:rPr>
              <a:t>len</a:t>
            </a:r>
            <a:r>
              <a:rPr lang="zh-TW" sz="2000" i="1" dirty="0">
                <a:latin typeface="Aptos"/>
                <a:ea typeface="新細明體"/>
              </a:rPr>
              <a:t>tus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257</a:t>
            </a:r>
            <a:r>
              <a:rPr lang="zh-TW" sz="2000" dirty="0">
                <a:latin typeface="Aptos"/>
                <a:ea typeface="新細明體"/>
              </a:rPr>
              <a:t>)</a:t>
            </a:r>
            <a:endParaRPr lang="zh-TW" dirty="0"/>
          </a:p>
          <a:p>
            <a:pPr>
              <a:buFont typeface="Arial" pitchFamily="34" charset="0"/>
              <a:buNone/>
            </a:pPr>
            <a:endParaRPr lang="zh-TW" sz="2000" dirty="0">
              <a:latin typeface="Aptos"/>
              <a:ea typeface="新細明體"/>
            </a:endParaRP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F4157B4D-9471-AFB9-DFC5-799D7D97E092}"/>
              </a:ext>
            </a:extLst>
          </p:cNvPr>
          <p:cNvSpPr txBox="1">
            <a:spLocks/>
          </p:cNvSpPr>
          <p:nvPr/>
        </p:nvSpPr>
        <p:spPr>
          <a:xfrm>
            <a:off x="451447" y="1442079"/>
            <a:ext cx="8226266" cy="59080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2000" dirty="0" err="1">
                <a:latin typeface="Aptos"/>
                <a:ea typeface="新細明體"/>
              </a:rPr>
              <a:t>Vereor</a:t>
            </a:r>
            <a:r>
              <a:rPr lang="en-US" altLang="zh-TW" sz="2000" dirty="0">
                <a:latin typeface="Aptos"/>
                <a:ea typeface="新細明體"/>
              </a:rPr>
              <a:t>…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n</a:t>
            </a:r>
            <a:r>
              <a:rPr lang="zh-TW" sz="2000" dirty="0">
                <a:latin typeface="Aptos"/>
                <a:ea typeface="新細明體"/>
              </a:rPr>
              <a:t>e</a:t>
            </a:r>
            <a:r>
              <a:rPr lang="en-US" altLang="zh-TW" sz="2000" dirty="0">
                <a:latin typeface="Aptos"/>
                <a:ea typeface="新細明體"/>
              </a:rPr>
              <a:t>…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nunc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ad</a:t>
            </a:r>
            <a:r>
              <a:rPr lang="zh-TW" altLang="en-US" sz="2000" b="1" dirty="0">
                <a:latin typeface="Aptos"/>
                <a:ea typeface="新細明體"/>
              </a:rPr>
              <a:t> </a:t>
            </a:r>
            <a:r>
              <a:rPr lang="en-US" altLang="zh-TW" sz="2000" b="1" dirty="0" err="1">
                <a:latin typeface="Aptos"/>
                <a:ea typeface="新細明體"/>
              </a:rPr>
              <a:t>Caecilianam</a:t>
            </a:r>
            <a:r>
              <a:rPr lang="zh-TW" altLang="en-US" sz="2000" b="1" dirty="0">
                <a:latin typeface="Aptos"/>
                <a:ea typeface="新細明體"/>
              </a:rPr>
              <a:t> </a:t>
            </a:r>
            <a:r>
              <a:rPr lang="en-US" altLang="zh-TW" sz="2000" b="1" dirty="0" err="1">
                <a:latin typeface="Aptos"/>
                <a:ea typeface="新細明體"/>
              </a:rPr>
              <a:t>fabulam</a:t>
            </a:r>
            <a:r>
              <a:rPr lang="zh-TW" altLang="en-US" sz="2000" b="1" dirty="0">
                <a:latin typeface="Aptos"/>
                <a:ea typeface="新細明體"/>
              </a:rPr>
              <a:t> </a:t>
            </a:r>
            <a:r>
              <a:rPr lang="en-US" altLang="zh-TW" sz="2000" dirty="0" err="1">
                <a:latin typeface="Aptos"/>
                <a:ea typeface="新細明體"/>
              </a:rPr>
              <a:t>spectet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</a:rPr>
              <a:t>‘</a:t>
            </a:r>
            <a:r>
              <a:rPr lang="en-US" altLang="zh-TW" sz="2000" dirty="0">
                <a:latin typeface="Aptos"/>
                <a:ea typeface="新細明體"/>
              </a:rPr>
              <a:t>I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fear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that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he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might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now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watch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the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play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zh-TW" sz="2000" dirty="0">
                <a:latin typeface="Aptos"/>
                <a:ea typeface="新細明體"/>
              </a:rPr>
              <a:t>b</a:t>
            </a:r>
            <a:r>
              <a:rPr lang="en-US" altLang="zh-TW" sz="2000" dirty="0">
                <a:latin typeface="Aptos"/>
                <a:ea typeface="新細明體"/>
              </a:rPr>
              <a:t>y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C</a:t>
            </a:r>
            <a:r>
              <a:rPr lang="zh-TW" sz="2000" dirty="0">
                <a:latin typeface="Aptos"/>
                <a:ea typeface="新細明體"/>
              </a:rPr>
              <a:t>ae</a:t>
            </a:r>
            <a:r>
              <a:rPr lang="en-US" altLang="zh-TW" sz="2000" dirty="0" err="1">
                <a:latin typeface="Aptos"/>
                <a:ea typeface="新細明體"/>
              </a:rPr>
              <a:t>cilius</a:t>
            </a:r>
            <a:r>
              <a:rPr lang="en-US" altLang="zh-TW" sz="2000" dirty="0">
                <a:latin typeface="Aptos"/>
                <a:ea typeface="新細明體"/>
              </a:rPr>
              <a:t>.</a:t>
            </a:r>
            <a:r>
              <a:rPr lang="zh-TW" sz="2000" dirty="0">
                <a:latin typeface="Aptos"/>
                <a:ea typeface="新細明體"/>
              </a:rPr>
              <a:t>’ </a:t>
            </a:r>
            <a:endParaRPr lang="en-GB" altLang="zh-TW" sz="2000" dirty="0">
              <a:latin typeface="Aptos"/>
              <a:ea typeface="新細明體"/>
            </a:endParaRPr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</a:rPr>
              <a:t>(</a:t>
            </a:r>
            <a:r>
              <a:rPr lang="en-US" altLang="zh-TW" sz="2000" dirty="0">
                <a:latin typeface="Aptos"/>
                <a:ea typeface="新細明體"/>
              </a:rPr>
              <a:t>Late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Rep</a:t>
            </a:r>
            <a:r>
              <a:rPr lang="zh-TW" sz="2000" dirty="0">
                <a:latin typeface="Aptos"/>
                <a:ea typeface="新細明體"/>
              </a:rPr>
              <a:t>u</a:t>
            </a:r>
            <a:r>
              <a:rPr lang="en-US" altLang="zh-TW" sz="2000" dirty="0" err="1">
                <a:latin typeface="Aptos"/>
                <a:ea typeface="新細明體"/>
              </a:rPr>
              <a:t>blican</a:t>
            </a:r>
            <a:r>
              <a:rPr lang="en-US" altLang="zh-TW" sz="2000" dirty="0">
                <a:latin typeface="Aptos"/>
                <a:ea typeface="新細明體"/>
              </a:rPr>
              <a:t>: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Cicero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i="1" dirty="0">
                <a:latin typeface="Aptos"/>
                <a:ea typeface="新細明體"/>
              </a:rPr>
              <a:t>ad</a:t>
            </a:r>
            <a:r>
              <a:rPr lang="zh-TW" altLang="en-US" sz="2000" i="1" dirty="0">
                <a:latin typeface="Aptos"/>
                <a:ea typeface="新細明體"/>
              </a:rPr>
              <a:t> </a:t>
            </a:r>
            <a:r>
              <a:rPr lang="en-US" altLang="zh-TW" sz="2000" i="1" dirty="0">
                <a:latin typeface="Aptos"/>
                <a:ea typeface="新細明體"/>
              </a:rPr>
              <a:t>At</a:t>
            </a:r>
            <a:r>
              <a:rPr lang="zh-TW" sz="2000" i="1" dirty="0">
                <a:latin typeface="Aptos"/>
                <a:ea typeface="新細明體"/>
              </a:rPr>
              <a:t>t</a:t>
            </a:r>
            <a:r>
              <a:rPr lang="en-US" altLang="zh-TW" sz="2000" i="1" dirty="0" err="1">
                <a:latin typeface="Aptos"/>
                <a:ea typeface="新細明體"/>
              </a:rPr>
              <a:t>ic</a:t>
            </a:r>
            <a:r>
              <a:rPr lang="zh-TW" sz="2000" i="1" dirty="0">
                <a:latin typeface="Aptos"/>
                <a:ea typeface="新細明體"/>
              </a:rPr>
              <a:t>u</a:t>
            </a:r>
            <a:r>
              <a:rPr lang="en-US" altLang="zh-TW" sz="2000" i="1" dirty="0">
                <a:latin typeface="Aptos"/>
                <a:ea typeface="新細明體"/>
              </a:rPr>
              <a:t>m</a:t>
            </a:r>
            <a:r>
              <a:rPr lang="zh-TW" altLang="en-US" sz="2000" i="1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1.16.6</a:t>
            </a:r>
            <a:r>
              <a:rPr lang="zh-TW" sz="2000" dirty="0">
                <a:latin typeface="Aptos"/>
                <a:ea typeface="新細明體"/>
              </a:rPr>
              <a:t>)</a:t>
            </a:r>
            <a:endParaRPr lang="zh-TW" dirty="0"/>
          </a:p>
          <a:p>
            <a:pPr>
              <a:buNone/>
            </a:pPr>
            <a:r>
              <a:rPr lang="en-US" altLang="zh-TW" sz="2000" dirty="0">
                <a:latin typeface="Aptos"/>
                <a:ea typeface="新細明體"/>
              </a:rPr>
              <a:t>Patriae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quoque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 err="1">
                <a:latin typeface="Aptos"/>
                <a:ea typeface="新細明體"/>
              </a:rPr>
              <a:t>vellet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ad</a:t>
            </a:r>
            <a:r>
              <a:rPr lang="zh-TW" altLang="en-US" sz="2000" b="1" dirty="0">
                <a:latin typeface="Aptos"/>
                <a:ea typeface="新細明體"/>
              </a:rPr>
              <a:t> </a:t>
            </a:r>
            <a:r>
              <a:rPr lang="en-US" altLang="zh-TW" sz="2000" b="1" dirty="0" err="1">
                <a:latin typeface="Aptos"/>
                <a:ea typeface="新細明體"/>
              </a:rPr>
              <a:t>oras</a:t>
            </a:r>
            <a:r>
              <a:rPr lang="zh-TW" altLang="en-US" sz="2000" b="1" dirty="0">
                <a:latin typeface="Aptos"/>
                <a:ea typeface="新細明體"/>
              </a:rPr>
              <a:t> </a:t>
            </a:r>
            <a:r>
              <a:rPr lang="en-US" altLang="zh-TW" sz="2000" dirty="0" err="1">
                <a:latin typeface="Aptos"/>
                <a:ea typeface="新細明體"/>
              </a:rPr>
              <a:t>respicere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endParaRPr lang="zh-TW" altLang="en-US" dirty="0"/>
          </a:p>
          <a:p>
            <a:pPr>
              <a:buNone/>
            </a:pPr>
            <a:r>
              <a:rPr lang="zh-TW" altLang="en-US" sz="2000" dirty="0">
                <a:latin typeface="Aptos"/>
                <a:ea typeface="新細明體"/>
              </a:rPr>
              <a:t>‘</a:t>
            </a:r>
            <a:r>
              <a:rPr lang="en-US" altLang="zh-TW" sz="2000" dirty="0">
                <a:latin typeface="Aptos"/>
                <a:ea typeface="新細明體"/>
              </a:rPr>
              <a:t>…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GB" altLang="zh-TW" sz="2000" dirty="0">
                <a:latin typeface="Aptos"/>
                <a:ea typeface="新細明體"/>
              </a:rPr>
              <a:t>s</a:t>
            </a:r>
            <a:r>
              <a:rPr lang="en-US" altLang="zh-TW" sz="2000" dirty="0">
                <a:latin typeface="Aptos"/>
                <a:ea typeface="新細明體"/>
              </a:rPr>
              <a:t>he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also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wanted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to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look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back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at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the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shores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of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her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homeland.</a:t>
            </a:r>
            <a:r>
              <a:rPr lang="zh-TW" altLang="en-US" sz="2000" dirty="0">
                <a:latin typeface="Aptos"/>
                <a:ea typeface="新細明體"/>
              </a:rPr>
              <a:t>’</a:t>
            </a:r>
            <a:endParaRPr lang="en-GB" altLang="zh-TW" sz="2000" dirty="0">
              <a:latin typeface="Aptos"/>
              <a:ea typeface="新細明體"/>
            </a:endParaRPr>
          </a:p>
          <a:p>
            <a:pPr>
              <a:buNone/>
            </a:pPr>
            <a:r>
              <a:rPr lang="en-US" altLang="zh-TW" sz="2000" dirty="0">
                <a:latin typeface="Aptos"/>
                <a:ea typeface="新細明體"/>
              </a:rPr>
              <a:t>(Classical: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Ovid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i="1" dirty="0">
                <a:latin typeface="Aptos"/>
                <a:ea typeface="新細明體"/>
              </a:rPr>
              <a:t>Metamorphosis</a:t>
            </a:r>
            <a:r>
              <a:rPr lang="zh-TW" altLang="en-US" sz="2000" i="1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11.546)</a:t>
            </a:r>
            <a:endParaRPr lang="zh-TW" altLang="en-US" dirty="0"/>
          </a:p>
          <a:p>
            <a:pPr>
              <a:buFont typeface="Arial" pitchFamily="34" charset="0"/>
              <a:buNone/>
            </a:pPr>
            <a:endParaRPr lang="zh-TW" sz="2000" dirty="0">
              <a:latin typeface="Aptos"/>
              <a:ea typeface="新細明體"/>
            </a:endParaRPr>
          </a:p>
          <a:p>
            <a:pPr>
              <a:buNone/>
            </a:pPr>
            <a:endParaRPr lang="zh-TW" sz="2000" dirty="0">
              <a:latin typeface="Aptos"/>
              <a:ea typeface="新細明體"/>
            </a:endParaRP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3AA28C0F-455E-901F-DAB7-B01399237577}"/>
              </a:ext>
            </a:extLst>
          </p:cNvPr>
          <p:cNvSpPr txBox="1">
            <a:spLocks/>
          </p:cNvSpPr>
          <p:nvPr/>
        </p:nvSpPr>
        <p:spPr>
          <a:xfrm>
            <a:off x="451447" y="3625970"/>
            <a:ext cx="8218557" cy="59447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2000" dirty="0">
                <a:latin typeface="Aptos"/>
                <a:ea typeface="新細明體"/>
              </a:rPr>
              <a:t>Et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dirty="0" err="1">
                <a:latin typeface="Aptos"/>
                <a:ea typeface="新細明體"/>
              </a:rPr>
              <a:t>respe</a:t>
            </a:r>
            <a:r>
              <a:rPr lang="zh-TW" sz="2000" dirty="0">
                <a:latin typeface="Aptos"/>
                <a:ea typeface="新細明體"/>
              </a:rPr>
              <a:t>x</a:t>
            </a:r>
            <a:r>
              <a:rPr lang="en-US" altLang="zh-TW" sz="2000" dirty="0">
                <a:latin typeface="Aptos"/>
                <a:ea typeface="新細明體"/>
              </a:rPr>
              <a:t>it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zh-TW" sz="2000" dirty="0">
                <a:latin typeface="Aptos"/>
                <a:ea typeface="新細明體"/>
              </a:rPr>
              <a:t>D</a:t>
            </a:r>
            <a:r>
              <a:rPr lang="en-US" altLang="zh-TW" sz="2000" dirty="0" err="1">
                <a:latin typeface="Aptos"/>
                <a:ea typeface="新細明體"/>
              </a:rPr>
              <a:t>ominu</a:t>
            </a:r>
            <a:r>
              <a:rPr lang="zh-TW" sz="2000" dirty="0">
                <a:latin typeface="Aptos"/>
                <a:ea typeface="新細明體"/>
              </a:rPr>
              <a:t>s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ad</a:t>
            </a:r>
            <a:r>
              <a:rPr lang="zh-TW" sz="2000" b="1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Abel</a:t>
            </a:r>
            <a:r>
              <a:rPr lang="zh-TW" sz="2000" b="1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et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ad</a:t>
            </a:r>
            <a:r>
              <a:rPr lang="zh-TW" altLang="en-US" sz="2000" b="1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mun</a:t>
            </a:r>
            <a:r>
              <a:rPr lang="zh-TW" sz="2000" b="1" dirty="0">
                <a:latin typeface="Aptos"/>
                <a:ea typeface="新細明體"/>
              </a:rPr>
              <a:t>e</a:t>
            </a:r>
            <a:r>
              <a:rPr lang="en-US" altLang="zh-TW" sz="2000" b="1" dirty="0" err="1">
                <a:latin typeface="Aptos"/>
                <a:ea typeface="新細明體"/>
              </a:rPr>
              <a:t>ra</a:t>
            </a:r>
            <a:r>
              <a:rPr lang="zh-TW" altLang="en-US" sz="2000" b="1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eius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</a:rPr>
              <a:t>‘</a:t>
            </a:r>
            <a:r>
              <a:rPr lang="en-US" altLang="zh-TW" sz="2000" dirty="0">
                <a:latin typeface="Aptos"/>
                <a:ea typeface="新細明體"/>
              </a:rPr>
              <a:t>…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and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the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Lor</a:t>
            </a:r>
            <a:r>
              <a:rPr lang="zh-TW" sz="2000" dirty="0">
                <a:latin typeface="Aptos"/>
                <a:ea typeface="新細明體"/>
              </a:rPr>
              <a:t>d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 err="1">
                <a:latin typeface="Aptos"/>
                <a:ea typeface="新細明體"/>
              </a:rPr>
              <a:t>looke</a:t>
            </a:r>
            <a:r>
              <a:rPr lang="zh-TW" sz="2000" dirty="0">
                <a:latin typeface="Aptos"/>
                <a:ea typeface="新細明體"/>
              </a:rPr>
              <a:t>d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zh-TW" sz="2000" dirty="0">
                <a:latin typeface="Aptos"/>
                <a:ea typeface="新細明體"/>
              </a:rPr>
              <a:t>ba</a:t>
            </a:r>
            <a:r>
              <a:rPr lang="en-US" altLang="zh-TW" sz="2000" dirty="0">
                <a:latin typeface="Aptos"/>
                <a:ea typeface="新細明體"/>
              </a:rPr>
              <a:t>ck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at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Ab</a:t>
            </a:r>
            <a:r>
              <a:rPr lang="zh-TW" sz="2000" dirty="0">
                <a:latin typeface="Aptos"/>
                <a:ea typeface="新細明體"/>
              </a:rPr>
              <a:t>e</a:t>
            </a:r>
            <a:r>
              <a:rPr lang="en-US" altLang="zh-TW" sz="2000" dirty="0">
                <a:latin typeface="Aptos"/>
                <a:ea typeface="新細明體"/>
              </a:rPr>
              <a:t>l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and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his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gifts.</a:t>
            </a:r>
            <a:r>
              <a:rPr lang="zh-TW" sz="2000" dirty="0">
                <a:latin typeface="Aptos"/>
                <a:ea typeface="新細明體"/>
              </a:rPr>
              <a:t>’ </a:t>
            </a:r>
            <a:endParaRPr lang="en-GB" altLang="zh-TW" sz="2000" dirty="0">
              <a:latin typeface="Aptos"/>
              <a:ea typeface="新細明體"/>
            </a:endParaRPr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</a:rPr>
              <a:t>(</a:t>
            </a:r>
            <a:r>
              <a:rPr lang="en-US" altLang="zh-TW" sz="2000" dirty="0">
                <a:latin typeface="Aptos"/>
                <a:ea typeface="新細明體"/>
              </a:rPr>
              <a:t>Christian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La</a:t>
            </a:r>
            <a:r>
              <a:rPr lang="zh-TW" sz="2000" dirty="0">
                <a:latin typeface="Aptos"/>
                <a:ea typeface="新細明體"/>
              </a:rPr>
              <a:t>t</a:t>
            </a:r>
            <a:r>
              <a:rPr lang="en-US" altLang="zh-TW" sz="2000" dirty="0">
                <a:latin typeface="Aptos"/>
                <a:ea typeface="新細明體"/>
              </a:rPr>
              <a:t>in: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i="1" dirty="0">
                <a:latin typeface="Aptos"/>
                <a:ea typeface="新細明體"/>
              </a:rPr>
              <a:t>La</a:t>
            </a:r>
            <a:r>
              <a:rPr lang="zh-TW" sz="2000" i="1" dirty="0">
                <a:latin typeface="Aptos"/>
                <a:ea typeface="新細明體"/>
              </a:rPr>
              <a:t>t</a:t>
            </a:r>
            <a:r>
              <a:rPr lang="en-US" altLang="zh-TW" sz="2000" i="1" dirty="0">
                <a:latin typeface="Aptos"/>
                <a:ea typeface="新細明體"/>
              </a:rPr>
              <a:t>in</a:t>
            </a:r>
            <a:r>
              <a:rPr lang="zh-TW" altLang="en-US" sz="2000" i="1" dirty="0">
                <a:latin typeface="Aptos"/>
                <a:ea typeface="新細明體"/>
              </a:rPr>
              <a:t> </a:t>
            </a:r>
            <a:r>
              <a:rPr lang="en-US" altLang="zh-TW" sz="2000" i="1" dirty="0">
                <a:latin typeface="Aptos"/>
                <a:ea typeface="新細明體"/>
              </a:rPr>
              <a:t>Bible</a:t>
            </a:r>
            <a:r>
              <a:rPr lang="zh-TW" altLang="en-US" sz="2000" i="1" dirty="0">
                <a:latin typeface="Aptos"/>
                <a:ea typeface="新細明體"/>
              </a:rPr>
              <a:t> </a:t>
            </a:r>
            <a:r>
              <a:rPr lang="en-US" altLang="zh-TW" sz="2000" i="1" dirty="0">
                <a:latin typeface="Aptos"/>
                <a:ea typeface="新細明體"/>
              </a:rPr>
              <a:t>Genesis</a:t>
            </a:r>
            <a:r>
              <a:rPr lang="zh-TW" altLang="en-US" sz="2000" i="1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4.</a:t>
            </a:r>
            <a:r>
              <a:rPr lang="zh-TW" sz="2000" dirty="0">
                <a:latin typeface="Aptos"/>
                <a:ea typeface="新細明體"/>
              </a:rPr>
              <a:t>4)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endParaRPr lang="zh-TW" dirty="0"/>
          </a:p>
          <a:p>
            <a:pPr>
              <a:buNone/>
            </a:pPr>
            <a:r>
              <a:rPr lang="en-US" altLang="zh-TW" sz="2000" dirty="0">
                <a:latin typeface="Aptos"/>
                <a:ea typeface="新細明體"/>
              </a:rPr>
              <a:t>Et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 err="1">
                <a:latin typeface="Aptos"/>
                <a:ea typeface="新細明體"/>
              </a:rPr>
              <a:t>aspicien</a:t>
            </a:r>
            <a:r>
              <a:rPr lang="zh-TW" sz="2000" dirty="0">
                <a:latin typeface="Aptos"/>
                <a:ea typeface="新細明體"/>
              </a:rPr>
              <a:t>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b="1" dirty="0">
                <a:latin typeface="Aptos"/>
                <a:ea typeface="新細明體"/>
              </a:rPr>
              <a:t>ad</a:t>
            </a:r>
            <a:r>
              <a:rPr lang="zh-TW" altLang="en-US" sz="2000" b="1" dirty="0">
                <a:latin typeface="Aptos"/>
                <a:ea typeface="新細明體"/>
              </a:rPr>
              <a:t> </a:t>
            </a:r>
            <a:r>
              <a:rPr lang="zh-TW" sz="2000" b="1" dirty="0">
                <a:latin typeface="Aptos"/>
                <a:ea typeface="新細明體"/>
              </a:rPr>
              <a:t>m</a:t>
            </a:r>
            <a:r>
              <a:rPr lang="en-US" altLang="zh-TW" sz="2000" b="1" dirty="0">
                <a:latin typeface="Aptos"/>
                <a:ea typeface="新細明體"/>
              </a:rPr>
              <a:t>e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</a:rPr>
              <a:t>‘</a:t>
            </a:r>
            <a:r>
              <a:rPr lang="en-US" altLang="zh-TW" sz="2000" dirty="0">
                <a:latin typeface="Aptos"/>
                <a:ea typeface="新細明體"/>
              </a:rPr>
              <a:t>…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and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they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will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look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at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me.</a:t>
            </a:r>
            <a:r>
              <a:rPr lang="zh-TW" sz="2000" dirty="0">
                <a:latin typeface="Aptos"/>
                <a:ea typeface="新細明體"/>
              </a:rPr>
              <a:t>’ </a:t>
            </a:r>
            <a:r>
              <a:rPr lang="en-US" altLang="zh-TW" sz="2000" dirty="0">
                <a:latin typeface="Aptos"/>
                <a:ea typeface="新細明體"/>
              </a:rPr>
              <a:t>(Christian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Latin:</a:t>
            </a:r>
            <a:r>
              <a:rPr lang="zh-TW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Jerome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i="1" dirty="0" err="1">
                <a:latin typeface="Aptos"/>
                <a:ea typeface="新細明體"/>
              </a:rPr>
              <a:t>Epistula</a:t>
            </a:r>
            <a:r>
              <a:rPr lang="zh-TW" altLang="en-US" sz="2000" dirty="0">
                <a:latin typeface="Aptos"/>
                <a:ea typeface="新細明體"/>
              </a:rPr>
              <a:t> </a:t>
            </a:r>
            <a:r>
              <a:rPr lang="en-US" altLang="zh-TW" sz="2000" dirty="0">
                <a:latin typeface="Aptos"/>
                <a:ea typeface="新細明體"/>
              </a:rPr>
              <a:t>57.7)</a:t>
            </a:r>
            <a:endParaRPr lang="zh-TW" altLang="en-US" dirty="0"/>
          </a:p>
          <a:p>
            <a:pPr>
              <a:buNone/>
            </a:pPr>
            <a:endParaRPr lang="zh-TW" altLang="en-US" sz="2000" dirty="0">
              <a:latin typeface="Aptos"/>
              <a:ea typeface="新細明體"/>
            </a:endParaRP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6C69F3CB-282F-EBE5-94B3-EFC5CE71BF95}"/>
              </a:ext>
            </a:extLst>
          </p:cNvPr>
          <p:cNvSpPr txBox="1">
            <a:spLocks/>
          </p:cNvSpPr>
          <p:nvPr/>
        </p:nvSpPr>
        <p:spPr>
          <a:xfrm>
            <a:off x="434655" y="5415921"/>
            <a:ext cx="8235351" cy="64579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>
                <a:latin typeface="Aptos"/>
                <a:ea typeface="新細明體"/>
              </a:rPr>
              <a:t>Ipse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 err="1">
                <a:latin typeface="Aptos"/>
                <a:ea typeface="新細明體"/>
              </a:rPr>
              <a:t>farinariius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b="1" dirty="0">
                <a:latin typeface="Aptos"/>
                <a:ea typeface="新細明體"/>
              </a:rPr>
              <a:t>ad</a:t>
            </a:r>
            <a:r>
              <a:rPr lang="en-US" altLang="zh-TW" sz="2000" b="1" dirty="0">
                <a:latin typeface="Aptos"/>
                <a:ea typeface="新細明體"/>
              </a:rPr>
              <a:t> </a:t>
            </a:r>
            <a:r>
              <a:rPr lang="en-US" sz="2000" b="1" dirty="0">
                <a:latin typeface="Aptos"/>
                <a:ea typeface="新細明體"/>
              </a:rPr>
              <a:t>ipso</a:t>
            </a:r>
            <a:r>
              <a:rPr lang="en-US" altLang="zh-TW" sz="2000" b="1" dirty="0">
                <a:latin typeface="Aptos"/>
                <a:ea typeface="新細明體"/>
              </a:rPr>
              <a:t> </a:t>
            </a:r>
            <a:r>
              <a:rPr lang="en-US" sz="2000" b="1" dirty="0">
                <a:latin typeface="Aptos"/>
                <a:ea typeface="新細明體"/>
              </a:rPr>
              <a:t>Verno</a:t>
            </a:r>
            <a:r>
              <a:rPr lang="en-US" altLang="zh-TW" sz="2000" b="1" dirty="0">
                <a:latin typeface="Aptos"/>
                <a:ea typeface="新細明體"/>
              </a:rPr>
              <a:t> </a:t>
            </a:r>
            <a:r>
              <a:rPr lang="en-US" sz="2000" dirty="0" err="1">
                <a:latin typeface="Aptos"/>
                <a:ea typeface="新細明體"/>
              </a:rPr>
              <a:t>nonquam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 err="1">
                <a:latin typeface="Aptos"/>
                <a:ea typeface="新細明體"/>
              </a:rPr>
              <a:t>aspexissit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endParaRPr lang="en-US" altLang="zh-TW" dirty="0"/>
          </a:p>
          <a:p>
            <a:pPr>
              <a:buNone/>
            </a:pPr>
            <a:r>
              <a:rPr lang="en-US" altLang="zh-TW" sz="2000" dirty="0">
                <a:latin typeface="Aptos"/>
                <a:ea typeface="新細明體"/>
              </a:rPr>
              <a:t>‘</a:t>
            </a:r>
            <a:r>
              <a:rPr lang="en-US" sz="2000" dirty="0">
                <a:latin typeface="Aptos"/>
                <a:ea typeface="新細明體"/>
              </a:rPr>
              <a:t>The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>
                <a:latin typeface="Aptos"/>
                <a:ea typeface="新細明體"/>
              </a:rPr>
              <a:t>baker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>
                <a:latin typeface="Aptos"/>
                <a:ea typeface="新細明體"/>
              </a:rPr>
              <a:t>had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>
                <a:latin typeface="Aptos"/>
                <a:ea typeface="新細明體"/>
              </a:rPr>
              <a:t>never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>
                <a:latin typeface="Aptos"/>
                <a:ea typeface="新細明體"/>
              </a:rPr>
              <a:t>seen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>
                <a:latin typeface="Aptos"/>
                <a:ea typeface="新細明體"/>
              </a:rPr>
              <a:t>Vernus.’ (Medieval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>
                <a:latin typeface="Aptos"/>
                <a:ea typeface="新細明體"/>
              </a:rPr>
              <a:t>Latin: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>
                <a:latin typeface="Aptos"/>
                <a:ea typeface="新細明體"/>
              </a:rPr>
              <a:t>Merovingian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>
                <a:latin typeface="Aptos"/>
                <a:ea typeface="新細明體"/>
              </a:rPr>
              <a:t>documents</a:t>
            </a:r>
            <a:r>
              <a:rPr lang="en-US" altLang="zh-TW" sz="2000" dirty="0">
                <a:latin typeface="Aptos"/>
                <a:ea typeface="新細明體"/>
              </a:rPr>
              <a:t> </a:t>
            </a:r>
            <a:r>
              <a:rPr lang="en-US" sz="2000" dirty="0">
                <a:latin typeface="Aptos"/>
                <a:ea typeface="新細明體"/>
              </a:rPr>
              <a:t>32)</a:t>
            </a:r>
            <a:endParaRPr lang="zh-TW" dirty="0"/>
          </a:p>
          <a:p>
            <a:pPr>
              <a:buNone/>
            </a:pPr>
            <a:endParaRPr lang="en-US" altLang="zh-TW" sz="2000" b="1" dirty="0">
              <a:latin typeface="Aptos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875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4" grpId="0"/>
      <p:bldP spid="15" grpId="0"/>
      <p:bldP spid="16" grpId="0"/>
      <p:bldP spid="1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9F98AA-B0AE-6EFD-F8C9-9D20C2C86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2492"/>
            <a:ext cx="8229600" cy="855870"/>
          </a:xfrm>
        </p:spPr>
        <p:txBody>
          <a:bodyPr>
            <a:normAutofit fontScale="90000"/>
          </a:bodyPr>
          <a:lstStyle/>
          <a:p>
            <a:r>
              <a:rPr lang="zh-TW" i="1">
                <a:latin typeface="Aptos Display"/>
              </a:rPr>
              <a:t>Verba videndi </a:t>
            </a:r>
            <a:r>
              <a:rPr lang="zh-TW">
                <a:latin typeface="Aptos Display"/>
              </a:rPr>
              <a:t>+ AD (Latin &gt; Romance)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AEF05B-32FD-BECC-308C-4D90C1731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" y="827156"/>
            <a:ext cx="9113077" cy="529900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zh-TW" sz="1800" dirty="0">
                <a:latin typeface="Aptos"/>
                <a:cs typeface="Calibri"/>
              </a:rPr>
              <a:t>Pinkster (1990), Adams (2011, 2013): Latin AD still spatial (</a:t>
            </a:r>
            <a:r>
              <a:rPr lang="en-GB" altLang="zh-TW" sz="1800" dirty="0">
                <a:latin typeface="Aptos"/>
                <a:cs typeface="Calibri"/>
              </a:rPr>
              <a:t>P</a:t>
            </a:r>
            <a:r>
              <a:rPr lang="zh-TW" sz="1800" dirty="0">
                <a:latin typeface="Aptos"/>
                <a:cs typeface="Calibri"/>
              </a:rPr>
              <a:t>allative </a:t>
            </a:r>
            <a:r>
              <a:rPr lang="en-GB" altLang="zh-TW" sz="1800" dirty="0">
                <a:latin typeface="Aptos"/>
                <a:cs typeface="Calibri"/>
              </a:rPr>
              <a:t>‘</a:t>
            </a:r>
            <a:r>
              <a:rPr lang="zh-TW" sz="1800" dirty="0">
                <a:latin typeface="Aptos"/>
                <a:cs typeface="Calibri"/>
              </a:rPr>
              <a:t>to(wards)</a:t>
            </a:r>
            <a:r>
              <a:rPr lang="en-GB" altLang="zh-TW" sz="1800" dirty="0">
                <a:latin typeface="Aptos"/>
                <a:cs typeface="Calibri"/>
              </a:rPr>
              <a:t>’</a:t>
            </a:r>
            <a:r>
              <a:rPr lang="zh-TW" sz="1800" dirty="0">
                <a:latin typeface="Aptos"/>
                <a:cs typeface="Calibri"/>
              </a:rPr>
              <a:t>): </a:t>
            </a:r>
            <a:endParaRPr lang="zh-TW" sz="2800" dirty="0"/>
          </a:p>
          <a:p>
            <a:pPr marL="0" indent="0">
              <a:buNone/>
            </a:pPr>
            <a:endParaRPr lang="zh-TW" altLang="en-US" sz="2800" dirty="0">
              <a:ea typeface="新細明體"/>
              <a:cs typeface="Calibri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61F3723A-84B8-B790-FED4-FD8ADAE1B837}"/>
              </a:ext>
            </a:extLst>
          </p:cNvPr>
          <p:cNvSpPr txBox="1">
            <a:spLocks/>
          </p:cNvSpPr>
          <p:nvPr/>
        </p:nvSpPr>
        <p:spPr>
          <a:xfrm>
            <a:off x="13253" y="1145209"/>
            <a:ext cx="9124121" cy="57076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1800" dirty="0" err="1">
                <a:latin typeface="Aptos"/>
                <a:ea typeface="新細明體"/>
                <a:cs typeface="Calibri"/>
              </a:rPr>
              <a:t>Quae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nuntiare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in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c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zh-TW" sz="1800" dirty="0">
                <a:latin typeface="Aptos"/>
                <a:ea typeface="新細明體"/>
                <a:cs typeface="Calibri"/>
              </a:rPr>
              <a:t>te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volo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in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pat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r</a:t>
            </a:r>
            <a:r>
              <a:rPr lang="en-US" altLang="zh-TW" sz="1800" b="1" dirty="0" err="1">
                <a:latin typeface="Aptos"/>
                <a:ea typeface="新細明體"/>
                <a:cs typeface="Calibri"/>
              </a:rPr>
              <a:t>i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am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ad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p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at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rem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en-US" altLang="zh-TW" sz="1800" dirty="0">
                <a:latin typeface="Aptos"/>
                <a:ea typeface="新細明體"/>
                <a:cs typeface="Calibri"/>
              </a:rPr>
              <a:t>‘the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th</a:t>
            </a:r>
            <a:r>
              <a:rPr lang="zh-TW" sz="1800" dirty="0">
                <a:latin typeface="Aptos"/>
                <a:ea typeface="新細明體"/>
                <a:cs typeface="Calibri"/>
              </a:rPr>
              <a:t>in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g</a:t>
            </a:r>
            <a:r>
              <a:rPr lang="zh-TW" sz="1800" dirty="0">
                <a:latin typeface="Aptos"/>
                <a:ea typeface="新細明體"/>
                <a:cs typeface="Calibri"/>
              </a:rPr>
              <a:t>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wh</a:t>
            </a:r>
            <a:r>
              <a:rPr lang="zh-TW" sz="1800" dirty="0">
                <a:latin typeface="Aptos"/>
                <a:ea typeface="新細明體"/>
                <a:cs typeface="Calibri"/>
              </a:rPr>
              <a:t>i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ch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I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w</a:t>
            </a:r>
            <a:r>
              <a:rPr lang="zh-TW" sz="1800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nt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you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zh-TW" sz="1800" dirty="0">
                <a:latin typeface="Aptos"/>
                <a:ea typeface="新細明體"/>
                <a:cs typeface="Calibri"/>
              </a:rPr>
              <a:t>t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o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zh-TW" sz="1800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nnounce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to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my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f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at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her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from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her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e to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our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homeland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…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’ </a:t>
            </a:r>
            <a:r>
              <a:rPr lang="zh-TW" sz="1800" dirty="0">
                <a:latin typeface="Aptos"/>
                <a:ea typeface="新細明體"/>
                <a:cs typeface="Calibri"/>
              </a:rPr>
              <a:t>(</a:t>
            </a:r>
            <a:r>
              <a:rPr lang="en-US" altLang="zh-TW" sz="1800" i="1" dirty="0">
                <a:latin typeface="Aptos"/>
                <a:ea typeface="新細明體"/>
                <a:cs typeface="Calibri"/>
              </a:rPr>
              <a:t>C</a:t>
            </a:r>
            <a:r>
              <a:rPr lang="zh-TW" sz="1800" i="1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1800" i="1" dirty="0" err="1">
                <a:latin typeface="Aptos"/>
                <a:ea typeface="新細明體"/>
                <a:cs typeface="Calibri"/>
              </a:rPr>
              <a:t>ptivi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383</a:t>
            </a:r>
            <a:r>
              <a:rPr lang="zh-TW" sz="1800" dirty="0">
                <a:latin typeface="Aptos"/>
                <a:ea typeface="新細明體"/>
                <a:cs typeface="Calibri"/>
              </a:rPr>
              <a:t>)</a:t>
            </a:r>
            <a:endParaRPr lang="zh-TW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en-US" altLang="zh-TW" sz="1800" b="1" dirty="0">
                <a:latin typeface="Aptos"/>
                <a:ea typeface="新細明體"/>
                <a:cs typeface="Calibri"/>
              </a:rPr>
              <a:t>Ad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 err="1">
                <a:latin typeface="Aptos"/>
                <a:ea typeface="新細明體"/>
                <a:cs typeface="Calibri"/>
              </a:rPr>
              <a:t>eram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revidebo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en-GB" altLang="zh-TW" sz="18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I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shall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revisit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our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mistress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(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in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her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house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)…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’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(</a:t>
            </a:r>
            <a:r>
              <a:rPr lang="en-US" altLang="zh-TW" sz="1800" i="1" dirty="0" err="1">
                <a:latin typeface="Aptos"/>
                <a:ea typeface="新細明體"/>
                <a:cs typeface="Calibri"/>
              </a:rPr>
              <a:t>Truculentus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320)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en-US" altLang="zh-TW" sz="1800" dirty="0">
                <a:latin typeface="Aptos"/>
                <a:ea typeface="新細明體"/>
                <a:cs typeface="Calibri"/>
              </a:rPr>
              <a:t>Ibo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ut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visam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 err="1">
                <a:latin typeface="Aptos"/>
                <a:ea typeface="新細明體"/>
                <a:cs typeface="Calibri"/>
              </a:rPr>
              <a:t>huc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ad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 err="1">
                <a:latin typeface="Aptos"/>
                <a:ea typeface="新細明體"/>
                <a:cs typeface="Calibri"/>
              </a:rPr>
              <a:t>eum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,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 err="1">
                <a:latin typeface="Aptos"/>
                <a:ea typeface="新細明體"/>
                <a:cs typeface="Calibri"/>
              </a:rPr>
              <a:t>si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forte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est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 err="1">
                <a:latin typeface="Aptos"/>
                <a:ea typeface="新細明體"/>
                <a:cs typeface="Calibri"/>
              </a:rPr>
              <a:t>domi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zh-TW" altLang="en-US" sz="18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I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shall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visit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him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(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in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his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house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)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from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here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,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if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he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is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by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chance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at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home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.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’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(</a:t>
            </a:r>
            <a:r>
              <a:rPr lang="en-US" altLang="zh-TW" sz="1800" i="1" dirty="0" err="1">
                <a:latin typeface="Aptos"/>
                <a:ea typeface="新細明體"/>
                <a:cs typeface="Calibri"/>
              </a:rPr>
              <a:t>Bacchides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529)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en-US" altLang="zh-TW" sz="1800" dirty="0" err="1">
                <a:latin typeface="Aptos"/>
                <a:ea typeface="新細明體"/>
                <a:cs typeface="Calibri"/>
              </a:rPr>
              <a:t>Vereor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…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ne…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nunc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ad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 err="1">
                <a:latin typeface="Aptos"/>
                <a:ea typeface="新細明體"/>
                <a:cs typeface="Calibri"/>
              </a:rPr>
              <a:t>Caecilianam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 err="1">
                <a:latin typeface="Aptos"/>
                <a:ea typeface="新細明體"/>
                <a:cs typeface="Calibri"/>
              </a:rPr>
              <a:t>fabulam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spectet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en-US" altLang="zh-TW" sz="1800" dirty="0">
                <a:latin typeface="Aptos"/>
                <a:ea typeface="新細明體"/>
                <a:cs typeface="Calibri"/>
              </a:rPr>
              <a:t>‘I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fear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that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he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might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now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watch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the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play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by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Caecilius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(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in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the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theatre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).</a:t>
            </a:r>
            <a:r>
              <a:rPr lang="en-GB" altLang="zh-TW" sz="1800" dirty="0">
                <a:latin typeface="Aptos"/>
                <a:ea typeface="新細明體"/>
                <a:cs typeface="Calibri"/>
              </a:rPr>
              <a:t>’ </a:t>
            </a:r>
          </a:p>
          <a:p>
            <a:pPr>
              <a:buNone/>
            </a:pPr>
            <a:r>
              <a:rPr lang="en-US" altLang="zh-TW" sz="1800" dirty="0">
                <a:latin typeface="Aptos"/>
                <a:ea typeface="新細明體"/>
                <a:cs typeface="Calibri"/>
              </a:rPr>
              <a:t>(Cicero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i="1" dirty="0">
                <a:latin typeface="Aptos"/>
                <a:ea typeface="新細明體"/>
                <a:cs typeface="Calibri"/>
              </a:rPr>
              <a:t>ad</a:t>
            </a:r>
            <a:r>
              <a:rPr lang="zh-TW" altLang="en-US" sz="18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i="1" dirty="0" err="1">
                <a:latin typeface="Aptos"/>
                <a:ea typeface="新細明體"/>
                <a:cs typeface="Calibri"/>
              </a:rPr>
              <a:t>Atticum</a:t>
            </a:r>
            <a:r>
              <a:rPr lang="zh-TW" altLang="en-US" sz="18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1.16.6)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endParaRPr lang="zh-TW" sz="1800" dirty="0">
              <a:latin typeface="Aptos"/>
              <a:ea typeface="新細明體"/>
              <a:cs typeface="Calibri"/>
            </a:endParaRPr>
          </a:p>
          <a:p>
            <a:pPr>
              <a:buNone/>
            </a:pPr>
            <a:endParaRPr lang="zh-TW" sz="1800" dirty="0">
              <a:latin typeface="Aptos"/>
              <a:ea typeface="新細明體"/>
              <a:cs typeface="Calibri"/>
            </a:endParaRPr>
          </a:p>
          <a:p>
            <a:pPr>
              <a:buNone/>
            </a:pPr>
            <a:endParaRPr lang="zh-TW" sz="1800" dirty="0">
              <a:latin typeface="Aptos"/>
              <a:ea typeface="新細明體"/>
              <a:cs typeface="Calibri"/>
            </a:endParaRPr>
          </a:p>
          <a:p>
            <a:pPr>
              <a:buNone/>
            </a:pPr>
            <a:endParaRPr lang="zh-TW" sz="1800" dirty="0">
              <a:latin typeface="Aptos"/>
              <a:ea typeface="新細明體"/>
              <a:cs typeface="Calibri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EDF8908-F01A-FEC2-F3BF-08D7D24ACE2E}"/>
              </a:ext>
            </a:extLst>
          </p:cNvPr>
          <p:cNvSpPr txBox="1">
            <a:spLocks/>
          </p:cNvSpPr>
          <p:nvPr/>
        </p:nvSpPr>
        <p:spPr>
          <a:xfrm>
            <a:off x="-6627" y="4422030"/>
            <a:ext cx="9124122" cy="76291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1800" dirty="0">
                <a:latin typeface="Aptos"/>
                <a:ea typeface="新細明體"/>
                <a:cs typeface="Calibri"/>
              </a:rPr>
              <a:t>Quis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ill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i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c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est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qui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tam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zh-TW" sz="1800" dirty="0">
                <a:latin typeface="Aptos"/>
                <a:ea typeface="新細明體"/>
                <a:cs typeface="Calibri"/>
              </a:rPr>
              <a:t>p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ro</a:t>
            </a:r>
            <a:r>
              <a:rPr lang="zh-TW" sz="1800" dirty="0">
                <a:latin typeface="Aptos"/>
                <a:ea typeface="新細明體"/>
                <a:cs typeface="Calibri"/>
              </a:rPr>
              <a:t>ter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ve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nos</a:t>
            </a:r>
            <a:r>
              <a:rPr lang="zh-TW" sz="1800" dirty="0">
                <a:latin typeface="Aptos"/>
                <a:ea typeface="新細明體"/>
                <a:cs typeface="Calibri"/>
              </a:rPr>
              <a:t>t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ras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aedis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a</a:t>
            </a:r>
            <a:r>
              <a:rPr lang="zh-TW" sz="1800" dirty="0">
                <a:latin typeface="Aptos"/>
                <a:ea typeface="新細明體"/>
                <a:cs typeface="Calibri"/>
              </a:rPr>
              <a:t>r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iet</a:t>
            </a:r>
            <a:r>
              <a:rPr lang="zh-TW" sz="1800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t?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zh-TW" sz="1800" dirty="0">
                <a:latin typeface="Aptos"/>
                <a:ea typeface="新細明體"/>
                <a:cs typeface="Calibri"/>
              </a:rPr>
              <a:t>E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go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su</a:t>
            </a:r>
            <a:r>
              <a:rPr lang="zh-TW" sz="1800" dirty="0">
                <a:latin typeface="Aptos"/>
                <a:ea typeface="新細明體"/>
                <a:cs typeface="Calibri"/>
              </a:rPr>
              <a:t>m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,</a:t>
            </a:r>
            <a:r>
              <a:rPr lang="zh-TW" sz="1800" dirty="0">
                <a:latin typeface="Aptos"/>
                <a:ea typeface="新細明體"/>
                <a:cs typeface="Calibri"/>
              </a:rPr>
              <a:t> re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spice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d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me</a:t>
            </a:r>
            <a:endParaRPr lang="zh-TW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zh-TW" sz="18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W</a:t>
            </a:r>
            <a:r>
              <a:rPr lang="zh-TW" sz="1800" dirty="0">
                <a:latin typeface="Aptos"/>
                <a:ea typeface="新細明體"/>
                <a:cs typeface="Calibri"/>
              </a:rPr>
              <a:t>h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o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the</a:t>
            </a:r>
            <a:r>
              <a:rPr lang="zh-TW" sz="1800" dirty="0">
                <a:latin typeface="Aptos"/>
                <a:ea typeface="新細明體"/>
                <a:cs typeface="Calibri"/>
              </a:rPr>
              <a:t>r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e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s</a:t>
            </a:r>
            <a:r>
              <a:rPr lang="zh-TW" sz="1800" dirty="0">
                <a:latin typeface="Aptos"/>
                <a:ea typeface="新細明體"/>
                <a:cs typeface="Calibri"/>
              </a:rPr>
              <a:t>o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zh-TW" sz="1800" dirty="0">
                <a:latin typeface="Aptos"/>
                <a:ea typeface="新細明體"/>
                <a:cs typeface="Calibri"/>
              </a:rPr>
              <a:t>i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mpu</a:t>
            </a:r>
            <a:r>
              <a:rPr lang="zh-TW" sz="1800" dirty="0">
                <a:latin typeface="Aptos"/>
                <a:ea typeface="新細明體"/>
                <a:cs typeface="Calibri"/>
              </a:rPr>
              <a:t>d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e</a:t>
            </a:r>
            <a:r>
              <a:rPr lang="zh-TW" sz="1800" dirty="0">
                <a:latin typeface="Aptos"/>
                <a:ea typeface="新細明體"/>
                <a:cs typeface="Calibri"/>
              </a:rPr>
              <a:t>n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t</a:t>
            </a:r>
            <a:r>
              <a:rPr lang="zh-TW" sz="1800" dirty="0">
                <a:latin typeface="Aptos"/>
                <a:ea typeface="新細明體"/>
                <a:cs typeface="Calibri"/>
              </a:rPr>
              <a:t>l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y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ra</a:t>
            </a:r>
            <a:r>
              <a:rPr lang="zh-TW" sz="1800" dirty="0">
                <a:latin typeface="Aptos"/>
                <a:ea typeface="新細明體"/>
                <a:cs typeface="Calibri"/>
              </a:rPr>
              <a:t>ms o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ur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rooms?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I</a:t>
            </a:r>
            <a:r>
              <a:rPr lang="zh-TW" sz="1800" dirty="0">
                <a:latin typeface="Aptos"/>
                <a:ea typeface="新細明體"/>
                <a:cs typeface="Calibri"/>
              </a:rPr>
              <a:t>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zh-TW" sz="1800" dirty="0">
                <a:latin typeface="Aptos"/>
                <a:ea typeface="新細明體"/>
                <a:cs typeface="Calibri"/>
              </a:rPr>
              <a:t>i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I</a:t>
            </a:r>
            <a:r>
              <a:rPr lang="zh-TW" sz="1800" dirty="0">
                <a:latin typeface="Aptos"/>
                <a:ea typeface="新細明體"/>
                <a:cs typeface="Calibri"/>
              </a:rPr>
              <a:t>,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look</a:t>
            </a:r>
            <a:r>
              <a:rPr lang="zh-TW" alt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b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1800" b="1" dirty="0">
                <a:latin typeface="Aptos"/>
                <a:ea typeface="新細明體"/>
                <a:cs typeface="Calibri"/>
              </a:rPr>
              <a:t>c</a:t>
            </a:r>
            <a:r>
              <a:rPr lang="zh-TW" sz="1800" b="1" dirty="0">
                <a:latin typeface="Aptos"/>
                <a:ea typeface="新細明體"/>
                <a:cs typeface="Calibri"/>
              </a:rPr>
              <a:t>k</a:t>
            </a:r>
            <a:r>
              <a:rPr lang="zh-TW" sz="1800" dirty="0">
                <a:latin typeface="Aptos"/>
                <a:ea typeface="新細明體"/>
                <a:cs typeface="Calibri"/>
              </a:rPr>
              <a:t> at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m</a:t>
            </a:r>
            <a:r>
              <a:rPr lang="zh-TW" sz="1800" dirty="0">
                <a:latin typeface="Aptos"/>
                <a:ea typeface="新細明體"/>
                <a:cs typeface="Calibri"/>
              </a:rPr>
              <a:t>e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.</a:t>
            </a:r>
            <a:r>
              <a:rPr lang="en-GB" altLang="zh-TW" sz="1800" dirty="0">
                <a:latin typeface="Aptos"/>
                <a:ea typeface="新細明體"/>
                <a:cs typeface="Calibri"/>
              </a:rPr>
              <a:t>’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(</a:t>
            </a:r>
            <a:r>
              <a:rPr lang="en-US" altLang="zh-TW" sz="1800" i="1" dirty="0" err="1">
                <a:latin typeface="Aptos"/>
                <a:ea typeface="新細明體"/>
                <a:cs typeface="Calibri"/>
              </a:rPr>
              <a:t>Truculentus</a:t>
            </a:r>
            <a:r>
              <a:rPr lang="zh-TW" alt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256-257)</a:t>
            </a:r>
          </a:p>
          <a:p>
            <a:pPr>
              <a:buNone/>
            </a:pPr>
            <a:r>
              <a:rPr lang="en-US" sz="1800" dirty="0">
                <a:latin typeface="Aptos"/>
                <a:ea typeface="新細明體"/>
                <a:cs typeface="Calibri"/>
              </a:rPr>
              <a:t>Patriae quoque </a:t>
            </a:r>
            <a:r>
              <a:rPr lang="en-US" sz="1800" dirty="0" err="1">
                <a:latin typeface="Aptos"/>
                <a:ea typeface="新細明體"/>
                <a:cs typeface="Calibri"/>
              </a:rPr>
              <a:t>vellet</a:t>
            </a:r>
            <a:r>
              <a:rPr lang="en-US" sz="1800" dirty="0">
                <a:latin typeface="Aptos"/>
                <a:ea typeface="新細明體"/>
                <a:cs typeface="Calibri"/>
              </a:rPr>
              <a:t> </a:t>
            </a:r>
            <a:r>
              <a:rPr lang="en-US" sz="1800" b="1" dirty="0">
                <a:latin typeface="Aptos"/>
                <a:ea typeface="新細明體"/>
                <a:cs typeface="Calibri"/>
              </a:rPr>
              <a:t>ad </a:t>
            </a:r>
            <a:r>
              <a:rPr lang="en-US" sz="1800" b="1" dirty="0" err="1">
                <a:latin typeface="Aptos"/>
                <a:ea typeface="新細明體"/>
                <a:cs typeface="Calibri"/>
              </a:rPr>
              <a:t>oras</a:t>
            </a:r>
            <a:r>
              <a:rPr lang="en-US" sz="1800" b="1" dirty="0">
                <a:latin typeface="Aptos"/>
                <a:ea typeface="新細明體"/>
                <a:cs typeface="Calibri"/>
              </a:rPr>
              <a:t> </a:t>
            </a:r>
            <a:r>
              <a:rPr lang="en-US" sz="1800" dirty="0" err="1">
                <a:latin typeface="Aptos"/>
                <a:ea typeface="新細明體"/>
                <a:cs typeface="Calibri"/>
              </a:rPr>
              <a:t>respicere</a:t>
            </a:r>
            <a:r>
              <a:rPr lang="en-US" sz="1800" dirty="0">
                <a:latin typeface="Aptos"/>
                <a:ea typeface="新細明體"/>
                <a:cs typeface="Calibri"/>
              </a:rPr>
              <a:t> </a:t>
            </a:r>
            <a:endParaRPr lang="en-US" sz="18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1800" dirty="0">
                <a:latin typeface="Aptos"/>
                <a:ea typeface="新細明體"/>
                <a:cs typeface="Calibri"/>
              </a:rPr>
              <a:t>‘… she also wanted to </a:t>
            </a:r>
            <a:r>
              <a:rPr lang="en-US" sz="1800" b="1" dirty="0">
                <a:latin typeface="Aptos"/>
                <a:ea typeface="新細明體"/>
                <a:cs typeface="Calibri"/>
              </a:rPr>
              <a:t>look back </a:t>
            </a:r>
            <a:r>
              <a:rPr lang="en-US" sz="1800" dirty="0">
                <a:latin typeface="Aptos"/>
                <a:ea typeface="新細明體"/>
                <a:cs typeface="Calibri"/>
              </a:rPr>
              <a:t>at the shores of her homeland.’ (Ovid </a:t>
            </a:r>
            <a:r>
              <a:rPr lang="en-US" sz="1800" i="1" dirty="0">
                <a:latin typeface="Aptos"/>
                <a:ea typeface="新細明體"/>
                <a:cs typeface="Calibri"/>
              </a:rPr>
              <a:t>Metamorphosis</a:t>
            </a:r>
            <a:r>
              <a:rPr lang="en-US" sz="1800" dirty="0">
                <a:latin typeface="Aptos"/>
                <a:ea typeface="新細明體"/>
                <a:cs typeface="Calibri"/>
              </a:rPr>
              <a:t> 11.546)</a:t>
            </a:r>
            <a:endParaRPr lang="en-US" sz="1800" dirty="0">
              <a:ea typeface="Calibri"/>
              <a:cs typeface="Calibri"/>
            </a:endParaRPr>
          </a:p>
          <a:p>
            <a:pPr>
              <a:buNone/>
            </a:pPr>
            <a:endParaRPr lang="en-US" altLang="zh-TW" sz="1800" dirty="0">
              <a:latin typeface="Aptos"/>
              <a:ea typeface="新細明體"/>
              <a:cs typeface="Calibri"/>
            </a:endParaRPr>
          </a:p>
          <a:p>
            <a:pPr>
              <a:buNone/>
            </a:pPr>
            <a:endParaRPr lang="zh-TW" altLang="en-US" sz="1800" b="1" dirty="0">
              <a:latin typeface="Aptos"/>
              <a:ea typeface="新細明體"/>
              <a:cs typeface="Calibri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5E2B0099-1C4E-0856-D605-F969C6402BB4}"/>
              </a:ext>
            </a:extLst>
          </p:cNvPr>
          <p:cNvSpPr txBox="1">
            <a:spLocks/>
          </p:cNvSpPr>
          <p:nvPr/>
        </p:nvSpPr>
        <p:spPr>
          <a:xfrm>
            <a:off x="2109127" y="5918555"/>
            <a:ext cx="9124122" cy="76291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i="1" dirty="0">
                <a:latin typeface="Aptos"/>
                <a:ea typeface="新細明體"/>
                <a:cs typeface="Calibri"/>
              </a:rPr>
              <a:t>Verba </a:t>
            </a:r>
            <a:r>
              <a:rPr lang="en-US" sz="2000" i="1" dirty="0" err="1">
                <a:latin typeface="Aptos"/>
                <a:ea typeface="新細明體"/>
                <a:cs typeface="Calibri"/>
              </a:rPr>
              <a:t>videndi</a:t>
            </a:r>
            <a:r>
              <a:rPr 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en-US" sz="2000" dirty="0">
                <a:latin typeface="Aptos"/>
                <a:ea typeface="新細明體"/>
                <a:cs typeface="Calibri"/>
              </a:rPr>
              <a:t>+ AD (travelling/rotation)</a:t>
            </a:r>
            <a:endParaRPr lang="zh-TW" sz="3600" dirty="0"/>
          </a:p>
          <a:p>
            <a:pPr>
              <a:buNone/>
            </a:pPr>
            <a:endParaRPr lang="en-US" altLang="zh-TW" sz="2000" b="1" dirty="0">
              <a:latin typeface="Aptos"/>
              <a:ea typeface="新細明體"/>
              <a:cs typeface="Calibri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4A33AA3-202F-81E2-4823-EAEBEC939F7F}"/>
              </a:ext>
            </a:extLst>
          </p:cNvPr>
          <p:cNvSpPr txBox="1">
            <a:spLocks/>
          </p:cNvSpPr>
          <p:nvPr/>
        </p:nvSpPr>
        <p:spPr>
          <a:xfrm>
            <a:off x="1106334" y="6338518"/>
            <a:ext cx="10690705" cy="76291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1800" dirty="0">
                <a:latin typeface="Aptos"/>
                <a:ea typeface="新細明體"/>
                <a:cs typeface="Calibri"/>
              </a:rPr>
              <a:t>&lt;‘experiencer’, ‘stimulus’&gt; 		</a:t>
            </a:r>
            <a:endParaRPr lang="en-US" altLang="zh-TW" sz="1800" b="1" dirty="0">
              <a:latin typeface="Aptos"/>
              <a:ea typeface="新細明體"/>
              <a:cs typeface="Calibri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7B2527-6D0B-949C-4186-28CC4AFC7AB2}"/>
              </a:ext>
            </a:extLst>
          </p:cNvPr>
          <p:cNvCxnSpPr/>
          <p:nvPr/>
        </p:nvCxnSpPr>
        <p:spPr>
          <a:xfrm>
            <a:off x="3917430" y="6524154"/>
            <a:ext cx="9875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E4032A1B-26BB-10CF-8158-BA8C579100A7}"/>
              </a:ext>
            </a:extLst>
          </p:cNvPr>
          <p:cNvSpPr txBox="1">
            <a:spLocks/>
          </p:cNvSpPr>
          <p:nvPr/>
        </p:nvSpPr>
        <p:spPr>
          <a:xfrm>
            <a:off x="4904982" y="6338518"/>
            <a:ext cx="10690705" cy="76291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1800" dirty="0">
                <a:latin typeface="Aptos"/>
                <a:ea typeface="新細明體"/>
                <a:cs typeface="Calibri"/>
              </a:rPr>
              <a:t>&lt;‘</a:t>
            </a:r>
            <a:r>
              <a:rPr lang="en-US" sz="1800" dirty="0">
                <a:latin typeface="Aptos"/>
                <a:ea typeface="新細明體"/>
                <a:cs typeface="Calibri"/>
              </a:rPr>
              <a:t>agent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’,</a:t>
            </a:r>
            <a:r>
              <a:rPr lang="en-US" sz="1800" dirty="0">
                <a:latin typeface="Aptos"/>
                <a:ea typeface="新細明體"/>
                <a:cs typeface="Calibri"/>
              </a:rPr>
              <a:t> ‘</a:t>
            </a:r>
            <a:r>
              <a:rPr lang="en-US" sz="1800" dirty="0" err="1">
                <a:latin typeface="Aptos"/>
                <a:ea typeface="新細明體"/>
                <a:cs typeface="Calibri"/>
              </a:rPr>
              <a:t>affectee</a:t>
            </a:r>
            <a:r>
              <a:rPr lang="en-US" sz="1800" dirty="0">
                <a:latin typeface="Aptos"/>
                <a:ea typeface="新細明體"/>
                <a:cs typeface="Calibri"/>
              </a:rPr>
              <a:t>’&gt;</a:t>
            </a:r>
            <a:endParaRPr lang="en-US" dirty="0"/>
          </a:p>
          <a:p>
            <a:pPr>
              <a:buNone/>
            </a:pPr>
            <a:endParaRPr lang="en-US" altLang="zh-TW" sz="1800" b="1" dirty="0">
              <a:latin typeface="Aptos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883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4" grpId="0"/>
      <p:bldP spid="7" grpId="0"/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2CBDA-7B75-D32C-5302-6BF4A775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16955"/>
          </a:xfrm>
        </p:spPr>
        <p:txBody>
          <a:bodyPr/>
          <a:lstStyle/>
          <a:p>
            <a:r>
              <a:rPr lang="en-GB" err="1"/>
              <a:t>Sornicola</a:t>
            </a:r>
            <a:r>
              <a:rPr lang="en-GB"/>
              <a:t> (1997, 1998)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4EE1E-2EA2-0807-179A-B6A4E490F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28" y="910983"/>
            <a:ext cx="9134612" cy="44286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dirty="0" err="1"/>
              <a:t>Sornicola</a:t>
            </a:r>
            <a:r>
              <a:rPr lang="en-GB" sz="2000" dirty="0"/>
              <a:t> (1997, 1998): </a:t>
            </a:r>
            <a:r>
              <a:rPr lang="en-GB" sz="2000" i="1" dirty="0"/>
              <a:t>ad</a:t>
            </a:r>
            <a:r>
              <a:rPr lang="en-GB" sz="2000" dirty="0"/>
              <a:t>-marked objects correspond to Latin dative objects</a:t>
            </a:r>
            <a:endParaRPr lang="en-GB" sz="2000" dirty="0">
              <a:ea typeface="Calibri"/>
              <a:cs typeface="Calibri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1D169F-FDE2-ACE7-AAE5-DEA53BCBBD04}"/>
              </a:ext>
            </a:extLst>
          </p:cNvPr>
          <p:cNvSpPr txBox="1">
            <a:spLocks/>
          </p:cNvSpPr>
          <p:nvPr/>
        </p:nvSpPr>
        <p:spPr>
          <a:xfrm>
            <a:off x="-4161" y="1290673"/>
            <a:ext cx="9145655" cy="47709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i="1" err="1"/>
              <a:t>Aiutari</a:t>
            </a:r>
            <a:r>
              <a:rPr lang="en-GB" sz="2000" i="1"/>
              <a:t>, </a:t>
            </a:r>
            <a:r>
              <a:rPr lang="en-GB" sz="2000" i="1" err="1"/>
              <a:t>ascultari</a:t>
            </a:r>
            <a:r>
              <a:rPr lang="en-GB" sz="2000" i="1"/>
              <a:t>, </a:t>
            </a:r>
            <a:r>
              <a:rPr lang="en-GB" sz="2000" i="1" err="1"/>
              <a:t>audiri</a:t>
            </a:r>
            <a:r>
              <a:rPr lang="en-GB" sz="2000" i="1"/>
              <a:t>, </a:t>
            </a:r>
            <a:r>
              <a:rPr lang="en-GB" sz="2000" i="1" err="1"/>
              <a:t>clamari</a:t>
            </a:r>
            <a:r>
              <a:rPr lang="en-GB" sz="2000" i="1"/>
              <a:t>, </a:t>
            </a:r>
            <a:r>
              <a:rPr lang="en-GB" sz="2000" i="1" err="1"/>
              <a:t>cuntraddiri</a:t>
            </a:r>
            <a:r>
              <a:rPr lang="en-GB" sz="2000" i="1"/>
              <a:t>, </a:t>
            </a:r>
            <a:r>
              <a:rPr lang="en-GB" sz="2000" i="1" err="1"/>
              <a:t>cunfurtari</a:t>
            </a:r>
            <a:r>
              <a:rPr lang="en-GB" sz="2000" i="1"/>
              <a:t> </a:t>
            </a:r>
            <a:r>
              <a:rPr lang="en-GB" sz="2000"/>
              <a:t>(Medieval Sicilian) </a:t>
            </a:r>
            <a:endParaRPr lang="en-GB" sz="200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i="1" err="1"/>
              <a:t>Scontrare</a:t>
            </a:r>
            <a:r>
              <a:rPr lang="en-GB" sz="2000" i="1"/>
              <a:t>, </a:t>
            </a:r>
            <a:r>
              <a:rPr lang="en-GB" sz="2000" i="1" err="1"/>
              <a:t>guardare</a:t>
            </a:r>
            <a:r>
              <a:rPr lang="en-GB" sz="2000" i="1"/>
              <a:t>, </a:t>
            </a:r>
            <a:r>
              <a:rPr lang="en-GB" sz="2000" i="1" err="1"/>
              <a:t>servire</a:t>
            </a:r>
            <a:r>
              <a:rPr lang="en-GB" sz="2000" i="1"/>
              <a:t>, </a:t>
            </a:r>
            <a:r>
              <a:rPr lang="en-GB" sz="2000" i="1" err="1"/>
              <a:t>supplicare</a:t>
            </a:r>
            <a:r>
              <a:rPr lang="en-GB" sz="2000" i="1"/>
              <a:t> </a:t>
            </a:r>
            <a:r>
              <a:rPr lang="en-GB" sz="2000"/>
              <a:t>(Medieval Neapolitan)</a:t>
            </a:r>
            <a:endParaRPr lang="en-GB" sz="2000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CAA891-177C-EC0F-001A-BD0AAE4E7729}"/>
              </a:ext>
            </a:extLst>
          </p:cNvPr>
          <p:cNvSpPr txBox="1">
            <a:spLocks/>
          </p:cNvSpPr>
          <p:nvPr/>
        </p:nvSpPr>
        <p:spPr>
          <a:xfrm>
            <a:off x="29177" y="2694410"/>
            <a:ext cx="9147953" cy="43657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/>
              <a:t>Structural (grammatical) vs inherent (lexical) case (Blake (1993, 2001)): </a:t>
            </a:r>
            <a:endParaRPr lang="en-GB" sz="2000">
              <a:ea typeface="Calibri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D8ACCD-F7BC-942E-28F9-BE027DFE7F42}"/>
              </a:ext>
            </a:extLst>
          </p:cNvPr>
          <p:cNvSpPr txBox="1">
            <a:spLocks/>
          </p:cNvSpPr>
          <p:nvPr/>
        </p:nvSpPr>
        <p:spPr>
          <a:xfrm>
            <a:off x="1600686" y="3131399"/>
            <a:ext cx="5916167" cy="5171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/>
              <a:t>Core             Oblique</a:t>
            </a:r>
            <a:endParaRPr lang="en-GB" sz="2000">
              <a:ea typeface="Calibri"/>
              <a:cs typeface="Calibri"/>
            </a:endParaRPr>
          </a:p>
          <a:p>
            <a:pPr>
              <a:buNone/>
            </a:pPr>
            <a:r>
              <a:rPr lang="en-GB" sz="2000">
                <a:ea typeface="Calibri"/>
                <a:cs typeface="Calibri"/>
              </a:rPr>
              <a:t>Nominative/Accusative     Instrumental</a:t>
            </a:r>
          </a:p>
          <a:p>
            <a:pPr>
              <a:buNone/>
            </a:pPr>
            <a:endParaRPr lang="en-GB" sz="200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>
              <a:ea typeface="Calibri"/>
              <a:cs typeface="Calibri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E01D51-43D7-C936-63DC-0BDB1885259C}"/>
              </a:ext>
            </a:extLst>
          </p:cNvPr>
          <p:cNvSpPr txBox="1">
            <a:spLocks/>
          </p:cNvSpPr>
          <p:nvPr/>
        </p:nvSpPr>
        <p:spPr>
          <a:xfrm>
            <a:off x="29177" y="2068754"/>
            <a:ext cx="9133576" cy="43657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i="1" dirty="0"/>
              <a:t>(Ad)</a:t>
            </a:r>
            <a:r>
              <a:rPr lang="en-GB" sz="2000" i="1" dirty="0" err="1"/>
              <a:t>iuvare</a:t>
            </a:r>
            <a:r>
              <a:rPr lang="en-GB" sz="2000" i="1" dirty="0"/>
              <a:t>, </a:t>
            </a:r>
            <a:r>
              <a:rPr lang="en-GB" sz="2000" i="1" dirty="0" err="1"/>
              <a:t>ascultare</a:t>
            </a:r>
            <a:r>
              <a:rPr lang="en-GB" sz="2000" i="1" dirty="0"/>
              <a:t>, </a:t>
            </a:r>
            <a:r>
              <a:rPr lang="en-GB" sz="2000" i="1" dirty="0" err="1"/>
              <a:t>audire</a:t>
            </a:r>
            <a:r>
              <a:rPr lang="en-GB" sz="2000" i="1" dirty="0"/>
              <a:t>, </a:t>
            </a:r>
            <a:r>
              <a:rPr lang="en-GB" sz="2000" i="1" dirty="0" err="1"/>
              <a:t>servire</a:t>
            </a:r>
            <a:r>
              <a:rPr lang="en-GB" sz="2000" i="1" dirty="0"/>
              <a:t>, </a:t>
            </a:r>
            <a:r>
              <a:rPr lang="en-GB" sz="2000" i="1" dirty="0" err="1"/>
              <a:t>nocere</a:t>
            </a:r>
            <a:r>
              <a:rPr lang="en-GB" sz="2000" i="1" dirty="0"/>
              <a:t> </a:t>
            </a:r>
            <a:r>
              <a:rPr lang="en-GB" sz="2000" dirty="0"/>
              <a:t>(Latin: dative objects selected by transitive verbs (X2))</a:t>
            </a:r>
            <a:endParaRPr lang="en-GB" sz="2000" dirty="0">
              <a:ea typeface="Calibri"/>
              <a:cs typeface="Calibri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A486192-DEE9-E026-0226-D46C85DE416C}"/>
              </a:ext>
            </a:extLst>
          </p:cNvPr>
          <p:cNvSpPr txBox="1">
            <a:spLocks/>
          </p:cNvSpPr>
          <p:nvPr/>
        </p:nvSpPr>
        <p:spPr>
          <a:xfrm>
            <a:off x="2063260" y="4267483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Dative (semi-grammatical/semi-lexical)</a:t>
            </a:r>
            <a:endParaRPr lang="en-GB" sz="2000" dirty="0">
              <a:ea typeface="Calibri"/>
              <a:cs typeface="Calibri"/>
            </a:endParaRPr>
          </a:p>
          <a:p>
            <a:pPr>
              <a:buNone/>
            </a:pPr>
            <a:r>
              <a:rPr lang="en-GB" sz="2000" dirty="0">
                <a:ea typeface="Calibri"/>
                <a:cs typeface="Calibri"/>
              </a:rPr>
              <a:t>Indirect objects (core/grammatical)</a:t>
            </a:r>
          </a:p>
          <a:p>
            <a:pPr>
              <a:buNone/>
            </a:pPr>
            <a:r>
              <a:rPr lang="en-GB" sz="2000" dirty="0">
                <a:ea typeface="Calibri"/>
                <a:cs typeface="Calibri"/>
              </a:rPr>
              <a:t>‘Recipient/beneficiary/experiencer’ (thematically conditioned)</a:t>
            </a:r>
          </a:p>
          <a:p>
            <a:pPr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E9D287C-9B07-D741-8C3F-1B894D234276}"/>
              </a:ext>
            </a:extLst>
          </p:cNvPr>
          <p:cNvSpPr txBox="1">
            <a:spLocks/>
          </p:cNvSpPr>
          <p:nvPr/>
        </p:nvSpPr>
        <p:spPr>
          <a:xfrm>
            <a:off x="5226120" y="388299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/>
              <a:t>(Instrument) (thematically specific)</a:t>
            </a:r>
            <a:endParaRPr lang="en-GB" sz="2000">
              <a:ea typeface="Calibri"/>
              <a:cs typeface="Calibri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52C13B-1A18-B7F3-ED24-2F4BCDDC334C}"/>
              </a:ext>
            </a:extLst>
          </p:cNvPr>
          <p:cNvSpPr txBox="1">
            <a:spLocks/>
          </p:cNvSpPr>
          <p:nvPr/>
        </p:nvSpPr>
        <p:spPr>
          <a:xfrm>
            <a:off x="1597301" y="389108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/>
              <a:t>(-)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F7B68CE-C3AD-33E8-FB66-37587AF7D169}"/>
              </a:ext>
            </a:extLst>
          </p:cNvPr>
          <p:cNvSpPr txBox="1">
            <a:spLocks/>
          </p:cNvSpPr>
          <p:nvPr/>
        </p:nvSpPr>
        <p:spPr>
          <a:xfrm>
            <a:off x="1602744" y="5716022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/>
              <a:t>Dative objects are inherently human/animate </a:t>
            </a:r>
            <a:endParaRPr lang="zh-TW" altLang="en-US"/>
          </a:p>
          <a:p>
            <a:pPr marL="0" indent="0">
              <a:buNone/>
            </a:pPr>
            <a:endParaRPr lang="en-GB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815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8" grpId="0"/>
      <p:bldP spid="9" grpId="0"/>
      <p:bldP spid="14" grpId="0"/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C0AC-3A9D-1758-58B2-F6E4C4157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678582"/>
          </a:xfrm>
        </p:spPr>
        <p:txBody>
          <a:bodyPr>
            <a:normAutofit fontScale="90000"/>
          </a:bodyPr>
          <a:lstStyle/>
          <a:p>
            <a:r>
              <a:rPr lang="en-GB" i="1" err="1"/>
              <a:t>Servire</a:t>
            </a:r>
            <a:r>
              <a:rPr lang="en-GB"/>
              <a:t> + AD</a:t>
            </a:r>
            <a:endParaRPr lang="en-GB" i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427A7-CCA2-EF3B-B369-8442E2CB0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87" y="672763"/>
            <a:ext cx="9147953" cy="45957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/>
              <a:t>Velázquez-Mendoza (2010, 2013), Mendoza and Blake (2010): </a:t>
            </a:r>
            <a:r>
              <a:rPr lang="en-GB" sz="1800" i="1" dirty="0" err="1"/>
              <a:t>servire</a:t>
            </a:r>
            <a:r>
              <a:rPr lang="en-GB" sz="1800" i="1" dirty="0"/>
              <a:t> </a:t>
            </a:r>
            <a:r>
              <a:rPr lang="en-GB" sz="1800" dirty="0"/>
              <a:t>+ </a:t>
            </a:r>
            <a:r>
              <a:rPr lang="en-GB" sz="1800" i="1" dirty="0"/>
              <a:t>a</a:t>
            </a:r>
            <a:r>
              <a:rPr lang="en-GB" sz="1800" dirty="0"/>
              <a:t> (Medieval)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B09A48-FF6C-93BD-6ECC-456879F585D5}"/>
              </a:ext>
            </a:extLst>
          </p:cNvPr>
          <p:cNvSpPr txBox="1">
            <a:spLocks/>
          </p:cNvSpPr>
          <p:nvPr/>
        </p:nvSpPr>
        <p:spPr>
          <a:xfrm>
            <a:off x="628650" y="1077973"/>
            <a:ext cx="7886700" cy="45957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/>
              <a:t>Ibi </a:t>
            </a:r>
            <a:r>
              <a:rPr lang="en-GB" sz="2000" err="1"/>
              <a:t>debent</a:t>
            </a:r>
            <a:r>
              <a:rPr lang="en-GB" sz="2000"/>
              <a:t> </a:t>
            </a:r>
            <a:r>
              <a:rPr lang="en-GB" sz="2000" err="1"/>
              <a:t>servire</a:t>
            </a:r>
            <a:r>
              <a:rPr lang="en-GB" sz="2000"/>
              <a:t> </a:t>
            </a:r>
            <a:r>
              <a:rPr lang="en-GB" sz="2000" b="1"/>
              <a:t>a sancta Maria</a:t>
            </a:r>
            <a:endParaRPr lang="en-GB" sz="2000" b="1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/>
              <a:t>‘… there they must serve Holy Mary.’ (</a:t>
            </a:r>
            <a:r>
              <a:rPr lang="en-GB" sz="2000" i="1"/>
              <a:t>Sahagún</a:t>
            </a:r>
            <a:r>
              <a:rPr lang="en-GB" sz="2000"/>
              <a:t> 423)</a:t>
            </a:r>
            <a:endParaRPr lang="en-GB" sz="2000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81561-4143-C8E7-E26F-66ECB3FE88FF}"/>
              </a:ext>
            </a:extLst>
          </p:cNvPr>
          <p:cNvSpPr txBox="1">
            <a:spLocks/>
          </p:cNvSpPr>
          <p:nvPr/>
        </p:nvSpPr>
        <p:spPr>
          <a:xfrm>
            <a:off x="-3953" y="1931254"/>
            <a:ext cx="9147953" cy="45957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err="1"/>
              <a:t>Videmus</a:t>
            </a:r>
            <a:r>
              <a:rPr lang="en-GB" sz="2000"/>
              <a:t> exempla </a:t>
            </a:r>
            <a:r>
              <a:rPr lang="en-GB" sz="2000" err="1"/>
              <a:t>captiva</a:t>
            </a:r>
            <a:r>
              <a:rPr lang="en-GB" sz="2000"/>
              <a:t> </a:t>
            </a:r>
            <a:r>
              <a:rPr lang="en-GB" sz="2000" err="1"/>
              <a:t>servire</a:t>
            </a:r>
            <a:r>
              <a:rPr lang="en-GB" sz="2000"/>
              <a:t> </a:t>
            </a:r>
            <a:r>
              <a:rPr lang="en-GB" sz="2000" b="1" err="1"/>
              <a:t>tibi</a:t>
            </a:r>
            <a:r>
              <a:rPr lang="en-GB" sz="2000" i="1"/>
              <a:t> </a:t>
            </a:r>
            <a:r>
              <a:rPr lang="en-GB" sz="2000"/>
              <a:t>ad </a:t>
            </a:r>
            <a:r>
              <a:rPr lang="en-GB" sz="2000" err="1"/>
              <a:t>victoriam</a:t>
            </a:r>
            <a:endParaRPr lang="en-GB" sz="200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/>
              <a:t>‘We see examples of the slaves serve you for victory.’ (Jerome: </a:t>
            </a:r>
            <a:r>
              <a:rPr lang="en-GB" sz="2000" i="1" err="1"/>
              <a:t>Epistula</a:t>
            </a:r>
            <a:r>
              <a:rPr lang="en-GB" sz="2000"/>
              <a:t> 48.13)</a:t>
            </a:r>
            <a:endParaRPr lang="en-GB" sz="200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b="1"/>
              <a:t>Ad </a:t>
            </a:r>
            <a:r>
              <a:rPr lang="en-GB" sz="2000" b="1" err="1"/>
              <a:t>cuius</a:t>
            </a:r>
            <a:r>
              <a:rPr lang="en-GB" sz="2000" b="1"/>
              <a:t> imperium </a:t>
            </a:r>
            <a:r>
              <a:rPr lang="en-GB" sz="2000" err="1"/>
              <a:t>caelum</a:t>
            </a:r>
            <a:r>
              <a:rPr lang="en-GB" sz="2000"/>
              <a:t> terra maria </a:t>
            </a:r>
            <a:r>
              <a:rPr lang="en-GB" sz="2000" err="1"/>
              <a:t>serviebant</a:t>
            </a:r>
            <a:endParaRPr lang="en-GB" sz="2000"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/>
              <a:t>‘… whose power heavy, earth and the seas served.’ (Jerome: </a:t>
            </a:r>
            <a:r>
              <a:rPr lang="en-GB" sz="2000" i="1" err="1"/>
              <a:t>Epistula</a:t>
            </a:r>
            <a:r>
              <a:rPr lang="en-GB" sz="2000"/>
              <a:t> 82.3)</a:t>
            </a:r>
            <a:endParaRPr lang="en-GB" sz="2000">
              <a:ea typeface="Calibri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6A6E164-0978-5B2B-FAAA-BF98750050E2}"/>
              </a:ext>
            </a:extLst>
          </p:cNvPr>
          <p:cNvSpPr txBox="1">
            <a:spLocks/>
          </p:cNvSpPr>
          <p:nvPr/>
        </p:nvSpPr>
        <p:spPr>
          <a:xfrm>
            <a:off x="-17293" y="3475672"/>
            <a:ext cx="9134613" cy="43844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i="1" dirty="0" err="1"/>
              <a:t>Servire</a:t>
            </a:r>
            <a:r>
              <a:rPr lang="en-GB" sz="2000" dirty="0"/>
              <a:t> (X2) + </a:t>
            </a:r>
            <a:r>
              <a:rPr lang="en-GB" sz="2000" i="1" dirty="0"/>
              <a:t>a </a:t>
            </a:r>
            <a:r>
              <a:rPr lang="en-GB" sz="2000" dirty="0"/>
              <a:t>(recipient/beneficiary – human/animate)</a:t>
            </a:r>
            <a:r>
              <a:rPr lang="en-GB" sz="2000" dirty="0">
                <a:ea typeface="Calibri"/>
                <a:cs typeface="Calibri"/>
              </a:rPr>
              <a:t> </a:t>
            </a:r>
            <a:endParaRPr lang="zh-TW" altLang="en-US" sz="2000" dirty="0">
              <a:ea typeface="新細明體" panose="02020500000000000000" pitchFamily="18" charset="-120"/>
              <a:cs typeface="Calibri"/>
            </a:endParaRPr>
          </a:p>
          <a:p>
            <a:pPr marL="0" indent="0">
              <a:buNone/>
            </a:pPr>
            <a:r>
              <a:rPr lang="en-GB" sz="2000" dirty="0">
                <a:ea typeface="Calibri"/>
                <a:cs typeface="Calibri"/>
              </a:rPr>
              <a:t>Los </a:t>
            </a:r>
            <a:r>
              <a:rPr lang="en-GB" sz="2000" dirty="0" err="1">
                <a:ea typeface="Calibri"/>
                <a:cs typeface="Calibri"/>
              </a:rPr>
              <a:t>que</a:t>
            </a:r>
            <a:r>
              <a:rPr lang="en-GB" sz="2000" dirty="0">
                <a:ea typeface="Calibri"/>
                <a:cs typeface="Calibri"/>
              </a:rPr>
              <a:t> </a:t>
            </a:r>
            <a:r>
              <a:rPr lang="en-GB" sz="2000" dirty="0" err="1">
                <a:ea typeface="Calibri"/>
                <a:cs typeface="Calibri"/>
              </a:rPr>
              <a:t>quisieren</a:t>
            </a:r>
            <a:r>
              <a:rPr lang="en-GB" sz="2000" dirty="0">
                <a:ea typeface="Calibri"/>
                <a:cs typeface="Calibri"/>
              </a:rPr>
              <a:t> </a:t>
            </a:r>
            <a:r>
              <a:rPr lang="en-GB" sz="2000" dirty="0" err="1">
                <a:ea typeface="Calibri"/>
                <a:cs typeface="Calibri"/>
              </a:rPr>
              <a:t>ir</a:t>
            </a:r>
            <a:r>
              <a:rPr lang="en-GB" sz="2000" dirty="0">
                <a:ea typeface="Calibri"/>
                <a:cs typeface="Calibri"/>
              </a:rPr>
              <a:t> </a:t>
            </a:r>
            <a:r>
              <a:rPr lang="en-GB" sz="2000" dirty="0" err="1">
                <a:ea typeface="Calibri"/>
                <a:cs typeface="Calibri"/>
              </a:rPr>
              <a:t>servir</a:t>
            </a:r>
            <a:r>
              <a:rPr lang="en-GB" sz="2000" dirty="0">
                <a:ea typeface="Calibri"/>
                <a:cs typeface="Calibri"/>
              </a:rPr>
              <a:t> </a:t>
            </a:r>
            <a:r>
              <a:rPr lang="en-GB" sz="2000" b="1" dirty="0">
                <a:ea typeface="Calibri"/>
                <a:cs typeface="Calibri"/>
              </a:rPr>
              <a:t>al Campeador 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>
                <a:ea typeface="Calibri"/>
                <a:cs typeface="Calibri"/>
              </a:rPr>
              <a:t>‘… those who want to go and serve the Campeador.’ (Medieval </a:t>
            </a:r>
            <a:r>
              <a:rPr lang="en-GB" sz="2000" dirty="0" err="1">
                <a:ea typeface="Calibri"/>
                <a:cs typeface="Calibri"/>
              </a:rPr>
              <a:t>Spanish:</a:t>
            </a:r>
            <a:r>
              <a:rPr lang="en-GB" sz="2000" i="1" dirty="0" err="1">
                <a:ea typeface="Calibri"/>
                <a:cs typeface="Calibri"/>
              </a:rPr>
              <a:t>El</a:t>
            </a:r>
            <a:r>
              <a:rPr lang="en-GB" sz="2000" i="1" dirty="0">
                <a:ea typeface="Calibri"/>
                <a:cs typeface="Calibri"/>
              </a:rPr>
              <a:t> Cid </a:t>
            </a:r>
            <a:r>
              <a:rPr lang="en-GB" sz="2000" dirty="0">
                <a:ea typeface="Calibri"/>
                <a:cs typeface="Calibri"/>
              </a:rPr>
              <a:t>1369)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 err="1">
                <a:ea typeface="Calibri"/>
                <a:cs typeface="Calibri"/>
              </a:rPr>
              <a:t>Perché</a:t>
            </a:r>
            <a:r>
              <a:rPr lang="en-GB" sz="2000" dirty="0">
                <a:ea typeface="Calibri"/>
                <a:cs typeface="Calibri"/>
              </a:rPr>
              <a:t> non </a:t>
            </a:r>
            <a:r>
              <a:rPr lang="en-GB" sz="2000" dirty="0" err="1">
                <a:ea typeface="Calibri"/>
                <a:cs typeface="Calibri"/>
              </a:rPr>
              <a:t>posso</a:t>
            </a:r>
            <a:r>
              <a:rPr lang="en-GB" sz="2000" dirty="0">
                <a:ea typeface="Calibri"/>
                <a:cs typeface="Calibri"/>
              </a:rPr>
              <a:t> </a:t>
            </a:r>
            <a:r>
              <a:rPr lang="en-GB" sz="2000" b="1" dirty="0">
                <a:ea typeface="Calibri"/>
                <a:cs typeface="Calibri"/>
              </a:rPr>
              <a:t>ad </a:t>
            </a:r>
            <a:r>
              <a:rPr lang="en-GB" sz="2000" b="1" dirty="0" err="1">
                <a:ea typeface="Calibri"/>
                <a:cs typeface="Calibri"/>
              </a:rPr>
              <a:t>tal</a:t>
            </a:r>
            <a:r>
              <a:rPr lang="en-GB" sz="2000" b="1" dirty="0">
                <a:ea typeface="Calibri"/>
                <a:cs typeface="Calibri"/>
              </a:rPr>
              <a:t> signor </a:t>
            </a:r>
            <a:r>
              <a:rPr lang="en-GB" sz="2000" dirty="0" err="1">
                <a:ea typeface="Calibri"/>
                <a:cs typeface="Calibri"/>
              </a:rPr>
              <a:t>servire</a:t>
            </a:r>
            <a:r>
              <a:rPr lang="en-GB" sz="2000" dirty="0">
                <a:ea typeface="Calibri"/>
                <a:cs typeface="Calibri"/>
              </a:rPr>
              <a:t> 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>
                <a:ea typeface="Calibri"/>
                <a:cs typeface="Calibri"/>
              </a:rPr>
              <a:t>‘… because I cannot serve such a lord.’ </a:t>
            </a:r>
          </a:p>
          <a:p>
            <a:pPr marL="0" indent="0">
              <a:buNone/>
            </a:pPr>
            <a:r>
              <a:rPr lang="en-GB" sz="2000" dirty="0">
                <a:ea typeface="Calibri"/>
                <a:cs typeface="Calibri"/>
              </a:rPr>
              <a:t>(Medieval Neapolitan: </a:t>
            </a:r>
            <a:r>
              <a:rPr lang="en-GB" sz="2000" i="1" dirty="0" err="1">
                <a:ea typeface="Calibri"/>
                <a:cs typeface="Calibri"/>
              </a:rPr>
              <a:t>Vitaefavole</a:t>
            </a:r>
            <a:r>
              <a:rPr lang="en-GB" sz="2000" i="1" dirty="0">
                <a:ea typeface="Calibri"/>
                <a:cs typeface="Calibri"/>
              </a:rPr>
              <a:t> di </a:t>
            </a:r>
            <a:r>
              <a:rPr lang="en-GB" sz="2000" i="1" dirty="0" err="1">
                <a:ea typeface="Calibri"/>
                <a:cs typeface="Calibri"/>
              </a:rPr>
              <a:t>Esopo</a:t>
            </a:r>
            <a:r>
              <a:rPr lang="en-GB" sz="2000" dirty="0">
                <a:ea typeface="Calibri"/>
                <a:cs typeface="Calibri"/>
              </a:rPr>
              <a:t> 20.13)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>
                <a:ea typeface="Calibri"/>
                <a:cs typeface="Calibri"/>
              </a:rPr>
              <a:t>Para </a:t>
            </a:r>
            <a:r>
              <a:rPr lang="en-GB" sz="2000" dirty="0" err="1">
                <a:ea typeface="Calibri"/>
                <a:cs typeface="Calibri"/>
              </a:rPr>
              <a:t>servir</a:t>
            </a:r>
            <a:r>
              <a:rPr lang="en-GB" sz="2000" dirty="0">
                <a:ea typeface="Calibri"/>
                <a:cs typeface="Calibri"/>
              </a:rPr>
              <a:t> </a:t>
            </a:r>
            <a:r>
              <a:rPr lang="en-GB" sz="2000" b="1" dirty="0">
                <a:ea typeface="Calibri"/>
                <a:cs typeface="Calibri"/>
              </a:rPr>
              <a:t>a </a:t>
            </a:r>
            <a:r>
              <a:rPr lang="en-GB" sz="2000" b="1" dirty="0" err="1">
                <a:ea typeface="Calibri"/>
                <a:cs typeface="Calibri"/>
              </a:rPr>
              <a:t>tão</a:t>
            </a:r>
            <a:r>
              <a:rPr lang="en-GB" sz="2000" b="1" dirty="0">
                <a:ea typeface="Calibri"/>
                <a:cs typeface="Calibri"/>
              </a:rPr>
              <a:t> </a:t>
            </a:r>
            <a:r>
              <a:rPr lang="en-GB" sz="2000" b="1" dirty="0" err="1">
                <a:ea typeface="Calibri"/>
                <a:cs typeface="Calibri"/>
              </a:rPr>
              <a:t>ilustres</a:t>
            </a:r>
            <a:r>
              <a:rPr lang="en-GB" sz="2000" b="1" dirty="0">
                <a:ea typeface="Calibri"/>
                <a:cs typeface="Calibri"/>
              </a:rPr>
              <a:t> senhores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>
                <a:ea typeface="Calibri"/>
                <a:cs typeface="Calibri"/>
              </a:rPr>
              <a:t>‘… in order to serve such distinguished sires.’ (Medieval </a:t>
            </a:r>
            <a:r>
              <a:rPr lang="en-GB" sz="2000" dirty="0" err="1">
                <a:ea typeface="Calibri"/>
                <a:cs typeface="Calibri"/>
              </a:rPr>
              <a:t>Portuguese:</a:t>
            </a:r>
            <a:r>
              <a:rPr lang="en-GB" sz="2000" i="1" dirty="0" err="1">
                <a:ea typeface="Calibri"/>
                <a:cs typeface="Calibri"/>
              </a:rPr>
              <a:t>Ciganita</a:t>
            </a:r>
            <a:r>
              <a:rPr lang="en-GB" sz="2000" i="1" dirty="0">
                <a:ea typeface="Calibri"/>
                <a:cs typeface="Calibri"/>
              </a:rPr>
              <a:t> </a:t>
            </a:r>
            <a:r>
              <a:rPr lang="en-GB" sz="2000" dirty="0">
                <a:ea typeface="Calibri"/>
                <a:cs typeface="Calibri"/>
              </a:rPr>
              <a:t>35)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800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A7DE-B897-5ED1-7AAA-A56B8D5D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966130"/>
          </a:xfrm>
        </p:spPr>
        <p:txBody>
          <a:bodyPr/>
          <a:lstStyle/>
          <a:p>
            <a:r>
              <a:rPr lang="en-GB" i="1" err="1"/>
              <a:t>Clamare</a:t>
            </a:r>
            <a:r>
              <a:rPr lang="en-GB"/>
              <a:t> + AD</a:t>
            </a:r>
            <a:r>
              <a:rPr lang="en-GB" i="1"/>
              <a:t> </a:t>
            </a:r>
            <a:r>
              <a:rPr lang="en-GB"/>
              <a:t>(Latin &gt; Romance)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80E28-3FE5-AC4D-2964-4BA2425B0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953" y="959938"/>
            <a:ext cx="9151906" cy="43369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2000" dirty="0"/>
              <a:t>Late Republican Latin (</a:t>
            </a:r>
            <a:r>
              <a:rPr lang="en-GB" sz="2000" dirty="0" err="1"/>
              <a:t>Sornicola</a:t>
            </a:r>
            <a:r>
              <a:rPr lang="en-GB" sz="2000" dirty="0"/>
              <a:t> (1997:72-73)): </a:t>
            </a:r>
            <a:r>
              <a:rPr lang="en-GB" sz="2000" i="1" dirty="0" err="1"/>
              <a:t>clamare</a:t>
            </a:r>
            <a:r>
              <a:rPr lang="en-GB" sz="2000" dirty="0"/>
              <a:t> ‘to shout’ (X3) + </a:t>
            </a:r>
            <a:r>
              <a:rPr lang="en-GB" sz="2000" i="1" dirty="0"/>
              <a:t>ad</a:t>
            </a:r>
            <a:r>
              <a:rPr lang="en-GB" sz="2000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87B755-4F8A-6BD3-AE2A-686A2E00C1E3}"/>
              </a:ext>
            </a:extLst>
          </p:cNvPr>
          <p:cNvSpPr txBox="1">
            <a:spLocks/>
          </p:cNvSpPr>
          <p:nvPr/>
        </p:nvSpPr>
        <p:spPr>
          <a:xfrm>
            <a:off x="-3954" y="1442639"/>
            <a:ext cx="9151907" cy="44232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Clamo</a:t>
            </a:r>
            <a:r>
              <a:rPr lang="en-GB" sz="2000" dirty="0"/>
              <a:t> </a:t>
            </a:r>
            <a:r>
              <a:rPr lang="en-GB" sz="2000" b="1" dirty="0"/>
              <a:t>mihi</a:t>
            </a:r>
            <a:r>
              <a:rPr lang="en-GB" sz="2000" dirty="0"/>
              <a:t> ipse: </a:t>
            </a:r>
            <a:r>
              <a:rPr lang="en-GB" sz="2000" dirty="0" err="1"/>
              <a:t>numera</a:t>
            </a:r>
            <a:r>
              <a:rPr lang="en-GB" sz="2000" dirty="0"/>
              <a:t> </a:t>
            </a:r>
            <a:r>
              <a:rPr lang="en-GB" sz="2000" dirty="0" err="1"/>
              <a:t>annos</a:t>
            </a:r>
            <a:r>
              <a:rPr lang="en-GB" sz="2000" dirty="0"/>
              <a:t> </a:t>
            </a:r>
            <a:r>
              <a:rPr lang="en-GB" sz="2000" dirty="0" err="1"/>
              <a:t>tuos</a:t>
            </a:r>
            <a:r>
              <a:rPr lang="en-GB" sz="2000" dirty="0"/>
              <a:t>!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‘I shout to myself: count your years!’ (Seneca </a:t>
            </a:r>
            <a:r>
              <a:rPr lang="en-GB" sz="2000" i="1" dirty="0" err="1"/>
              <a:t>Epistula</a:t>
            </a:r>
            <a:r>
              <a:rPr lang="en-GB" sz="2000" dirty="0"/>
              <a:t> 27.2) (1</a:t>
            </a:r>
            <a:r>
              <a:rPr lang="en-GB" sz="2000" baseline="30000" dirty="0"/>
              <a:t>st</a:t>
            </a:r>
            <a:r>
              <a:rPr lang="en-GB" sz="2000" dirty="0"/>
              <a:t> century BC)</a:t>
            </a:r>
          </a:p>
          <a:p>
            <a:pPr marL="0" indent="0">
              <a:buNone/>
            </a:pPr>
            <a:r>
              <a:rPr lang="en-GB" sz="2000" b="1" dirty="0">
                <a:ea typeface="Calibri"/>
                <a:cs typeface="Calibri"/>
              </a:rPr>
              <a:t>Ad me </a:t>
            </a:r>
            <a:r>
              <a:rPr lang="en-GB" sz="2000" dirty="0">
                <a:ea typeface="Calibri"/>
                <a:cs typeface="Calibri"/>
              </a:rPr>
              <a:t>omnes clamant: </a:t>
            </a:r>
            <a:r>
              <a:rPr lang="en-GB" sz="2000" dirty="0" err="1">
                <a:ea typeface="Calibri"/>
                <a:cs typeface="Calibri"/>
              </a:rPr>
              <a:t>ianua</a:t>
            </a:r>
            <a:r>
              <a:rPr lang="en-GB" sz="2000" dirty="0">
                <a:ea typeface="Calibri"/>
                <a:cs typeface="Calibri"/>
              </a:rPr>
              <a:t> culpa </a:t>
            </a:r>
            <a:r>
              <a:rPr lang="en-GB" sz="2000" dirty="0" err="1">
                <a:ea typeface="Calibri"/>
                <a:cs typeface="Calibri"/>
              </a:rPr>
              <a:t>tua</a:t>
            </a:r>
            <a:r>
              <a:rPr lang="en-GB" sz="2000" dirty="0">
                <a:ea typeface="Calibri"/>
                <a:cs typeface="Calibri"/>
              </a:rPr>
              <a:t> est.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sz="2000" dirty="0">
                <a:ea typeface="Calibri"/>
                <a:cs typeface="Calibri"/>
              </a:rPr>
              <a:t>‘Everyone shout at me: Door, it is your fault.’ (Catullus </a:t>
            </a:r>
            <a:r>
              <a:rPr lang="en-GB" sz="2000" i="1" dirty="0">
                <a:ea typeface="Calibri"/>
                <a:cs typeface="Calibri"/>
              </a:rPr>
              <a:t>Carmina</a:t>
            </a:r>
            <a:r>
              <a:rPr lang="en-GB" sz="2000" dirty="0">
                <a:ea typeface="Calibri"/>
                <a:cs typeface="Calibri"/>
              </a:rPr>
              <a:t> 67.14) (1</a:t>
            </a:r>
            <a:r>
              <a:rPr lang="en-GB" sz="2000" baseline="30000" dirty="0">
                <a:ea typeface="Calibri"/>
                <a:cs typeface="Calibri"/>
              </a:rPr>
              <a:t>st</a:t>
            </a:r>
            <a:r>
              <a:rPr lang="en-GB" sz="2000" dirty="0">
                <a:ea typeface="Calibri"/>
                <a:cs typeface="Calibri"/>
              </a:rPr>
              <a:t> century BC)</a:t>
            </a: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635E97-BEFC-20C9-07D4-48B98B281326}"/>
              </a:ext>
            </a:extLst>
          </p:cNvPr>
          <p:cNvSpPr txBox="1">
            <a:spLocks/>
          </p:cNvSpPr>
          <p:nvPr/>
        </p:nvSpPr>
        <p:spPr>
          <a:xfrm>
            <a:off x="628650" y="3107489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Romance *</a:t>
            </a:r>
            <a:r>
              <a:rPr lang="en-GB" sz="2000" i="1" dirty="0" err="1"/>
              <a:t>clamar</a:t>
            </a:r>
            <a:r>
              <a:rPr lang="en-GB" sz="2000" dirty="0"/>
              <a:t>(</a:t>
            </a:r>
            <a:r>
              <a:rPr lang="en-GB" sz="2000" i="1" dirty="0"/>
              <a:t>e) ’</a:t>
            </a:r>
            <a:r>
              <a:rPr lang="en-GB" sz="2000" dirty="0"/>
              <a:t>to call’ (X2)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D880BA-7FE0-F655-6EBD-ED2FEDFA14E2}"/>
              </a:ext>
            </a:extLst>
          </p:cNvPr>
          <p:cNvSpPr txBox="1">
            <a:spLocks/>
          </p:cNvSpPr>
          <p:nvPr/>
        </p:nvSpPr>
        <p:spPr>
          <a:xfrm>
            <a:off x="628650" y="3694835"/>
            <a:ext cx="9144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2000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llamar </a:t>
            </a:r>
            <a:r>
              <a:rPr lang="es-ES" sz="2000" b="1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a la policía </a:t>
            </a:r>
            <a:r>
              <a:rPr lang="es-ES" sz="2000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‘</a:t>
            </a:r>
            <a:r>
              <a:rPr lang="es-ES" sz="2000" kern="100" dirty="0" err="1">
                <a:ea typeface="DengXian" panose="02010600030101010101" pitchFamily="2" charset="-122"/>
                <a:cs typeface="Times New Roman" panose="02020603050405020304" pitchFamily="18" charset="0"/>
              </a:rPr>
              <a:t>call</a:t>
            </a:r>
            <a:r>
              <a:rPr lang="es-ES" sz="2000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s-ES" sz="2000" kern="100" dirty="0" err="1">
                <a:ea typeface="DengXian" panose="02010600030101010101" pitchFamily="2" charset="-122"/>
                <a:cs typeface="Times New Roman" panose="02020603050405020304" pitchFamily="18" charset="0"/>
              </a:rPr>
              <a:t>the</a:t>
            </a:r>
            <a:r>
              <a:rPr lang="es-ES" sz="2000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s-ES" sz="2000" kern="100" dirty="0" err="1">
                <a:ea typeface="DengXian" panose="02010600030101010101" pitchFamily="2" charset="-122"/>
                <a:cs typeface="Times New Roman" panose="02020603050405020304" pitchFamily="18" charset="0"/>
              </a:rPr>
              <a:t>police</a:t>
            </a:r>
            <a:r>
              <a:rPr lang="es-ES" sz="2000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’ (Modern </a:t>
            </a:r>
            <a:r>
              <a:rPr lang="es-ES" sz="2000" kern="100" dirty="0" err="1">
                <a:ea typeface="DengXian" panose="02010600030101010101" pitchFamily="2" charset="-122"/>
                <a:cs typeface="Times New Roman" panose="02020603050405020304" pitchFamily="18" charset="0"/>
              </a:rPr>
              <a:t>Spanish</a:t>
            </a:r>
            <a:r>
              <a:rPr lang="es-ES" sz="2000" kern="100" dirty="0">
                <a:ea typeface="DengXian" panose="02010600030101010101" pitchFamily="2" charset="-122"/>
                <a:cs typeface="Times New Roman" panose="02020603050405020304" pitchFamily="18" charset="0"/>
              </a:rPr>
              <a:t>)</a:t>
            </a:r>
            <a:endParaRPr lang="en-GB" sz="2000" kern="100" dirty="0">
              <a:effectLst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3B0BDC-0E4C-0957-3FCF-4D6A664D8F74}"/>
              </a:ext>
            </a:extLst>
          </p:cNvPr>
          <p:cNvSpPr txBox="1">
            <a:spLocks/>
          </p:cNvSpPr>
          <p:nvPr/>
        </p:nvSpPr>
        <p:spPr>
          <a:xfrm>
            <a:off x="628650" y="4169343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Chamaram-lhe</a:t>
            </a:r>
            <a:r>
              <a:rPr lang="en-GB" sz="2000" dirty="0"/>
              <a:t> </a:t>
            </a:r>
            <a:r>
              <a:rPr lang="en-GB" sz="2000" dirty="0" err="1"/>
              <a:t>incompetente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‘they called him incompetent’ (European Portuguese (</a:t>
            </a:r>
            <a:r>
              <a:rPr lang="en-GB" sz="2000" dirty="0" err="1"/>
              <a:t>Roegiest</a:t>
            </a:r>
            <a:r>
              <a:rPr lang="en-GB" sz="2000" dirty="0"/>
              <a:t> (1979:42))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0064C0-A769-9BF7-6405-A5E406D5F198}"/>
              </a:ext>
            </a:extLst>
          </p:cNvPr>
          <p:cNvSpPr txBox="1">
            <a:spLocks/>
          </p:cNvSpPr>
          <p:nvPr/>
        </p:nvSpPr>
        <p:spPr>
          <a:xfrm>
            <a:off x="1573602" y="5283158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i="1" dirty="0" err="1"/>
              <a:t>Clamare</a:t>
            </a:r>
            <a:r>
              <a:rPr lang="en-GB" sz="2400" dirty="0"/>
              <a:t> (X3 &gt; X2) (Latin &gt; proto-Romance)</a:t>
            </a:r>
          </a:p>
        </p:txBody>
      </p:sp>
    </p:spTree>
    <p:extLst>
      <p:ext uri="{BB962C8B-B14F-4D97-AF65-F5344CB8AC3E}">
        <p14:creationId xmlns:p14="http://schemas.microsoft.com/office/powerpoint/2010/main" val="154913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  <p:bldP spid="7" grpId="0"/>
      <p:bldP spid="8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D42955-08A6-F1D9-B82A-B32416415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2493"/>
            <a:ext cx="8229600" cy="922132"/>
          </a:xfrm>
        </p:spPr>
        <p:txBody>
          <a:bodyPr/>
          <a:lstStyle/>
          <a:p>
            <a:r>
              <a:rPr lang="zh-TW" i="1">
                <a:latin typeface="Aptos Display"/>
              </a:rPr>
              <a:t>Clamare</a:t>
            </a:r>
            <a:r>
              <a:rPr lang="zh-TW">
                <a:latin typeface="Aptos Display"/>
              </a:rPr>
              <a:t> + AD (Latin &gt; Romance )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4C9D2A-D36E-3C25-7F74-4F03C06CC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" y="760896"/>
            <a:ext cx="9113077" cy="536526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zh-TW" sz="2000" dirty="0">
                <a:latin typeface="Aptos"/>
                <a:ea typeface="新細明體"/>
              </a:rPr>
              <a:t>De profundis clamavi </a:t>
            </a:r>
            <a:r>
              <a:rPr lang="zh-TW" sz="2000" b="1" dirty="0">
                <a:latin typeface="Aptos"/>
                <a:ea typeface="新細明體"/>
              </a:rPr>
              <a:t>ad te</a:t>
            </a:r>
            <a:r>
              <a:rPr lang="zh-TW" sz="2000" dirty="0">
                <a:latin typeface="Aptos"/>
                <a:ea typeface="新細明體"/>
              </a:rPr>
              <a:t>, Domine</a:t>
            </a:r>
            <a:endParaRPr lang="zh-TW" sz="2000" dirty="0">
              <a:ea typeface="新細明體"/>
              <a:cs typeface="Calibri"/>
            </a:endParaRPr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</a:rPr>
              <a:t>‘From the depths of my heart, I shouted (something) at you, my Lord.’ </a:t>
            </a:r>
            <a:endParaRPr lang="zh-TW" sz="2000" dirty="0">
              <a:ea typeface="新細明體"/>
              <a:cs typeface="Calibri"/>
            </a:endParaRPr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</a:rPr>
              <a:t>‘From the depths of my heart, I called you, my Lord.’ (Latin Bible </a:t>
            </a:r>
            <a:r>
              <a:rPr lang="zh-TW" sz="2000" i="1" dirty="0">
                <a:latin typeface="Aptos"/>
                <a:ea typeface="新細明體"/>
              </a:rPr>
              <a:t>Psalmi</a:t>
            </a:r>
            <a:r>
              <a:rPr lang="zh-TW" sz="2000" dirty="0">
                <a:latin typeface="Aptos"/>
                <a:ea typeface="新細明體"/>
              </a:rPr>
              <a:t> 129)</a:t>
            </a:r>
            <a:endParaRPr lang="zh-TW" sz="2000" dirty="0"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800" dirty="0">
              <a:ea typeface="新細明體"/>
              <a:cs typeface="Calibri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5DC3CA84-CD2B-1726-B26E-742465A4AD6A}"/>
              </a:ext>
            </a:extLst>
          </p:cNvPr>
          <p:cNvSpPr txBox="1">
            <a:spLocks/>
          </p:cNvSpPr>
          <p:nvPr/>
        </p:nvSpPr>
        <p:spPr>
          <a:xfrm>
            <a:off x="-8834" y="1885123"/>
            <a:ext cx="9146208" cy="62929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1800" b="1" dirty="0">
                <a:latin typeface="Aptos"/>
                <a:ea typeface="新細明體"/>
              </a:rPr>
              <a:t>A</a:t>
            </a:r>
            <a:r>
              <a:rPr lang="zh-TW" altLang="en-US" sz="1800" b="1" dirty="0">
                <a:latin typeface="Aptos"/>
                <a:ea typeface="新細明體"/>
              </a:rPr>
              <a:t> </a:t>
            </a:r>
            <a:r>
              <a:rPr lang="en-US" altLang="zh-TW" sz="1800" b="1" dirty="0">
                <a:latin typeface="Aptos"/>
                <a:ea typeface="新細明體"/>
              </a:rPr>
              <a:t>Minaya</a:t>
            </a:r>
            <a:r>
              <a:rPr lang="zh-TW" altLang="en-US" sz="1800" b="1" dirty="0">
                <a:latin typeface="Aptos"/>
                <a:ea typeface="新細明體"/>
              </a:rPr>
              <a:t> </a:t>
            </a:r>
            <a:r>
              <a:rPr lang="en-US" altLang="zh-TW" sz="1800" b="1" dirty="0">
                <a:latin typeface="Aptos"/>
                <a:ea typeface="新細明體"/>
              </a:rPr>
              <a:t>Albar</a:t>
            </a:r>
            <a:r>
              <a:rPr lang="zh-TW" altLang="en-US" sz="1800" b="1" dirty="0">
                <a:latin typeface="Aptos"/>
                <a:ea typeface="新細明體"/>
              </a:rPr>
              <a:t> </a:t>
            </a:r>
            <a:r>
              <a:rPr lang="en-US" altLang="zh-TW" sz="1800" b="1" dirty="0" err="1">
                <a:latin typeface="Aptos"/>
                <a:ea typeface="新細明體"/>
              </a:rPr>
              <a:t>Fáñez</a:t>
            </a:r>
            <a:r>
              <a:rPr lang="zh-TW" altLang="en-US" sz="1800" b="1" dirty="0">
                <a:latin typeface="Aptos"/>
                <a:ea typeface="新細明體"/>
              </a:rPr>
              <a:t> </a:t>
            </a:r>
            <a:r>
              <a:rPr lang="zh-TW" sz="1800" b="1" dirty="0">
                <a:latin typeface="Aptos"/>
                <a:ea typeface="新細明體"/>
              </a:rPr>
              <a:t>e </a:t>
            </a:r>
            <a:r>
              <a:rPr lang="en-US" altLang="zh-TW" sz="1800" b="1" dirty="0">
                <a:latin typeface="Aptos"/>
                <a:ea typeface="新細明體"/>
              </a:rPr>
              <a:t>a</a:t>
            </a:r>
            <a:r>
              <a:rPr lang="zh-TW" altLang="en-US" sz="1800" b="1" dirty="0">
                <a:latin typeface="Aptos"/>
                <a:ea typeface="新細明體"/>
              </a:rPr>
              <a:t> </a:t>
            </a:r>
            <a:r>
              <a:rPr lang="en-US" altLang="zh-TW" sz="1800" b="1" dirty="0">
                <a:latin typeface="Aptos"/>
                <a:ea typeface="新細明體"/>
              </a:rPr>
              <a:t>Per</a:t>
            </a:r>
            <a:r>
              <a:rPr lang="zh-TW" altLang="en-US" sz="1800" b="1" dirty="0">
                <a:latin typeface="Aptos"/>
                <a:ea typeface="新細明體"/>
              </a:rPr>
              <a:t> </a:t>
            </a:r>
            <a:r>
              <a:rPr lang="en-US" altLang="zh-TW" sz="1800" b="1" dirty="0">
                <a:latin typeface="Aptos"/>
                <a:ea typeface="新細明體"/>
              </a:rPr>
              <a:t>Ve</a:t>
            </a:r>
            <a:r>
              <a:rPr lang="zh-TW" sz="1800" b="1" dirty="0">
                <a:latin typeface="Aptos"/>
                <a:ea typeface="新細明體"/>
              </a:rPr>
              <a:t>r</a:t>
            </a:r>
            <a:r>
              <a:rPr lang="en-US" altLang="zh-TW" sz="1800" b="1" dirty="0">
                <a:latin typeface="Aptos"/>
                <a:ea typeface="新細明體"/>
              </a:rPr>
              <a:t>m</a:t>
            </a:r>
            <a:r>
              <a:rPr lang="zh-TW" sz="1800" b="1" dirty="0">
                <a:latin typeface="Aptos"/>
                <a:ea typeface="新細明體"/>
              </a:rPr>
              <a:t>ud</a:t>
            </a:r>
            <a:r>
              <a:rPr lang="en-US" altLang="zh-TW" sz="1800" b="1" dirty="0">
                <a:latin typeface="Aptos"/>
                <a:ea typeface="新細明體"/>
              </a:rPr>
              <a:t>oz</a:t>
            </a:r>
            <a:r>
              <a:rPr lang="zh-TW" altLang="en-US" sz="1800" b="1" dirty="0">
                <a:latin typeface="Aptos"/>
                <a:ea typeface="新細明體"/>
              </a:rPr>
              <a:t> </a:t>
            </a:r>
            <a:r>
              <a:rPr lang="en-US" altLang="zh-TW" sz="1800" b="1" dirty="0">
                <a:latin typeface="Aptos"/>
                <a:ea typeface="新細明體"/>
              </a:rPr>
              <a:t>lo</a:t>
            </a:r>
            <a:r>
              <a:rPr lang="zh-TW" sz="1800" b="1" dirty="0">
                <a:latin typeface="Aptos"/>
                <a:ea typeface="新細明體"/>
              </a:rPr>
              <a:t>s </a:t>
            </a:r>
            <a:r>
              <a:rPr lang="zh-TW" sz="1800" dirty="0">
                <a:latin typeface="Aptos"/>
                <a:ea typeface="新細明體"/>
              </a:rPr>
              <a:t>l</a:t>
            </a:r>
            <a:r>
              <a:rPr lang="en-US" altLang="zh-TW" sz="1800" dirty="0">
                <a:latin typeface="Aptos"/>
                <a:ea typeface="新細明體"/>
              </a:rPr>
              <a:t>l</a:t>
            </a:r>
            <a:r>
              <a:rPr lang="zh-TW" sz="1800" dirty="0">
                <a:latin typeface="Aptos"/>
                <a:ea typeface="新細明體"/>
              </a:rPr>
              <a:t>am</a:t>
            </a:r>
            <a:r>
              <a:rPr lang="en-US" altLang="zh-TW" sz="1800" dirty="0">
                <a:latin typeface="Aptos"/>
                <a:ea typeface="新細明體"/>
              </a:rPr>
              <a:t>ó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zh-TW" altLang="en-US" sz="1800" dirty="0">
                <a:latin typeface="Aptos"/>
                <a:ea typeface="新細明體"/>
              </a:rPr>
              <a:t>‘</a:t>
            </a:r>
            <a:r>
              <a:rPr lang="en-US" altLang="zh-TW" sz="1800" dirty="0">
                <a:latin typeface="Aptos"/>
                <a:ea typeface="新細明體"/>
              </a:rPr>
              <a:t>He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c</a:t>
            </a:r>
            <a:r>
              <a:rPr lang="zh-TW" sz="1800" dirty="0">
                <a:latin typeface="Aptos"/>
                <a:ea typeface="新細明體"/>
              </a:rPr>
              <a:t>a</a:t>
            </a:r>
            <a:r>
              <a:rPr lang="en-US" altLang="zh-TW" sz="1800" dirty="0" err="1">
                <a:latin typeface="Aptos"/>
                <a:ea typeface="新細明體"/>
              </a:rPr>
              <a:t>lled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M</a:t>
            </a:r>
            <a:r>
              <a:rPr lang="zh-TW" sz="1800" dirty="0">
                <a:latin typeface="Aptos"/>
                <a:ea typeface="新細明體"/>
              </a:rPr>
              <a:t>i</a:t>
            </a:r>
            <a:r>
              <a:rPr lang="en-US" altLang="zh-TW" sz="1800" dirty="0" err="1">
                <a:latin typeface="Aptos"/>
                <a:ea typeface="新細明體"/>
              </a:rPr>
              <a:t>naya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Albar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 err="1">
                <a:latin typeface="Aptos"/>
                <a:ea typeface="新細明體"/>
              </a:rPr>
              <a:t>Fáñez</a:t>
            </a:r>
            <a:r>
              <a:rPr lang="zh-TW" sz="1800" dirty="0">
                <a:latin typeface="Aptos"/>
                <a:ea typeface="新細明體"/>
              </a:rPr>
              <a:t> a</a:t>
            </a:r>
            <a:r>
              <a:rPr lang="en-US" altLang="zh-TW" sz="1800" dirty="0">
                <a:latin typeface="Aptos"/>
                <a:ea typeface="新細明體"/>
              </a:rPr>
              <a:t>n</a:t>
            </a:r>
            <a:r>
              <a:rPr lang="zh-TW" sz="1800" dirty="0">
                <a:latin typeface="Aptos"/>
                <a:ea typeface="新細明體"/>
              </a:rPr>
              <a:t>d </a:t>
            </a:r>
            <a:r>
              <a:rPr lang="en-US" altLang="zh-TW" sz="1800" dirty="0">
                <a:latin typeface="Aptos"/>
                <a:ea typeface="新細明體"/>
              </a:rPr>
              <a:t>P</a:t>
            </a:r>
            <a:r>
              <a:rPr lang="zh-TW" sz="1800" dirty="0">
                <a:latin typeface="Aptos"/>
                <a:ea typeface="新細明體"/>
              </a:rPr>
              <a:t>e</a:t>
            </a:r>
            <a:r>
              <a:rPr lang="en-US" altLang="zh-TW" sz="1800" dirty="0">
                <a:latin typeface="Aptos"/>
                <a:ea typeface="新細明體"/>
              </a:rPr>
              <a:t>r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V</a:t>
            </a:r>
            <a:r>
              <a:rPr lang="zh-TW" sz="1800" dirty="0">
                <a:latin typeface="Aptos"/>
                <a:ea typeface="新細明體"/>
              </a:rPr>
              <a:t>er</a:t>
            </a:r>
            <a:r>
              <a:rPr lang="en-US" altLang="zh-TW" sz="1800" dirty="0">
                <a:latin typeface="Aptos"/>
                <a:ea typeface="新細明體"/>
              </a:rPr>
              <a:t>mud</a:t>
            </a:r>
            <a:r>
              <a:rPr lang="zh-TW" sz="1800" dirty="0">
                <a:latin typeface="Aptos"/>
                <a:ea typeface="新細明體"/>
              </a:rPr>
              <a:t>o</a:t>
            </a:r>
            <a:r>
              <a:rPr lang="en-US" altLang="zh-TW" sz="1800" dirty="0">
                <a:latin typeface="Aptos"/>
                <a:ea typeface="新細明體"/>
              </a:rPr>
              <a:t>z.</a:t>
            </a:r>
            <a:r>
              <a:rPr lang="zh-TW" altLang="en-US" sz="1800" dirty="0">
                <a:latin typeface="Aptos"/>
                <a:ea typeface="新細明體"/>
              </a:rPr>
              <a:t>’ </a:t>
            </a:r>
            <a:r>
              <a:rPr lang="en-US" altLang="zh-TW" sz="1800" dirty="0">
                <a:latin typeface="Aptos"/>
                <a:ea typeface="新細明體"/>
              </a:rPr>
              <a:t>(M</a:t>
            </a:r>
            <a:r>
              <a:rPr lang="zh-TW" sz="1800" dirty="0">
                <a:latin typeface="Aptos"/>
                <a:ea typeface="新細明體"/>
              </a:rPr>
              <a:t>ed</a:t>
            </a:r>
            <a:r>
              <a:rPr lang="en-US" altLang="zh-TW" sz="1800" dirty="0" err="1">
                <a:latin typeface="Aptos"/>
                <a:ea typeface="新細明體"/>
              </a:rPr>
              <a:t>i</a:t>
            </a:r>
            <a:r>
              <a:rPr lang="zh-TW" sz="1800" dirty="0">
                <a:latin typeface="Aptos"/>
                <a:ea typeface="新細明體"/>
              </a:rPr>
              <a:t>e</a:t>
            </a:r>
            <a:r>
              <a:rPr lang="en-US" altLang="zh-TW" sz="1800" dirty="0" err="1">
                <a:latin typeface="Aptos"/>
                <a:ea typeface="新細明體"/>
              </a:rPr>
              <a:t>val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S</a:t>
            </a:r>
            <a:r>
              <a:rPr lang="zh-TW" sz="1800" dirty="0">
                <a:latin typeface="Aptos"/>
                <a:ea typeface="新細明體"/>
              </a:rPr>
              <a:t>pa</a:t>
            </a:r>
            <a:r>
              <a:rPr lang="en-US" altLang="zh-TW" sz="1800" dirty="0" err="1">
                <a:latin typeface="Aptos"/>
                <a:ea typeface="新細明體"/>
              </a:rPr>
              <a:t>ni</a:t>
            </a:r>
            <a:r>
              <a:rPr lang="zh-TW" sz="1800" dirty="0">
                <a:latin typeface="Aptos"/>
                <a:ea typeface="新細明體"/>
              </a:rPr>
              <a:t>sh</a:t>
            </a:r>
            <a:r>
              <a:rPr lang="en-US" altLang="zh-TW" sz="1800" dirty="0">
                <a:latin typeface="Aptos"/>
                <a:ea typeface="新細明體"/>
              </a:rPr>
              <a:t>: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i="1" dirty="0">
                <a:latin typeface="Aptos"/>
                <a:ea typeface="新細明體"/>
              </a:rPr>
              <a:t>El</a:t>
            </a:r>
            <a:r>
              <a:rPr lang="zh-TW" altLang="en-US" sz="1800" i="1" dirty="0">
                <a:latin typeface="Aptos"/>
                <a:ea typeface="新細明體"/>
              </a:rPr>
              <a:t> </a:t>
            </a:r>
            <a:r>
              <a:rPr lang="en-US" altLang="zh-TW" sz="1800" i="1" dirty="0">
                <a:latin typeface="Aptos"/>
                <a:ea typeface="新細明體"/>
              </a:rPr>
              <a:t>Ci</a:t>
            </a:r>
            <a:r>
              <a:rPr lang="zh-TW" sz="1800" i="1" dirty="0">
                <a:latin typeface="Aptos"/>
                <a:ea typeface="新細明體"/>
              </a:rPr>
              <a:t>d </a:t>
            </a:r>
            <a:r>
              <a:rPr lang="en-US" altLang="zh-TW" sz="1800" dirty="0">
                <a:latin typeface="Aptos"/>
                <a:ea typeface="新細明體"/>
              </a:rPr>
              <a:t>1894-1895)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en-US" altLang="zh-TW" sz="1800" b="1" dirty="0">
                <a:latin typeface="Aptos"/>
                <a:ea typeface="新細明體"/>
              </a:rPr>
              <a:t>A</a:t>
            </a:r>
            <a:r>
              <a:rPr lang="zh-TW" altLang="en-US" sz="1800" b="1" dirty="0">
                <a:latin typeface="Aptos"/>
                <a:ea typeface="新細明體"/>
              </a:rPr>
              <a:t> </a:t>
            </a:r>
            <a:r>
              <a:rPr lang="en-US" altLang="zh-TW" sz="1800" b="1" dirty="0" err="1">
                <a:latin typeface="Aptos"/>
                <a:ea typeface="新細明體"/>
              </a:rPr>
              <a:t>su</a:t>
            </a:r>
            <a:r>
              <a:rPr lang="zh-TW" altLang="en-US" sz="1800" b="1" dirty="0">
                <a:latin typeface="Aptos"/>
                <a:ea typeface="新細明體"/>
              </a:rPr>
              <a:t> </a:t>
            </a:r>
            <a:r>
              <a:rPr lang="en-GB" altLang="zh-TW" sz="1800" b="1" dirty="0">
                <a:latin typeface="Aptos"/>
                <a:ea typeface="新細明體"/>
              </a:rPr>
              <a:t>s</a:t>
            </a:r>
            <a:r>
              <a:rPr lang="zh-TW" sz="1800" b="1" dirty="0">
                <a:latin typeface="Aptos"/>
                <a:ea typeface="新細明體"/>
              </a:rPr>
              <a:t>o</a:t>
            </a:r>
            <a:r>
              <a:rPr lang="en-US" altLang="zh-TW" sz="1800" b="1" dirty="0" err="1">
                <a:latin typeface="Aptos"/>
                <a:ea typeface="新細明體"/>
              </a:rPr>
              <a:t>br</a:t>
            </a:r>
            <a:r>
              <a:rPr lang="zh-TW" sz="1800" b="1" dirty="0">
                <a:latin typeface="Aptos"/>
                <a:ea typeface="新細明體"/>
              </a:rPr>
              <a:t>ino</a:t>
            </a:r>
            <a:r>
              <a:rPr lang="en-GB" altLang="zh-TW" sz="1800" b="1" dirty="0">
                <a:latin typeface="Aptos"/>
                <a:ea typeface="新細明體"/>
              </a:rPr>
              <a:t> Pedro Bermúdez </a:t>
            </a:r>
            <a:r>
              <a:rPr lang="en-US" altLang="zh-TW" sz="1800" dirty="0">
                <a:latin typeface="Aptos"/>
                <a:ea typeface="新細明體"/>
              </a:rPr>
              <a:t>…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p</a:t>
            </a:r>
            <a:r>
              <a:rPr lang="zh-TW" sz="1800" dirty="0">
                <a:latin typeface="Aptos"/>
                <a:ea typeface="新細明體"/>
              </a:rPr>
              <a:t>or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 err="1">
                <a:latin typeface="Aptos"/>
                <a:ea typeface="新細明體"/>
              </a:rPr>
              <a:t>su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n</a:t>
            </a:r>
            <a:r>
              <a:rPr lang="zh-TW" sz="1800" dirty="0">
                <a:latin typeface="Aptos"/>
                <a:ea typeface="新細明體"/>
              </a:rPr>
              <a:t>om</a:t>
            </a:r>
            <a:r>
              <a:rPr lang="en-US" altLang="zh-TW" sz="1800" dirty="0" err="1">
                <a:latin typeface="Aptos"/>
                <a:ea typeface="新細明體"/>
              </a:rPr>
              <a:t>br</a:t>
            </a:r>
            <a:r>
              <a:rPr lang="zh-TW" sz="1800" dirty="0">
                <a:latin typeface="Aptos"/>
                <a:ea typeface="新細明體"/>
              </a:rPr>
              <a:t>e </a:t>
            </a:r>
            <a:r>
              <a:rPr lang="en-US" altLang="zh-TW" sz="1800" b="1" dirty="0">
                <a:latin typeface="Aptos"/>
                <a:ea typeface="新細明體"/>
              </a:rPr>
              <a:t>l</a:t>
            </a:r>
            <a:r>
              <a:rPr lang="zh-TW" sz="1800" b="1" dirty="0">
                <a:latin typeface="Aptos"/>
                <a:ea typeface="新細明體"/>
              </a:rPr>
              <a:t>o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 err="1">
                <a:latin typeface="Aptos"/>
                <a:ea typeface="新細明體"/>
              </a:rPr>
              <a:t>lla</a:t>
            </a:r>
            <a:r>
              <a:rPr lang="zh-TW" sz="1800" dirty="0">
                <a:latin typeface="Aptos"/>
                <a:ea typeface="新細明體"/>
              </a:rPr>
              <a:t>m</a:t>
            </a:r>
            <a:r>
              <a:rPr lang="en-US" altLang="zh-TW" sz="1800" dirty="0">
                <a:latin typeface="Aptos"/>
                <a:ea typeface="新細明體"/>
              </a:rPr>
              <a:t>ó</a:t>
            </a:r>
            <a:endParaRPr lang="zh-TW" altLang="en-US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zh-TW" altLang="en-US" sz="1800" dirty="0">
                <a:latin typeface="Aptos"/>
                <a:ea typeface="新細明體"/>
              </a:rPr>
              <a:t>‘</a:t>
            </a:r>
            <a:r>
              <a:rPr lang="en-US" altLang="zh-TW" sz="1800" dirty="0">
                <a:latin typeface="Aptos"/>
                <a:ea typeface="新細明體"/>
              </a:rPr>
              <a:t>H</a:t>
            </a:r>
            <a:r>
              <a:rPr lang="zh-TW" sz="1800" dirty="0">
                <a:latin typeface="Aptos"/>
                <a:ea typeface="新細明體"/>
              </a:rPr>
              <a:t>e called </a:t>
            </a:r>
            <a:r>
              <a:rPr lang="en-US" altLang="zh-TW" sz="1800" dirty="0">
                <a:latin typeface="Aptos"/>
                <a:ea typeface="新細明體"/>
              </a:rPr>
              <a:t>his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nephew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b</a:t>
            </a:r>
            <a:r>
              <a:rPr lang="zh-TW" sz="1800" dirty="0">
                <a:latin typeface="Aptos"/>
                <a:ea typeface="新細明體"/>
              </a:rPr>
              <a:t>y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his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 err="1">
                <a:latin typeface="Aptos"/>
                <a:ea typeface="新細明體"/>
              </a:rPr>
              <a:t>na</a:t>
            </a:r>
            <a:r>
              <a:rPr lang="zh-TW" sz="1800" dirty="0">
                <a:latin typeface="Aptos"/>
                <a:ea typeface="新細明體"/>
              </a:rPr>
              <a:t>m</a:t>
            </a:r>
            <a:r>
              <a:rPr lang="en-US" altLang="zh-TW" sz="1800" dirty="0">
                <a:latin typeface="Aptos"/>
                <a:ea typeface="新細明體"/>
              </a:rPr>
              <a:t>e</a:t>
            </a:r>
            <a:r>
              <a:rPr lang="zh-TW" sz="1800" dirty="0">
                <a:latin typeface="Aptos"/>
                <a:ea typeface="新細明體"/>
              </a:rPr>
              <a:t>.’ (</a:t>
            </a:r>
            <a:r>
              <a:rPr lang="en-US" altLang="zh-TW" sz="1800" dirty="0">
                <a:latin typeface="Aptos"/>
                <a:ea typeface="新細明體"/>
              </a:rPr>
              <a:t>Medieval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dirty="0" err="1">
                <a:latin typeface="Aptos"/>
                <a:ea typeface="新細明體"/>
              </a:rPr>
              <a:t>Sp</a:t>
            </a:r>
            <a:r>
              <a:rPr lang="zh-TW" sz="1800" dirty="0">
                <a:latin typeface="Aptos"/>
                <a:ea typeface="新細明體"/>
              </a:rPr>
              <a:t>ani</a:t>
            </a:r>
            <a:r>
              <a:rPr lang="en-US" altLang="zh-TW" sz="1800" dirty="0" err="1">
                <a:latin typeface="Aptos"/>
                <a:ea typeface="新細明體"/>
              </a:rPr>
              <a:t>sh</a:t>
            </a:r>
            <a:r>
              <a:rPr lang="en-US" altLang="zh-TW" sz="1800" dirty="0">
                <a:latin typeface="Aptos"/>
                <a:ea typeface="新細明體"/>
              </a:rPr>
              <a:t>: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r>
              <a:rPr lang="en-US" altLang="zh-TW" sz="1800" i="1" dirty="0">
                <a:latin typeface="Aptos"/>
                <a:ea typeface="新細明體"/>
              </a:rPr>
              <a:t>E</a:t>
            </a:r>
            <a:r>
              <a:rPr lang="zh-TW" sz="1800" i="1" dirty="0">
                <a:latin typeface="Aptos"/>
                <a:ea typeface="新細明體"/>
              </a:rPr>
              <a:t>l P</a:t>
            </a:r>
            <a:r>
              <a:rPr lang="en-US" altLang="zh-TW" sz="1800" i="1" dirty="0" err="1">
                <a:latin typeface="Aptos"/>
                <a:ea typeface="新細明體"/>
              </a:rPr>
              <a:t>oem</a:t>
            </a:r>
            <a:r>
              <a:rPr lang="zh-TW" sz="1800" i="1" dirty="0">
                <a:latin typeface="Aptos"/>
                <a:ea typeface="新細明體"/>
              </a:rPr>
              <a:t>a</a:t>
            </a:r>
            <a:r>
              <a:rPr lang="zh-TW" altLang="en-US" sz="1800" i="1" dirty="0">
                <a:latin typeface="Aptos"/>
                <a:ea typeface="新細明體"/>
              </a:rPr>
              <a:t> </a:t>
            </a:r>
            <a:r>
              <a:rPr lang="en-US" altLang="zh-TW" sz="1800" i="1" dirty="0">
                <a:latin typeface="Aptos"/>
                <a:ea typeface="新細明體"/>
              </a:rPr>
              <a:t>de</a:t>
            </a:r>
            <a:r>
              <a:rPr lang="zh-TW" sz="1800" i="1" dirty="0">
                <a:latin typeface="Aptos"/>
                <a:ea typeface="新細明體"/>
              </a:rPr>
              <a:t>l</a:t>
            </a:r>
            <a:r>
              <a:rPr lang="zh-TW" altLang="en-US" sz="1800" i="1" dirty="0">
                <a:latin typeface="Aptos"/>
                <a:ea typeface="新細明體"/>
              </a:rPr>
              <a:t> </a:t>
            </a:r>
            <a:r>
              <a:rPr lang="en-US" altLang="zh-TW" sz="1800" i="1" dirty="0">
                <a:latin typeface="Aptos"/>
                <a:ea typeface="新細明體"/>
              </a:rPr>
              <a:t>Mio</a:t>
            </a:r>
            <a:r>
              <a:rPr lang="zh-TW" altLang="en-US" sz="1800" i="1" dirty="0">
                <a:latin typeface="Aptos"/>
                <a:ea typeface="新細明體"/>
              </a:rPr>
              <a:t> </a:t>
            </a:r>
            <a:r>
              <a:rPr lang="en-US" altLang="zh-TW" sz="1800" i="1" dirty="0">
                <a:latin typeface="Aptos"/>
                <a:ea typeface="新細明體"/>
              </a:rPr>
              <a:t>C</a:t>
            </a:r>
            <a:r>
              <a:rPr lang="zh-TW" sz="1800" i="1" dirty="0">
                <a:latin typeface="Aptos"/>
                <a:ea typeface="新細明體"/>
              </a:rPr>
              <a:t>i</a:t>
            </a:r>
            <a:r>
              <a:rPr lang="en-US" altLang="zh-TW" sz="1800" i="1" dirty="0">
                <a:latin typeface="Aptos"/>
                <a:ea typeface="新細明體"/>
              </a:rPr>
              <a:t>d</a:t>
            </a:r>
            <a:r>
              <a:rPr lang="zh-TW" altLang="en-US" sz="1800" i="1" dirty="0">
                <a:latin typeface="Aptos"/>
                <a:ea typeface="新細明體"/>
              </a:rPr>
              <a:t> </a:t>
            </a:r>
            <a:r>
              <a:rPr lang="en-US" altLang="zh-TW" sz="1800" dirty="0">
                <a:latin typeface="Aptos"/>
                <a:ea typeface="新細明體"/>
              </a:rPr>
              <a:t>3</a:t>
            </a:r>
            <a:r>
              <a:rPr lang="zh-TW" sz="1800" dirty="0">
                <a:latin typeface="Aptos"/>
                <a:ea typeface="新細明體"/>
              </a:rPr>
              <a:t>1</a:t>
            </a:r>
            <a:r>
              <a:rPr lang="en-US" altLang="zh-TW" sz="1800" dirty="0">
                <a:latin typeface="Aptos"/>
                <a:ea typeface="新細明體"/>
              </a:rPr>
              <a:t>88</a:t>
            </a:r>
            <a:r>
              <a:rPr lang="zh-TW" sz="1800" dirty="0">
                <a:latin typeface="Aptos"/>
                <a:ea typeface="新細明體"/>
              </a:rPr>
              <a:t>)</a:t>
            </a:r>
            <a:r>
              <a:rPr lang="zh-TW" altLang="en-US" sz="1800" dirty="0">
                <a:latin typeface="Aptos"/>
                <a:ea typeface="新細明體"/>
              </a:rPr>
              <a:t> </a:t>
            </a:r>
            <a:endParaRPr lang="zh-TW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en-US" altLang="zh-TW" sz="1800" dirty="0">
                <a:latin typeface="Aptos"/>
                <a:ea typeface="新細明體"/>
                <a:cs typeface="Calibri"/>
              </a:rPr>
              <a:t>Los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moros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 err="1">
                <a:latin typeface="Aptos"/>
                <a:ea typeface="新細明體"/>
                <a:cs typeface="Calibri"/>
              </a:rPr>
              <a:t>llaman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GB" altLang="zh-TW" sz="18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Mahoma</a:t>
            </a:r>
            <a:r>
              <a:rPr lang="en-GB" altLang="zh-TW" sz="1800" dirty="0">
                <a:latin typeface="Aptos"/>
                <a:ea typeface="新細明體"/>
                <a:cs typeface="Calibri"/>
              </a:rPr>
              <a:t>’ y ‘Santiago’ la </a:t>
            </a:r>
            <a:r>
              <a:rPr lang="en-GB" altLang="zh-TW" sz="1800" dirty="0" err="1">
                <a:latin typeface="Aptos"/>
                <a:ea typeface="新細明體"/>
                <a:cs typeface="Calibri"/>
              </a:rPr>
              <a:t>cristiandad</a:t>
            </a:r>
            <a:endParaRPr lang="zh-TW" sz="1800" dirty="0">
              <a:ea typeface="新細明體"/>
              <a:cs typeface="Calibri"/>
            </a:endParaRPr>
          </a:p>
          <a:p>
            <a:pPr>
              <a:buNone/>
            </a:pPr>
            <a:r>
              <a:rPr lang="zh-TW" sz="18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The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moors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shout</a:t>
            </a:r>
            <a:r>
              <a:rPr lang="zh-TW" sz="1800" dirty="0">
                <a:latin typeface="Aptos"/>
                <a:ea typeface="新細明體"/>
                <a:cs typeface="Calibri"/>
              </a:rPr>
              <a:t>  ‘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Mahoma</a:t>
            </a:r>
            <a:r>
              <a:rPr lang="zh-TW" sz="1800" dirty="0">
                <a:latin typeface="Aptos"/>
                <a:ea typeface="新細明體"/>
                <a:cs typeface="Calibri"/>
              </a:rPr>
              <a:t>’</a:t>
            </a:r>
            <a:r>
              <a:rPr lang="en-GB" altLang="zh-TW" sz="1800" dirty="0">
                <a:latin typeface="Aptos"/>
                <a:ea typeface="新細明體"/>
                <a:cs typeface="Calibri"/>
              </a:rPr>
              <a:t>and ‘Santiago’ 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(Medieval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Spanish: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i="1" dirty="0">
                <a:latin typeface="Aptos"/>
                <a:ea typeface="新細明體"/>
                <a:cs typeface="Calibri"/>
              </a:rPr>
              <a:t>El</a:t>
            </a:r>
            <a:r>
              <a:rPr lang="zh-TW" sz="18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i="1" dirty="0">
                <a:latin typeface="Aptos"/>
                <a:ea typeface="新細明體"/>
                <a:cs typeface="Calibri"/>
              </a:rPr>
              <a:t>Poema</a:t>
            </a:r>
            <a:r>
              <a:rPr lang="zh-TW" sz="18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i="1" dirty="0">
                <a:latin typeface="Aptos"/>
                <a:ea typeface="新細明體"/>
                <a:cs typeface="Calibri"/>
              </a:rPr>
              <a:t>del</a:t>
            </a:r>
            <a:r>
              <a:rPr lang="zh-TW" sz="18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i="1" dirty="0">
                <a:latin typeface="Aptos"/>
                <a:ea typeface="新細明體"/>
                <a:cs typeface="Calibri"/>
              </a:rPr>
              <a:t>Mio</a:t>
            </a:r>
            <a:r>
              <a:rPr lang="zh-TW" sz="18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i="1" dirty="0">
                <a:latin typeface="Aptos"/>
                <a:ea typeface="新細明體"/>
                <a:cs typeface="Calibri"/>
              </a:rPr>
              <a:t>Cid</a:t>
            </a:r>
            <a:r>
              <a:rPr lang="zh-TW" sz="18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800" i="1" dirty="0">
                <a:latin typeface="Aptos"/>
                <a:ea typeface="新細明體"/>
                <a:cs typeface="Calibri"/>
              </a:rPr>
              <a:t>731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)</a:t>
            </a:r>
            <a:r>
              <a:rPr lang="zh-TW" sz="1800" dirty="0">
                <a:latin typeface="Aptos"/>
                <a:ea typeface="新細明體"/>
                <a:cs typeface="Calibri"/>
              </a:rPr>
              <a:t> </a:t>
            </a:r>
            <a:endParaRPr lang="en-GB" altLang="zh-TW" sz="1800" dirty="0">
              <a:latin typeface="Aptos"/>
              <a:ea typeface="新細明體"/>
              <a:cs typeface="Calibri"/>
            </a:endParaRPr>
          </a:p>
          <a:p>
            <a:pPr>
              <a:buNone/>
            </a:pPr>
            <a:r>
              <a:rPr lang="en-GB" altLang="zh-TW" sz="1800" dirty="0" err="1">
                <a:latin typeface="Aptos"/>
                <a:ea typeface="新細明體"/>
                <a:cs typeface="Calibri"/>
              </a:rPr>
              <a:t>Llamando</a:t>
            </a:r>
            <a:r>
              <a:rPr lang="en-GB" altLang="zh-TW" sz="1800" dirty="0">
                <a:latin typeface="Aptos"/>
                <a:ea typeface="新細明體"/>
                <a:cs typeface="Calibri"/>
              </a:rPr>
              <a:t> ‘Primas, </a:t>
            </a:r>
            <a:r>
              <a:rPr lang="en-GB" altLang="zh-TW" sz="1800" dirty="0" err="1">
                <a:latin typeface="Aptos"/>
                <a:ea typeface="新細明體"/>
                <a:cs typeface="Calibri"/>
              </a:rPr>
              <a:t>primas</a:t>
            </a:r>
            <a:r>
              <a:rPr lang="en-GB" altLang="zh-TW" sz="1800" dirty="0">
                <a:latin typeface="Aptos"/>
                <a:ea typeface="新細明體"/>
                <a:cs typeface="Calibri"/>
              </a:rPr>
              <a:t>’… </a:t>
            </a:r>
          </a:p>
          <a:p>
            <a:pPr>
              <a:buNone/>
            </a:pPr>
            <a:r>
              <a:rPr lang="en-GB" altLang="zh-TW" sz="1800" dirty="0">
                <a:latin typeface="Aptos"/>
                <a:ea typeface="新細明體"/>
                <a:cs typeface="Calibri"/>
              </a:rPr>
              <a:t>‘shouting ‘cousins, cousins’… (Medieval Spanish: </a:t>
            </a:r>
            <a:r>
              <a:rPr lang="en-GB" altLang="zh-TW" sz="1800" i="1" dirty="0">
                <a:latin typeface="Aptos"/>
                <a:ea typeface="新細明體"/>
                <a:cs typeface="Calibri"/>
              </a:rPr>
              <a:t>El Poema del Mio Cid </a:t>
            </a:r>
            <a:r>
              <a:rPr lang="en-GB" altLang="zh-TW" sz="1800" dirty="0">
                <a:latin typeface="Aptos"/>
                <a:ea typeface="新細明體"/>
                <a:cs typeface="Calibri"/>
              </a:rPr>
              <a:t>2778)</a:t>
            </a:r>
            <a:endParaRPr lang="zh-TW" sz="1800" dirty="0">
              <a:ea typeface="新細明體"/>
              <a:cs typeface="Calibri"/>
            </a:endParaRPr>
          </a:p>
          <a:p>
            <a:pPr>
              <a:buNone/>
            </a:pPr>
            <a:endParaRPr lang="zh-TW" sz="1800" dirty="0">
              <a:latin typeface="Aptos"/>
              <a:ea typeface="新細明體"/>
              <a:cs typeface="Calibri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0A543BB0-72A7-3BCD-5C77-5D45ED0CF7F3}"/>
              </a:ext>
            </a:extLst>
          </p:cNvPr>
          <p:cNvSpPr txBox="1">
            <a:spLocks/>
          </p:cNvSpPr>
          <p:nvPr/>
        </p:nvSpPr>
        <p:spPr>
          <a:xfrm>
            <a:off x="2171724" y="4854403"/>
            <a:ext cx="8229600" cy="53983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i="1" dirty="0" err="1">
                <a:latin typeface="Aptos"/>
                <a:ea typeface="+mn-lt"/>
                <a:cs typeface="+mn-lt"/>
              </a:rPr>
              <a:t>Clamare</a:t>
            </a:r>
            <a:r>
              <a:rPr lang="en-US" sz="2000" dirty="0">
                <a:latin typeface="Aptos"/>
                <a:ea typeface="+mn-lt"/>
                <a:cs typeface="+mn-lt"/>
              </a:rPr>
              <a:t> (X3 / X2) (Latin &gt; proto-Romance)</a:t>
            </a:r>
            <a:endParaRPr lang="zh-TW" altLang="en-US" sz="2800" dirty="0"/>
          </a:p>
          <a:p>
            <a:pPr>
              <a:buNone/>
            </a:pPr>
            <a:endParaRPr lang="zh-TW" altLang="en-US" sz="2800" dirty="0"/>
          </a:p>
          <a:p>
            <a:pPr>
              <a:buNone/>
            </a:pPr>
            <a:endParaRPr lang="zh-TW" sz="2800" dirty="0"/>
          </a:p>
          <a:p>
            <a:pPr>
              <a:buNone/>
            </a:pPr>
            <a:endParaRPr lang="en-US" altLang="zh-TW" sz="2000" dirty="0">
              <a:latin typeface="Aptos"/>
              <a:ea typeface="新細明體"/>
              <a:cs typeface="Calibri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00AF2270-6D3B-CA3A-6AA1-0EEE9C8D4ED0}"/>
              </a:ext>
            </a:extLst>
          </p:cNvPr>
          <p:cNvSpPr txBox="1">
            <a:spLocks/>
          </p:cNvSpPr>
          <p:nvPr/>
        </p:nvSpPr>
        <p:spPr>
          <a:xfrm>
            <a:off x="-25401" y="5290998"/>
            <a:ext cx="9172713" cy="53983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Human/</a:t>
            </a:r>
            <a:r>
              <a:rPr lang="en-US" altLang="zh-TW" sz="2000" dirty="0">
                <a:ea typeface="+mn-lt"/>
                <a:cs typeface="+mn-lt"/>
              </a:rPr>
              <a:t>animate </a:t>
            </a:r>
            <a:r>
              <a:rPr lang="en-US" sz="2000" dirty="0">
                <a:ea typeface="+mn-lt"/>
                <a:cs typeface="+mn-lt"/>
              </a:rPr>
              <a:t>objects (</a:t>
            </a:r>
            <a:r>
              <a:rPr lang="en-US" sz="2000" i="1" dirty="0">
                <a:ea typeface="+mn-lt"/>
                <a:cs typeface="+mn-lt"/>
              </a:rPr>
              <a:t>ad</a:t>
            </a:r>
            <a:r>
              <a:rPr lang="en-US" sz="2000" dirty="0">
                <a:ea typeface="+mn-lt"/>
                <a:cs typeface="+mn-lt"/>
              </a:rPr>
              <a:t>) 		vs     </a:t>
            </a:r>
            <a:r>
              <a:rPr lang="en-US" altLang="zh-TW" sz="2000" dirty="0">
                <a:ea typeface="+mn-lt"/>
                <a:cs typeface="+mn-lt"/>
              </a:rPr>
              <a:t>inanimate </a:t>
            </a:r>
            <a:r>
              <a:rPr lang="en-US" sz="2000" dirty="0">
                <a:ea typeface="+mn-lt"/>
                <a:cs typeface="+mn-lt"/>
              </a:rPr>
              <a:t>objects (</a:t>
            </a:r>
            <a:r>
              <a:rPr lang="en-US" altLang="zh-TW" sz="2000" dirty="0">
                <a:ea typeface="+mn-lt"/>
                <a:cs typeface="+mn-lt"/>
              </a:rPr>
              <a:t>unmarked)</a:t>
            </a:r>
            <a:endParaRPr lang="zh-TW" altLang="en-US" sz="2800" dirty="0">
              <a:ea typeface="新細明體"/>
              <a:cs typeface="Calibri"/>
            </a:endParaRPr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A</a:t>
            </a:r>
            <a:r>
              <a:rPr lang="en-US" altLang="zh-TW" sz="20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Minaya</a:t>
            </a:r>
            <a:r>
              <a:rPr lang="en-US" altLang="zh-TW" sz="20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Albar</a:t>
            </a:r>
            <a:r>
              <a:rPr lang="en-US" altLang="zh-TW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Fáñez</a:t>
            </a:r>
            <a:r>
              <a:rPr lang="en-US" altLang="zh-TW" sz="2000" dirty="0">
                <a:ea typeface="+mn-lt"/>
                <a:cs typeface="+mn-lt"/>
              </a:rPr>
              <a:t> e </a:t>
            </a:r>
            <a:r>
              <a:rPr lang="en-US" sz="2000" b="1" dirty="0">
                <a:ea typeface="+mn-lt"/>
                <a:cs typeface="+mn-lt"/>
              </a:rPr>
              <a:t>a</a:t>
            </a:r>
            <a:r>
              <a:rPr lang="en-US" altLang="zh-TW" sz="2000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Per</a:t>
            </a:r>
            <a:r>
              <a:rPr lang="en-US" altLang="zh-TW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Vermudoz</a:t>
            </a:r>
            <a:r>
              <a:rPr lang="en-US" sz="2000" dirty="0">
                <a:ea typeface="+mn-lt"/>
                <a:cs typeface="+mn-lt"/>
              </a:rPr>
              <a:t>  </a:t>
            </a:r>
            <a:r>
              <a:rPr lang="en-US" altLang="zh-TW" sz="2000" dirty="0">
                <a:ea typeface="+mn-lt"/>
                <a:cs typeface="+mn-lt"/>
              </a:rPr>
              <a:t> </a:t>
            </a:r>
            <a:r>
              <a:rPr lang="en-US" sz="2000" dirty="0">
                <a:ea typeface="+mn-lt"/>
                <a:cs typeface="+mn-lt"/>
              </a:rPr>
              <a:t>  	 </a:t>
            </a:r>
            <a:r>
              <a:rPr lang="en-US" altLang="zh-TW" sz="2000" dirty="0">
                <a:ea typeface="+mn-lt"/>
                <a:cs typeface="+mn-lt"/>
              </a:rPr>
              <a:t>‘</a:t>
            </a:r>
            <a:r>
              <a:rPr lang="en-US" sz="2000" dirty="0">
                <a:ea typeface="+mn-lt"/>
                <a:cs typeface="+mn-lt"/>
              </a:rPr>
              <a:t>Mahoma</a:t>
            </a:r>
            <a:r>
              <a:rPr lang="en-US" altLang="zh-TW" sz="2000" dirty="0">
                <a:ea typeface="+mn-lt"/>
                <a:cs typeface="+mn-lt"/>
              </a:rPr>
              <a:t>’, ‘Santiago’, ‘Primas’ </a:t>
            </a:r>
          </a:p>
          <a:p>
            <a:pPr>
              <a:buNone/>
            </a:pPr>
            <a:r>
              <a:rPr lang="en-US" altLang="zh-TW" sz="2000" b="1" dirty="0">
                <a:ea typeface="+mn-lt"/>
                <a:cs typeface="+mn-lt"/>
              </a:rPr>
              <a:t>A</a:t>
            </a:r>
            <a:r>
              <a:rPr lang="en-US" altLang="zh-TW" sz="2000" dirty="0">
                <a:ea typeface="+mn-lt"/>
                <a:cs typeface="+mn-lt"/>
              </a:rPr>
              <a:t> </a:t>
            </a:r>
            <a:r>
              <a:rPr lang="en-US" altLang="zh-TW" sz="2000" dirty="0" err="1">
                <a:ea typeface="+mn-lt"/>
                <a:cs typeface="+mn-lt"/>
              </a:rPr>
              <a:t>su</a:t>
            </a:r>
            <a:r>
              <a:rPr lang="en-US" altLang="zh-TW" sz="2000" dirty="0">
                <a:ea typeface="+mn-lt"/>
                <a:cs typeface="+mn-lt"/>
              </a:rPr>
              <a:t> </a:t>
            </a:r>
            <a:r>
              <a:rPr lang="en-US" altLang="zh-TW" sz="2000" dirty="0" err="1">
                <a:ea typeface="+mn-lt"/>
                <a:cs typeface="+mn-lt"/>
              </a:rPr>
              <a:t>sobrino</a:t>
            </a:r>
            <a:r>
              <a:rPr lang="en-US" altLang="zh-TW" sz="2000" dirty="0">
                <a:ea typeface="+mn-lt"/>
                <a:cs typeface="+mn-lt"/>
              </a:rPr>
              <a:t> Pedro Bermúdez</a:t>
            </a:r>
            <a:endParaRPr lang="en-US" altLang="zh-TW" sz="2800" dirty="0">
              <a:ea typeface="+mn-lt"/>
              <a:cs typeface="+mn-lt"/>
            </a:endParaRPr>
          </a:p>
          <a:p>
            <a:pPr>
              <a:buNone/>
            </a:pPr>
            <a:endParaRPr lang="zh-TW" altLang="en-US" sz="2800" dirty="0"/>
          </a:p>
          <a:p>
            <a:pPr>
              <a:buNone/>
            </a:pPr>
            <a:endParaRPr lang="zh-TW" sz="2800" dirty="0"/>
          </a:p>
          <a:p>
            <a:pPr>
              <a:buNone/>
            </a:pPr>
            <a:endParaRPr lang="en-US" altLang="zh-TW" sz="2000" dirty="0">
              <a:latin typeface="Aptos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71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927B30-D9DD-FEFB-1E39-92BC887C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595"/>
            <a:ext cx="8229600" cy="811695"/>
          </a:xfrm>
        </p:spPr>
        <p:txBody>
          <a:bodyPr>
            <a:normAutofit/>
          </a:bodyPr>
          <a:lstStyle/>
          <a:p>
            <a:r>
              <a:rPr lang="zh-TW" i="1">
                <a:latin typeface="Aptos Display"/>
              </a:rPr>
              <a:t>Verba rogandi </a:t>
            </a:r>
            <a:r>
              <a:rPr lang="zh-TW">
                <a:latin typeface="Aptos Display"/>
              </a:rPr>
              <a:t>+ AD/AB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B7DB66-D64D-FA8E-B53F-EDE817EDD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27157"/>
            <a:ext cx="9143999" cy="529900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zh-TW" sz="2000" dirty="0">
                <a:latin typeface="Aptos"/>
                <a:ea typeface="新細明體"/>
                <a:cs typeface="Calibri"/>
              </a:rPr>
              <a:t>Veniam… </a:t>
            </a:r>
            <a:r>
              <a:rPr lang="zh-TW" sz="2000" b="1" dirty="0">
                <a:latin typeface="Aptos"/>
                <a:ea typeface="新細明體"/>
                <a:cs typeface="Calibri"/>
              </a:rPr>
              <a:t>ad</a:t>
            </a:r>
            <a:r>
              <a:rPr lang="zh-TW" sz="2000" dirty="0">
                <a:latin typeface="Aptos"/>
                <a:ea typeface="新細明體"/>
                <a:cs typeface="Calibri"/>
              </a:rPr>
              <a:t> </a:t>
            </a:r>
            <a:r>
              <a:rPr lang="zh-TW" sz="2000" b="1" dirty="0">
                <a:latin typeface="Aptos"/>
                <a:ea typeface="新細明體"/>
                <a:cs typeface="Calibri"/>
              </a:rPr>
              <a:t>Domino</a:t>
            </a:r>
            <a:r>
              <a:rPr lang="zh-TW" sz="2000" dirty="0">
                <a:latin typeface="Aptos"/>
                <a:ea typeface="新細明體"/>
                <a:cs typeface="Calibri"/>
              </a:rPr>
              <a:t> poposcebat </a:t>
            </a:r>
            <a:endParaRPr lang="zh-TW" dirty="0">
              <a:ea typeface="新細明體"/>
            </a:endParaRPr>
          </a:p>
          <a:p>
            <a:pPr>
              <a:buNone/>
            </a:pPr>
            <a:r>
              <a:rPr lang="en-GB" altLang="zh-TW" sz="2000" dirty="0">
                <a:latin typeface="Aptos"/>
                <a:cs typeface="Calibri"/>
              </a:rPr>
              <a:t>‘</a:t>
            </a:r>
            <a:r>
              <a:rPr lang="zh-TW" sz="2000" dirty="0">
                <a:latin typeface="Aptos"/>
                <a:cs typeface="Calibri"/>
              </a:rPr>
              <a:t>She was begging her Lord for mercy.</a:t>
            </a:r>
            <a:r>
              <a:rPr lang="en-GB" altLang="zh-TW" sz="2000" dirty="0">
                <a:latin typeface="Aptos"/>
                <a:cs typeface="Calibri"/>
              </a:rPr>
              <a:t>’ </a:t>
            </a:r>
            <a:r>
              <a:rPr lang="zh-TW" sz="2000" dirty="0">
                <a:latin typeface="Aptos"/>
                <a:cs typeface="Calibri"/>
              </a:rPr>
              <a:t> (Medieval Latin: </a:t>
            </a:r>
            <a:r>
              <a:rPr lang="zh-TW" sz="2000" i="1" dirty="0">
                <a:latin typeface="Aptos"/>
                <a:cs typeface="Calibri"/>
              </a:rPr>
              <a:t>Chronicon Salernitanum</a:t>
            </a:r>
            <a:r>
              <a:rPr lang="zh-TW" sz="2000" dirty="0">
                <a:latin typeface="Aptos"/>
                <a:cs typeface="Calibri"/>
              </a:rPr>
              <a:t> 11)</a:t>
            </a:r>
            <a:endParaRPr lang="zh-TW" dirty="0"/>
          </a:p>
          <a:p>
            <a:pPr>
              <a:buNone/>
            </a:pPr>
            <a:r>
              <a:rPr lang="zh-TW" sz="2000" b="1" dirty="0">
                <a:latin typeface="Aptos"/>
                <a:cs typeface="Calibri"/>
              </a:rPr>
              <a:t>Ab ipsa</a:t>
            </a:r>
            <a:r>
              <a:rPr lang="zh-TW" sz="2000" dirty="0">
                <a:latin typeface="Aptos"/>
                <a:cs typeface="Calibri"/>
              </a:rPr>
              <a:t> eiusque prolem veniam poposcebat </a:t>
            </a:r>
            <a:endParaRPr lang="zh-TW" dirty="0"/>
          </a:p>
          <a:p>
            <a:pPr>
              <a:buNone/>
            </a:pPr>
            <a:r>
              <a:rPr lang="en-GB" altLang="zh-TW" sz="2000" dirty="0">
                <a:latin typeface="Aptos"/>
                <a:cs typeface="Calibri"/>
              </a:rPr>
              <a:t>‘</a:t>
            </a:r>
            <a:r>
              <a:rPr lang="zh-TW" sz="2000" dirty="0">
                <a:latin typeface="Aptos"/>
                <a:cs typeface="Calibri"/>
              </a:rPr>
              <a:t>… she was begging the church for her son and mercy.</a:t>
            </a:r>
            <a:r>
              <a:rPr lang="en-GB" altLang="zh-TW" sz="2000" dirty="0">
                <a:latin typeface="Aptos"/>
                <a:cs typeface="Calibri"/>
              </a:rPr>
              <a:t>’ </a:t>
            </a:r>
            <a:r>
              <a:rPr lang="zh-TW" sz="2000" dirty="0">
                <a:latin typeface="Aptos"/>
                <a:cs typeface="Calibri"/>
              </a:rPr>
              <a:t>(Medieval Latin: </a:t>
            </a:r>
            <a:r>
              <a:rPr lang="zh-TW" sz="2000" i="1" dirty="0">
                <a:latin typeface="Aptos"/>
                <a:cs typeface="Calibri"/>
              </a:rPr>
              <a:t>Chronicon Salernitanum</a:t>
            </a:r>
            <a:r>
              <a:rPr lang="zh-TW" sz="2000" dirty="0">
                <a:latin typeface="Aptos"/>
                <a:cs typeface="Calibri"/>
              </a:rPr>
              <a:t>)</a:t>
            </a:r>
            <a:endParaRPr lang="zh-TW" dirty="0"/>
          </a:p>
          <a:p>
            <a:pPr>
              <a:buNone/>
            </a:pPr>
            <a:r>
              <a:rPr lang="zh-TW" sz="2000" i="1" dirty="0">
                <a:latin typeface="Aptos"/>
                <a:ea typeface="新細明體"/>
                <a:cs typeface="Calibri"/>
              </a:rPr>
              <a:t>Ad</a:t>
            </a:r>
            <a:r>
              <a:rPr lang="zh-TW" sz="2000" dirty="0">
                <a:latin typeface="Aptos"/>
                <a:ea typeface="新細明體"/>
                <a:cs typeface="Calibri"/>
              </a:rPr>
              <a:t>/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ab</a:t>
            </a:r>
            <a:r>
              <a:rPr lang="zh-TW" sz="2000" dirty="0">
                <a:latin typeface="Aptos"/>
                <a:ea typeface="新細明體"/>
                <a:cs typeface="Calibri"/>
              </a:rPr>
              <a:t> (orthographic confusion) (Lapesa (1907:72-75), Bastardas Parera (1953:41), Westerbergh (1956:255) </a:t>
            </a:r>
            <a:endParaRPr lang="zh-TW" dirty="0"/>
          </a:p>
          <a:p>
            <a:pPr>
              <a:buNone/>
            </a:pPr>
            <a:endParaRPr lang="zh-TW" sz="2000" dirty="0">
              <a:latin typeface="Aptos"/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D19E5B31-2730-50DC-E797-60D39119F99A}"/>
              </a:ext>
            </a:extLst>
          </p:cNvPr>
          <p:cNvSpPr txBox="1">
            <a:spLocks/>
          </p:cNvSpPr>
          <p:nvPr/>
        </p:nvSpPr>
        <p:spPr>
          <a:xfrm>
            <a:off x="0" y="3429000"/>
            <a:ext cx="9144000" cy="52990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2000" dirty="0">
                <a:latin typeface="Aptos"/>
                <a:ea typeface="新細明體"/>
                <a:cs typeface="Calibri"/>
              </a:rPr>
              <a:t>Ru</a:t>
            </a:r>
            <a:r>
              <a:rPr lang="zh-TW" sz="2000" dirty="0">
                <a:latin typeface="Aptos"/>
                <a:ea typeface="新細明體"/>
                <a:cs typeface="Calibri"/>
              </a:rPr>
              <a:t>e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ga</a:t>
            </a:r>
            <a:r>
              <a:rPr lang="zh-TW" sz="2000" dirty="0">
                <a:latin typeface="Aptos"/>
                <a:ea typeface="新細明體"/>
                <a:cs typeface="Calibri"/>
              </a:rPr>
              <a:t>n </a:t>
            </a:r>
            <a:r>
              <a:rPr lang="zh-TW" sz="2000" b="1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2000" b="1" dirty="0">
                <a:latin typeface="Aptos"/>
                <a:ea typeface="新細明體"/>
                <a:cs typeface="Calibri"/>
              </a:rPr>
              <a:t>l</a:t>
            </a:r>
            <a:r>
              <a:rPr lang="zh-TW" altLang="en-US" sz="20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b="1" dirty="0" err="1">
                <a:latin typeface="Aptos"/>
                <a:ea typeface="新細明體"/>
                <a:cs typeface="Calibri"/>
              </a:rPr>
              <a:t>rey</a:t>
            </a:r>
            <a:r>
              <a:rPr lang="zh-TW" altLang="en-US" sz="20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que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l</a:t>
            </a:r>
            <a:r>
              <a:rPr lang="zh-TW" sz="2000" dirty="0">
                <a:latin typeface="Aptos"/>
                <a:ea typeface="新細明體"/>
                <a:cs typeface="Calibri"/>
              </a:rPr>
              <a:t>os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quite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d</a:t>
            </a:r>
            <a:r>
              <a:rPr lang="zh-TW" sz="2000" dirty="0">
                <a:latin typeface="Aptos"/>
                <a:ea typeface="新細明體"/>
                <a:cs typeface="Calibri"/>
              </a:rPr>
              <a:t>e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st</a:t>
            </a:r>
            <a:r>
              <a:rPr lang="zh-TW" sz="2000" dirty="0">
                <a:latin typeface="Aptos"/>
                <a:ea typeface="新細明體"/>
                <a:cs typeface="Calibri"/>
              </a:rPr>
              <a:t>a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cor</a:t>
            </a:r>
            <a:r>
              <a:rPr lang="zh-TW" sz="2000" dirty="0">
                <a:latin typeface="Aptos"/>
                <a:ea typeface="新細明體"/>
                <a:cs typeface="Calibri"/>
              </a:rPr>
              <a:t>t 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</a:t>
            </a:r>
            <a:r>
              <a:rPr lang="zh-TW" sz="2000" dirty="0">
                <a:latin typeface="Aptos"/>
                <a:ea typeface="新細明體"/>
                <a:cs typeface="Calibri"/>
              </a:rPr>
              <a:t>he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y</a:t>
            </a:r>
            <a:r>
              <a:rPr lang="zh-TW" sz="2000" dirty="0">
                <a:latin typeface="Aptos"/>
                <a:ea typeface="新細明體"/>
                <a:cs typeface="Calibri"/>
              </a:rPr>
              <a:t> beg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the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k</a:t>
            </a:r>
            <a:r>
              <a:rPr lang="zh-TW" sz="2000" dirty="0">
                <a:latin typeface="Aptos"/>
                <a:ea typeface="新細明體"/>
                <a:cs typeface="Calibri"/>
              </a:rPr>
              <a:t>ing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to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remove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</a:t>
            </a:r>
            <a:r>
              <a:rPr lang="zh-TW" sz="2000" dirty="0">
                <a:latin typeface="Aptos"/>
                <a:ea typeface="新細明體"/>
                <a:cs typeface="Calibri"/>
              </a:rPr>
              <a:t>he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m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f</a:t>
            </a:r>
            <a:r>
              <a:rPr lang="zh-TW" sz="2000" dirty="0">
                <a:latin typeface="Aptos"/>
                <a:ea typeface="新細明體"/>
                <a:cs typeface="Calibri"/>
              </a:rPr>
              <a:t>rom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this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cou</a:t>
            </a:r>
            <a:r>
              <a:rPr lang="zh-TW" sz="2000" dirty="0">
                <a:latin typeface="Aptos"/>
                <a:ea typeface="新細明體"/>
                <a:cs typeface="Calibri"/>
              </a:rPr>
              <a:t>r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</a:t>
            </a:r>
            <a:r>
              <a:rPr lang="zh-TW" sz="2000" dirty="0">
                <a:latin typeface="Aptos"/>
                <a:ea typeface="新細明體"/>
                <a:cs typeface="Calibri"/>
              </a:rPr>
              <a:t>.</a:t>
            </a:r>
            <a:r>
              <a:rPr lang="en-GB" altLang="zh-TW" sz="2000" dirty="0">
                <a:latin typeface="Aptos"/>
                <a:ea typeface="新細明體"/>
                <a:cs typeface="Calibri"/>
              </a:rPr>
              <a:t>’ </a:t>
            </a:r>
            <a:r>
              <a:rPr lang="zh-TW" sz="2000" dirty="0">
                <a:latin typeface="Aptos"/>
                <a:ea typeface="新細明體"/>
                <a:cs typeface="Calibri"/>
              </a:rPr>
              <a:t>(Medieval 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Sp</a:t>
            </a:r>
            <a:r>
              <a:rPr lang="zh-TW" sz="2000" dirty="0">
                <a:latin typeface="Aptos"/>
                <a:ea typeface="新細明體"/>
                <a:cs typeface="Calibri"/>
              </a:rPr>
              <a:t>an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ish</a:t>
            </a:r>
            <a:r>
              <a:rPr lang="zh-TW" sz="2000" dirty="0">
                <a:latin typeface="Aptos"/>
                <a:ea typeface="新細明體"/>
                <a:cs typeface="Calibri"/>
              </a:rPr>
              <a:t>: </a:t>
            </a:r>
            <a:r>
              <a:rPr lang="en-US" altLang="zh-TW" sz="2000" i="1" dirty="0">
                <a:latin typeface="Aptos"/>
                <a:ea typeface="新細明體"/>
                <a:cs typeface="Calibri"/>
              </a:rPr>
              <a:t>El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Ci</a:t>
            </a:r>
            <a:r>
              <a:rPr lang="en-US" altLang="zh-TW" sz="2000" i="1" dirty="0">
                <a:latin typeface="Aptos"/>
                <a:ea typeface="新細明體"/>
                <a:cs typeface="Calibri"/>
              </a:rPr>
              <a:t>d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2989)</a:t>
            </a:r>
            <a:endParaRPr lang="zh-TW" altLang="en-US" dirty="0">
              <a:ea typeface="新細明體"/>
            </a:endParaRPr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  <a:cs typeface="Calibri"/>
              </a:rPr>
              <a:t>S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upp</a:t>
            </a:r>
            <a:r>
              <a:rPr lang="zh-TW" sz="2000" dirty="0">
                <a:latin typeface="Aptos"/>
                <a:ea typeface="新細明體"/>
                <a:cs typeface="Calibri"/>
              </a:rPr>
              <a:t>li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c</a:t>
            </a:r>
            <a:r>
              <a:rPr lang="zh-TW" sz="2000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ro</a:t>
            </a:r>
            <a:r>
              <a:rPr lang="zh-TW" sz="2000" dirty="0">
                <a:latin typeface="Aptos"/>
                <a:ea typeface="新細明體"/>
                <a:cs typeface="Calibri"/>
              </a:rPr>
              <a:t>n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o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zh-TW" sz="2000" b="1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2000" b="1" dirty="0">
                <a:latin typeface="Aptos"/>
                <a:ea typeface="新細明體"/>
                <a:cs typeface="Calibri"/>
              </a:rPr>
              <a:t>d</a:t>
            </a:r>
            <a:r>
              <a:rPr lang="zh-TW" altLang="en-US" sz="20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b="1" dirty="0">
                <a:latin typeface="Aptos"/>
                <a:ea typeface="新細明體"/>
                <a:cs typeface="Calibri"/>
              </a:rPr>
              <a:t>G</a:t>
            </a:r>
            <a:r>
              <a:rPr lang="zh-TW" sz="2000" b="1" dirty="0">
                <a:latin typeface="Aptos"/>
                <a:ea typeface="新細明體"/>
                <a:cs typeface="Calibri"/>
              </a:rPr>
              <a:t>iove</a:t>
            </a:r>
            <a:r>
              <a:rPr lang="zh-TW" altLang="en-US" sz="20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che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l</a:t>
            </a:r>
            <a:r>
              <a:rPr lang="zh-TW" sz="2000" dirty="0">
                <a:latin typeface="Aptos"/>
                <a:ea typeface="新細明體"/>
                <a:cs typeface="Calibri"/>
              </a:rPr>
              <a:t>o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r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des</a:t>
            </a:r>
            <a:r>
              <a:rPr lang="zh-TW" sz="2000" dirty="0">
                <a:latin typeface="Aptos"/>
                <a:ea typeface="新細明體"/>
                <a:cs typeface="Calibri"/>
              </a:rPr>
              <a:t>se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un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re</a:t>
            </a:r>
            <a:endParaRPr lang="zh-TW" dirty="0">
              <a:ea typeface="新細明體"/>
            </a:endParaRPr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</a:t>
            </a:r>
            <a:r>
              <a:rPr lang="zh-TW" sz="2000" dirty="0">
                <a:latin typeface="Aptos"/>
                <a:ea typeface="新細明體"/>
                <a:cs typeface="Calibri"/>
              </a:rPr>
              <a:t>he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y</a:t>
            </a:r>
            <a:r>
              <a:rPr lang="zh-TW" sz="2000" dirty="0">
                <a:latin typeface="Aptos"/>
                <a:ea typeface="新細明體"/>
                <a:cs typeface="Calibri"/>
              </a:rPr>
              <a:t> begg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ed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Jove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to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g</a:t>
            </a:r>
            <a:r>
              <a:rPr lang="zh-TW" sz="2000" dirty="0">
                <a:latin typeface="Aptos"/>
                <a:ea typeface="新細明體"/>
                <a:cs typeface="Calibri"/>
              </a:rPr>
              <a:t>i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ve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zh-TW" sz="2000" dirty="0">
                <a:latin typeface="Aptos"/>
                <a:ea typeface="新細明體"/>
                <a:cs typeface="Calibri"/>
              </a:rPr>
              <a:t>the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m</a:t>
            </a:r>
            <a:r>
              <a:rPr lang="zh-TW" sz="2000" dirty="0">
                <a:latin typeface="Aptos"/>
                <a:ea typeface="新細明體"/>
                <a:cs typeface="Calibri"/>
              </a:rPr>
              <a:t> a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ki</a:t>
            </a:r>
            <a:r>
              <a:rPr lang="zh-TW" sz="2000" dirty="0">
                <a:latin typeface="Aptos"/>
                <a:ea typeface="新細明體"/>
                <a:cs typeface="Calibri"/>
              </a:rPr>
              <a:t>n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g</a:t>
            </a:r>
            <a:r>
              <a:rPr lang="zh-TW" sz="2000" dirty="0">
                <a:latin typeface="Aptos"/>
                <a:ea typeface="新細明體"/>
                <a:cs typeface="Calibri"/>
              </a:rPr>
              <a:t>.’</a:t>
            </a:r>
            <a:r>
              <a:rPr lang="en-GB" altLang="zh-TW" sz="2000" dirty="0">
                <a:latin typeface="Aptos"/>
                <a:ea typeface="新細明體"/>
                <a:cs typeface="Calibri"/>
              </a:rPr>
              <a:t>(</a:t>
            </a:r>
            <a:r>
              <a:rPr lang="zh-TW" sz="2000" dirty="0">
                <a:latin typeface="Aptos"/>
                <a:ea typeface="新細明體"/>
                <a:cs typeface="Calibri"/>
              </a:rPr>
              <a:t>Medieval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Ne</a:t>
            </a:r>
            <a:r>
              <a:rPr lang="zh-TW" sz="2000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poli</a:t>
            </a:r>
            <a:r>
              <a:rPr lang="zh-TW" sz="2000" dirty="0">
                <a:latin typeface="Aptos"/>
                <a:ea typeface="新細明體"/>
                <a:cs typeface="Calibri"/>
              </a:rPr>
              <a:t>t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a</a:t>
            </a:r>
            <a:r>
              <a:rPr lang="zh-TW" sz="2000" dirty="0">
                <a:latin typeface="Aptos"/>
                <a:ea typeface="新細明體"/>
                <a:cs typeface="Calibri"/>
              </a:rPr>
              <a:t>n: </a:t>
            </a:r>
            <a:r>
              <a:rPr lang="en-US" altLang="zh-TW" sz="2000" i="1" dirty="0">
                <a:latin typeface="Aptos"/>
                <a:ea typeface="新細明體"/>
                <a:cs typeface="Calibri"/>
              </a:rPr>
              <a:t>V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i</a:t>
            </a:r>
            <a:r>
              <a:rPr lang="en-US" altLang="zh-TW" sz="2000" i="1" dirty="0">
                <a:latin typeface="Aptos"/>
                <a:ea typeface="新細明體"/>
                <a:cs typeface="Calibri"/>
              </a:rPr>
              <a:t>ta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i="1" dirty="0">
                <a:latin typeface="Aptos"/>
                <a:ea typeface="新細明體"/>
                <a:cs typeface="Calibri"/>
              </a:rPr>
              <a:t>e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i="1" dirty="0">
                <a:latin typeface="Aptos"/>
                <a:ea typeface="新細明體"/>
                <a:cs typeface="Calibri"/>
              </a:rPr>
              <a:t>fav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ole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i="1" dirty="0">
                <a:latin typeface="Aptos"/>
                <a:ea typeface="新細明體"/>
                <a:cs typeface="Calibri"/>
              </a:rPr>
              <a:t>di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i="1" dirty="0" err="1">
                <a:latin typeface="Aptos"/>
                <a:ea typeface="新細明體"/>
                <a:cs typeface="Calibri"/>
              </a:rPr>
              <a:t>Esopo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82.10)</a:t>
            </a:r>
            <a:endParaRPr lang="zh-TW" altLang="en-US" dirty="0"/>
          </a:p>
          <a:p>
            <a:pPr>
              <a:buNone/>
            </a:pPr>
            <a:r>
              <a:rPr lang="en-US" altLang="zh-TW" sz="2000" dirty="0">
                <a:latin typeface="Aptos"/>
                <a:ea typeface="新細明體"/>
                <a:cs typeface="Calibri"/>
              </a:rPr>
              <a:t>O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Ty</a:t>
            </a:r>
            <a:r>
              <a:rPr lang="zh-TW" sz="2000" dirty="0">
                <a:latin typeface="Aptos"/>
                <a:ea typeface="新細明體"/>
                <a:cs typeface="Calibri"/>
              </a:rPr>
              <a:t>ri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,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zh-TW" sz="2000" b="1" dirty="0">
                <a:latin typeface="Aptos"/>
                <a:ea typeface="新細明體"/>
                <a:cs typeface="Calibri"/>
              </a:rPr>
              <a:t>a</a:t>
            </a:r>
            <a:r>
              <a:rPr lang="zh-TW" altLang="en-US" sz="20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b="1" dirty="0" err="1">
                <a:latin typeface="Aptos"/>
                <a:ea typeface="新細明體"/>
                <a:cs typeface="Calibri"/>
              </a:rPr>
              <a:t>vui</a:t>
            </a:r>
            <a:r>
              <a:rPr lang="zh-TW" altLang="en-US" sz="20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preg</a:t>
            </a:r>
            <a:r>
              <a:rPr lang="zh-TW" sz="2000" dirty="0">
                <a:latin typeface="Aptos"/>
                <a:ea typeface="新細明體"/>
                <a:cs typeface="Calibri"/>
              </a:rPr>
              <a:t>u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ki…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’ </a:t>
            </a:r>
            <a:endParaRPr lang="zh-TW" dirty="0"/>
          </a:p>
          <a:p>
            <a:pPr>
              <a:buNone/>
            </a:pPr>
            <a:r>
              <a:rPr lang="zh-TW" altLang="en-US" sz="20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O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Tyri</a:t>
            </a:r>
            <a:r>
              <a:rPr lang="zh-TW" sz="2000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ns,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I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zh-TW" sz="2000" dirty="0">
                <a:latin typeface="Aptos"/>
                <a:ea typeface="新細明體"/>
                <a:cs typeface="Calibri"/>
              </a:rPr>
              <a:t>b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eg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y</a:t>
            </a:r>
            <a:r>
              <a:rPr lang="zh-TW" sz="2000" dirty="0">
                <a:latin typeface="Aptos"/>
                <a:ea typeface="新細明體"/>
                <a:cs typeface="Calibri"/>
              </a:rPr>
              <a:t>o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u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zh-TW" sz="2000" dirty="0">
                <a:latin typeface="Aptos"/>
                <a:ea typeface="新細明體"/>
                <a:cs typeface="Calibri"/>
              </a:rPr>
              <a:t>to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…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’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(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Mediev</a:t>
            </a:r>
            <a:r>
              <a:rPr lang="zh-TW" sz="2000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l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S</a:t>
            </a:r>
            <a:r>
              <a:rPr lang="zh-TW" sz="2000" dirty="0">
                <a:latin typeface="Aptos"/>
                <a:ea typeface="新細明體"/>
                <a:cs typeface="Calibri"/>
              </a:rPr>
              <a:t>ici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lia</a:t>
            </a:r>
            <a:r>
              <a:rPr lang="zh-TW" sz="2000" dirty="0">
                <a:latin typeface="Aptos"/>
                <a:ea typeface="新細明體"/>
                <a:cs typeface="Calibri"/>
              </a:rPr>
              <a:t>n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: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La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i="1" dirty="0" err="1">
                <a:latin typeface="Aptos"/>
                <a:ea typeface="新細明體"/>
                <a:cs typeface="Calibri"/>
              </a:rPr>
              <a:t>i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st</a:t>
            </a:r>
            <a:r>
              <a:rPr lang="en-US" altLang="zh-TW" sz="2000" i="1" dirty="0" err="1">
                <a:latin typeface="Aptos"/>
                <a:ea typeface="新細明體"/>
                <a:cs typeface="Calibri"/>
              </a:rPr>
              <a:t>ori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a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d</a:t>
            </a:r>
            <a:r>
              <a:rPr lang="en-US" altLang="zh-TW" sz="2000" i="1" dirty="0" err="1">
                <a:latin typeface="Aptos"/>
                <a:ea typeface="新細明體"/>
                <a:cs typeface="Calibri"/>
              </a:rPr>
              <a:t>i</a:t>
            </a:r>
            <a:r>
              <a:rPr lang="zh-TW" altLang="en-US" sz="20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i="1" dirty="0">
                <a:latin typeface="Aptos"/>
                <a:ea typeface="新細明體"/>
                <a:cs typeface="Calibri"/>
              </a:rPr>
              <a:t>Ene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as</a:t>
            </a:r>
            <a:r>
              <a:rPr lang="zh-TW" sz="20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80</a:t>
            </a:r>
            <a:r>
              <a:rPr lang="zh-TW" sz="2000" dirty="0">
                <a:latin typeface="Aptos"/>
                <a:ea typeface="新細明體"/>
                <a:cs typeface="Calibri"/>
              </a:rPr>
              <a:t>, 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8</a:t>
            </a:r>
            <a:r>
              <a:rPr lang="zh-TW" sz="2000" dirty="0">
                <a:latin typeface="Aptos"/>
                <a:ea typeface="新細明體"/>
                <a:cs typeface="Calibri"/>
              </a:rPr>
              <a:t>6) </a:t>
            </a:r>
            <a:endParaRPr lang="zh-TW" dirty="0"/>
          </a:p>
          <a:p>
            <a:pPr>
              <a:buFont typeface="Arial" pitchFamily="34" charset="0"/>
              <a:buNone/>
            </a:pPr>
            <a:endParaRPr lang="zh-TW" sz="2000" dirty="0">
              <a:latin typeface="Aptos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340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112DFB-702C-84BD-A017-A96A2F45B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595"/>
            <a:ext cx="8229600" cy="833783"/>
          </a:xfrm>
        </p:spPr>
        <p:txBody>
          <a:bodyPr/>
          <a:lstStyle/>
          <a:p>
            <a:r>
              <a:rPr lang="zh-TW" i="1" dirty="0">
                <a:latin typeface="Aptos Display"/>
                <a:ea typeface="新細明體"/>
              </a:rPr>
              <a:t>Verba rogandi </a:t>
            </a:r>
            <a:r>
              <a:rPr lang="zh-TW" dirty="0">
                <a:latin typeface="Aptos Display"/>
                <a:ea typeface="新細明體"/>
              </a:rPr>
              <a:t>+ AD/AB</a:t>
            </a:r>
            <a:r>
              <a:rPr lang="zh-TW" altLang="en-US" dirty="0">
                <a:latin typeface="Aptos Display"/>
                <a:ea typeface="新細明體"/>
              </a:rPr>
              <a:t> (2)</a:t>
            </a:r>
            <a:endParaRPr 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A7834F-0335-597A-8917-146030457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1837"/>
            <a:ext cx="9144000" cy="53321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zh-TW" sz="2000" dirty="0">
                <a:latin typeface="Aptos"/>
                <a:cs typeface="Calibri"/>
              </a:rPr>
              <a:t>Ruegan </a:t>
            </a:r>
            <a:r>
              <a:rPr lang="zh-TW" sz="2000" b="1" dirty="0">
                <a:latin typeface="Aptos"/>
                <a:cs typeface="Calibri"/>
              </a:rPr>
              <a:t>al rey </a:t>
            </a:r>
            <a:r>
              <a:rPr lang="zh-TW" sz="2000" dirty="0">
                <a:latin typeface="Aptos"/>
                <a:cs typeface="Calibri"/>
              </a:rPr>
              <a:t>que los quite desta cort 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cs typeface="Calibri"/>
              </a:rPr>
              <a:t>‘They beg the king to remove them from this court.’ (Medieval Spanish: </a:t>
            </a:r>
            <a:r>
              <a:rPr lang="zh-TW" sz="2000" i="1" dirty="0">
                <a:latin typeface="Aptos"/>
                <a:cs typeface="Calibri"/>
              </a:rPr>
              <a:t>El Cid </a:t>
            </a:r>
            <a:r>
              <a:rPr lang="zh-TW" sz="2000" dirty="0">
                <a:latin typeface="Aptos"/>
                <a:cs typeface="Calibri"/>
              </a:rPr>
              <a:t>2989)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cs typeface="Calibri"/>
              </a:rPr>
              <a:t>Supplicarono </a:t>
            </a:r>
            <a:r>
              <a:rPr lang="zh-TW" sz="2000" b="1" dirty="0">
                <a:latin typeface="Aptos"/>
                <a:cs typeface="Calibri"/>
              </a:rPr>
              <a:t>ad Giove </a:t>
            </a:r>
            <a:r>
              <a:rPr lang="zh-TW" sz="2000" dirty="0">
                <a:latin typeface="Aptos"/>
                <a:cs typeface="Calibri"/>
              </a:rPr>
              <a:t>che lor desse un re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cs typeface="Calibri"/>
              </a:rPr>
              <a:t>‘They begged Jove to give them a king.’ (Medieval Neapolitan: </a:t>
            </a:r>
            <a:r>
              <a:rPr lang="zh-TW" sz="2000" i="1" dirty="0">
                <a:latin typeface="Aptos"/>
                <a:cs typeface="Calibri"/>
              </a:rPr>
              <a:t>Vita e favole di Esopo </a:t>
            </a:r>
            <a:r>
              <a:rPr lang="zh-TW" sz="2000" dirty="0">
                <a:latin typeface="Aptos"/>
                <a:cs typeface="Calibri"/>
              </a:rPr>
              <a:t>82.10)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cs typeface="Calibri"/>
              </a:rPr>
              <a:t>O Tyri, </a:t>
            </a:r>
            <a:r>
              <a:rPr lang="zh-TW" sz="2000" b="1" dirty="0">
                <a:latin typeface="Aptos"/>
                <a:cs typeface="Calibri"/>
              </a:rPr>
              <a:t>a vui </a:t>
            </a:r>
            <a:r>
              <a:rPr lang="zh-TW" sz="2000" dirty="0">
                <a:latin typeface="Aptos"/>
                <a:cs typeface="Calibri"/>
              </a:rPr>
              <a:t>pregu ki…’ 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cs typeface="Calibri"/>
              </a:rPr>
              <a:t>‘O Tyrians, I beg you to…’ (Medieval Sicilian: </a:t>
            </a:r>
            <a:r>
              <a:rPr lang="zh-TW" sz="2000" i="1" dirty="0">
                <a:latin typeface="Aptos"/>
                <a:cs typeface="Calibri"/>
              </a:rPr>
              <a:t>La istoria di Eneas</a:t>
            </a:r>
            <a:r>
              <a:rPr lang="zh-TW" sz="2000" dirty="0">
                <a:latin typeface="Aptos"/>
                <a:cs typeface="Calibri"/>
              </a:rPr>
              <a:t> 80, 86) </a:t>
            </a:r>
            <a:endParaRPr lang="zh-TW" dirty="0"/>
          </a:p>
          <a:p>
            <a:pPr>
              <a:buNone/>
            </a:pPr>
            <a:r>
              <a:rPr lang="zh-TW" sz="2000" b="1" dirty="0">
                <a:latin typeface="Aptos"/>
                <a:ea typeface="新細明體"/>
                <a:cs typeface="Calibri"/>
              </a:rPr>
              <a:t>A todos los</a:t>
            </a:r>
            <a:r>
              <a:rPr lang="zh-TW" sz="2000" dirty="0">
                <a:latin typeface="Aptos"/>
                <a:ea typeface="新細明體"/>
                <a:cs typeface="Calibri"/>
              </a:rPr>
              <a:t> rogava </a:t>
            </a:r>
            <a:r>
              <a:rPr lang="en-GB" altLang="zh-TW" sz="2000" dirty="0" err="1">
                <a:latin typeface="Aptos"/>
                <a:ea typeface="新細明體"/>
                <a:cs typeface="Calibri"/>
              </a:rPr>
              <a:t>assi</a:t>
            </a:r>
            <a:r>
              <a:rPr lang="en-GB" altLang="zh-TW" sz="2000" dirty="0">
                <a:latin typeface="Aptos"/>
                <a:ea typeface="新細明體"/>
                <a:cs typeface="Calibri"/>
              </a:rPr>
              <a:t> </a:t>
            </a:r>
            <a:r>
              <a:rPr lang="en-GB" altLang="zh-TW" sz="2000" dirty="0" err="1">
                <a:latin typeface="Aptos"/>
                <a:ea typeface="新細明體"/>
                <a:cs typeface="Calibri"/>
              </a:rPr>
              <a:t>commo</a:t>
            </a:r>
            <a:r>
              <a:rPr lang="en-GB" altLang="zh-TW" sz="2000" dirty="0">
                <a:latin typeface="Aptos"/>
                <a:ea typeface="新細明體"/>
                <a:cs typeface="Calibri"/>
              </a:rPr>
              <a:t> </a:t>
            </a:r>
            <a:r>
              <a:rPr lang="en-GB" altLang="zh-TW" sz="2000" dirty="0" err="1">
                <a:latin typeface="Aptos"/>
                <a:ea typeface="新細明體"/>
                <a:cs typeface="Calibri"/>
              </a:rPr>
              <a:t>han</a:t>
            </a:r>
            <a:r>
              <a:rPr lang="en-GB" altLang="zh-TW" sz="2000" dirty="0">
                <a:latin typeface="Aptos"/>
                <a:ea typeface="新細明體"/>
                <a:cs typeface="Calibri"/>
              </a:rPr>
              <a:t> </a:t>
            </a:r>
            <a:r>
              <a:rPr lang="en-GB" altLang="zh-TW" sz="2000" dirty="0" err="1">
                <a:latin typeface="Aptos"/>
                <a:ea typeface="新細明體"/>
                <a:cs typeface="Calibri"/>
              </a:rPr>
              <a:t>sabor</a:t>
            </a:r>
            <a:r>
              <a:rPr lang="en-GB" altLang="zh-TW" sz="2000" dirty="0">
                <a:latin typeface="Aptos"/>
                <a:ea typeface="新細明體"/>
                <a:cs typeface="Calibri"/>
              </a:rPr>
              <a:t>.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  <a:cs typeface="Calibri"/>
              </a:rPr>
              <a:t>‘He begged all of them.’ (Medieval Spanish: 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El Poema del Mio Cid </a:t>
            </a:r>
            <a:r>
              <a:rPr lang="zh-TW" sz="2000" dirty="0">
                <a:latin typeface="Aptos"/>
                <a:ea typeface="新細明體"/>
                <a:cs typeface="Calibri"/>
              </a:rPr>
              <a:t>3500)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  <a:cs typeface="Calibri"/>
              </a:rPr>
              <a:t> Pregamo </a:t>
            </a:r>
            <a:r>
              <a:rPr lang="zh-TW" sz="2000" b="1" dirty="0">
                <a:latin typeface="Aptos"/>
                <a:ea typeface="新細明體"/>
                <a:cs typeface="Calibri"/>
              </a:rPr>
              <a:t>a te 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  <a:cs typeface="Calibri"/>
              </a:rPr>
              <a:t>‘we beg you.’ (Medieval Neapolitan: 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Galeota Lettere </a:t>
            </a:r>
            <a:r>
              <a:rPr lang="zh-TW" sz="2000" dirty="0">
                <a:latin typeface="Aptos"/>
                <a:ea typeface="新細明體"/>
                <a:cs typeface="Calibri"/>
              </a:rPr>
              <a:t>80.40)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  <a:cs typeface="Calibri"/>
              </a:rPr>
              <a:t>Pregà </a:t>
            </a:r>
            <a:r>
              <a:rPr lang="zh-TW" sz="2000" b="1" dirty="0">
                <a:latin typeface="Aptos"/>
                <a:ea typeface="新細明體"/>
                <a:cs typeface="Calibri"/>
              </a:rPr>
              <a:t>a Déus </a:t>
            </a:r>
            <a:endParaRPr lang="zh-TW" dirty="0"/>
          </a:p>
          <a:p>
            <a:pPr>
              <a:buNone/>
            </a:pPr>
            <a:r>
              <a:rPr lang="zh-TW" sz="2000" dirty="0">
                <a:latin typeface="Aptos"/>
                <a:ea typeface="新細明體"/>
                <a:cs typeface="Calibri"/>
              </a:rPr>
              <a:t>‘She prays to God.’ (Medieval Catalán: 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The sermons of Saint Vicent Ferrer </a:t>
            </a:r>
            <a:r>
              <a:rPr lang="zh-TW" sz="2000" dirty="0">
                <a:latin typeface="Aptos"/>
                <a:ea typeface="新細明體"/>
                <a:cs typeface="Calibri"/>
              </a:rPr>
              <a:t>104)</a:t>
            </a:r>
            <a:endParaRPr lang="zh-TW" dirty="0"/>
          </a:p>
          <a:p>
            <a:pPr marL="0" indent="0">
              <a:buNone/>
            </a:pPr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62414BC-93B4-5AD1-7DB7-2D92F314C819}"/>
              </a:ext>
            </a:extLst>
          </p:cNvPr>
          <p:cNvSpPr txBox="1">
            <a:spLocks/>
          </p:cNvSpPr>
          <p:nvPr/>
        </p:nvSpPr>
        <p:spPr>
          <a:xfrm>
            <a:off x="731520" y="6485425"/>
            <a:ext cx="9444380" cy="4525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2000" dirty="0">
                <a:latin typeface="Aptos"/>
                <a:ea typeface="新細明體"/>
                <a:cs typeface="Calibri"/>
              </a:rPr>
              <a:t>H</a:t>
            </a:r>
            <a:r>
              <a:rPr lang="zh-TW" sz="2000" dirty="0">
                <a:latin typeface="Aptos"/>
                <a:ea typeface="新細明體"/>
                <a:cs typeface="Calibri"/>
              </a:rPr>
              <a:t>u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m</a:t>
            </a:r>
            <a:r>
              <a:rPr lang="zh-TW" sz="2000" dirty="0">
                <a:latin typeface="Aptos"/>
                <a:ea typeface="新細明體"/>
                <a:cs typeface="Calibri"/>
              </a:rPr>
              <a:t>an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/</a:t>
            </a:r>
            <a:r>
              <a:rPr lang="zh-TW" sz="2000" dirty="0">
                <a:latin typeface="Aptos"/>
                <a:ea typeface="新細明體"/>
                <a:cs typeface="Calibri"/>
              </a:rPr>
              <a:t>a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n</a:t>
            </a:r>
            <a:r>
              <a:rPr lang="zh-TW" sz="2000" dirty="0">
                <a:latin typeface="Aptos"/>
                <a:ea typeface="新細明體"/>
                <a:cs typeface="Calibri"/>
              </a:rPr>
              <a:t>i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ma</a:t>
            </a:r>
            <a:r>
              <a:rPr lang="zh-TW" sz="2000" dirty="0">
                <a:latin typeface="Aptos"/>
                <a:ea typeface="新細明體"/>
                <a:cs typeface="Calibri"/>
              </a:rPr>
              <a:t>te ob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j</a:t>
            </a:r>
            <a:r>
              <a:rPr lang="zh-TW" sz="2000" dirty="0">
                <a:latin typeface="Aptos"/>
                <a:ea typeface="新細明體"/>
                <a:cs typeface="Calibri"/>
              </a:rPr>
              <a:t>ects (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ad</a:t>
            </a:r>
            <a:r>
              <a:rPr lang="en-US" altLang="zh-TW" sz="2000" i="1" dirty="0">
                <a:latin typeface="Aptos"/>
                <a:ea typeface="新細明體"/>
                <a:cs typeface="Calibri"/>
              </a:rPr>
              <a:t>/</a:t>
            </a:r>
            <a:r>
              <a:rPr lang="zh-TW" sz="2000" i="1" dirty="0">
                <a:latin typeface="Aptos"/>
                <a:ea typeface="新細明體"/>
                <a:cs typeface="Calibri"/>
              </a:rPr>
              <a:t>ab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)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  </a:t>
            </a:r>
            <a:r>
              <a:rPr lang="zh-TW" sz="2000" dirty="0">
                <a:latin typeface="Aptos"/>
                <a:ea typeface="新細明體"/>
                <a:cs typeface="Calibri"/>
              </a:rPr>
              <a:t>vs</a:t>
            </a:r>
            <a:r>
              <a:rPr lang="zh-TW" altLang="en-US" sz="2000" dirty="0">
                <a:latin typeface="Aptos"/>
                <a:ea typeface="新細明體"/>
                <a:cs typeface="Calibri"/>
              </a:rPr>
              <a:t>   </a:t>
            </a:r>
            <a:r>
              <a:rPr lang="zh-TW" sz="2000" dirty="0">
                <a:latin typeface="Aptos"/>
                <a:ea typeface="新細明體"/>
                <a:cs typeface="Calibri"/>
              </a:rPr>
              <a:t>inanimate o</a:t>
            </a:r>
            <a:r>
              <a:rPr lang="en-US" altLang="zh-TW" sz="2000" dirty="0" err="1">
                <a:latin typeface="Aptos"/>
                <a:ea typeface="新細明體"/>
                <a:cs typeface="Calibri"/>
              </a:rPr>
              <a:t>bj</a:t>
            </a:r>
            <a:r>
              <a:rPr lang="zh-TW" sz="2000" dirty="0">
                <a:latin typeface="Aptos"/>
                <a:ea typeface="新細明體"/>
                <a:cs typeface="Calibri"/>
              </a:rPr>
              <a:t>e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c</a:t>
            </a:r>
            <a:r>
              <a:rPr lang="zh-TW" sz="2000" dirty="0">
                <a:latin typeface="Aptos"/>
                <a:ea typeface="新細明體"/>
                <a:cs typeface="Calibri"/>
              </a:rPr>
              <a:t>ts (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u</a:t>
            </a:r>
            <a:r>
              <a:rPr lang="zh-TW" sz="2000" dirty="0">
                <a:latin typeface="Aptos"/>
                <a:ea typeface="新細明體"/>
                <a:cs typeface="Calibri"/>
              </a:rPr>
              <a:t>nmar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k</a:t>
            </a:r>
            <a:r>
              <a:rPr lang="zh-TW" sz="2000" dirty="0">
                <a:latin typeface="Aptos"/>
                <a:ea typeface="新細明體"/>
                <a:cs typeface="Calibri"/>
              </a:rPr>
              <a:t>e</a:t>
            </a:r>
            <a:r>
              <a:rPr lang="en-US" altLang="zh-TW" sz="2000" dirty="0">
                <a:latin typeface="Aptos"/>
                <a:ea typeface="新細明體"/>
                <a:cs typeface="Calibri"/>
              </a:rPr>
              <a:t>d</a:t>
            </a:r>
            <a:r>
              <a:rPr lang="zh-TW" sz="2000" dirty="0">
                <a:latin typeface="Aptos"/>
                <a:ea typeface="新細明體"/>
                <a:cs typeface="Calibri"/>
              </a:rPr>
              <a:t>)</a:t>
            </a:r>
            <a:endParaRPr lang="zh-TW" sz="2000" dirty="0">
              <a:ea typeface="新細明體"/>
              <a:cs typeface="Calibri"/>
            </a:endParaRPr>
          </a:p>
          <a:p>
            <a:pPr>
              <a:buFont typeface="Arial" pitchFamily="34" charset="0"/>
              <a:buNone/>
            </a:pPr>
            <a:endParaRPr lang="zh-TW" sz="1600" dirty="0">
              <a:latin typeface="Aptos"/>
              <a:ea typeface="新細明體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7DF2DC-E703-39A3-B23C-6702EDB1AEA7}"/>
              </a:ext>
            </a:extLst>
          </p:cNvPr>
          <p:cNvSpPr txBox="1"/>
          <p:nvPr/>
        </p:nvSpPr>
        <p:spPr>
          <a:xfrm>
            <a:off x="0" y="5679252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000" dirty="0" err="1"/>
              <a:t>Numquam</a:t>
            </a:r>
            <a:r>
              <a:rPr lang="en-GB" sz="2000" dirty="0"/>
              <a:t> </a:t>
            </a:r>
            <a:r>
              <a:rPr lang="en-GB" sz="2000" b="1" dirty="0"/>
              <a:t>abs </a:t>
            </a:r>
            <a:r>
              <a:rPr lang="en-GB" sz="2000" b="1" dirty="0" err="1"/>
              <a:t>te</a:t>
            </a:r>
            <a:r>
              <a:rPr lang="en-GB" sz="2000" b="1" dirty="0"/>
              <a:t> </a:t>
            </a:r>
            <a:r>
              <a:rPr lang="en-GB" sz="2000" dirty="0" err="1"/>
              <a:t>petam</a:t>
            </a:r>
            <a:endParaRPr lang="en-GB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‘I shall never seek (anything) from you‘ &gt; ‘I shall never beg you.’ (Plautus </a:t>
            </a:r>
            <a:r>
              <a:rPr lang="en-GB" sz="2000" i="1" dirty="0" err="1"/>
              <a:t>Bacchides</a:t>
            </a:r>
            <a:r>
              <a:rPr lang="en-GB" sz="2000" dirty="0"/>
              <a:t> 1144)</a:t>
            </a:r>
          </a:p>
        </p:txBody>
      </p:sp>
    </p:spTree>
    <p:extLst>
      <p:ext uri="{BB962C8B-B14F-4D97-AF65-F5344CB8AC3E}">
        <p14:creationId xmlns:p14="http://schemas.microsoft.com/office/powerpoint/2010/main" val="186777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38DD5-B9C3-41A3-DACE-16891E19C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26" y="-12493"/>
            <a:ext cx="9135165" cy="855871"/>
          </a:xfrm>
        </p:spPr>
        <p:txBody>
          <a:bodyPr>
            <a:normAutofit fontScale="90000"/>
          </a:bodyPr>
          <a:lstStyle/>
          <a:p>
            <a:r>
              <a:rPr lang="zh-TW" i="1" dirty="0">
                <a:latin typeface="Aptos Display"/>
              </a:rPr>
              <a:t>Verba serviendi et clamandi et rogandi </a:t>
            </a:r>
            <a:r>
              <a:rPr lang="zh-TW" dirty="0">
                <a:latin typeface="Aptos Display"/>
              </a:rPr>
              <a:t>+ AD</a:t>
            </a:r>
            <a:endParaRPr 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D3D117-9897-BE86-1EBE-6AD248201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" y="838201"/>
            <a:ext cx="9124121" cy="5287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zh-TW" sz="1600" dirty="0">
                <a:latin typeface="Aptos"/>
                <a:ea typeface="新細明體"/>
              </a:rPr>
              <a:t>Ibi debent servire </a:t>
            </a:r>
            <a:r>
              <a:rPr lang="zh-TW" sz="1600" b="1" dirty="0">
                <a:latin typeface="Aptos"/>
                <a:ea typeface="新細明體"/>
              </a:rPr>
              <a:t>a sancta Maria</a:t>
            </a:r>
            <a:r>
              <a:rPr lang="zh-TW" altLang="en-US" sz="1600" b="1" dirty="0">
                <a:latin typeface="Aptos"/>
                <a:ea typeface="新細明體"/>
              </a:rPr>
              <a:t> </a:t>
            </a:r>
            <a:endParaRPr lang="zh-TW" sz="1600" dirty="0">
              <a:latin typeface="Aptos"/>
              <a:ea typeface="新細明體" panose="02020500000000000000" pitchFamily="18" charset="-120"/>
              <a:cs typeface="Calibri"/>
            </a:endParaRPr>
          </a:p>
          <a:p>
            <a:pPr>
              <a:buNone/>
            </a:pPr>
            <a:r>
              <a:rPr lang="zh-TW" sz="1600" dirty="0">
                <a:latin typeface="Aptos"/>
                <a:ea typeface="新細明體"/>
              </a:rPr>
              <a:t>‘… there they must serve Holy Mary.’ (</a:t>
            </a:r>
            <a:r>
              <a:rPr lang="zh-TW" sz="1600" i="1" dirty="0">
                <a:latin typeface="Aptos"/>
                <a:ea typeface="新細明體"/>
              </a:rPr>
              <a:t>Sahagún</a:t>
            </a:r>
            <a:r>
              <a:rPr lang="zh-TW" sz="1600" dirty="0">
                <a:latin typeface="Aptos"/>
                <a:ea typeface="新細明體"/>
              </a:rPr>
              <a:t> 423)</a:t>
            </a:r>
          </a:p>
          <a:p>
            <a:pPr>
              <a:buNone/>
            </a:pPr>
            <a:endParaRPr lang="zh-TW" altLang="en-US" sz="1600" dirty="0">
              <a:latin typeface="Aptos"/>
              <a:ea typeface="新細明體"/>
              <a:cs typeface="Calibri"/>
            </a:endParaRPr>
          </a:p>
          <a:p>
            <a:pPr marL="0" indent="0">
              <a:buNone/>
            </a:pPr>
            <a:endParaRPr lang="zh-TW" altLang="en-US" sz="2000" dirty="0">
              <a:ea typeface="新細明體"/>
              <a:cs typeface="Calibri"/>
            </a:endParaRP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CE662329-FCA5-A6CB-0C40-D88DAB2FFF89}"/>
              </a:ext>
            </a:extLst>
          </p:cNvPr>
          <p:cNvSpPr txBox="1">
            <a:spLocks/>
          </p:cNvSpPr>
          <p:nvPr/>
        </p:nvSpPr>
        <p:spPr>
          <a:xfrm>
            <a:off x="0" y="1450344"/>
            <a:ext cx="9124121" cy="56082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1600" b="1" dirty="0">
                <a:latin typeface="Aptos"/>
                <a:ea typeface="新細明體"/>
              </a:rPr>
              <a:t>A</a:t>
            </a:r>
            <a:r>
              <a:rPr lang="zh-TW" sz="1600" b="1" dirty="0">
                <a:latin typeface="Aptos"/>
                <a:ea typeface="新細明體"/>
              </a:rPr>
              <a:t>d</a:t>
            </a:r>
            <a:r>
              <a:rPr lang="zh-TW" altLang="en-US" sz="1600" b="1" dirty="0">
                <a:latin typeface="Aptos"/>
                <a:ea typeface="新細明體"/>
              </a:rPr>
              <a:t> </a:t>
            </a:r>
            <a:r>
              <a:rPr lang="en-US" altLang="zh-TW" sz="1600" b="1" dirty="0" err="1">
                <a:latin typeface="Aptos"/>
                <a:ea typeface="新細明體"/>
              </a:rPr>
              <a:t>cuiu</a:t>
            </a:r>
            <a:r>
              <a:rPr lang="zh-TW" sz="1600" b="1" dirty="0">
                <a:latin typeface="Aptos"/>
                <a:ea typeface="新細明體"/>
              </a:rPr>
              <a:t>s</a:t>
            </a:r>
            <a:r>
              <a:rPr lang="zh-TW" altLang="en-US" sz="1600" b="1" dirty="0">
                <a:latin typeface="Aptos"/>
                <a:ea typeface="新細明體"/>
              </a:rPr>
              <a:t> </a:t>
            </a:r>
            <a:r>
              <a:rPr lang="en-US" altLang="zh-TW" sz="1600" b="1" dirty="0">
                <a:latin typeface="Aptos"/>
                <a:ea typeface="新細明體"/>
              </a:rPr>
              <a:t>imp</a:t>
            </a:r>
            <a:r>
              <a:rPr lang="zh-TW" sz="1600" b="1" dirty="0">
                <a:latin typeface="Aptos"/>
                <a:ea typeface="新細明體"/>
              </a:rPr>
              <a:t>eri</a:t>
            </a:r>
            <a:r>
              <a:rPr lang="en-US" altLang="zh-TW" sz="1600" b="1" dirty="0">
                <a:latin typeface="Aptos"/>
                <a:ea typeface="新細明體"/>
              </a:rPr>
              <a:t>um</a:t>
            </a:r>
            <a:r>
              <a:rPr lang="zh-TW" altLang="en-US" sz="1600" b="1" dirty="0">
                <a:latin typeface="Aptos"/>
                <a:ea typeface="新細明體"/>
              </a:rPr>
              <a:t> </a:t>
            </a:r>
            <a:r>
              <a:rPr lang="zh-TW" sz="1600" dirty="0">
                <a:latin typeface="Aptos"/>
                <a:ea typeface="新細明體"/>
              </a:rPr>
              <a:t>c</a:t>
            </a:r>
            <a:r>
              <a:rPr lang="en-US" altLang="zh-TW" sz="1600" dirty="0" err="1">
                <a:latin typeface="Aptos"/>
                <a:ea typeface="新細明體"/>
              </a:rPr>
              <a:t>aelum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zh-TW" sz="1600" dirty="0">
                <a:latin typeface="Aptos"/>
                <a:ea typeface="新細明體"/>
              </a:rPr>
              <a:t>t</a:t>
            </a:r>
            <a:r>
              <a:rPr lang="en-US" altLang="zh-TW" sz="1600" dirty="0">
                <a:latin typeface="Aptos"/>
                <a:ea typeface="新細明體"/>
              </a:rPr>
              <a:t>er</a:t>
            </a:r>
            <a:r>
              <a:rPr lang="zh-TW" sz="1600" dirty="0">
                <a:latin typeface="Aptos"/>
                <a:ea typeface="新細明體"/>
              </a:rPr>
              <a:t>ra ma</a:t>
            </a:r>
            <a:r>
              <a:rPr lang="en-US" altLang="zh-TW" sz="1600" dirty="0">
                <a:latin typeface="Aptos"/>
                <a:ea typeface="新細明體"/>
              </a:rPr>
              <a:t>r</a:t>
            </a:r>
            <a:r>
              <a:rPr lang="zh-TW" sz="1600" dirty="0">
                <a:latin typeface="Aptos"/>
                <a:ea typeface="新細明體"/>
              </a:rPr>
              <a:t>ia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dirty="0">
                <a:latin typeface="Aptos"/>
                <a:ea typeface="新細明體"/>
              </a:rPr>
              <a:t>s</a:t>
            </a:r>
            <a:r>
              <a:rPr lang="zh-TW" sz="1600" dirty="0">
                <a:latin typeface="Aptos"/>
                <a:ea typeface="新細明體"/>
              </a:rPr>
              <a:t>e</a:t>
            </a:r>
            <a:r>
              <a:rPr lang="en-US" altLang="zh-TW" sz="1600" dirty="0">
                <a:latin typeface="Aptos"/>
                <a:ea typeface="新細明體"/>
              </a:rPr>
              <a:t>r</a:t>
            </a:r>
            <a:r>
              <a:rPr lang="zh-TW" sz="1600" dirty="0">
                <a:latin typeface="Aptos"/>
                <a:ea typeface="新細明體"/>
              </a:rPr>
              <a:t>vi</a:t>
            </a:r>
            <a:r>
              <a:rPr lang="en-US" altLang="zh-TW" sz="1600" dirty="0" err="1">
                <a:latin typeface="Aptos"/>
                <a:ea typeface="新細明體"/>
              </a:rPr>
              <a:t>eba</a:t>
            </a:r>
            <a:r>
              <a:rPr lang="zh-TW" sz="1600" dirty="0">
                <a:latin typeface="Aptos"/>
                <a:ea typeface="新細明體"/>
              </a:rPr>
              <a:t>n</a:t>
            </a:r>
            <a:r>
              <a:rPr lang="en-US" altLang="zh-TW" sz="1600" dirty="0">
                <a:latin typeface="Aptos"/>
                <a:ea typeface="新細明體"/>
              </a:rPr>
              <a:t>t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endParaRPr lang="zh-TW" sz="1600" dirty="0">
              <a:latin typeface="Aptos"/>
              <a:ea typeface="新細明體"/>
            </a:endParaRPr>
          </a:p>
          <a:p>
            <a:pPr>
              <a:buNone/>
            </a:pPr>
            <a:r>
              <a:rPr lang="zh-TW" sz="1600" dirty="0">
                <a:latin typeface="Aptos"/>
                <a:ea typeface="新細明體"/>
              </a:rPr>
              <a:t>‘… </a:t>
            </a:r>
            <a:r>
              <a:rPr lang="en-US" altLang="zh-TW" sz="1600" dirty="0">
                <a:latin typeface="Aptos"/>
                <a:ea typeface="新細明體"/>
              </a:rPr>
              <a:t>w</a:t>
            </a:r>
            <a:r>
              <a:rPr lang="zh-TW" sz="1600" dirty="0">
                <a:latin typeface="Aptos"/>
                <a:ea typeface="新細明體"/>
              </a:rPr>
              <a:t>h</a:t>
            </a:r>
            <a:r>
              <a:rPr lang="en-US" altLang="zh-TW" sz="1600" dirty="0" err="1">
                <a:latin typeface="Aptos"/>
                <a:ea typeface="新細明體"/>
              </a:rPr>
              <a:t>ose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dirty="0">
                <a:latin typeface="Aptos"/>
                <a:ea typeface="新細明體"/>
              </a:rPr>
              <a:t>pow</a:t>
            </a:r>
            <a:r>
              <a:rPr lang="zh-TW" sz="1600" dirty="0">
                <a:latin typeface="Aptos"/>
                <a:ea typeface="新細明體"/>
              </a:rPr>
              <a:t>er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dirty="0">
                <a:latin typeface="Aptos"/>
                <a:ea typeface="新細明體"/>
              </a:rPr>
              <a:t>heavy,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zh-TW" sz="1600" dirty="0">
                <a:latin typeface="Aptos"/>
                <a:ea typeface="新細明體"/>
              </a:rPr>
              <a:t>e</a:t>
            </a:r>
            <a:r>
              <a:rPr lang="en-US" altLang="zh-TW" sz="1600" dirty="0" err="1">
                <a:latin typeface="Aptos"/>
                <a:ea typeface="新細明體"/>
              </a:rPr>
              <a:t>arth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dirty="0">
                <a:latin typeface="Aptos"/>
                <a:ea typeface="新細明體"/>
              </a:rPr>
              <a:t>and</a:t>
            </a:r>
            <a:r>
              <a:rPr lang="zh-TW" sz="1600" dirty="0">
                <a:latin typeface="Aptos"/>
                <a:ea typeface="新細明體"/>
              </a:rPr>
              <a:t> the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dirty="0">
                <a:latin typeface="Aptos"/>
                <a:ea typeface="新細明體"/>
              </a:rPr>
              <a:t>sea</a:t>
            </a:r>
            <a:r>
              <a:rPr lang="zh-TW" sz="1600" dirty="0">
                <a:latin typeface="Aptos"/>
                <a:ea typeface="新細明體"/>
              </a:rPr>
              <a:t>s serve</a:t>
            </a:r>
            <a:r>
              <a:rPr lang="en-US" altLang="zh-TW" sz="1600" dirty="0">
                <a:latin typeface="Aptos"/>
                <a:ea typeface="新細明體"/>
              </a:rPr>
              <a:t>d</a:t>
            </a:r>
            <a:r>
              <a:rPr lang="zh-TW" sz="1600" dirty="0">
                <a:latin typeface="Aptos"/>
                <a:ea typeface="新細明體"/>
              </a:rPr>
              <a:t>.’ (</a:t>
            </a:r>
            <a:r>
              <a:rPr lang="en-US" altLang="zh-TW" sz="1600" dirty="0">
                <a:latin typeface="Aptos"/>
                <a:ea typeface="新細明體"/>
              </a:rPr>
              <a:t>Jerome: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i="1" dirty="0" err="1">
                <a:latin typeface="Aptos"/>
                <a:ea typeface="新細明體"/>
              </a:rPr>
              <a:t>Epistul</a:t>
            </a:r>
            <a:r>
              <a:rPr lang="zh-TW" sz="1600" i="1" dirty="0">
                <a:latin typeface="Aptos"/>
                <a:ea typeface="新細明體"/>
              </a:rPr>
              <a:t>a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dirty="0">
                <a:latin typeface="Aptos"/>
                <a:ea typeface="新細明體"/>
              </a:rPr>
              <a:t>8</a:t>
            </a:r>
            <a:r>
              <a:rPr lang="zh-TW" sz="1600" dirty="0">
                <a:latin typeface="Aptos"/>
                <a:ea typeface="新細明體"/>
              </a:rPr>
              <a:t>2</a:t>
            </a:r>
            <a:r>
              <a:rPr lang="en-US" altLang="zh-TW" sz="1600" dirty="0">
                <a:latin typeface="Aptos"/>
                <a:ea typeface="新細明體"/>
              </a:rPr>
              <a:t>.</a:t>
            </a:r>
            <a:r>
              <a:rPr lang="zh-TW" sz="1600" dirty="0">
                <a:latin typeface="Aptos"/>
                <a:ea typeface="新細明體"/>
              </a:rPr>
              <a:t>3) </a:t>
            </a:r>
            <a:endParaRPr lang="zh-TW" altLang="en-US" sz="1600" dirty="0">
              <a:ea typeface="新細明體"/>
              <a:cs typeface="Calibri"/>
            </a:endParaRPr>
          </a:p>
          <a:p>
            <a:pPr>
              <a:buNone/>
            </a:pPr>
            <a:endParaRPr lang="zh-TW" altLang="en-US" sz="1600" dirty="0">
              <a:latin typeface="Calibri"/>
              <a:ea typeface="新細明體" panose="02020500000000000000" pitchFamily="18" charset="-120"/>
              <a:cs typeface="Calibri"/>
            </a:endParaRPr>
          </a:p>
          <a:p>
            <a:pPr>
              <a:buNone/>
            </a:pPr>
            <a:endParaRPr lang="en-US" altLang="zh-TW" sz="1600" dirty="0">
              <a:latin typeface="Aptos"/>
              <a:ea typeface="新細明體"/>
              <a:cs typeface="Calibri"/>
            </a:endParaRPr>
          </a:p>
          <a:p>
            <a:pPr>
              <a:buFont typeface="Arial" pitchFamily="34" charset="0"/>
              <a:buNone/>
            </a:pPr>
            <a:endParaRPr lang="zh-TW" altLang="en-US" sz="1600" dirty="0">
              <a:latin typeface="Aptos"/>
              <a:ea typeface="新細明體"/>
              <a:cs typeface="Calibri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15E16E5-6891-5E6D-FAC2-3A70BE1A33B6}"/>
              </a:ext>
            </a:extLst>
          </p:cNvPr>
          <p:cNvSpPr txBox="1">
            <a:spLocks/>
          </p:cNvSpPr>
          <p:nvPr/>
        </p:nvSpPr>
        <p:spPr>
          <a:xfrm>
            <a:off x="-19881" y="4524363"/>
            <a:ext cx="9124120" cy="65910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1600" dirty="0">
                <a:latin typeface="Aptos"/>
                <a:ea typeface="新細明體"/>
              </a:rPr>
              <a:t>M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oy</a:t>
            </a:r>
            <a:r>
              <a:rPr lang="zh-TW" sz="1600" dirty="0">
                <a:latin typeface="Aptos"/>
                <a:ea typeface="新細明體"/>
              </a:rPr>
              <a:t>se</a:t>
            </a:r>
            <a:r>
              <a:rPr lang="en-US" altLang="zh-TW" sz="1600" dirty="0">
                <a:latin typeface="Aptos"/>
                <a:ea typeface="新細明體"/>
              </a:rPr>
              <a:t>s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dirty="0">
                <a:latin typeface="Aptos"/>
                <a:ea typeface="新細明體"/>
              </a:rPr>
              <a:t>or</a:t>
            </a:r>
            <a:r>
              <a:rPr lang="zh-TW" sz="1600" dirty="0">
                <a:latin typeface="Aptos"/>
                <a:ea typeface="新細明體"/>
              </a:rPr>
              <a:t>a</a:t>
            </a:r>
            <a:r>
              <a:rPr lang="en-US" altLang="zh-TW" sz="1600" dirty="0">
                <a:latin typeface="Aptos"/>
                <a:ea typeface="新細明體"/>
              </a:rPr>
              <a:t>b</a:t>
            </a:r>
            <a:r>
              <a:rPr lang="zh-TW" sz="1600" dirty="0">
                <a:latin typeface="Aptos"/>
                <a:ea typeface="新細明體"/>
              </a:rPr>
              <a:t>at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b="1" dirty="0">
                <a:latin typeface="Aptos"/>
                <a:ea typeface="新細明體"/>
              </a:rPr>
              <a:t>a</a:t>
            </a:r>
            <a:r>
              <a:rPr lang="zh-TW" sz="1600" b="1" dirty="0">
                <a:latin typeface="Aptos"/>
                <a:ea typeface="新細明體"/>
              </a:rPr>
              <a:t>d</a:t>
            </a:r>
            <a:r>
              <a:rPr lang="zh-TW" altLang="en-US" sz="1600" b="1" dirty="0">
                <a:latin typeface="Aptos"/>
                <a:ea typeface="新細明體"/>
              </a:rPr>
              <a:t> </a:t>
            </a:r>
            <a:r>
              <a:rPr lang="en-US" altLang="zh-TW" sz="1600" b="1" dirty="0">
                <a:latin typeface="Aptos"/>
                <a:ea typeface="新細明體"/>
              </a:rPr>
              <a:t>Dom</a:t>
            </a:r>
            <a:r>
              <a:rPr lang="zh-TW" sz="1600" b="1" dirty="0">
                <a:latin typeface="Aptos"/>
                <a:ea typeface="新細明體"/>
              </a:rPr>
              <a:t>in</a:t>
            </a:r>
            <a:r>
              <a:rPr lang="en-US" altLang="zh-TW" sz="1600" b="1" dirty="0">
                <a:latin typeface="Aptos"/>
                <a:ea typeface="新細明體"/>
              </a:rPr>
              <a:t>um</a:t>
            </a:r>
            <a:r>
              <a:rPr lang="zh-TW" altLang="en-US" sz="1600" b="1" dirty="0">
                <a:latin typeface="Aptos"/>
                <a:ea typeface="新細明體"/>
              </a:rPr>
              <a:t> </a:t>
            </a:r>
            <a:endParaRPr lang="zh-TW" sz="1600" dirty="0">
              <a:ea typeface="新細明體"/>
              <a:cs typeface="Calibri"/>
            </a:endParaRPr>
          </a:p>
          <a:p>
            <a:pPr>
              <a:buNone/>
            </a:pPr>
            <a:r>
              <a:rPr lang="zh-TW" sz="1600" dirty="0">
                <a:latin typeface="Aptos"/>
                <a:ea typeface="新細明體"/>
              </a:rPr>
              <a:t>‘</a:t>
            </a:r>
            <a:r>
              <a:rPr lang="en-US" altLang="zh-TW" sz="1600" dirty="0">
                <a:latin typeface="Aptos"/>
                <a:ea typeface="新細明體"/>
              </a:rPr>
              <a:t>Moes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dirty="0">
                <a:latin typeface="Aptos"/>
                <a:ea typeface="新細明體"/>
              </a:rPr>
              <a:t>was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en-US" altLang="zh-TW" sz="1600" dirty="0">
                <a:latin typeface="Aptos"/>
                <a:ea typeface="新細明體"/>
              </a:rPr>
              <a:t>b</a:t>
            </a:r>
            <a:r>
              <a:rPr lang="zh-TW" sz="1600" dirty="0">
                <a:latin typeface="Aptos"/>
                <a:ea typeface="新細明體"/>
              </a:rPr>
              <a:t>e</a:t>
            </a:r>
            <a:r>
              <a:rPr lang="en-US" altLang="zh-TW" sz="1600" dirty="0" err="1">
                <a:latin typeface="Aptos"/>
                <a:ea typeface="新細明體"/>
              </a:rPr>
              <a:t>gging</a:t>
            </a:r>
            <a:r>
              <a:rPr lang="zh-TW" altLang="en-US" sz="1600" dirty="0">
                <a:latin typeface="Aptos"/>
                <a:ea typeface="新細明體"/>
              </a:rPr>
              <a:t> </a:t>
            </a:r>
            <a:r>
              <a:rPr lang="zh-TW" sz="1600" dirty="0">
                <a:latin typeface="Aptos"/>
                <a:ea typeface="新細明體"/>
              </a:rPr>
              <a:t>the </a:t>
            </a:r>
            <a:r>
              <a:rPr lang="en-US" altLang="zh-TW" sz="1600" dirty="0">
                <a:latin typeface="Aptos"/>
                <a:ea typeface="新細明體"/>
              </a:rPr>
              <a:t>Lo</a:t>
            </a:r>
            <a:r>
              <a:rPr lang="zh-TW" sz="1600" dirty="0">
                <a:latin typeface="Aptos"/>
                <a:ea typeface="新細明體"/>
              </a:rPr>
              <a:t>r</a:t>
            </a:r>
            <a:r>
              <a:rPr lang="en-US" altLang="zh-TW" sz="1600" dirty="0">
                <a:latin typeface="Aptos"/>
                <a:ea typeface="新細明體"/>
              </a:rPr>
              <a:t>d</a:t>
            </a:r>
            <a:r>
              <a:rPr lang="zh-TW" sz="1600" dirty="0">
                <a:latin typeface="Aptos"/>
                <a:ea typeface="新細明體"/>
              </a:rPr>
              <a:t>.’ (</a:t>
            </a:r>
            <a:r>
              <a:rPr lang="en-US" altLang="zh-TW" sz="1600" i="1" dirty="0">
                <a:latin typeface="Aptos"/>
                <a:ea typeface="新細明體"/>
              </a:rPr>
              <a:t>Libri</a:t>
            </a:r>
            <a:r>
              <a:rPr lang="zh-TW" altLang="en-US" sz="1600" i="1" dirty="0">
                <a:latin typeface="Aptos"/>
                <a:ea typeface="新細明體"/>
              </a:rPr>
              <a:t> </a:t>
            </a:r>
            <a:r>
              <a:rPr lang="en-US" altLang="zh-TW" sz="1600" i="1" dirty="0" err="1">
                <a:latin typeface="Aptos"/>
                <a:ea typeface="新細明體"/>
              </a:rPr>
              <a:t>Maccab</a:t>
            </a:r>
            <a:r>
              <a:rPr lang="zh-TW" sz="1600" i="1" dirty="0">
                <a:latin typeface="Aptos"/>
                <a:ea typeface="新細明體"/>
              </a:rPr>
              <a:t>aorum </a:t>
            </a:r>
            <a:r>
              <a:rPr lang="zh-TW" sz="1600" dirty="0">
                <a:latin typeface="Aptos"/>
                <a:ea typeface="新細明體"/>
              </a:rPr>
              <a:t>2</a:t>
            </a:r>
            <a:r>
              <a:rPr lang="en-US" altLang="zh-TW" sz="1600" dirty="0">
                <a:latin typeface="Aptos"/>
                <a:ea typeface="新細明體"/>
              </a:rPr>
              <a:t>.10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)</a:t>
            </a:r>
          </a:p>
          <a:p>
            <a:pPr>
              <a:buNone/>
            </a:pPr>
            <a:r>
              <a:rPr lang="en-US" altLang="zh-TW" sz="1600" dirty="0" err="1">
                <a:latin typeface="Aptos"/>
                <a:ea typeface="新細明體"/>
                <a:cs typeface="Calibri"/>
              </a:rPr>
              <a:t>Veniam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…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b="1" dirty="0">
                <a:latin typeface="Aptos"/>
                <a:ea typeface="新細明體"/>
                <a:cs typeface="Calibri"/>
              </a:rPr>
              <a:t>ad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b="1" dirty="0">
                <a:latin typeface="Aptos"/>
                <a:ea typeface="新細明體"/>
                <a:cs typeface="Calibri"/>
              </a:rPr>
              <a:t>Domino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 err="1">
                <a:latin typeface="Aptos"/>
                <a:ea typeface="新細明體"/>
                <a:cs typeface="Calibri"/>
              </a:rPr>
              <a:t>poposcebat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</a:p>
          <a:p>
            <a:pPr>
              <a:buNone/>
            </a:pPr>
            <a:r>
              <a:rPr lang="zh-TW" sz="16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She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was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begging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her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Lord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for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mercy.</a:t>
            </a:r>
            <a:r>
              <a:rPr lang="zh-TW" sz="1600" dirty="0">
                <a:latin typeface="Aptos"/>
                <a:ea typeface="新細明體"/>
                <a:cs typeface="Calibri"/>
              </a:rPr>
              <a:t>’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(Medieval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Latin:</a:t>
            </a:r>
            <a:r>
              <a:rPr lang="zh-TW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i="1" dirty="0">
                <a:latin typeface="Aptos"/>
                <a:ea typeface="新細明體"/>
                <a:cs typeface="Calibri"/>
              </a:rPr>
              <a:t>Chronicon</a:t>
            </a:r>
            <a:r>
              <a:rPr lang="zh-TW" sz="16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i="1" dirty="0" err="1">
                <a:latin typeface="Aptos"/>
                <a:ea typeface="新細明體"/>
                <a:cs typeface="Calibri"/>
              </a:rPr>
              <a:t>Salernitanum</a:t>
            </a:r>
            <a:r>
              <a:rPr lang="zh-TW" sz="1600" i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11)</a:t>
            </a:r>
            <a:endParaRPr lang="zh-TW" altLang="en-US" sz="1600" dirty="0">
              <a:ea typeface="新細明體"/>
              <a:cs typeface="Calibri"/>
            </a:endParaRPr>
          </a:p>
          <a:p>
            <a:pPr>
              <a:buNone/>
            </a:pPr>
            <a:endParaRPr lang="zh-TW" sz="1600" dirty="0">
              <a:latin typeface="Aptos"/>
              <a:ea typeface="新細明體"/>
              <a:cs typeface="Calibri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4BE55615-ED26-7C41-5FD5-00B2E744EAB2}"/>
              </a:ext>
            </a:extLst>
          </p:cNvPr>
          <p:cNvSpPr txBox="1">
            <a:spLocks/>
          </p:cNvSpPr>
          <p:nvPr/>
        </p:nvSpPr>
        <p:spPr>
          <a:xfrm>
            <a:off x="-13254" y="6019799"/>
            <a:ext cx="9157253" cy="65910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1800" dirty="0">
                <a:latin typeface="Aptos"/>
                <a:ea typeface="新細明體"/>
              </a:rPr>
              <a:t>In Christian/Medieval Latin</a:t>
            </a:r>
            <a:r>
              <a:rPr lang="en-US" altLang="zh-TW" sz="1800" i="1" dirty="0">
                <a:latin typeface="Aptos"/>
                <a:ea typeface="新細明體"/>
              </a:rPr>
              <a:t>, ad</a:t>
            </a:r>
            <a:r>
              <a:rPr lang="en-US" altLang="zh-TW" sz="1800" dirty="0">
                <a:latin typeface="Aptos"/>
                <a:ea typeface="新細明體"/>
                <a:cs typeface="Calibri"/>
              </a:rPr>
              <a:t> marks human/animate objects, specifically divine (religious) and superior (secular) ones, which anticipates Romance, specifically Portuguese.  </a:t>
            </a:r>
            <a:endParaRPr lang="zh-TW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E2442DFE-720D-B852-CC7C-E69D947BD22E}"/>
              </a:ext>
            </a:extLst>
          </p:cNvPr>
          <p:cNvSpPr txBox="1">
            <a:spLocks/>
          </p:cNvSpPr>
          <p:nvPr/>
        </p:nvSpPr>
        <p:spPr>
          <a:xfrm>
            <a:off x="-6627" y="2082715"/>
            <a:ext cx="9124121" cy="30013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TW" sz="1600" dirty="0">
                <a:latin typeface="Aptos"/>
                <a:ea typeface="新細明體"/>
                <a:cs typeface="Calibri"/>
              </a:rPr>
              <a:t>De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 err="1">
                <a:latin typeface="Aptos"/>
                <a:ea typeface="新細明體"/>
                <a:cs typeface="Calibri"/>
              </a:rPr>
              <a:t>profundis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 err="1">
                <a:latin typeface="Aptos"/>
                <a:ea typeface="新細明體"/>
                <a:cs typeface="Calibri"/>
              </a:rPr>
              <a:t>clamavi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b="1" dirty="0">
                <a:latin typeface="Aptos"/>
                <a:ea typeface="新細明體"/>
                <a:cs typeface="Calibri"/>
              </a:rPr>
              <a:t>ad</a:t>
            </a:r>
            <a:r>
              <a:rPr lang="zh-TW" altLang="en-US" sz="1600" b="1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b="1" dirty="0" err="1">
                <a:latin typeface="Aptos"/>
                <a:ea typeface="新細明體"/>
                <a:cs typeface="Calibri"/>
              </a:rPr>
              <a:t>te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,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b="1" dirty="0">
                <a:latin typeface="Aptos"/>
                <a:ea typeface="新細明體"/>
                <a:cs typeface="Calibri"/>
              </a:rPr>
              <a:t>Domine</a:t>
            </a:r>
            <a:endParaRPr lang="zh-TW" altLang="en-US" sz="1600" b="1" dirty="0">
              <a:ea typeface="新細明體"/>
              <a:cs typeface="Calibri"/>
            </a:endParaRPr>
          </a:p>
          <a:p>
            <a:pPr>
              <a:buNone/>
            </a:pPr>
            <a:r>
              <a:rPr lang="zh-TW" altLang="en-US" sz="1600" dirty="0">
                <a:latin typeface="Aptos"/>
                <a:ea typeface="新細明體"/>
                <a:cs typeface="Calibri"/>
              </a:rPr>
              <a:t>‘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From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the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depths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of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my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heart,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I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called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you,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my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Lord.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’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(Latin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Bible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i="1" dirty="0" err="1">
                <a:latin typeface="Aptos"/>
                <a:ea typeface="新細明體"/>
                <a:cs typeface="Calibri"/>
              </a:rPr>
              <a:t>Psalmi</a:t>
            </a:r>
            <a:r>
              <a:rPr lang="zh-TW" altLang="en-US" sz="1600" dirty="0">
                <a:latin typeface="Aptos"/>
                <a:ea typeface="新細明體"/>
                <a:cs typeface="Calibri"/>
              </a:rPr>
              <a:t> </a:t>
            </a:r>
            <a:r>
              <a:rPr lang="en-US" altLang="zh-TW" sz="1600" dirty="0">
                <a:latin typeface="Aptos"/>
                <a:ea typeface="新細明體"/>
                <a:cs typeface="Calibri"/>
              </a:rPr>
              <a:t>129) </a:t>
            </a:r>
            <a:endParaRPr lang="en-US" sz="1600" dirty="0">
              <a:latin typeface="Aptos"/>
              <a:ea typeface="新細明體"/>
              <a:cs typeface="Calibri"/>
            </a:endParaRPr>
          </a:p>
          <a:p>
            <a:pPr marL="0" indent="0">
              <a:buNone/>
            </a:pPr>
            <a:r>
              <a:rPr lang="en-GB" sz="1600" dirty="0" err="1"/>
              <a:t>Clamare</a:t>
            </a:r>
            <a:r>
              <a:rPr lang="en-GB" sz="1600" dirty="0"/>
              <a:t> </a:t>
            </a:r>
            <a:r>
              <a:rPr lang="en-GB" sz="1600" b="1" dirty="0"/>
              <a:t>ad </a:t>
            </a:r>
            <a:r>
              <a:rPr lang="en-GB" sz="1600" b="1" dirty="0" err="1"/>
              <a:t>Dominum</a:t>
            </a:r>
            <a:r>
              <a:rPr lang="en-GB" sz="1600" b="1" dirty="0"/>
              <a:t> </a:t>
            </a:r>
          </a:p>
          <a:p>
            <a:pPr marL="0" indent="0">
              <a:buNone/>
            </a:pPr>
            <a:r>
              <a:rPr lang="en-GB" sz="1600" dirty="0"/>
              <a:t>‘to invoke the Lord.’ (Augustine</a:t>
            </a:r>
            <a:r>
              <a:rPr lang="en-GB" sz="1600" i="1" dirty="0"/>
              <a:t> </a:t>
            </a:r>
            <a:r>
              <a:rPr lang="en-GB" sz="1600" i="1" dirty="0" err="1"/>
              <a:t>Epistula</a:t>
            </a:r>
            <a:r>
              <a:rPr lang="en-GB" sz="1600" i="1" dirty="0"/>
              <a:t> </a:t>
            </a:r>
            <a:r>
              <a:rPr lang="en-GB" sz="1600" dirty="0"/>
              <a:t>88) </a:t>
            </a:r>
          </a:p>
          <a:p>
            <a:pPr marL="0" indent="0">
              <a:buNone/>
            </a:pPr>
            <a:r>
              <a:rPr lang="it-IT" sz="1600" dirty="0"/>
              <a:t>allora Elia chiam-oe	</a:t>
            </a:r>
            <a:r>
              <a:rPr lang="it-IT" sz="1600" b="1" dirty="0"/>
              <a:t>a Dio</a:t>
            </a:r>
            <a:endParaRPr lang="en-GB" sz="1600" b="1" dirty="0"/>
          </a:p>
          <a:p>
            <a:pPr marL="0" indent="0">
              <a:buNone/>
            </a:pPr>
            <a:r>
              <a:rPr lang="en-US" sz="1600" dirty="0"/>
              <a:t> </a:t>
            </a:r>
            <a:r>
              <a:rPr lang="it-IT" sz="1600" dirty="0"/>
              <a:t>‘Then Elia called God.’ (Medieval Italian) (</a:t>
            </a:r>
            <a:r>
              <a:rPr lang="it-IT" sz="1600" i="1" dirty="0"/>
              <a:t>Fra Giordano</a:t>
            </a:r>
            <a:r>
              <a:rPr lang="it-IT" sz="1600" dirty="0"/>
              <a:t>) </a:t>
            </a:r>
            <a:endParaRPr lang="en-GB" sz="1600" dirty="0"/>
          </a:p>
          <a:p>
            <a:pPr marL="0" indent="0">
              <a:buNone/>
            </a:pPr>
            <a:r>
              <a:rPr lang="en-GB" sz="1600" dirty="0" err="1"/>
              <a:t>appressu</a:t>
            </a:r>
            <a:r>
              <a:rPr lang="en-GB" sz="1600" dirty="0"/>
              <a:t>	clam-au </a:t>
            </a:r>
            <a:r>
              <a:rPr lang="en-GB" sz="1600" b="1" dirty="0"/>
              <a:t>a	 </a:t>
            </a:r>
            <a:r>
              <a:rPr lang="en-GB" sz="1600" b="1" dirty="0" err="1"/>
              <a:t>lu</a:t>
            </a:r>
            <a:r>
              <a:rPr lang="en-GB" sz="1600" b="1" dirty="0"/>
              <a:t> </a:t>
            </a:r>
            <a:r>
              <a:rPr lang="en-GB" sz="1600" b="1" dirty="0" err="1"/>
              <a:t>primu</a:t>
            </a:r>
            <a:r>
              <a:rPr lang="en-GB" sz="1600" b="1" dirty="0"/>
              <a:t> </a:t>
            </a:r>
            <a:r>
              <a:rPr lang="en-GB" sz="1600" b="1" dirty="0" err="1"/>
              <a:t>vinchituri</a:t>
            </a:r>
            <a:endParaRPr lang="en-GB" sz="1600" b="1" dirty="0"/>
          </a:p>
          <a:p>
            <a:pPr marL="0" indent="0">
              <a:buNone/>
            </a:pPr>
            <a:r>
              <a:rPr lang="en-US" sz="1600" dirty="0"/>
              <a:t>‘Then he called upon the first wave.’ </a:t>
            </a:r>
            <a:r>
              <a:rPr lang="it-IT" sz="1600" dirty="0"/>
              <a:t>(Medieval Sicilian) (</a:t>
            </a:r>
            <a:r>
              <a:rPr lang="it-IT" sz="1600" i="1" dirty="0"/>
              <a:t>La istoria di Eneas</a:t>
            </a:r>
            <a:r>
              <a:rPr lang="it-IT" sz="1600" dirty="0"/>
              <a:t> 91.46) </a:t>
            </a:r>
            <a:endParaRPr lang="en-GB" sz="1600" dirty="0"/>
          </a:p>
          <a:p>
            <a:pPr marL="0" indent="0">
              <a:buNone/>
            </a:pPr>
            <a:r>
              <a:rPr lang="en-GB" sz="1600" dirty="0"/>
              <a:t> </a:t>
            </a:r>
          </a:p>
          <a:p>
            <a:pPr>
              <a:buNone/>
            </a:pPr>
            <a:endParaRPr lang="zh-TW" altLang="en-US" sz="1600" dirty="0">
              <a:latin typeface="Calibri"/>
              <a:ea typeface="新細明體" panose="02020500000000000000" pitchFamily="18" charset="-120"/>
              <a:cs typeface="Calibri"/>
            </a:endParaRPr>
          </a:p>
          <a:p>
            <a:pPr>
              <a:buNone/>
            </a:pPr>
            <a:endParaRPr lang="en-US" altLang="zh-TW" sz="1600" dirty="0">
              <a:latin typeface="Aptos"/>
              <a:ea typeface="新細明體"/>
              <a:cs typeface="Calibri"/>
            </a:endParaRPr>
          </a:p>
          <a:p>
            <a:pPr>
              <a:buFont typeface="Arial" pitchFamily="34" charset="0"/>
              <a:buNone/>
            </a:pPr>
            <a:endParaRPr lang="zh-TW" altLang="en-US" sz="1600" dirty="0">
              <a:latin typeface="Aptos"/>
              <a:ea typeface="新細明體"/>
              <a:cs typeface="Calibri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EEF05F96-49D8-BE4C-A41C-DC48A2589C3D}"/>
              </a:ext>
            </a:extLst>
          </p:cNvPr>
          <p:cNvSpPr txBox="1">
            <a:spLocks/>
          </p:cNvSpPr>
          <p:nvPr/>
        </p:nvSpPr>
        <p:spPr>
          <a:xfrm>
            <a:off x="4868667" y="1134121"/>
            <a:ext cx="9124121" cy="5287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zh-TW" sz="1600" dirty="0">
                <a:latin typeface="Aptos"/>
                <a:ea typeface="新細明體"/>
              </a:rPr>
              <a:t>(human/animate/divine)</a:t>
            </a:r>
          </a:p>
          <a:p>
            <a:pPr>
              <a:buFont typeface="Arial" pitchFamily="34" charset="0"/>
              <a:buNone/>
            </a:pPr>
            <a:endParaRPr lang="zh-TW" altLang="en-US" sz="1600" dirty="0">
              <a:latin typeface="Aptos"/>
              <a:ea typeface="新細明體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zh-TW" altLang="en-US" sz="2000" dirty="0">
              <a:ea typeface="新細明體"/>
              <a:cs typeface="Calibri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AFB7607B-A27B-E320-AE16-D6E49BB5BEB6}"/>
              </a:ext>
            </a:extLst>
          </p:cNvPr>
          <p:cNvSpPr txBox="1">
            <a:spLocks/>
          </p:cNvSpPr>
          <p:nvPr/>
        </p:nvSpPr>
        <p:spPr>
          <a:xfrm>
            <a:off x="6783527" y="1751845"/>
            <a:ext cx="9124121" cy="5287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zh-TW" sz="1600" dirty="0">
                <a:latin typeface="Aptos"/>
                <a:ea typeface="新細明體"/>
              </a:rPr>
              <a:t>(</a:t>
            </a:r>
            <a:r>
              <a:rPr lang="en-GB" altLang="zh-TW" sz="1600" dirty="0">
                <a:latin typeface="Aptos"/>
                <a:ea typeface="新細明體"/>
              </a:rPr>
              <a:t>in</a:t>
            </a:r>
            <a:r>
              <a:rPr lang="zh-TW" sz="1600" dirty="0">
                <a:latin typeface="Aptos"/>
                <a:ea typeface="新細明體"/>
              </a:rPr>
              <a:t>animate/divine)</a:t>
            </a:r>
          </a:p>
          <a:p>
            <a:pPr>
              <a:buFont typeface="Arial" pitchFamily="34" charset="0"/>
              <a:buNone/>
            </a:pPr>
            <a:endParaRPr lang="zh-TW" altLang="en-US" sz="1600" dirty="0">
              <a:latin typeface="Aptos"/>
              <a:ea typeface="新細明體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zh-TW" altLang="en-US" sz="2000" dirty="0">
              <a:ea typeface="新細明體"/>
              <a:cs typeface="Calibri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051EFC13-857B-0085-4ED2-9AD5AFEA775D}"/>
              </a:ext>
            </a:extLst>
          </p:cNvPr>
          <p:cNvSpPr txBox="1">
            <a:spLocks/>
          </p:cNvSpPr>
          <p:nvPr/>
        </p:nvSpPr>
        <p:spPr>
          <a:xfrm>
            <a:off x="4884127" y="2687580"/>
            <a:ext cx="9124121" cy="5287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zh-TW" sz="1600" dirty="0">
                <a:latin typeface="Aptos"/>
                <a:ea typeface="新細明體"/>
              </a:rPr>
              <a:t>(human/animate/divine)</a:t>
            </a:r>
          </a:p>
          <a:p>
            <a:pPr>
              <a:buFont typeface="Arial" pitchFamily="34" charset="0"/>
              <a:buNone/>
            </a:pPr>
            <a:endParaRPr lang="zh-TW" altLang="en-US" sz="1600" dirty="0">
              <a:latin typeface="Aptos"/>
              <a:ea typeface="新細明體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zh-TW" altLang="en-US" sz="2000" dirty="0">
              <a:ea typeface="新細明體"/>
              <a:cs typeface="Calibri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DC89C426-B4CB-1DA1-DBD2-ECD45767DEDB}"/>
              </a:ext>
            </a:extLst>
          </p:cNvPr>
          <p:cNvSpPr txBox="1">
            <a:spLocks/>
          </p:cNvSpPr>
          <p:nvPr/>
        </p:nvSpPr>
        <p:spPr>
          <a:xfrm>
            <a:off x="4868667" y="3583389"/>
            <a:ext cx="9124121" cy="5287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zh-TW" sz="1600" dirty="0">
                <a:latin typeface="Aptos"/>
                <a:ea typeface="新細明體"/>
              </a:rPr>
              <a:t>(human/animate/divine)</a:t>
            </a:r>
          </a:p>
          <a:p>
            <a:pPr>
              <a:buFont typeface="Arial" pitchFamily="34" charset="0"/>
              <a:buNone/>
            </a:pPr>
            <a:endParaRPr lang="zh-TW" altLang="en-US" sz="1600" dirty="0">
              <a:latin typeface="Aptos"/>
              <a:ea typeface="新細明體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zh-TW" altLang="en-US" sz="2000" dirty="0">
              <a:ea typeface="新細明體"/>
              <a:cs typeface="Calibri"/>
            </a:endParaRP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30CD7100-B4D3-8A28-15C7-B562443A344A}"/>
              </a:ext>
            </a:extLst>
          </p:cNvPr>
          <p:cNvSpPr txBox="1">
            <a:spLocks/>
          </p:cNvSpPr>
          <p:nvPr/>
        </p:nvSpPr>
        <p:spPr>
          <a:xfrm>
            <a:off x="5191396" y="4811457"/>
            <a:ext cx="9124121" cy="5287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zh-TW" sz="1600" dirty="0">
                <a:latin typeface="Aptos"/>
                <a:ea typeface="新細明體"/>
              </a:rPr>
              <a:t>(human/animate/divine)</a:t>
            </a:r>
          </a:p>
          <a:p>
            <a:pPr>
              <a:buFont typeface="Arial" pitchFamily="34" charset="0"/>
              <a:buNone/>
            </a:pPr>
            <a:endParaRPr lang="zh-TW" altLang="en-US" sz="1600" dirty="0">
              <a:latin typeface="Aptos"/>
              <a:ea typeface="新細明體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zh-TW" altLang="en-US" sz="2000" dirty="0">
              <a:ea typeface="新細明體"/>
              <a:cs typeface="Calibri"/>
            </a:endParaRP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B341EA19-6396-DDD5-1E50-3E3B93D7A3D0}"/>
              </a:ext>
            </a:extLst>
          </p:cNvPr>
          <p:cNvSpPr txBox="1">
            <a:spLocks/>
          </p:cNvSpPr>
          <p:nvPr/>
        </p:nvSpPr>
        <p:spPr>
          <a:xfrm>
            <a:off x="181242" y="5688929"/>
            <a:ext cx="9124121" cy="52879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zh-TW" sz="1600" dirty="0">
                <a:latin typeface="Aptos"/>
                <a:ea typeface="新細明體"/>
              </a:rPr>
              <a:t>(human/animate/</a:t>
            </a:r>
            <a:r>
              <a:rPr lang="en-GB" altLang="zh-TW" sz="1600" dirty="0">
                <a:latin typeface="Aptos"/>
                <a:ea typeface="新細明體"/>
              </a:rPr>
              <a:t>superior</a:t>
            </a:r>
            <a:r>
              <a:rPr lang="zh-TW" sz="1600" dirty="0">
                <a:latin typeface="Aptos"/>
                <a:ea typeface="新細明體"/>
              </a:rPr>
              <a:t>)</a:t>
            </a:r>
          </a:p>
          <a:p>
            <a:pPr>
              <a:buFont typeface="Arial" pitchFamily="34" charset="0"/>
              <a:buNone/>
            </a:pPr>
            <a:endParaRPr lang="zh-TW" altLang="en-US" sz="1600" dirty="0">
              <a:latin typeface="Aptos"/>
              <a:ea typeface="新細明體"/>
              <a:cs typeface="Calibri"/>
            </a:endParaRPr>
          </a:p>
          <a:p>
            <a:pPr marL="0" indent="0">
              <a:buFont typeface="Arial" pitchFamily="34" charset="0"/>
              <a:buNone/>
            </a:pPr>
            <a:endParaRPr lang="zh-TW" altLang="en-US" sz="2000" dirty="0"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051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/>
      <p:bldP spid="4" grpId="0"/>
      <p:bldP spid="10" grpId="0" uiExpand="1" build="p"/>
      <p:bldP spid="11" grpId="0" uiExpand="1" build="p"/>
      <p:bldP spid="12" grpId="0" uiExpand="1" build="p"/>
      <p:bldP spid="13" grpId="0" uiExpand="1" build="p"/>
      <p:bldP spid="14" grpId="0" uiExpand="1" build="p"/>
      <p:bldP spid="15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49DB-7017-4275-8CE0-F1DB7D11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43" y="1"/>
            <a:ext cx="9155042" cy="82860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/>
              <a:t>Formal parameters of Differential Object Marking</a:t>
            </a:r>
            <a:endParaRPr lang="en-GB" sz="3600"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22F162-7EB4-4C36-94EE-1CA259BF3DD8}"/>
              </a:ext>
            </a:extLst>
          </p:cNvPr>
          <p:cNvSpPr txBox="1">
            <a:spLocks/>
          </p:cNvSpPr>
          <p:nvPr/>
        </p:nvSpPr>
        <p:spPr>
          <a:xfrm>
            <a:off x="-11043" y="829930"/>
            <a:ext cx="9145656" cy="42961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Chomsky-Borer conjecture: ‘all parameters are lexical’</a:t>
            </a:r>
            <a:endParaRPr lang="zh-TW" altLang="en-US" sz="2400" dirty="0">
              <a:ea typeface="新細明體"/>
              <a:cs typeface="Calibri"/>
            </a:endParaRPr>
          </a:p>
          <a:p>
            <a:pPr>
              <a:buNone/>
            </a:pPr>
            <a:r>
              <a:rPr lang="en-GB" sz="2000" dirty="0">
                <a:ea typeface="Calibri"/>
                <a:cs typeface="Calibri"/>
              </a:rPr>
              <a:t>Microparameters (lexical) underlie meso- and </a:t>
            </a:r>
            <a:r>
              <a:rPr lang="en-GB" sz="2000" dirty="0" err="1">
                <a:ea typeface="Calibri"/>
                <a:cs typeface="Calibri"/>
              </a:rPr>
              <a:t>macroparameters</a:t>
            </a:r>
            <a:r>
              <a:rPr lang="en-GB" sz="2000" dirty="0">
                <a:ea typeface="Calibri"/>
                <a:cs typeface="Calibri"/>
              </a:rPr>
              <a:t> (Roberts (2012)): </a:t>
            </a: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000" dirty="0">
              <a:ea typeface="Calibri"/>
              <a:cs typeface="Calibri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84EE85-666B-492D-9596-57786194DBCA}"/>
              </a:ext>
            </a:extLst>
          </p:cNvPr>
          <p:cNvSpPr txBox="1">
            <a:spLocks/>
          </p:cNvSpPr>
          <p:nvPr/>
        </p:nvSpPr>
        <p:spPr>
          <a:xfrm>
            <a:off x="0" y="1531428"/>
            <a:ext cx="9144000" cy="42068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Romance DOM (</a:t>
            </a:r>
            <a:r>
              <a:rPr lang="en-GB" sz="2000" i="1" dirty="0"/>
              <a:t>ad</a:t>
            </a:r>
            <a:r>
              <a:rPr lang="en-GB" sz="2000" dirty="0"/>
              <a:t>): </a:t>
            </a:r>
            <a:r>
              <a:rPr lang="en-GB" sz="2000" dirty="0" err="1"/>
              <a:t>P</a:t>
            </a:r>
            <a:r>
              <a:rPr lang="en-GB" sz="1600" dirty="0" err="1"/>
              <a:t>allative</a:t>
            </a:r>
            <a:r>
              <a:rPr lang="en-GB" sz="2000" dirty="0"/>
              <a:t> &gt; K(</a:t>
            </a:r>
            <a:r>
              <a:rPr lang="en-GB" sz="2000" dirty="0" err="1"/>
              <a:t>ase</a:t>
            </a:r>
            <a:r>
              <a:rPr lang="en-GB" sz="2000" dirty="0"/>
              <a:t>) (‘structural simplification’): </a:t>
            </a:r>
            <a:r>
              <a:rPr lang="en-GB" sz="2000" dirty="0" err="1"/>
              <a:t>P</a:t>
            </a:r>
            <a:r>
              <a:rPr lang="en-GB" sz="1400" dirty="0" err="1"/>
              <a:t>Agree</a:t>
            </a:r>
            <a:r>
              <a:rPr lang="en-GB" sz="2000" dirty="0"/>
              <a:t> &gt; </a:t>
            </a:r>
            <a:r>
              <a:rPr lang="en-GB" sz="2000" dirty="0" err="1"/>
              <a:t>K</a:t>
            </a:r>
            <a:r>
              <a:rPr lang="en-GB" sz="1400" dirty="0" err="1"/>
              <a:t>Merge</a:t>
            </a:r>
            <a:endParaRPr lang="en-GB" sz="2000" dirty="0">
              <a:ea typeface="Calibri"/>
              <a:cs typeface="Calibri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FE859A-7B37-4EB8-B47B-305657819DDD}"/>
              </a:ext>
            </a:extLst>
          </p:cNvPr>
          <p:cNvSpPr>
            <a:spLocks noGrp="1"/>
          </p:cNvSpPr>
          <p:nvPr/>
        </p:nvSpPr>
        <p:spPr>
          <a:xfrm>
            <a:off x="-11043" y="1914144"/>
            <a:ext cx="9155043" cy="67162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GB" sz="2000" dirty="0"/>
              <a:t>		VP</a:t>
            </a:r>
            <a:endParaRPr lang="en-GB" sz="2000" dirty="0">
              <a:ea typeface="Calibri"/>
              <a:cs typeface="Calibri"/>
            </a:endParaRPr>
          </a:p>
          <a:p>
            <a:pPr>
              <a:buNone/>
            </a:pPr>
            <a:r>
              <a:rPr lang="en-GB" sz="2000" dirty="0" err="1"/>
              <a:t>SpecV</a:t>
            </a:r>
            <a:r>
              <a:rPr lang="en-GB" sz="2000" dirty="0"/>
              <a:t>		V’</a:t>
            </a:r>
            <a:endParaRPr lang="en-GB" sz="2000" dirty="0">
              <a:ea typeface="Calibri"/>
              <a:cs typeface="Calibri"/>
            </a:endParaRPr>
          </a:p>
          <a:p>
            <a:pPr>
              <a:buNone/>
            </a:pPr>
            <a:r>
              <a:rPr lang="en-GB" sz="2000" dirty="0"/>
              <a:t>AD		V		PP</a:t>
            </a:r>
            <a:endParaRPr lang="en-GB" sz="2000" dirty="0">
              <a:ea typeface="Calibri"/>
              <a:cs typeface="Calibri"/>
            </a:endParaRPr>
          </a:p>
          <a:p>
            <a:pPr>
              <a:buNone/>
            </a:pPr>
            <a:r>
              <a:rPr lang="en-GB" sz="2000" dirty="0"/>
              <a:t>	</a:t>
            </a:r>
            <a:r>
              <a:rPr lang="en-GB" sz="2000" i="1" dirty="0"/>
              <a:t>verba </a:t>
            </a:r>
            <a:r>
              <a:rPr lang="en-GB" sz="2000" i="1" dirty="0" err="1"/>
              <a:t>videndi</a:t>
            </a:r>
            <a:r>
              <a:rPr lang="en-GB" sz="2000" dirty="0"/>
              <a:t>	</a:t>
            </a:r>
            <a:r>
              <a:rPr lang="en-GB" sz="2000" dirty="0" err="1"/>
              <a:t>P</a:t>
            </a:r>
            <a:r>
              <a:rPr lang="en-GB" sz="1600" dirty="0" err="1"/>
              <a:t>allative</a:t>
            </a:r>
            <a:r>
              <a:rPr lang="en-GB" sz="2000" dirty="0"/>
              <a:t>		KP</a:t>
            </a:r>
            <a:endParaRPr lang="en-GB" sz="2000" dirty="0">
              <a:ea typeface="Calibri"/>
              <a:cs typeface="Calibri"/>
            </a:endParaRPr>
          </a:p>
          <a:p>
            <a:pPr>
              <a:buNone/>
            </a:pPr>
            <a:r>
              <a:rPr lang="en-GB" sz="2000" dirty="0"/>
              <a:t>	</a:t>
            </a:r>
            <a:r>
              <a:rPr lang="en-GB" sz="2000" i="1" dirty="0"/>
              <a:t>verba </a:t>
            </a:r>
            <a:r>
              <a:rPr lang="en-GB" sz="2000" i="1" dirty="0" err="1"/>
              <a:t>serviendi</a:t>
            </a:r>
            <a:r>
              <a:rPr lang="en-GB" sz="2000" dirty="0"/>
              <a:t>   AD	K		DP</a:t>
            </a:r>
            <a:endParaRPr lang="en-GB" sz="2000" dirty="0">
              <a:ea typeface="Calibri"/>
              <a:cs typeface="Calibri"/>
            </a:endParaRPr>
          </a:p>
          <a:p>
            <a:pPr>
              <a:buNone/>
            </a:pPr>
            <a:r>
              <a:rPr lang="en-GB" sz="2000" dirty="0"/>
              <a:t>	</a:t>
            </a:r>
            <a:r>
              <a:rPr lang="en-GB" sz="2000" i="1" dirty="0"/>
              <a:t>verba </a:t>
            </a:r>
            <a:r>
              <a:rPr lang="en-GB" sz="2000" i="1" dirty="0" err="1"/>
              <a:t>clamandi</a:t>
            </a:r>
            <a:r>
              <a:rPr lang="en-GB" sz="2000" i="1" dirty="0"/>
              <a:t>      </a:t>
            </a:r>
            <a:r>
              <a:rPr lang="en-GB" sz="2000" dirty="0"/>
              <a:t>	AD	    D			</a:t>
            </a:r>
            <a:r>
              <a:rPr lang="en-GB" sz="2000" dirty="0" err="1"/>
              <a:t>PhiP</a:t>
            </a:r>
            <a:endParaRPr lang="en-GB" sz="2000" dirty="0">
              <a:ea typeface="Calibri"/>
              <a:cs typeface="Calibri"/>
            </a:endParaRPr>
          </a:p>
          <a:p>
            <a:pPr>
              <a:buNone/>
            </a:pPr>
            <a:r>
              <a:rPr lang="en-GB" sz="2000" dirty="0"/>
              <a:t>	</a:t>
            </a:r>
            <a:r>
              <a:rPr lang="en-GB" sz="2000" i="1" dirty="0"/>
              <a:t>verba </a:t>
            </a:r>
            <a:r>
              <a:rPr lang="en-GB" sz="2000" i="1" dirty="0" err="1"/>
              <a:t>rogandi</a:t>
            </a:r>
            <a:r>
              <a:rPr lang="en-GB" sz="2000" dirty="0"/>
              <a:t>		   	   [+D]		Phi		       </a:t>
            </a:r>
            <a:r>
              <a:rPr lang="en-GB" sz="2000" dirty="0" err="1"/>
              <a:t>nP</a:t>
            </a:r>
            <a:endParaRPr lang="en-GB" sz="2000" dirty="0">
              <a:ea typeface="Calibri"/>
              <a:cs typeface="Calibri"/>
            </a:endParaRPr>
          </a:p>
          <a:p>
            <a:pPr>
              <a:buNone/>
            </a:pPr>
            <a:r>
              <a:rPr lang="en-GB" sz="2000" dirty="0"/>
              <a:t>					  [+Proper]   </a:t>
            </a:r>
            <a:r>
              <a:rPr lang="en-GB" sz="1800" dirty="0"/>
              <a:t>Pers: 1</a:t>
            </a:r>
            <a:r>
              <a:rPr lang="en-GB" sz="1800" baseline="30000" dirty="0"/>
              <a:t>st</a:t>
            </a:r>
            <a:r>
              <a:rPr lang="en-GB" sz="1800" dirty="0"/>
              <a:t>/2</a:t>
            </a:r>
            <a:r>
              <a:rPr lang="en-GB" sz="1800" baseline="30000" dirty="0"/>
              <a:t>nd</a:t>
            </a:r>
            <a:r>
              <a:rPr lang="en-GB" sz="1800" dirty="0"/>
              <a:t>/3</a:t>
            </a:r>
            <a:r>
              <a:rPr lang="en-GB" sz="1800" baseline="30000" dirty="0"/>
              <a:t>rd</a:t>
            </a:r>
            <a:r>
              <a:rPr lang="en-GB" sz="2000" dirty="0"/>
              <a:t>		n	NP</a:t>
            </a:r>
            <a:endParaRPr lang="en-GB" sz="2000" dirty="0">
              <a:ea typeface="Calibri"/>
              <a:cs typeface="Calibri"/>
            </a:endParaRPr>
          </a:p>
          <a:p>
            <a:pPr>
              <a:buNone/>
            </a:pPr>
            <a:r>
              <a:rPr lang="en-GB" sz="2000" dirty="0"/>
              <a:t>						         </a:t>
            </a:r>
            <a:r>
              <a:rPr lang="en-GB" sz="1800" dirty="0"/>
              <a:t>Num: sg/plural</a:t>
            </a:r>
            <a:r>
              <a:rPr lang="en-GB" sz="2000" dirty="0"/>
              <a:t>		N 							           </a:t>
            </a:r>
            <a:r>
              <a:rPr lang="en-GB" sz="1800" dirty="0"/>
              <a:t>[human/animate/</a:t>
            </a:r>
          </a:p>
          <a:p>
            <a:pPr>
              <a:buNone/>
            </a:pPr>
            <a:r>
              <a:rPr lang="en-GB" sz="1800" dirty="0"/>
              <a:t>								               divine/superior]</a:t>
            </a:r>
            <a:endParaRPr lang="en-US" sz="1800" dirty="0">
              <a:ea typeface="Calibri"/>
              <a:cs typeface="Calibri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437538-6131-4985-B475-C682E485968C}"/>
              </a:ext>
            </a:extLst>
          </p:cNvPr>
          <p:cNvSpPr txBox="1">
            <a:spLocks/>
          </p:cNvSpPr>
          <p:nvPr/>
        </p:nvSpPr>
        <p:spPr>
          <a:xfrm>
            <a:off x="4668520" y="5185679"/>
            <a:ext cx="21965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Personal Pronouns (all varieties; 1</a:t>
            </a:r>
            <a:r>
              <a:rPr lang="en-GB" sz="1600" baseline="30000" dirty="0"/>
              <a:t>st</a:t>
            </a:r>
            <a:r>
              <a:rPr lang="en-GB" sz="1600" dirty="0"/>
              <a:t>/2</a:t>
            </a:r>
            <a:r>
              <a:rPr lang="en-GB" sz="1600" baseline="30000" dirty="0"/>
              <a:t>nd</a:t>
            </a:r>
            <a:r>
              <a:rPr lang="en-GB" sz="1600" dirty="0"/>
              <a:t> sg (Pt.))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BDFB7AB-4CD2-456E-A9E2-AD447D0CF315}"/>
              </a:ext>
            </a:extLst>
          </p:cNvPr>
          <p:cNvSpPr txBox="1">
            <a:spLocks/>
          </p:cNvSpPr>
          <p:nvPr/>
        </p:nvSpPr>
        <p:spPr>
          <a:xfrm>
            <a:off x="4709668" y="5797898"/>
            <a:ext cx="21965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600" dirty="0"/>
              <a:t>Proper Names (all varieties; divine (Pt.))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F776D1A-A907-4344-90A0-F29C7F0ACA42}"/>
              </a:ext>
            </a:extLst>
          </p:cNvPr>
          <p:cNvSpPr txBox="1">
            <a:spLocks/>
          </p:cNvSpPr>
          <p:nvPr/>
        </p:nvSpPr>
        <p:spPr>
          <a:xfrm>
            <a:off x="6620256" y="5827549"/>
            <a:ext cx="2523743" cy="13766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200" dirty="0" err="1"/>
              <a:t>Sp</a:t>
            </a:r>
            <a:r>
              <a:rPr lang="en-GB" sz="1200" dirty="0"/>
              <a:t>: animate + communities/works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 dirty="0"/>
              <a:t>Italian dialects: human + communities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200" dirty="0"/>
              <a:t>Portuguese: divine/superior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71A6CD-F1BA-4AE2-8A95-C532166579C2}"/>
              </a:ext>
            </a:extLst>
          </p:cNvPr>
          <p:cNvCxnSpPr>
            <a:cxnSpLocks/>
          </p:cNvCxnSpPr>
          <p:nvPr/>
        </p:nvCxnSpPr>
        <p:spPr>
          <a:xfrm>
            <a:off x="2398983" y="3701597"/>
            <a:ext cx="365732" cy="25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90CC50B-F61D-47E9-89AB-C83C8758C077}"/>
              </a:ext>
            </a:extLst>
          </p:cNvPr>
          <p:cNvSpPr txBox="1"/>
          <p:nvPr/>
        </p:nvSpPr>
        <p:spPr>
          <a:xfrm>
            <a:off x="3873755" y="1944134"/>
            <a:ext cx="51239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000" b="1" i="1" dirty="0" err="1"/>
              <a:t>Sublexical</a:t>
            </a:r>
            <a:r>
              <a:rPr lang="en-GB" sz="2000" b="1" i="1" dirty="0"/>
              <a:t> </a:t>
            </a:r>
            <a:r>
              <a:rPr lang="en-GB" sz="2000" b="1" dirty="0"/>
              <a:t>microvariation: (P &gt;) K applies to different subsets of objects in different Romance varieties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CA20FB-17EC-4F8A-97FC-E6BC50E3512B}"/>
              </a:ext>
            </a:extLst>
          </p:cNvPr>
          <p:cNvCxnSpPr/>
          <p:nvPr/>
        </p:nvCxnSpPr>
        <p:spPr>
          <a:xfrm flipH="1">
            <a:off x="475488" y="2206752"/>
            <a:ext cx="646176" cy="1706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C5F921-6593-B0FD-8FB1-DEDB0A8B5EA0}"/>
              </a:ext>
            </a:extLst>
          </p:cNvPr>
          <p:cNvCxnSpPr>
            <a:cxnSpLocks/>
          </p:cNvCxnSpPr>
          <p:nvPr/>
        </p:nvCxnSpPr>
        <p:spPr>
          <a:xfrm>
            <a:off x="1123098" y="2208186"/>
            <a:ext cx="816864" cy="1584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67CC58-7B77-8C11-3F78-C5E10B9333FC}"/>
              </a:ext>
            </a:extLst>
          </p:cNvPr>
          <p:cNvCxnSpPr>
            <a:cxnSpLocks/>
          </p:cNvCxnSpPr>
          <p:nvPr/>
        </p:nvCxnSpPr>
        <p:spPr>
          <a:xfrm flipH="1">
            <a:off x="1133856" y="2568366"/>
            <a:ext cx="845259" cy="1603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5E91E6-BC27-4FC6-1D28-7AC1FAAD3652}"/>
              </a:ext>
            </a:extLst>
          </p:cNvPr>
          <p:cNvCxnSpPr>
            <a:cxnSpLocks/>
          </p:cNvCxnSpPr>
          <p:nvPr/>
        </p:nvCxnSpPr>
        <p:spPr>
          <a:xfrm>
            <a:off x="1968358" y="2571474"/>
            <a:ext cx="898196" cy="200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41BBF9-4A1F-04E7-F2BD-B9C47203A362}"/>
              </a:ext>
            </a:extLst>
          </p:cNvPr>
          <p:cNvCxnSpPr>
            <a:cxnSpLocks/>
          </p:cNvCxnSpPr>
          <p:nvPr/>
        </p:nvCxnSpPr>
        <p:spPr>
          <a:xfrm flipH="1">
            <a:off x="2224105" y="2949331"/>
            <a:ext cx="706720" cy="1338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41D68C-F084-1C07-8FB4-57A1DE3E278C}"/>
              </a:ext>
            </a:extLst>
          </p:cNvPr>
          <p:cNvCxnSpPr>
            <a:cxnSpLocks/>
          </p:cNvCxnSpPr>
          <p:nvPr/>
        </p:nvCxnSpPr>
        <p:spPr>
          <a:xfrm>
            <a:off x="2928020" y="2947836"/>
            <a:ext cx="875884" cy="1353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2197E4A-8374-1C15-C327-0D126C36CE74}"/>
              </a:ext>
            </a:extLst>
          </p:cNvPr>
          <p:cNvCxnSpPr>
            <a:cxnSpLocks/>
          </p:cNvCxnSpPr>
          <p:nvPr/>
        </p:nvCxnSpPr>
        <p:spPr>
          <a:xfrm flipH="1">
            <a:off x="2888070" y="3326862"/>
            <a:ext cx="929397" cy="131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C06B66C-5949-F91B-D5F5-AB6CDF641DB8}"/>
              </a:ext>
            </a:extLst>
          </p:cNvPr>
          <p:cNvCxnSpPr>
            <a:cxnSpLocks/>
          </p:cNvCxnSpPr>
          <p:nvPr/>
        </p:nvCxnSpPr>
        <p:spPr>
          <a:xfrm>
            <a:off x="3803904" y="3326862"/>
            <a:ext cx="905764" cy="131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61667F-9541-9954-2DDF-FDE99A1DD42E}"/>
              </a:ext>
            </a:extLst>
          </p:cNvPr>
          <p:cNvCxnSpPr>
            <a:cxnSpLocks/>
          </p:cNvCxnSpPr>
          <p:nvPr/>
        </p:nvCxnSpPr>
        <p:spPr>
          <a:xfrm flipH="1">
            <a:off x="4034118" y="3691308"/>
            <a:ext cx="761639" cy="127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02ABDB-993F-837F-2C68-3A4E704F3C3E}"/>
              </a:ext>
            </a:extLst>
          </p:cNvPr>
          <p:cNvCxnSpPr>
            <a:cxnSpLocks/>
          </p:cNvCxnSpPr>
          <p:nvPr/>
        </p:nvCxnSpPr>
        <p:spPr>
          <a:xfrm>
            <a:off x="4795758" y="3691308"/>
            <a:ext cx="1887728" cy="127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542306-81DE-DCBA-2FF2-67DAFF9EB703}"/>
              </a:ext>
            </a:extLst>
          </p:cNvPr>
          <p:cNvCxnSpPr/>
          <p:nvPr/>
        </p:nvCxnSpPr>
        <p:spPr>
          <a:xfrm flipH="1">
            <a:off x="5837936" y="4047744"/>
            <a:ext cx="877824" cy="1463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77B9A03-D7DE-F2E0-5A37-BBCAAC2DA114}"/>
              </a:ext>
            </a:extLst>
          </p:cNvPr>
          <p:cNvCxnSpPr>
            <a:cxnSpLocks/>
          </p:cNvCxnSpPr>
          <p:nvPr/>
        </p:nvCxnSpPr>
        <p:spPr>
          <a:xfrm>
            <a:off x="6716643" y="4047744"/>
            <a:ext cx="1154182" cy="195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D7232DC-3628-30D8-2096-AA4DB1744F7D}"/>
              </a:ext>
            </a:extLst>
          </p:cNvPr>
          <p:cNvCxnSpPr>
            <a:cxnSpLocks/>
          </p:cNvCxnSpPr>
          <p:nvPr/>
        </p:nvCxnSpPr>
        <p:spPr>
          <a:xfrm flipH="1">
            <a:off x="7510272" y="4425696"/>
            <a:ext cx="360553" cy="1463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16DE21-03ED-6159-15E9-33D3B220FDFA}"/>
              </a:ext>
            </a:extLst>
          </p:cNvPr>
          <p:cNvCxnSpPr/>
          <p:nvPr/>
        </p:nvCxnSpPr>
        <p:spPr>
          <a:xfrm>
            <a:off x="7870825" y="4425696"/>
            <a:ext cx="529463" cy="1463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7FBA496-BAF8-D1BC-9E40-8398BBF3EEC7}"/>
              </a:ext>
            </a:extLst>
          </p:cNvPr>
          <p:cNvCxnSpPr>
            <a:cxnSpLocks/>
          </p:cNvCxnSpPr>
          <p:nvPr/>
        </p:nvCxnSpPr>
        <p:spPr>
          <a:xfrm>
            <a:off x="8388096" y="4791456"/>
            <a:ext cx="0" cy="1899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24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2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6255D5-59AE-83A2-FBA8-9CFD2B7E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>
                <a:latin typeface="Aptos Display"/>
              </a:rPr>
              <a:t>Conclusions and acknowledgements 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2AF114-E439-4138-6764-C6A193DC3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911" y="1417638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sz="2800" dirty="0">
                <a:latin typeface="Aptos"/>
                <a:ea typeface="新細明體"/>
              </a:rPr>
              <a:t>(Spanish) </a:t>
            </a:r>
            <a:r>
              <a:rPr lang="zh-TW" sz="2800" i="1" dirty="0">
                <a:latin typeface="Aptos"/>
                <a:ea typeface="新細明體"/>
              </a:rPr>
              <a:t>Agradezco A vosotros por asistir a mi presentación </a:t>
            </a:r>
            <a:r>
              <a:rPr lang="en-GB" altLang="zh-TW" sz="2800" i="1" dirty="0">
                <a:latin typeface="Aptos"/>
                <a:ea typeface="新細明體"/>
              </a:rPr>
              <a:t>(</a:t>
            </a:r>
            <a:r>
              <a:rPr lang="en-US" altLang="zh-TW" sz="2400" dirty="0">
                <a:latin typeface="Aptos"/>
                <a:ea typeface="新細明體"/>
              </a:rPr>
              <a:t>animate/personal,</a:t>
            </a:r>
            <a:r>
              <a:rPr lang="zh-TW" altLang="en-US" sz="2400" dirty="0">
                <a:latin typeface="Aptos"/>
                <a:ea typeface="新細明體"/>
              </a:rPr>
              <a:t> </a:t>
            </a:r>
            <a:r>
              <a:rPr lang="en-US" altLang="zh-TW" sz="2400" dirty="0">
                <a:latin typeface="Aptos"/>
                <a:ea typeface="新細明體"/>
              </a:rPr>
              <a:t>pronominal</a:t>
            </a:r>
            <a:r>
              <a:rPr lang="zh-TW" altLang="en-US" sz="2400" dirty="0">
                <a:latin typeface="Aptos"/>
                <a:ea typeface="新細明體"/>
              </a:rPr>
              <a:t> </a:t>
            </a:r>
            <a:r>
              <a:rPr lang="en-US" altLang="zh-TW" sz="2400" dirty="0">
                <a:latin typeface="Aptos"/>
                <a:ea typeface="新細明體"/>
              </a:rPr>
              <a:t>(obligatory</a:t>
            </a:r>
            <a:r>
              <a:rPr lang="zh-TW" altLang="en-US" sz="2400" dirty="0">
                <a:latin typeface="Aptos"/>
                <a:ea typeface="新細明體"/>
              </a:rPr>
              <a:t> </a:t>
            </a:r>
            <a:r>
              <a:rPr lang="en-US" altLang="zh-TW" sz="2400" dirty="0">
                <a:latin typeface="Aptos"/>
                <a:ea typeface="新細明體"/>
              </a:rPr>
              <a:t>DOM))</a:t>
            </a:r>
            <a:endParaRPr lang="en-US" altLang="zh-TW" sz="2400" dirty="0">
              <a:latin typeface="Aptos"/>
              <a:ea typeface="新細明體"/>
              <a:cs typeface="Calibri"/>
            </a:endParaRPr>
          </a:p>
          <a:p>
            <a:endParaRPr lang="en-US" altLang="zh-TW" sz="2400" dirty="0">
              <a:latin typeface="Aptos"/>
              <a:ea typeface="新細明體"/>
              <a:cs typeface="Calibri"/>
            </a:endParaRPr>
          </a:p>
          <a:p>
            <a:endParaRPr lang="zh-TW" sz="2800" i="1" dirty="0">
              <a:latin typeface="Aptos"/>
              <a:ea typeface="新細明體"/>
              <a:cs typeface="Calibri"/>
            </a:endParaRPr>
          </a:p>
          <a:p>
            <a:endParaRPr lang="zh-TW" altLang="en-US" dirty="0">
              <a:ea typeface="新細明體"/>
              <a:cs typeface="Calibri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256A7158-59F1-28DC-959F-3155F0084F4C}"/>
              </a:ext>
            </a:extLst>
          </p:cNvPr>
          <p:cNvSpPr txBox="1">
            <a:spLocks/>
          </p:cNvSpPr>
          <p:nvPr/>
        </p:nvSpPr>
        <p:spPr>
          <a:xfrm>
            <a:off x="463825" y="273169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800" dirty="0">
                <a:latin typeface="Aptos"/>
                <a:ea typeface="新細明體"/>
              </a:rPr>
              <a:t>(Portuguese) </a:t>
            </a:r>
            <a:r>
              <a:rPr lang="en-US" altLang="zh-TW" sz="2800" i="1" dirty="0">
                <a:latin typeface="Aptos"/>
                <a:ea typeface="新細明體"/>
              </a:rPr>
              <a:t>Eu </a:t>
            </a:r>
            <a:r>
              <a:rPr lang="en-US" altLang="zh-TW" sz="2800" i="1" dirty="0" err="1">
                <a:latin typeface="Aptos"/>
                <a:ea typeface="新細明體"/>
              </a:rPr>
              <a:t>agradeço</a:t>
            </a:r>
            <a:r>
              <a:rPr lang="en-US" altLang="zh-TW" sz="2800" i="1" dirty="0">
                <a:latin typeface="Aptos"/>
                <a:ea typeface="新細明體"/>
              </a:rPr>
              <a:t> A </a:t>
            </a:r>
            <a:r>
              <a:rPr lang="en-US" sz="2800" i="1" dirty="0" err="1">
                <a:latin typeface="Aptos"/>
                <a:ea typeface="新細明體"/>
              </a:rPr>
              <a:t>todos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vocês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por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assistirem</a:t>
            </a:r>
            <a:r>
              <a:rPr lang="en-US" sz="2800" i="1" dirty="0">
                <a:latin typeface="Aptos"/>
                <a:ea typeface="新細明體"/>
              </a:rPr>
              <a:t> à </a:t>
            </a:r>
            <a:r>
              <a:rPr lang="en-US" sz="2800" i="1" dirty="0" err="1">
                <a:latin typeface="Aptos"/>
                <a:ea typeface="新細明體"/>
              </a:rPr>
              <a:t>minha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apresentação</a:t>
            </a:r>
            <a:r>
              <a:rPr lang="en-US" sz="2800" i="1" dirty="0">
                <a:latin typeface="Aptos"/>
                <a:ea typeface="新細明體"/>
              </a:rPr>
              <a:t> (?)</a:t>
            </a:r>
            <a:r>
              <a:rPr lang="en-US" sz="2800" dirty="0">
                <a:latin typeface="Aptos"/>
                <a:ea typeface="新細明體"/>
                <a:cs typeface="Calibri"/>
              </a:rPr>
              <a:t> </a:t>
            </a:r>
            <a:endParaRPr lang="en-US" altLang="zh-TW" sz="2400" dirty="0">
              <a:latin typeface="Aptos"/>
              <a:ea typeface="新細明體"/>
              <a:cs typeface="Calibri"/>
            </a:endParaRPr>
          </a:p>
          <a:p>
            <a:endParaRPr lang="en-US" altLang="zh-TW" sz="2400" dirty="0">
              <a:latin typeface="Aptos"/>
              <a:ea typeface="新細明體"/>
              <a:cs typeface="Calibri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B146CF8B-47AB-0925-DC33-5908D9400E49}"/>
              </a:ext>
            </a:extLst>
          </p:cNvPr>
          <p:cNvSpPr txBox="1">
            <a:spLocks/>
          </p:cNvSpPr>
          <p:nvPr/>
        </p:nvSpPr>
        <p:spPr>
          <a:xfrm>
            <a:off x="485911" y="386318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i="1" dirty="0" err="1">
                <a:latin typeface="Aptos"/>
                <a:ea typeface="新細明體"/>
              </a:rPr>
              <a:t>Porque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todos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vocês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são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como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divindades</a:t>
            </a:r>
            <a:r>
              <a:rPr lang="en-US" sz="2800" i="1" dirty="0">
                <a:latin typeface="Aptos"/>
                <a:ea typeface="新細明體"/>
              </a:rPr>
              <a:t> para </a:t>
            </a:r>
            <a:r>
              <a:rPr lang="en-US" sz="2800" i="1" dirty="0" err="1">
                <a:latin typeface="Aptos"/>
                <a:ea typeface="新細明體"/>
              </a:rPr>
              <a:t>mim</a:t>
            </a:r>
            <a:r>
              <a:rPr lang="en-US" sz="2800" i="1" dirty="0">
                <a:latin typeface="Aptos"/>
                <a:ea typeface="新細明體"/>
                <a:cs typeface="Calibri"/>
              </a:rPr>
              <a:t> </a:t>
            </a:r>
            <a:endParaRPr lang="en-US" altLang="zh-TW" sz="2400" dirty="0">
              <a:latin typeface="Aptos"/>
              <a:ea typeface="新細明體"/>
              <a:cs typeface="Calibri"/>
            </a:endParaRPr>
          </a:p>
          <a:p>
            <a:endParaRPr lang="en-US" sz="2800" dirty="0">
              <a:latin typeface="Aptos"/>
              <a:ea typeface="新細明體"/>
              <a:cs typeface="Calibri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EC66CB81-4AAA-D082-D23C-50837E3794D1}"/>
              </a:ext>
            </a:extLst>
          </p:cNvPr>
          <p:cNvSpPr txBox="1">
            <a:spLocks/>
          </p:cNvSpPr>
          <p:nvPr/>
        </p:nvSpPr>
        <p:spPr>
          <a:xfrm>
            <a:off x="474868" y="481211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i="1" dirty="0">
                <a:latin typeface="Aptos"/>
                <a:ea typeface="新細明體"/>
              </a:rPr>
              <a:t>(Late Latin) AD VOS </a:t>
            </a:r>
            <a:r>
              <a:rPr lang="en-US" sz="2800" i="1" dirty="0" err="1">
                <a:latin typeface="Aptos"/>
                <a:ea typeface="新細明體"/>
              </a:rPr>
              <a:t>gratias</a:t>
            </a:r>
            <a:r>
              <a:rPr lang="en-US" sz="2800" i="1" dirty="0">
                <a:latin typeface="Aptos"/>
                <a:ea typeface="新細明體"/>
              </a:rPr>
              <a:t> ago </a:t>
            </a:r>
            <a:r>
              <a:rPr lang="en-US" sz="2800" i="1" dirty="0" err="1">
                <a:latin typeface="Aptos"/>
                <a:ea typeface="新細明體"/>
              </a:rPr>
              <a:t>quod</a:t>
            </a:r>
            <a:r>
              <a:rPr lang="en-US" sz="2800" i="1" dirty="0">
                <a:latin typeface="Aptos"/>
                <a:ea typeface="新細明體"/>
              </a:rPr>
              <a:t> me </a:t>
            </a:r>
            <a:r>
              <a:rPr lang="en-US" sz="2800" i="1" dirty="0" err="1">
                <a:latin typeface="Aptos"/>
                <a:ea typeface="新細明體"/>
              </a:rPr>
              <a:t>disserere</a:t>
            </a:r>
            <a:r>
              <a:rPr lang="en-US" sz="2800" i="1" dirty="0">
                <a:latin typeface="Aptos"/>
                <a:ea typeface="新細明體"/>
              </a:rPr>
              <a:t> </a:t>
            </a:r>
            <a:r>
              <a:rPr lang="en-US" sz="2800" i="1" dirty="0" err="1">
                <a:latin typeface="Aptos"/>
                <a:ea typeface="新細明體"/>
              </a:rPr>
              <a:t>auditis</a:t>
            </a:r>
            <a:r>
              <a:rPr lang="en-US" sz="2800" i="1" dirty="0">
                <a:latin typeface="Aptos"/>
                <a:ea typeface="新細明體"/>
              </a:rPr>
              <a:t>.</a:t>
            </a:r>
            <a:r>
              <a:rPr lang="en-US" sz="2800" i="1" dirty="0">
                <a:latin typeface="Aptos"/>
                <a:ea typeface="新細明體"/>
                <a:cs typeface="Calibri"/>
              </a:rPr>
              <a:t> </a:t>
            </a:r>
          </a:p>
          <a:p>
            <a:pPr marL="0" indent="0">
              <a:buNone/>
            </a:pPr>
            <a:r>
              <a:rPr lang="en-US" altLang="zh-TW" sz="2800" i="1" dirty="0">
                <a:latin typeface="Aptos"/>
                <a:ea typeface="新細明體"/>
                <a:cs typeface="Calibri"/>
              </a:rPr>
              <a:t>AD VOS (human/animate/divine)</a:t>
            </a:r>
            <a:endParaRPr lang="en-US" altLang="zh-TW" sz="2400" dirty="0">
              <a:latin typeface="Aptos"/>
              <a:ea typeface="新細明體"/>
              <a:cs typeface="Calibri"/>
            </a:endParaRPr>
          </a:p>
          <a:p>
            <a:endParaRPr lang="en-US" sz="2800" i="1" dirty="0">
              <a:latin typeface="Aptos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117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5795</Words>
  <Application>Microsoft Office PowerPoint</Application>
  <PresentationFormat>On-screen Show (4:3)</PresentationFormat>
  <Paragraphs>488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DengXian</vt:lpstr>
      <vt:lpstr>新細明體</vt:lpstr>
      <vt:lpstr>Aptos</vt:lpstr>
      <vt:lpstr>Aptos Display</vt:lpstr>
      <vt:lpstr>Arial</vt:lpstr>
      <vt:lpstr>Calibri</vt:lpstr>
      <vt:lpstr>Wingdings</vt:lpstr>
      <vt:lpstr>Office Theme</vt:lpstr>
      <vt:lpstr>Romance Differential Object Marking (ad): Universals and Parameters: Cross-Linguistic and Language/Culture-Specific</vt:lpstr>
      <vt:lpstr>Romance Differential Object Marking </vt:lpstr>
      <vt:lpstr>Differential Object Marking: theory and data</vt:lpstr>
      <vt:lpstr>Romance ad: illustrative examples</vt:lpstr>
      <vt:lpstr>Formal analysis of Differential Object Marking (nominal)</vt:lpstr>
      <vt:lpstr>Formal analysis of Differential Object Marking (verbal/clausal)</vt:lpstr>
      <vt:lpstr>Typology of Romance Differential Object Marking (Spanish)</vt:lpstr>
      <vt:lpstr>Typology of Differential Object Marking (Catalán)</vt:lpstr>
      <vt:lpstr>Typology of Differential Object Marking (Italian dialects)</vt:lpstr>
      <vt:lpstr>Typology of Differential Object Marking (Portuguese)</vt:lpstr>
      <vt:lpstr>Formal analysis of Differential Object Marking (nominal)</vt:lpstr>
      <vt:lpstr>Formal analysis of Differential Object Marking (verbal/clausal)</vt:lpstr>
      <vt:lpstr>Comparative Typology of Differential Object Marking (ad)</vt:lpstr>
      <vt:lpstr>Proto-Romance Formation of Differential Object Marking (Latin AD)</vt:lpstr>
      <vt:lpstr>Verba videndi + AD (Latin) </vt:lpstr>
      <vt:lpstr>Verba videndi + AD (Latin &gt; Romance)</vt:lpstr>
      <vt:lpstr>Sornicola (1997, 1998)</vt:lpstr>
      <vt:lpstr>Servire + AD</vt:lpstr>
      <vt:lpstr>Clamare + AD (Latin &gt; Romance)</vt:lpstr>
      <vt:lpstr>Clamare + AD (Latin &gt; Romance )</vt:lpstr>
      <vt:lpstr>Verba rogandi + AD/AB</vt:lpstr>
      <vt:lpstr>Verba rogandi + AD/AB (2)</vt:lpstr>
      <vt:lpstr>Verba serviendi et clamandi et rogandi + AD</vt:lpstr>
      <vt:lpstr>Formal parameters of Differential Object Marking</vt:lpstr>
      <vt:lpstr>Conclusions and acknowledgements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Typology of Western Romance Differential Object Marking (ad): Historical-Comparative Microvariation</dc:title>
  <dc:creator>Keith Tse</dc:creator>
  <cp:lastModifiedBy>Keith Tse</cp:lastModifiedBy>
  <cp:revision>7</cp:revision>
  <dcterms:created xsi:type="dcterms:W3CDTF">2025-11-28T03:49:49Z</dcterms:created>
  <dcterms:modified xsi:type="dcterms:W3CDTF">2025-12-03T04:34:58Z</dcterms:modified>
</cp:coreProperties>
</file>