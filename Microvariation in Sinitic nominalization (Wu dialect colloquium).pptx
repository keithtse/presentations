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1" r:id="rId7"/>
    <p:sldId id="260" r:id="rId8"/>
    <p:sldId id="262" r:id="rId9"/>
    <p:sldId id="264" r:id="rId10"/>
    <p:sldId id="265" r:id="rId11"/>
    <p:sldId id="269" r:id="rId12"/>
    <p:sldId id="275" r:id="rId13"/>
    <p:sldId id="276" r:id="rId14"/>
    <p:sldId id="277" r:id="rId15"/>
    <p:sldId id="278" r:id="rId16"/>
    <p:sldId id="279" r:id="rId17"/>
    <p:sldId id="270" r:id="rId18"/>
    <p:sldId id="271" r:id="rId19"/>
    <p:sldId id="280" r:id="rId20"/>
    <p:sldId id="266" r:id="rId21"/>
    <p:sldId id="267" r:id="rId22"/>
    <p:sldId id="268" r:id="rId23"/>
    <p:sldId id="272" r:id="rId24"/>
    <p:sldId id="273" r:id="rId25"/>
    <p:sldId id="274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040" autoAdjust="0"/>
    <p:restoredTop sz="94660"/>
  </p:normalViewPr>
  <p:slideViewPr>
    <p:cSldViewPr snapToGrid="0">
      <p:cViewPr varScale="1">
        <p:scale>
          <a:sx n="78" d="100"/>
          <a:sy n="78" d="100"/>
        </p:scale>
        <p:origin x="101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328989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052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02924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05511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1492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428907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88311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47339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15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0171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32885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418966-B430-4DDF-8FAF-7FA0B0308855}" type="datetimeFigureOut">
              <a:rPr lang="en-GB" smtClean="0"/>
              <a:t>16/07/2021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F0BC81-9A9C-4BF7-A010-6639DCCCB9E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99558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12772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US" altLang="zh-CN" dirty="0" err="1" smtClean="0"/>
              <a:t>Microvariation</a:t>
            </a:r>
            <a:r>
              <a:rPr lang="en-US" altLang="zh-CN" dirty="0" smtClean="0"/>
              <a:t> in Sinitic nominalization (</a:t>
            </a:r>
            <a:r>
              <a:rPr lang="zh-CN" altLang="en-US" dirty="0" smtClean="0"/>
              <a:t>漢語方言名詞化的構造和參數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987681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Keith Tse (MCIL CL)</a:t>
            </a:r>
          </a:p>
          <a:p>
            <a:r>
              <a:rPr lang="en-US" dirty="0" smtClean="0"/>
              <a:t>Ronin Institute/IGDORE (</a:t>
            </a:r>
            <a:r>
              <a:rPr lang="zh-CN" altLang="en-US" dirty="0" smtClean="0"/>
              <a:t>浪人學會</a:t>
            </a:r>
            <a:r>
              <a:rPr lang="en-US" altLang="zh-CN" dirty="0" smtClean="0"/>
              <a:t>/</a:t>
            </a:r>
            <a:r>
              <a:rPr lang="zh-CN" altLang="en-US" dirty="0" smtClean="0"/>
              <a:t>國際通行開放研究及教育學會</a:t>
            </a:r>
            <a:r>
              <a:rPr lang="en-US" altLang="zh-CN" dirty="0" smtClean="0"/>
              <a:t>)</a:t>
            </a:r>
          </a:p>
          <a:p>
            <a:r>
              <a:rPr lang="en-US" dirty="0" smtClean="0"/>
              <a:t>Wu Dialects Colloquium</a:t>
            </a:r>
          </a:p>
          <a:p>
            <a:r>
              <a:rPr lang="en-US" dirty="0" smtClean="0"/>
              <a:t>16</a:t>
            </a:r>
            <a:r>
              <a:rPr lang="en-US" baseline="30000" dirty="0" smtClean="0"/>
              <a:t>th</a:t>
            </a:r>
            <a:r>
              <a:rPr lang="en-US" dirty="0" smtClean="0"/>
              <a:t> July 2021</a:t>
            </a:r>
            <a:endParaRPr lang="en-GB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0" y="4830752"/>
            <a:ext cx="12192000" cy="203038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800" dirty="0" smtClean="0"/>
              <a:t>My grateful acknowledgement to the audiences at previous conferences to whom </a:t>
            </a:r>
            <a:r>
              <a:rPr lang="en-US" sz="1800" dirty="0"/>
              <a:t>e</a:t>
            </a:r>
            <a:r>
              <a:rPr lang="en-US" sz="1800" dirty="0" smtClean="0"/>
              <a:t>arlier versions of my work on Chinese nominal constructions were presented, namely FoCaL-2 (Education University of Hong Kong, July 2019), Isoctal-3 (University of Cork, Ireland, December 2019) and 24</a:t>
            </a:r>
            <a:r>
              <a:rPr lang="en-US" sz="1800" baseline="30000" dirty="0" smtClean="0"/>
              <a:t>th</a:t>
            </a:r>
            <a:r>
              <a:rPr lang="en-US" sz="1800" dirty="0" smtClean="0"/>
              <a:t> Yue Dialects International Conference (University of Macau, November 2020</a:t>
            </a:r>
            <a:r>
              <a:rPr lang="en-US" sz="1800" dirty="0"/>
              <a:t>), and 9</a:t>
            </a:r>
            <a:r>
              <a:rPr lang="en-US" sz="1800" baseline="30000" dirty="0"/>
              <a:t>th</a:t>
            </a:r>
            <a:r>
              <a:rPr lang="en-US" sz="1800" dirty="0"/>
              <a:t> Workshop on Nominalizations/9emes </a:t>
            </a:r>
            <a:r>
              <a:rPr lang="en-US" sz="1800" dirty="0" err="1" smtClean="0"/>
              <a:t>Journées</a:t>
            </a:r>
            <a:r>
              <a:rPr lang="en-US" sz="1800" dirty="0" smtClean="0"/>
              <a:t> </a:t>
            </a:r>
            <a:r>
              <a:rPr lang="en-US" sz="1800" dirty="0" err="1"/>
              <a:t>d’Etude</a:t>
            </a:r>
            <a:r>
              <a:rPr lang="en-US" sz="1800" dirty="0"/>
              <a:t> sur les </a:t>
            </a:r>
            <a:r>
              <a:rPr lang="en-US" sz="1800" dirty="0" err="1"/>
              <a:t>Nominalisations</a:t>
            </a:r>
            <a:r>
              <a:rPr lang="en-US" sz="1800" dirty="0"/>
              <a:t> (JENom9</a:t>
            </a:r>
            <a:r>
              <a:rPr lang="en-US" sz="1800" dirty="0" smtClean="0"/>
              <a:t>) (June 2021). Special thanks also to my supervisors and mentors in East Asian and Theoretical Linguistics, especially Professor Feng Sheng-Li (</a:t>
            </a:r>
            <a:r>
              <a:rPr lang="zh-CN" altLang="en-US" sz="1800" dirty="0" smtClean="0"/>
              <a:t>馮勝利</a:t>
            </a:r>
            <a:r>
              <a:rPr lang="en-US" altLang="zh-CN" sz="1800" dirty="0" smtClean="0"/>
              <a:t>), </a:t>
            </a:r>
            <a:r>
              <a:rPr lang="en-US" sz="1800" dirty="0" smtClean="0"/>
              <a:t>Professor George </a:t>
            </a:r>
            <a:r>
              <a:rPr lang="en-US" sz="1800" dirty="0" err="1" smtClean="0"/>
              <a:t>Tsoulas</a:t>
            </a:r>
            <a:r>
              <a:rPr lang="en-US" sz="1800" dirty="0" smtClean="0"/>
              <a:t>, Professor Giuseppe </a:t>
            </a:r>
            <a:r>
              <a:rPr lang="en-US" sz="1800" dirty="0" err="1" smtClean="0"/>
              <a:t>Longobardi</a:t>
            </a:r>
            <a:r>
              <a:rPr lang="en-US" sz="1800" dirty="0" smtClean="0"/>
              <a:t>, Professor Peter Sells, Professor Ian Roberts and Professor Edith Aldridge for helping me with the facts and theories. </a:t>
            </a:r>
            <a:r>
              <a:rPr lang="en-US" altLang="zh-CN" sz="1800" dirty="0" smtClean="0"/>
              <a:t>Thanks also to the </a:t>
            </a:r>
            <a:r>
              <a:rPr lang="en-US" altLang="zh-CN" sz="1800" dirty="0" err="1" smtClean="0"/>
              <a:t>organisers</a:t>
            </a:r>
            <a:r>
              <a:rPr lang="en-US" altLang="zh-CN" sz="1800" dirty="0" smtClean="0"/>
              <a:t> of the Wu dialect colloquium fo</a:t>
            </a:r>
            <a:r>
              <a:rPr lang="en-US" altLang="zh-CN" sz="1800" dirty="0" smtClean="0"/>
              <a:t>r accepting my abstract, despite the fact that I do not speak Wu dialects. I hope that you find the content of my presentation satisfactory. 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4040490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altLang="zh-CN" dirty="0" err="1" smtClean="0"/>
              <a:t>Nominalisation</a:t>
            </a:r>
            <a:r>
              <a:rPr lang="en-US" altLang="zh-CN" dirty="0" smtClean="0"/>
              <a:t> in Chinese (</a:t>
            </a:r>
            <a:r>
              <a:rPr lang="zh-CN" altLang="en-US" dirty="0" smtClean="0"/>
              <a:t>漢語名詞化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709562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Attribution: 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39962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Adnominaliser</a:t>
            </a:r>
            <a:r>
              <a:rPr lang="en-US" dirty="0" smtClean="0"/>
              <a:t> (</a:t>
            </a:r>
            <a:r>
              <a:rPr lang="zh-CN" altLang="en-US" dirty="0" smtClean="0"/>
              <a:t>結構助詞</a:t>
            </a:r>
            <a:r>
              <a:rPr lang="en-US" altLang="zh-CN" dirty="0" smtClean="0"/>
              <a:t>): </a:t>
            </a:r>
            <a:r>
              <a:rPr lang="en-US" altLang="zh-CN" i="1" dirty="0" smtClean="0"/>
              <a:t>de</a:t>
            </a:r>
            <a:r>
              <a:rPr lang="en-US" altLang="zh-CN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)/ 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 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/</a:t>
            </a:r>
            <a:r>
              <a:rPr lang="zh-CN" altLang="en-US" dirty="0" smtClean="0"/>
              <a:t>个</a:t>
            </a:r>
            <a:r>
              <a:rPr lang="en-US" altLang="zh-CN" dirty="0" smtClean="0"/>
              <a:t>) ([t-]/[g-]) </a:t>
            </a:r>
            <a:r>
              <a:rPr lang="zh-CN" altLang="en-US" dirty="0" smtClean="0"/>
              <a:t>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5696946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Different functional heads in nominal domain (Paul (2019))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95745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(Ad)nominalization (Yap et al (2011)): 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85518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Possession (</a:t>
            </a:r>
            <a:r>
              <a:rPr lang="en-US" dirty="0" err="1" smtClean="0"/>
              <a:t>cf</a:t>
            </a:r>
            <a:r>
              <a:rPr lang="en-US" dirty="0" smtClean="0"/>
              <a:t> English ‘s):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200" y="22428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我的車 </a:t>
            </a:r>
            <a:r>
              <a:rPr lang="en-US" altLang="zh-CN" dirty="0" smtClean="0"/>
              <a:t>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</a:t>
            </a:r>
            <a:r>
              <a:rPr lang="en-US" dirty="0" smtClean="0"/>
              <a:t>o de </a:t>
            </a:r>
            <a:r>
              <a:rPr lang="en-US" dirty="0" err="1" smtClean="0"/>
              <a:t>che</a:t>
            </a:r>
            <a:r>
              <a:rPr lang="en-US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‘My car’ </a:t>
            </a:r>
            <a:endParaRPr lang="en-GB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771147" y="222848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我   嘅 車 </a:t>
            </a:r>
            <a:r>
              <a:rPr lang="en-US" altLang="zh-CN" dirty="0" smtClean="0"/>
              <a:t>(</a:t>
            </a:r>
            <a:r>
              <a:rPr lang="zh-CN" altLang="en-US" dirty="0" smtClean="0"/>
              <a:t>我  架 車</a:t>
            </a:r>
            <a:r>
              <a:rPr lang="en-US" altLang="zh-CN" dirty="0" smtClean="0"/>
              <a:t>)  (Cantonese)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ngo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 </a:t>
            </a:r>
            <a:r>
              <a:rPr lang="en-US" dirty="0" err="1" smtClean="0"/>
              <a:t>ngo</a:t>
            </a:r>
            <a:r>
              <a:rPr lang="en-US" dirty="0" smtClean="0"/>
              <a:t> </a:t>
            </a:r>
            <a:r>
              <a:rPr lang="en-US" dirty="0" err="1" smtClean="0"/>
              <a:t>ga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‘My car’ (</a:t>
            </a:r>
            <a:r>
              <a:rPr lang="en-US" dirty="0" err="1" smtClean="0"/>
              <a:t>Sio</a:t>
            </a:r>
            <a:r>
              <a:rPr lang="en-US" dirty="0" smtClean="0"/>
              <a:t> (2011:129))</a:t>
            </a:r>
            <a:endParaRPr lang="en-GB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38200" y="418183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胖     的 女人 </a:t>
            </a:r>
            <a:r>
              <a:rPr lang="en-US" altLang="zh-CN" dirty="0" smtClean="0"/>
              <a:t>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p</a:t>
            </a:r>
            <a:r>
              <a:rPr lang="en-US" dirty="0" smtClean="0"/>
              <a:t>ang de </a:t>
            </a:r>
            <a:r>
              <a:rPr lang="en-US" dirty="0" err="1" smtClean="0"/>
              <a:t>nüren</a:t>
            </a:r>
            <a:r>
              <a:rPr lang="en-US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‘fat woman’ </a:t>
            </a:r>
            <a:endParaRPr lang="en-GB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5771147" y="418543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肥     嘅</a:t>
            </a:r>
            <a:r>
              <a:rPr lang="zh-CN" altLang="en-US" dirty="0" smtClean="0"/>
              <a:t> 女    人 </a:t>
            </a:r>
            <a:r>
              <a:rPr lang="en-US" altLang="zh-CN" dirty="0" smtClean="0"/>
              <a:t>(Cantonese)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pang </a:t>
            </a:r>
            <a:r>
              <a:rPr lang="en-US" altLang="zh-CN" dirty="0" err="1" smtClean="0"/>
              <a:t>g</a:t>
            </a:r>
            <a:r>
              <a:rPr lang="en-US" dirty="0" err="1" smtClean="0"/>
              <a:t>e</a:t>
            </a:r>
            <a:r>
              <a:rPr lang="en-US" dirty="0" smtClean="0"/>
              <a:t> </a:t>
            </a:r>
            <a:r>
              <a:rPr lang="en-US" dirty="0" err="1" smtClean="0"/>
              <a:t>neoi</a:t>
            </a:r>
            <a:r>
              <a:rPr lang="en-US" dirty="0" smtClean="0"/>
              <a:t> </a:t>
            </a:r>
            <a:r>
              <a:rPr lang="en-US" dirty="0" err="1" smtClean="0"/>
              <a:t>jan</a:t>
            </a:r>
            <a:r>
              <a:rPr lang="en-US" dirty="0" smtClean="0"/>
              <a:t>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‘fat woman’ (</a:t>
            </a:r>
            <a:r>
              <a:rPr lang="en-US" dirty="0" err="1" smtClean="0"/>
              <a:t>Sio</a:t>
            </a:r>
            <a:r>
              <a:rPr lang="en-US" dirty="0" smtClean="0"/>
              <a:t> (2011:129)) </a:t>
            </a:r>
            <a:endParaRPr lang="en-GB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38200" y="6085098"/>
            <a:ext cx="10515600" cy="11773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的 </a:t>
            </a:r>
            <a:r>
              <a:rPr lang="en-US" altLang="zh-CN" dirty="0" smtClean="0"/>
              <a:t>&lt; </a:t>
            </a:r>
            <a:r>
              <a:rPr lang="zh-CN" altLang="en-US" dirty="0" smtClean="0"/>
              <a:t>底 </a:t>
            </a:r>
            <a:r>
              <a:rPr lang="en-US" altLang="zh-CN" dirty="0" smtClean="0"/>
              <a:t>&lt; </a:t>
            </a:r>
            <a:r>
              <a:rPr lang="zh-CN" altLang="en-US" dirty="0" smtClean="0"/>
              <a:t>者 </a:t>
            </a:r>
            <a:r>
              <a:rPr lang="en-US" altLang="zh-CN" dirty="0" smtClean="0"/>
              <a:t>(phrase-final </a:t>
            </a:r>
            <a:r>
              <a:rPr lang="en-US" altLang="zh-CN" dirty="0" err="1" smtClean="0"/>
              <a:t>nominaliser</a:t>
            </a:r>
            <a:r>
              <a:rPr lang="en-US" altLang="zh-CN" dirty="0" smtClean="0"/>
              <a:t>: XP-n) (</a:t>
            </a:r>
            <a:r>
              <a:rPr lang="zh-CN" altLang="en-US" dirty="0" smtClean="0"/>
              <a:t>劉 </a:t>
            </a:r>
            <a:r>
              <a:rPr lang="en-US" altLang="zh-CN" dirty="0" smtClean="0"/>
              <a:t>2008; Aldridge 2009);</a:t>
            </a:r>
            <a:r>
              <a:rPr lang="zh-CN" altLang="en-US" dirty="0"/>
              <a:t>個 </a:t>
            </a:r>
            <a:r>
              <a:rPr lang="en-US" altLang="zh-CN" dirty="0"/>
              <a:t>(general classifier) (CL) (</a:t>
            </a:r>
            <a:r>
              <a:rPr lang="zh-CN" altLang="en-US" dirty="0"/>
              <a:t>曹 </a:t>
            </a:r>
            <a:r>
              <a:rPr lang="en-US" altLang="zh-CN" dirty="0"/>
              <a:t>1995; </a:t>
            </a:r>
            <a:r>
              <a:rPr lang="zh-CN" altLang="en-US" dirty="0"/>
              <a:t>李 </a:t>
            </a:r>
            <a:r>
              <a:rPr lang="en-US" altLang="zh-CN" dirty="0"/>
              <a:t>2016)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7250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 err="1" smtClean="0"/>
              <a:t>Nominalisation</a:t>
            </a:r>
            <a:r>
              <a:rPr lang="en-US" altLang="zh-CN" dirty="0" smtClean="0"/>
              <a:t> in Chinese dialects: </a:t>
            </a:r>
            <a:r>
              <a:rPr lang="en-US" altLang="zh-CN" dirty="0" err="1" smtClean="0"/>
              <a:t>microvariation</a:t>
            </a:r>
            <a:r>
              <a:rPr lang="en-US" altLang="zh-CN" dirty="0" smtClean="0"/>
              <a:t> (</a:t>
            </a:r>
            <a:r>
              <a:rPr lang="zh-CN" altLang="en-US" dirty="0" smtClean="0"/>
              <a:t>漢語名詞化的參數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306966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Chinese cleft constructions 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-</a:t>
            </a:r>
            <a:r>
              <a:rPr lang="zh-CN" altLang="en-US" dirty="0" smtClean="0"/>
              <a:t>的</a:t>
            </a:r>
            <a:r>
              <a:rPr lang="en-US" altLang="zh-CN" dirty="0" smtClean="0"/>
              <a:t>/</a:t>
            </a:r>
            <a:r>
              <a:rPr lang="zh-CN" altLang="en-US" dirty="0" smtClean="0"/>
              <a:t>係</a:t>
            </a:r>
            <a:r>
              <a:rPr lang="en-US" altLang="zh-CN" dirty="0" smtClean="0"/>
              <a:t>-</a:t>
            </a:r>
            <a:r>
              <a:rPr lang="zh-CN" altLang="en-US" dirty="0" smtClean="0"/>
              <a:t>嘅</a:t>
            </a:r>
            <a:r>
              <a:rPr lang="en-US" altLang="zh-CN" dirty="0" smtClean="0"/>
              <a:t>: COP +</a:t>
            </a:r>
            <a:r>
              <a:rPr lang="en-US" dirty="0" smtClean="0"/>
              <a:t> </a:t>
            </a:r>
            <a:r>
              <a:rPr lang="en-US" i="1" dirty="0" smtClean="0"/>
              <a:t>de/</a:t>
            </a:r>
            <a:r>
              <a:rPr lang="en-US" i="1" dirty="0" err="1" smtClean="0"/>
              <a:t>ge</a:t>
            </a:r>
            <a:r>
              <a:rPr lang="en-US" dirty="0" smtClean="0"/>
              <a:t>): 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3250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Adnominaliser</a:t>
            </a:r>
            <a:r>
              <a:rPr lang="en-US" dirty="0" smtClean="0"/>
              <a:t> (</a:t>
            </a:r>
            <a:r>
              <a:rPr lang="zh-CN" altLang="en-US" dirty="0" smtClean="0"/>
              <a:t>結構助詞</a:t>
            </a:r>
            <a:r>
              <a:rPr lang="en-US" altLang="zh-CN" dirty="0" smtClean="0"/>
              <a:t>): </a:t>
            </a:r>
            <a:r>
              <a:rPr lang="en-US" altLang="zh-CN" i="1" dirty="0" smtClean="0"/>
              <a:t>de</a:t>
            </a:r>
            <a:r>
              <a:rPr lang="en-US" altLang="zh-CN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vs 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 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) </a:t>
            </a:r>
            <a:r>
              <a:rPr lang="zh-CN" altLang="en-US" dirty="0" smtClean="0"/>
              <a:t> 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52036" y="4196607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他 是 昨天      買</a:t>
            </a:r>
            <a:r>
              <a:rPr lang="en-US" altLang="zh-CN" dirty="0" smtClean="0"/>
              <a:t>-</a:t>
            </a:r>
            <a:r>
              <a:rPr lang="zh-CN" altLang="en-US" dirty="0" smtClean="0"/>
              <a:t>的   票 </a:t>
            </a:r>
            <a:r>
              <a:rPr lang="en-US" altLang="zh-CN" dirty="0" smtClean="0"/>
              <a:t>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t</a:t>
            </a:r>
            <a:r>
              <a:rPr lang="en-US" altLang="zh-CN" dirty="0" smtClean="0"/>
              <a:t>a </a:t>
            </a:r>
            <a:r>
              <a:rPr lang="en-US" altLang="zh-CN" dirty="0" err="1" smtClean="0"/>
              <a:t>shi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zuotian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mai</a:t>
            </a:r>
            <a:r>
              <a:rPr lang="en-US" altLang="zh-CN" dirty="0" smtClean="0"/>
              <a:t>-de </a:t>
            </a:r>
            <a:r>
              <a:rPr lang="en-US" altLang="zh-CN" dirty="0" err="1" smtClean="0"/>
              <a:t>piao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‘It was yesterday that he bought tickets.’  </a:t>
            </a:r>
            <a:r>
              <a:rPr lang="zh-CN" altLang="en-US" dirty="0" smtClean="0"/>
              <a:t>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1819737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Tang (2011)/</a:t>
            </a:r>
            <a:r>
              <a:rPr lang="zh-CN" altLang="en-US" dirty="0" smtClean="0"/>
              <a:t>鄧 </a:t>
            </a:r>
            <a:r>
              <a:rPr lang="en-US" altLang="zh-CN" dirty="0" smtClean="0"/>
              <a:t>2008; 2009; 2010: </a:t>
            </a:r>
            <a:r>
              <a:rPr lang="en-US" dirty="0"/>
              <a:t>North vs South (</a:t>
            </a:r>
            <a:r>
              <a:rPr lang="zh-CN" altLang="en-US" dirty="0"/>
              <a:t>南北非是</a:t>
            </a:r>
            <a:r>
              <a:rPr lang="en-US" altLang="zh-CN" dirty="0"/>
              <a:t>) (</a:t>
            </a:r>
            <a:r>
              <a:rPr lang="zh-CN" altLang="en-US" dirty="0"/>
              <a:t>鄧</a:t>
            </a:r>
            <a:r>
              <a:rPr lang="en-US" altLang="zh-CN" dirty="0"/>
              <a:t> </a:t>
            </a:r>
            <a:r>
              <a:rPr lang="en-US" altLang="zh-CN" dirty="0" smtClean="0"/>
              <a:t>2009:243)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 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198" y="28035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他是昨天買票的 </a:t>
            </a:r>
            <a:r>
              <a:rPr lang="en-US" altLang="zh-CN" dirty="0" smtClean="0"/>
              <a:t>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</a:t>
            </a:r>
            <a:r>
              <a:rPr lang="en-US" dirty="0" smtClean="0"/>
              <a:t>a </a:t>
            </a:r>
            <a:r>
              <a:rPr lang="en-US" dirty="0" err="1" smtClean="0"/>
              <a:t>shi</a:t>
            </a:r>
            <a:r>
              <a:rPr lang="en-US" dirty="0" smtClean="0"/>
              <a:t> </a:t>
            </a:r>
            <a:r>
              <a:rPr lang="en-US" dirty="0" err="1" smtClean="0"/>
              <a:t>zuotian</a:t>
            </a:r>
            <a:r>
              <a:rPr lang="en-US" dirty="0" smtClean="0"/>
              <a:t> </a:t>
            </a:r>
            <a:r>
              <a:rPr lang="en-US" dirty="0" err="1" smtClean="0"/>
              <a:t>mai</a:t>
            </a:r>
            <a:r>
              <a:rPr lang="en-US" dirty="0" smtClean="0"/>
              <a:t> </a:t>
            </a:r>
            <a:r>
              <a:rPr lang="en-US" dirty="0" err="1" smtClean="0"/>
              <a:t>piao</a:t>
            </a:r>
            <a:r>
              <a:rPr lang="en-US" dirty="0" smtClean="0"/>
              <a:t> de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‘It was yesterday that he bought tickets.’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9065594" y="408397"/>
            <a:ext cx="314024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d</a:t>
            </a:r>
            <a:r>
              <a:rPr lang="en-US" sz="2800" i="1" dirty="0" smtClean="0"/>
              <a:t>e</a:t>
            </a:r>
            <a:r>
              <a:rPr lang="en-US" sz="2800" dirty="0" smtClean="0"/>
              <a:t> 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en-GB" sz="2800" dirty="0"/>
              <a:t>≠ </a:t>
            </a:r>
            <a:r>
              <a:rPr lang="en-GB" sz="2800" dirty="0" smtClean="0"/>
              <a:t> </a:t>
            </a:r>
            <a:r>
              <a:rPr lang="en-GB" sz="2800" i="1" dirty="0" err="1" smtClean="0"/>
              <a:t>ge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嘅）</a:t>
            </a:r>
            <a:r>
              <a:rPr lang="en-GB" altLang="zh-CN" sz="2800" dirty="0" smtClean="0"/>
              <a:t>:</a:t>
            </a:r>
            <a:r>
              <a:rPr lang="en-US" altLang="zh-CN" sz="2800" dirty="0" smtClean="0"/>
              <a:t> </a:t>
            </a:r>
            <a:r>
              <a:rPr lang="en-US" altLang="zh-CN" sz="2800" i="1" dirty="0" err="1" smtClean="0"/>
              <a:t>VdeO</a:t>
            </a:r>
            <a:r>
              <a:rPr lang="en-US" altLang="zh-CN" sz="2800" dirty="0" smtClean="0"/>
              <a:t>/*</a:t>
            </a:r>
            <a:r>
              <a:rPr lang="en-US" altLang="zh-CN" sz="2800" i="1" dirty="0" err="1" smtClean="0"/>
              <a:t>VgeO</a:t>
            </a:r>
            <a:endParaRPr lang="en-GB" sz="2800" i="1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5997" y="4118705"/>
            <a:ext cx="58854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/>
              <a:t>*</a:t>
            </a:r>
            <a:r>
              <a:rPr lang="zh-TW" altLang="en-US" dirty="0" smtClean="0"/>
              <a:t>佢  係  琴日     買</a:t>
            </a:r>
            <a:r>
              <a:rPr lang="en-US" altLang="zh-TW" dirty="0" smtClean="0"/>
              <a:t>-</a:t>
            </a:r>
            <a:r>
              <a:rPr lang="zh-TW" altLang="en-US" dirty="0" smtClean="0"/>
              <a:t>嘅    非 </a:t>
            </a:r>
            <a:r>
              <a:rPr lang="en-US" altLang="zh-TW" dirty="0" smtClean="0"/>
              <a:t>(Cantonese)</a:t>
            </a:r>
          </a:p>
          <a:p>
            <a:pPr marL="0" indent="0">
              <a:buNone/>
            </a:pPr>
            <a:r>
              <a:rPr lang="en-US" dirty="0" err="1"/>
              <a:t>k</a:t>
            </a:r>
            <a:r>
              <a:rPr lang="en-US" dirty="0" err="1" smtClean="0"/>
              <a:t>eui</a:t>
            </a:r>
            <a:r>
              <a:rPr lang="en-US" dirty="0" smtClean="0"/>
              <a:t> </a:t>
            </a:r>
            <a:r>
              <a:rPr lang="en-US" dirty="0" err="1" smtClean="0"/>
              <a:t>hai</a:t>
            </a:r>
            <a:r>
              <a:rPr lang="en-US" dirty="0" smtClean="0"/>
              <a:t> </a:t>
            </a:r>
            <a:r>
              <a:rPr lang="en-US" dirty="0" err="1" smtClean="0"/>
              <a:t>kamjat</a:t>
            </a:r>
            <a:r>
              <a:rPr lang="en-US" dirty="0" smtClean="0"/>
              <a:t> </a:t>
            </a:r>
            <a:r>
              <a:rPr lang="en-US" dirty="0" err="1" smtClean="0"/>
              <a:t>maai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fei</a:t>
            </a:r>
            <a:endParaRPr lang="en-GB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5913117" y="2718638"/>
            <a:ext cx="6251208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 smtClean="0"/>
              <a:t>佢 </a:t>
            </a:r>
            <a:r>
              <a:rPr lang="en-US" altLang="zh-TW" dirty="0"/>
              <a:t> </a:t>
            </a:r>
            <a:r>
              <a:rPr lang="en-US" altLang="zh-TW" dirty="0" smtClean="0"/>
              <a:t>  </a:t>
            </a:r>
            <a:r>
              <a:rPr lang="zh-CN" altLang="en-US" dirty="0" smtClean="0"/>
              <a:t>係  琴日    買</a:t>
            </a:r>
            <a:r>
              <a:rPr lang="zh-TW" altLang="en-US" dirty="0" smtClean="0"/>
              <a:t>     </a:t>
            </a:r>
            <a:r>
              <a:rPr lang="zh-CN" altLang="en-US" dirty="0" smtClean="0"/>
              <a:t>非 </a:t>
            </a:r>
            <a:r>
              <a:rPr lang="zh-TW" altLang="en-US" dirty="0" smtClean="0"/>
              <a:t>嘅 </a:t>
            </a:r>
            <a:r>
              <a:rPr lang="en-US" altLang="zh-TW" dirty="0" smtClean="0"/>
              <a:t>(Cantonese)</a:t>
            </a:r>
          </a:p>
          <a:p>
            <a:pPr marL="0" indent="0">
              <a:buNone/>
            </a:pPr>
            <a:r>
              <a:rPr lang="en-US" altLang="zh-TW" dirty="0" err="1" smtClean="0"/>
              <a:t>Keoi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hai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kamjat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maai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fei</a:t>
            </a:r>
            <a:r>
              <a:rPr lang="en-US" altLang="zh-TW" dirty="0" smtClean="0"/>
              <a:t> </a:t>
            </a:r>
            <a:r>
              <a:rPr lang="en-US" altLang="zh-TW" dirty="0" err="1" smtClean="0"/>
              <a:t>ge</a:t>
            </a:r>
            <a:endParaRPr lang="en-US" altLang="zh-TW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13836" y="5486113"/>
            <a:ext cx="121920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Sentence-final </a:t>
            </a:r>
            <a:r>
              <a:rPr lang="en-US" sz="2800" i="1" dirty="0" smtClean="0"/>
              <a:t>de/</a:t>
            </a:r>
            <a:r>
              <a:rPr lang="en-US" sz="2800" i="1" dirty="0" err="1" smtClean="0"/>
              <a:t>ge</a:t>
            </a:r>
            <a:r>
              <a:rPr lang="en-US" sz="2800" dirty="0" smtClean="0"/>
              <a:t> (SFP) expresses all TAM values, whereas verbal suffix </a:t>
            </a:r>
            <a:r>
              <a:rPr lang="en-US" sz="2800" i="1" dirty="0" smtClean="0"/>
              <a:t>de</a:t>
            </a:r>
            <a:r>
              <a:rPr lang="en-US" sz="2800" dirty="0" smtClean="0"/>
              <a:t> (</a:t>
            </a:r>
            <a:r>
              <a:rPr lang="en-US" sz="2800" dirty="0" err="1" smtClean="0"/>
              <a:t>VdeO</a:t>
            </a:r>
            <a:r>
              <a:rPr lang="en-US" sz="2800" dirty="0" smtClean="0"/>
              <a:t>) expresses past tense (Simpson and Wu (2002), Paul and Whitman (2008), Hole (2011), </a:t>
            </a:r>
            <a:r>
              <a:rPr lang="en-US" sz="2800" dirty="0" err="1" smtClean="0"/>
              <a:t>cf</a:t>
            </a:r>
            <a:r>
              <a:rPr lang="en-US" sz="2800" dirty="0" smtClean="0"/>
              <a:t> </a:t>
            </a:r>
            <a:r>
              <a:rPr lang="en-US" sz="2800" dirty="0" err="1" smtClean="0"/>
              <a:t>Dragunov</a:t>
            </a:r>
            <a:r>
              <a:rPr lang="en-US" sz="2800" dirty="0" smtClean="0"/>
              <a:t> (1952), Chao (1968), Li and Thomson (1981).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961474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9" grpId="0"/>
      <p:bldP spid="4" grpId="0"/>
      <p:bldP spid="10" grpId="0"/>
      <p:bldP spid="11" grpId="0"/>
      <p:bldP spid="1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CN" dirty="0" err="1" smtClean="0"/>
              <a:t>Nominalisation</a:t>
            </a:r>
            <a:r>
              <a:rPr lang="en-US" altLang="zh-CN" dirty="0" smtClean="0"/>
              <a:t> in Chinese dialects: </a:t>
            </a:r>
            <a:r>
              <a:rPr lang="en-US" altLang="zh-CN" dirty="0" err="1" smtClean="0"/>
              <a:t>microvariation</a:t>
            </a:r>
            <a:r>
              <a:rPr lang="en-US" altLang="zh-CN" dirty="0" smtClean="0"/>
              <a:t> (</a:t>
            </a:r>
            <a:r>
              <a:rPr lang="zh-CN" altLang="en-US" dirty="0" smtClean="0"/>
              <a:t>漢語名詞化的參數</a:t>
            </a:r>
            <a:r>
              <a:rPr lang="en-US" altLang="zh-CN" dirty="0" smtClean="0"/>
              <a:t>) (2)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3250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err="1" smtClean="0"/>
              <a:t>Adnominaliser</a:t>
            </a:r>
            <a:r>
              <a:rPr lang="en-US" dirty="0" smtClean="0"/>
              <a:t> (</a:t>
            </a:r>
            <a:r>
              <a:rPr lang="zh-CN" altLang="en-US" dirty="0" smtClean="0"/>
              <a:t>結構助詞</a:t>
            </a:r>
            <a:r>
              <a:rPr lang="en-US" altLang="zh-CN" dirty="0" smtClean="0"/>
              <a:t>): </a:t>
            </a:r>
            <a:r>
              <a:rPr lang="en-US" altLang="zh-CN" i="1" dirty="0" smtClean="0"/>
              <a:t>de</a:t>
            </a:r>
            <a:r>
              <a:rPr lang="en-US" altLang="zh-CN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vs 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 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) </a:t>
            </a:r>
            <a:r>
              <a:rPr lang="zh-CN" altLang="en-US" dirty="0" smtClean="0"/>
              <a:t> 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387395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他的 老師   當     得 好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t</a:t>
            </a:r>
            <a:r>
              <a:rPr lang="en-US" altLang="zh-CN" dirty="0" smtClean="0"/>
              <a:t>a de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 dang de </a:t>
            </a:r>
            <a:r>
              <a:rPr lang="en-US" altLang="zh-CN" dirty="0" err="1" smtClean="0"/>
              <a:t>hao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‘He is being a good teacher.’ 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83146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Chinese Activity </a:t>
            </a:r>
            <a:r>
              <a:rPr lang="en-US" dirty="0" err="1" smtClean="0"/>
              <a:t>nominals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zh-CN" altLang="en-US" dirty="0" smtClean="0"/>
              <a:t>他的老師當得好</a:t>
            </a:r>
            <a:r>
              <a:rPr lang="en-US" altLang="zh-CN" dirty="0" smtClean="0"/>
              <a:t>) (</a:t>
            </a:r>
            <a:r>
              <a:rPr lang="zh-CN" altLang="en-US" dirty="0" smtClean="0"/>
              <a:t>黃 </a:t>
            </a:r>
            <a:r>
              <a:rPr lang="en-US" altLang="zh-CN" dirty="0" smtClean="0"/>
              <a:t>(2008)):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他當他的老師</a:t>
            </a:r>
            <a:r>
              <a:rPr lang="en-US" altLang="zh-CN" dirty="0" smtClean="0"/>
              <a:t> (Mandarin)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t</a:t>
            </a:r>
            <a:r>
              <a:rPr lang="en-US" dirty="0" smtClean="0"/>
              <a:t>a de </a:t>
            </a:r>
            <a:r>
              <a:rPr lang="en-US" dirty="0" err="1" smtClean="0"/>
              <a:t>laoshi</a:t>
            </a:r>
            <a:r>
              <a:rPr lang="en-US" dirty="0" smtClean="0"/>
              <a:t> dang de </a:t>
            </a:r>
            <a:r>
              <a:rPr lang="en-US" dirty="0" err="1" smtClean="0"/>
              <a:t>hao</a:t>
            </a: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‘He is being a teacher.’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5304265"/>
            <a:ext cx="12191999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/>
              <a:t>d</a:t>
            </a:r>
            <a:r>
              <a:rPr lang="en-US" sz="2800" i="1" dirty="0" smtClean="0"/>
              <a:t>e</a:t>
            </a:r>
            <a:r>
              <a:rPr lang="en-US" sz="2800" dirty="0" smtClean="0"/>
              <a:t> 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en-GB" sz="2800" dirty="0"/>
              <a:t>≠ </a:t>
            </a:r>
            <a:r>
              <a:rPr lang="en-GB" sz="2800" dirty="0" smtClean="0"/>
              <a:t> </a:t>
            </a:r>
            <a:r>
              <a:rPr lang="en-GB" sz="2800" i="1" dirty="0" err="1" smtClean="0"/>
              <a:t>ge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嘅）</a:t>
            </a:r>
            <a:r>
              <a:rPr lang="en-US" altLang="zh-CN" sz="2800" dirty="0" smtClean="0"/>
              <a:t>: </a:t>
            </a:r>
            <a:r>
              <a:rPr lang="en-US" altLang="zh-CN" sz="2800" i="1" dirty="0" smtClean="0"/>
              <a:t>de</a:t>
            </a:r>
            <a:r>
              <a:rPr lang="en-US" altLang="zh-CN" sz="2800" dirty="0" smtClean="0"/>
              <a:t>, not </a:t>
            </a:r>
            <a:r>
              <a:rPr lang="en-US" altLang="zh-CN" sz="2800" i="1" dirty="0" err="1" smtClean="0"/>
              <a:t>ge</a:t>
            </a:r>
            <a:r>
              <a:rPr lang="en-US" altLang="zh-CN" sz="2800" dirty="0" smtClean="0"/>
              <a:t>, can head Activity </a:t>
            </a:r>
            <a:r>
              <a:rPr lang="en-US" altLang="zh-CN" sz="2800" dirty="0" err="1" smtClean="0"/>
              <a:t>nominals</a:t>
            </a:r>
            <a:r>
              <a:rPr lang="en-US" altLang="zh-CN" sz="2800" dirty="0" smtClean="0"/>
              <a:t> (</a:t>
            </a:r>
            <a:r>
              <a:rPr lang="zh-CN" altLang="en-US" sz="2800" dirty="0" smtClean="0"/>
              <a:t>他的老師</a:t>
            </a:r>
            <a:r>
              <a:rPr lang="en-US" altLang="zh-CN" sz="2800" dirty="0" smtClean="0"/>
              <a:t>/*</a:t>
            </a:r>
            <a:r>
              <a:rPr lang="zh-TW" altLang="en-US" sz="2800" dirty="0" smtClean="0"/>
              <a:t>佢嘅</a:t>
            </a:r>
            <a:r>
              <a:rPr lang="zh-CN" altLang="en-US" sz="2800" dirty="0" smtClean="0"/>
              <a:t>老師）</a:t>
            </a:r>
            <a:r>
              <a:rPr lang="en-US" altLang="zh-CN" sz="2800" dirty="0" smtClean="0"/>
              <a:t>in subject position, whereas both </a:t>
            </a:r>
            <a:r>
              <a:rPr lang="en-US" altLang="zh-CN" sz="2800" i="1" dirty="0" smtClean="0"/>
              <a:t>de</a:t>
            </a:r>
            <a:r>
              <a:rPr lang="en-US" altLang="zh-CN" sz="2800" dirty="0" smtClean="0"/>
              <a:t> and </a:t>
            </a:r>
            <a:r>
              <a:rPr lang="en-US" altLang="zh-CN" sz="2800" i="1" dirty="0" err="1" smtClean="0"/>
              <a:t>ge</a:t>
            </a:r>
            <a:r>
              <a:rPr lang="en-US" altLang="zh-CN" sz="2800" dirty="0" smtClean="0"/>
              <a:t> can do so in object position (</a:t>
            </a:r>
            <a:r>
              <a:rPr lang="zh-CN" altLang="en-US" sz="2800" dirty="0" smtClean="0"/>
              <a:t>他當他的老師</a:t>
            </a:r>
            <a:r>
              <a:rPr lang="en-US" altLang="zh-CN" sz="2800" dirty="0" smtClean="0"/>
              <a:t>/</a:t>
            </a:r>
            <a:r>
              <a:rPr lang="zh-TW" altLang="en-US" sz="2800" dirty="0" smtClean="0"/>
              <a:t>佢</a:t>
            </a:r>
            <a:r>
              <a:rPr lang="zh-CN" altLang="en-US" sz="2800" dirty="0" smtClean="0"/>
              <a:t>做</a:t>
            </a:r>
            <a:r>
              <a:rPr lang="zh-TW" altLang="en-US" sz="2800" dirty="0" smtClean="0"/>
              <a:t>佢嘅</a:t>
            </a:r>
            <a:r>
              <a:rPr lang="zh-CN" altLang="en-US" sz="2800" dirty="0" smtClean="0"/>
              <a:t>老師）</a:t>
            </a:r>
            <a:r>
              <a:rPr lang="en-US" altLang="zh-CN" sz="2800" dirty="0" smtClean="0"/>
              <a:t>. </a:t>
            </a:r>
            <a:r>
              <a:rPr lang="zh-TW" altLang="en-US" sz="2800" dirty="0" smtClean="0"/>
              <a:t> </a:t>
            </a:r>
            <a:endParaRPr lang="en-GB" sz="28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4989694" y="2337373"/>
            <a:ext cx="58854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 smtClean="0"/>
              <a:t>佢    </a:t>
            </a:r>
            <a:r>
              <a:rPr lang="zh-CN" altLang="en-US" dirty="0" smtClean="0"/>
              <a:t>做</a:t>
            </a:r>
            <a:r>
              <a:rPr lang="zh-TW" altLang="en-US" dirty="0" smtClean="0"/>
              <a:t>   佢   嘅 </a:t>
            </a:r>
            <a:r>
              <a:rPr lang="zh-CN" altLang="en-US" dirty="0" smtClean="0"/>
              <a:t>老師</a:t>
            </a:r>
            <a:r>
              <a:rPr lang="zh-TW" altLang="en-US" dirty="0" smtClean="0"/>
              <a:t>  </a:t>
            </a:r>
            <a:r>
              <a:rPr lang="en-US" altLang="zh-TW" dirty="0" smtClean="0"/>
              <a:t>(Cantonese)</a:t>
            </a:r>
          </a:p>
          <a:p>
            <a:pPr marL="0" indent="0">
              <a:buNone/>
            </a:pPr>
            <a:r>
              <a:rPr lang="en-US" dirty="0" err="1" smtClean="0"/>
              <a:t>ke</a:t>
            </a:r>
            <a:r>
              <a:rPr lang="en-US" altLang="zh-CN" dirty="0" err="1" smtClean="0"/>
              <a:t>o</a:t>
            </a:r>
            <a:r>
              <a:rPr lang="en-US" dirty="0" err="1" smtClean="0"/>
              <a:t>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keoi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endParaRPr lang="en-US" dirty="0" smtClean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4989693" y="3873955"/>
            <a:ext cx="5885447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altLang="zh-TW" dirty="0" smtClean="0"/>
              <a:t>*</a:t>
            </a:r>
            <a:r>
              <a:rPr lang="zh-TW" altLang="en-US" dirty="0" smtClean="0"/>
              <a:t>佢  嘅 老師 做  得   好 </a:t>
            </a:r>
            <a:endParaRPr lang="en-US" altLang="zh-TW" dirty="0" smtClean="0"/>
          </a:p>
          <a:p>
            <a:pPr marL="0" indent="0">
              <a:buNone/>
            </a:pP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dak</a:t>
            </a:r>
            <a:r>
              <a:rPr lang="en-US" dirty="0" smtClean="0"/>
              <a:t> </a:t>
            </a:r>
            <a:r>
              <a:rPr lang="en-US" dirty="0" err="1" smtClean="0"/>
              <a:t>hou</a:t>
            </a:r>
            <a:endParaRPr lang="en-US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10001250" y="114614"/>
            <a:ext cx="2190750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i="1" dirty="0" err="1" smtClean="0"/>
              <a:t>ge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嘅</a:t>
            </a:r>
            <a:r>
              <a:rPr lang="en-US" altLang="zh-CN" sz="2800" dirty="0" smtClean="0"/>
              <a:t>) is more marked than </a:t>
            </a:r>
            <a:r>
              <a:rPr lang="en-US" altLang="zh-CN" sz="2800" i="1" dirty="0" smtClean="0"/>
              <a:t>de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since it does not occur in past-time clefts or Activity </a:t>
            </a:r>
            <a:r>
              <a:rPr lang="en-US" altLang="zh-CN" sz="2800" dirty="0" err="1" smtClean="0"/>
              <a:t>nominals</a:t>
            </a:r>
            <a:r>
              <a:rPr lang="en-US" altLang="zh-CN" sz="2800" dirty="0" smtClean="0"/>
              <a:t> in subject position. 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848096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9" grpId="0"/>
      <p:bldP spid="4" grpId="0"/>
      <p:bldP spid="10" grpId="0"/>
      <p:bldP spid="11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1999" cy="1325563"/>
          </a:xfrm>
        </p:spPr>
        <p:txBody>
          <a:bodyPr/>
          <a:lstStyle/>
          <a:p>
            <a:r>
              <a:rPr lang="en-US" dirty="0" smtClean="0"/>
              <a:t>Summary: Research Context and Empirical Questions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240629" y="960716"/>
            <a:ext cx="11710737" cy="103262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Tang (2011): Mandarin/Northern </a:t>
            </a:r>
            <a:r>
              <a:rPr lang="en-US" i="1" dirty="0" smtClean="0"/>
              <a:t>de</a:t>
            </a:r>
            <a:r>
              <a:rPr lang="en-US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</a:t>
            </a:r>
            <a:r>
              <a:rPr lang="en-US" dirty="0" smtClean="0"/>
              <a:t>vs Cantonese/Southern </a:t>
            </a:r>
            <a:r>
              <a:rPr lang="en-US" i="1" dirty="0" err="1" smtClean="0"/>
              <a:t>ge</a:t>
            </a:r>
            <a:r>
              <a:rPr lang="en-US" dirty="0" smtClean="0"/>
              <a:t> 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/</a:t>
            </a:r>
            <a:r>
              <a:rPr lang="zh-CN" altLang="en-US" dirty="0" smtClean="0"/>
              <a:t>個</a:t>
            </a:r>
            <a:r>
              <a:rPr lang="en-US" altLang="zh-CN" dirty="0" smtClean="0"/>
              <a:t>/</a:t>
            </a:r>
            <a:r>
              <a:rPr lang="zh-CN" altLang="en-US" dirty="0"/>
              <a:t>个</a:t>
            </a:r>
            <a:r>
              <a:rPr lang="en-US" altLang="zh-CN" dirty="0" smtClean="0"/>
              <a:t>):</a:t>
            </a:r>
          </a:p>
          <a:p>
            <a:pPr marL="0" indent="0">
              <a:buNone/>
            </a:pPr>
            <a:r>
              <a:rPr lang="en-US" dirty="0"/>
              <a:t>e.g. clefts (</a:t>
            </a:r>
            <a:r>
              <a:rPr lang="en-US" i="1" dirty="0" err="1"/>
              <a:t>VdeO</a:t>
            </a:r>
            <a:r>
              <a:rPr lang="en-US" dirty="0"/>
              <a:t> vs *</a:t>
            </a:r>
            <a:r>
              <a:rPr lang="en-US" i="1" dirty="0" err="1"/>
              <a:t>VgeO</a:t>
            </a:r>
            <a:r>
              <a:rPr lang="en-US" dirty="0"/>
              <a:t>), Activity </a:t>
            </a:r>
            <a:r>
              <a:rPr lang="en-US" dirty="0" err="1"/>
              <a:t>nominals</a:t>
            </a:r>
            <a:r>
              <a:rPr lang="en-US" dirty="0"/>
              <a:t> (</a:t>
            </a:r>
            <a:r>
              <a:rPr lang="en-US" i="1" dirty="0"/>
              <a:t>ta de </a:t>
            </a:r>
            <a:r>
              <a:rPr lang="en-US" i="1" dirty="0" err="1"/>
              <a:t>laoshi</a:t>
            </a:r>
            <a:r>
              <a:rPr lang="en-US" i="1" dirty="0"/>
              <a:t> </a:t>
            </a:r>
            <a:r>
              <a:rPr lang="en-US" dirty="0"/>
              <a:t>vs *</a:t>
            </a:r>
            <a:r>
              <a:rPr lang="en-US" i="1" dirty="0" err="1" smtClean="0"/>
              <a:t>keoi</a:t>
            </a:r>
            <a:r>
              <a:rPr lang="en-US" i="1" dirty="0" smtClean="0"/>
              <a:t> </a:t>
            </a:r>
            <a:r>
              <a:rPr lang="en-US" i="1" dirty="0" err="1"/>
              <a:t>ge</a:t>
            </a:r>
            <a:r>
              <a:rPr lang="en-US" i="1" dirty="0"/>
              <a:t> </a:t>
            </a:r>
            <a:r>
              <a:rPr lang="en-US" i="1" dirty="0" err="1"/>
              <a:t>lousi</a:t>
            </a:r>
            <a:r>
              <a:rPr lang="en-US" dirty="0"/>
              <a:t>)</a:t>
            </a:r>
            <a:endParaRPr lang="en-GB" dirty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6400800" y="3069979"/>
            <a:ext cx="6481011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綁      佢  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*嘅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架</a:t>
            </a:r>
            <a:r>
              <a:rPr lang="zh-TW" altLang="en-US" sz="2800" dirty="0" smtClean="0"/>
              <a:t> </a:t>
            </a:r>
            <a:r>
              <a:rPr lang="en-US" altLang="zh-TW" sz="2800" dirty="0"/>
              <a:t>(Cantonese)</a:t>
            </a:r>
          </a:p>
          <a:p>
            <a:r>
              <a:rPr lang="en-US" sz="2800" dirty="0" err="1" smtClean="0"/>
              <a:t>ngo</a:t>
            </a:r>
            <a:r>
              <a:rPr lang="en-US" sz="2800" dirty="0" smtClean="0"/>
              <a:t> bong </a:t>
            </a:r>
            <a:r>
              <a:rPr lang="en-US" sz="2800" dirty="0" err="1" smtClean="0"/>
              <a:t>keoi</a:t>
            </a:r>
            <a:r>
              <a:rPr lang="en-US" sz="2800" dirty="0" smtClean="0"/>
              <a:t>   </a:t>
            </a:r>
            <a:r>
              <a:rPr lang="en-US" sz="2800" dirty="0" err="1" smtClean="0"/>
              <a:t>ge</a:t>
            </a:r>
            <a:r>
              <a:rPr lang="en-US" sz="2800" dirty="0" smtClean="0"/>
              <a:t>   </a:t>
            </a:r>
            <a:r>
              <a:rPr lang="en-US" sz="2800" dirty="0" err="1" smtClean="0"/>
              <a:t>ga</a:t>
            </a:r>
            <a:endParaRPr lang="en-US" sz="2800" dirty="0" smtClean="0"/>
          </a:p>
          <a:p>
            <a:endParaRPr lang="en-GB" sz="2800" dirty="0"/>
          </a:p>
        </p:txBody>
      </p:sp>
      <p:sp>
        <p:nvSpPr>
          <p:cNvPr id="7" name="Rectangle 6"/>
          <p:cNvSpPr/>
          <p:nvPr/>
        </p:nvSpPr>
        <p:spPr>
          <a:xfrm>
            <a:off x="481261" y="1993342"/>
            <a:ext cx="11710737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Three-place predicates/ditransitive verbs expressing beneficiary and frequency/duration (</a:t>
            </a:r>
            <a:r>
              <a:rPr lang="en-US" altLang="zh-TW" sz="2800" dirty="0" err="1" smtClean="0"/>
              <a:t>Sio</a:t>
            </a:r>
            <a:r>
              <a:rPr lang="en-US" altLang="zh-TW" sz="2800" dirty="0" smtClean="0"/>
              <a:t> (2011:fn 1)): </a:t>
            </a:r>
            <a:endParaRPr lang="en-GB" sz="2800" dirty="0"/>
          </a:p>
        </p:txBody>
      </p:sp>
      <p:sp>
        <p:nvSpPr>
          <p:cNvPr id="8" name="Rectangle 7"/>
          <p:cNvSpPr/>
          <p:nvPr/>
        </p:nvSpPr>
        <p:spPr>
          <a:xfrm>
            <a:off x="481263" y="3038797"/>
            <a:ext cx="61922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綁     她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架 </a:t>
            </a:r>
            <a:r>
              <a:rPr lang="en-US" altLang="zh-TW" sz="2800" dirty="0" smtClean="0"/>
              <a:t>(Mandarin)</a:t>
            </a:r>
            <a:endParaRPr lang="en-US" altLang="zh-TW" sz="2800" dirty="0"/>
          </a:p>
          <a:p>
            <a:r>
              <a:rPr lang="en-US" sz="2800" dirty="0" smtClean="0"/>
              <a:t>Wo bang ta  de   </a:t>
            </a:r>
            <a:r>
              <a:rPr lang="en-US" sz="2800" dirty="0" err="1" smtClean="0"/>
              <a:t>jia</a:t>
            </a:r>
            <a:r>
              <a:rPr lang="en-US" sz="2800" dirty="0" smtClean="0"/>
              <a:t> </a:t>
            </a:r>
          </a:p>
          <a:p>
            <a:r>
              <a:rPr lang="en-US" sz="2800" dirty="0" smtClean="0"/>
              <a:t>‘I kidnap her.’ </a:t>
            </a:r>
            <a:endParaRPr lang="en-GB" sz="2800" dirty="0"/>
          </a:p>
        </p:txBody>
      </p:sp>
      <p:sp>
        <p:nvSpPr>
          <p:cNvPr id="9" name="Rectangle 8"/>
          <p:cNvSpPr/>
          <p:nvPr/>
        </p:nvSpPr>
        <p:spPr>
          <a:xfrm>
            <a:off x="481263" y="4295158"/>
            <a:ext cx="6192253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踢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了 兩次  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球</a:t>
            </a:r>
            <a:endParaRPr lang="en-US" altLang="zh-TW" sz="2800" dirty="0"/>
          </a:p>
          <a:p>
            <a:r>
              <a:rPr lang="en-US" sz="2800" dirty="0" smtClean="0"/>
              <a:t>Wo </a:t>
            </a:r>
            <a:r>
              <a:rPr lang="en-US" sz="2800" dirty="0" err="1" smtClean="0"/>
              <a:t>ti</a:t>
            </a:r>
            <a:r>
              <a:rPr lang="en-US" sz="2800" dirty="0" smtClean="0"/>
              <a:t>-le    </a:t>
            </a:r>
            <a:r>
              <a:rPr lang="en-US" sz="2800" dirty="0" err="1" smtClean="0"/>
              <a:t>liangci</a:t>
            </a:r>
            <a:r>
              <a:rPr lang="en-US" sz="2800" dirty="0" smtClean="0"/>
              <a:t> de   </a:t>
            </a:r>
            <a:r>
              <a:rPr lang="en-US" sz="2800" dirty="0" err="1" smtClean="0"/>
              <a:t>qiu</a:t>
            </a:r>
            <a:endParaRPr lang="en-US" sz="2800" dirty="0" smtClean="0"/>
          </a:p>
          <a:p>
            <a:r>
              <a:rPr lang="en-US" sz="2800" dirty="0" smtClean="0"/>
              <a:t>‘I played football twice.’ </a:t>
            </a:r>
            <a:endParaRPr lang="en-GB" sz="2800" dirty="0"/>
          </a:p>
        </p:txBody>
      </p:sp>
      <p:sp>
        <p:nvSpPr>
          <p:cNvPr id="10" name="Rectangle 9"/>
          <p:cNvSpPr/>
          <p:nvPr/>
        </p:nvSpPr>
        <p:spPr>
          <a:xfrm>
            <a:off x="481263" y="5586771"/>
            <a:ext cx="591953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游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了  三  個 小時    </a:t>
            </a:r>
            <a:r>
              <a:rPr lang="en-US" altLang="zh-CN" sz="2800" dirty="0" smtClean="0"/>
              <a:t>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泳</a:t>
            </a:r>
            <a:endParaRPr lang="en-US" altLang="zh-CN" sz="2800" dirty="0" smtClean="0"/>
          </a:p>
          <a:p>
            <a:r>
              <a:rPr lang="en-US" altLang="zh-TW" sz="2800" dirty="0" smtClean="0"/>
              <a:t>Wo you-le san </a:t>
            </a:r>
            <a:r>
              <a:rPr lang="en-US" altLang="zh-TW" sz="2800" dirty="0" err="1" smtClean="0"/>
              <a:t>ge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xiaoshi</a:t>
            </a:r>
            <a:r>
              <a:rPr lang="en-US" altLang="zh-TW" sz="2800" dirty="0" smtClean="0"/>
              <a:t> de   </a:t>
            </a:r>
            <a:r>
              <a:rPr lang="en-US" altLang="zh-TW" sz="2800" dirty="0" err="1" smtClean="0"/>
              <a:t>yong</a:t>
            </a:r>
            <a:endParaRPr lang="en-US" altLang="zh-TW" sz="2800" dirty="0"/>
          </a:p>
          <a:p>
            <a:r>
              <a:rPr lang="en-US" sz="2800" dirty="0" smtClean="0"/>
              <a:t>‘I swam for three hours.’ </a:t>
            </a:r>
            <a:endParaRPr lang="en-GB" sz="2800" dirty="0"/>
          </a:p>
        </p:txBody>
      </p:sp>
      <p:sp>
        <p:nvSpPr>
          <p:cNvPr id="11" name="Rectangle 10"/>
          <p:cNvSpPr/>
          <p:nvPr/>
        </p:nvSpPr>
        <p:spPr>
          <a:xfrm>
            <a:off x="6400800" y="4423792"/>
            <a:ext cx="619225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 踢</a:t>
            </a:r>
            <a:r>
              <a:rPr lang="en-US" altLang="zh-CN" sz="2800" dirty="0" smtClean="0"/>
              <a:t>-</a:t>
            </a:r>
            <a:r>
              <a:rPr lang="zh-CN" altLang="en-US" sz="2800" dirty="0"/>
              <a:t>咗 </a:t>
            </a:r>
            <a:r>
              <a:rPr lang="zh-CN" altLang="en-US" sz="2800" dirty="0" smtClean="0"/>
              <a:t> 兩次    </a:t>
            </a:r>
            <a:r>
              <a:rPr lang="en-US" altLang="zh-CN" sz="2800" dirty="0" smtClean="0"/>
              <a:t>(*</a:t>
            </a:r>
            <a:r>
              <a:rPr lang="zh-CN" altLang="en-US" sz="2800" dirty="0" smtClean="0"/>
              <a:t>嘅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波</a:t>
            </a:r>
            <a:endParaRPr lang="en-US" altLang="zh-TW" sz="2800" dirty="0"/>
          </a:p>
          <a:p>
            <a:r>
              <a:rPr lang="en-US" sz="2800" dirty="0" smtClean="0"/>
              <a:t>wo  </a:t>
            </a:r>
            <a:r>
              <a:rPr lang="en-US" sz="2800" dirty="0" err="1" smtClean="0"/>
              <a:t>tek</a:t>
            </a:r>
            <a:r>
              <a:rPr lang="en-US" sz="2800" dirty="0" smtClean="0"/>
              <a:t>-zo </a:t>
            </a:r>
            <a:r>
              <a:rPr lang="en-US" sz="2800" dirty="0" err="1" smtClean="0"/>
              <a:t>leungci</a:t>
            </a:r>
            <a:r>
              <a:rPr lang="en-US" sz="2800" dirty="0" smtClean="0"/>
              <a:t>   </a:t>
            </a:r>
            <a:r>
              <a:rPr lang="en-US" sz="2800" dirty="0" err="1" smtClean="0"/>
              <a:t>ge</a:t>
            </a:r>
            <a:r>
              <a:rPr lang="en-US" sz="2800" dirty="0" smtClean="0"/>
              <a:t>   </a:t>
            </a:r>
            <a:r>
              <a:rPr lang="en-US" altLang="zh-CN" sz="2800" dirty="0" err="1" smtClean="0"/>
              <a:t>bo</a:t>
            </a:r>
            <a:endParaRPr lang="en-US" sz="2800" dirty="0" smtClean="0"/>
          </a:p>
        </p:txBody>
      </p:sp>
      <p:sp>
        <p:nvSpPr>
          <p:cNvPr id="12" name="Rectangle 11"/>
          <p:cNvSpPr/>
          <p:nvPr/>
        </p:nvSpPr>
        <p:spPr>
          <a:xfrm>
            <a:off x="6400800" y="5595263"/>
            <a:ext cx="591953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我  游</a:t>
            </a:r>
            <a:r>
              <a:rPr lang="en-US" altLang="zh-CN" sz="2800" dirty="0" smtClean="0"/>
              <a:t>-</a:t>
            </a:r>
            <a:r>
              <a:rPr lang="zh-CN" altLang="en-US" sz="2800" dirty="0" smtClean="0"/>
              <a:t>咗   三      個  鐘頭   </a:t>
            </a:r>
            <a:r>
              <a:rPr lang="en-US" altLang="zh-CN" sz="2800" dirty="0" smtClean="0"/>
              <a:t>(*</a:t>
            </a:r>
            <a:r>
              <a:rPr lang="zh-CN" altLang="en-US" sz="2800" dirty="0" smtClean="0"/>
              <a:t>嘅</a:t>
            </a:r>
            <a:r>
              <a:rPr lang="en-US" altLang="zh-CN" sz="2800" dirty="0" smtClean="0"/>
              <a:t>) </a:t>
            </a:r>
            <a:r>
              <a:rPr lang="zh-CN" altLang="en-US" sz="2800" dirty="0" smtClean="0"/>
              <a:t>水</a:t>
            </a:r>
            <a:endParaRPr lang="en-US" altLang="zh-CN" sz="2800" dirty="0" smtClean="0"/>
          </a:p>
          <a:p>
            <a:r>
              <a:rPr lang="en-US" altLang="zh-TW" sz="2800" dirty="0" smtClean="0"/>
              <a:t>Wo </a:t>
            </a:r>
            <a:r>
              <a:rPr lang="en-US" altLang="zh-TW" sz="2800" dirty="0" err="1" smtClean="0"/>
              <a:t>jau</a:t>
            </a:r>
            <a:r>
              <a:rPr lang="en-US" altLang="zh-TW" sz="2800" dirty="0" smtClean="0"/>
              <a:t>-zo </a:t>
            </a:r>
            <a:r>
              <a:rPr lang="en-US" altLang="zh-TW" sz="2800" dirty="0" err="1" smtClean="0"/>
              <a:t>saam</a:t>
            </a:r>
            <a:r>
              <a:rPr lang="en-US" altLang="zh-TW" sz="2800" dirty="0" smtClean="0"/>
              <a:t> go </a:t>
            </a:r>
            <a:r>
              <a:rPr lang="en-US" altLang="zh-TW" sz="2800" dirty="0" err="1" smtClean="0"/>
              <a:t>zongtau</a:t>
            </a:r>
            <a:r>
              <a:rPr lang="en-US" altLang="zh-TW" sz="2800" dirty="0" smtClean="0"/>
              <a:t> </a:t>
            </a:r>
            <a:r>
              <a:rPr lang="en-US" altLang="zh-TW" sz="2800" dirty="0" err="1" smtClean="0"/>
              <a:t>ge</a:t>
            </a:r>
            <a:r>
              <a:rPr lang="en-US" altLang="zh-TW" sz="2800" dirty="0" smtClean="0"/>
              <a:t>    sui</a:t>
            </a:r>
            <a:endParaRPr lang="en-US" altLang="zh-TW" sz="2800" dirty="0"/>
          </a:p>
          <a:p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4118585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8" grpId="0"/>
      <p:bldP spid="9" grpId="0"/>
      <p:bldP spid="10" grpId="0"/>
      <p:bldP spid="11" grpId="0"/>
      <p:bldP spid="1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US" dirty="0" smtClean="0"/>
              <a:t>Chinese dialectal </a:t>
            </a:r>
            <a:r>
              <a:rPr lang="en-US" dirty="0" err="1" smtClean="0"/>
              <a:t>microvariation</a:t>
            </a:r>
            <a:r>
              <a:rPr lang="en-US" dirty="0" smtClean="0"/>
              <a:t>: </a:t>
            </a:r>
            <a:br>
              <a:rPr lang="en-US" dirty="0" smtClean="0"/>
            </a:br>
            <a:r>
              <a:rPr lang="en-US" i="1" dirty="0" smtClean="0"/>
              <a:t>ta de </a:t>
            </a:r>
            <a:r>
              <a:rPr lang="en-US" i="1" dirty="0" err="1" smtClean="0"/>
              <a:t>laoshi</a:t>
            </a:r>
            <a:r>
              <a:rPr lang="en-US" i="1" dirty="0" smtClean="0"/>
              <a:t> </a:t>
            </a:r>
            <a:r>
              <a:rPr lang="en-US" dirty="0" smtClean="0"/>
              <a:t>vs *</a:t>
            </a:r>
            <a:r>
              <a:rPr lang="en-US" i="1" dirty="0" err="1" smtClean="0"/>
              <a:t>keoi</a:t>
            </a:r>
            <a:r>
              <a:rPr lang="en-US" i="1" dirty="0" smtClean="0"/>
              <a:t> </a:t>
            </a:r>
            <a:r>
              <a:rPr lang="en-US" i="1" dirty="0" err="1" smtClean="0"/>
              <a:t>ge</a:t>
            </a:r>
            <a:r>
              <a:rPr lang="en-US" i="1" dirty="0" smtClean="0"/>
              <a:t> </a:t>
            </a:r>
            <a:r>
              <a:rPr lang="en-US" i="1" dirty="0" err="1" smtClean="0"/>
              <a:t>lousi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Most dialects do not permit </a:t>
            </a:r>
            <a:r>
              <a:rPr lang="en-US" i="1" dirty="0" err="1" smtClean="0"/>
              <a:t>ge</a:t>
            </a:r>
            <a:r>
              <a:rPr lang="en-US" dirty="0" smtClean="0"/>
              <a:t> in Activity </a:t>
            </a:r>
            <a:r>
              <a:rPr lang="en-US" dirty="0" err="1" smtClean="0"/>
              <a:t>nominals</a:t>
            </a:r>
            <a:r>
              <a:rPr lang="en-US" dirty="0" smtClean="0"/>
              <a:t> like Cantonese (*</a:t>
            </a:r>
            <a:r>
              <a:rPr lang="en-US" i="1" dirty="0" err="1" smtClean="0"/>
              <a:t>keoi</a:t>
            </a:r>
            <a:r>
              <a:rPr lang="en-US" i="1" dirty="0" smtClean="0"/>
              <a:t> </a:t>
            </a:r>
            <a:r>
              <a:rPr lang="en-US" i="1" dirty="0" err="1" smtClean="0"/>
              <a:t>ge</a:t>
            </a:r>
            <a:r>
              <a:rPr lang="en-US" i="1" dirty="0" smtClean="0"/>
              <a:t> </a:t>
            </a:r>
            <a:r>
              <a:rPr lang="en-US" i="1" dirty="0" err="1" smtClean="0"/>
              <a:t>lousi</a:t>
            </a:r>
            <a:r>
              <a:rPr lang="en-US" dirty="0" smtClean="0"/>
              <a:t>): 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" y="1673805"/>
            <a:ext cx="830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Wu (</a:t>
            </a:r>
            <a:r>
              <a:rPr lang="zh-CN" altLang="en-US" sz="2800" dirty="0" smtClean="0"/>
              <a:t>吳</a:t>
            </a:r>
            <a:r>
              <a:rPr lang="en-US" altLang="zh-CN" sz="2800" dirty="0" smtClean="0"/>
              <a:t>): </a:t>
            </a:r>
          </a:p>
          <a:p>
            <a:endParaRPr lang="en-US" altLang="zh-TW" sz="2800" dirty="0"/>
          </a:p>
        </p:txBody>
      </p:sp>
      <p:sp>
        <p:nvSpPr>
          <p:cNvPr id="5" name="Rectangle 4"/>
          <p:cNvSpPr/>
          <p:nvPr/>
        </p:nvSpPr>
        <p:spPr>
          <a:xfrm>
            <a:off x="838200" y="211722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*吾 個 飯 </a:t>
            </a:r>
            <a:r>
              <a:rPr lang="zh-TW" altLang="en-US" dirty="0" smtClean="0"/>
              <a:t>吃了 </a:t>
            </a:r>
            <a:r>
              <a:rPr lang="zh-TW" altLang="en-US" dirty="0"/>
              <a:t>蠻 久</a:t>
            </a:r>
            <a:endParaRPr lang="en-US" altLang="zh-TW" dirty="0"/>
          </a:p>
          <a:p>
            <a:r>
              <a:rPr lang="zh-CN" altLang="en-US" dirty="0"/>
              <a:t>‘</a:t>
            </a:r>
            <a:r>
              <a:rPr lang="en-US" altLang="zh-CN" dirty="0"/>
              <a:t>I ate for quite a long time.’ (Shanghainese) </a:t>
            </a:r>
            <a:endParaRPr lang="en-US" altLang="zh-TW" dirty="0"/>
          </a:p>
        </p:txBody>
      </p:sp>
      <p:sp>
        <p:nvSpPr>
          <p:cNvPr id="6" name="Rectangle 5"/>
          <p:cNvSpPr/>
          <p:nvPr/>
        </p:nvSpPr>
        <p:spPr>
          <a:xfrm>
            <a:off x="838200" y="269003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*俚 個 水 游</a:t>
            </a:r>
            <a:r>
              <a:rPr lang="en-US" altLang="zh-TW" dirty="0"/>
              <a:t>-</a:t>
            </a:r>
            <a:r>
              <a:rPr lang="zh-TW" altLang="en-US" dirty="0"/>
              <a:t>了 蠻 久</a:t>
            </a:r>
            <a:endParaRPr lang="en-US" altLang="zh-TW" dirty="0"/>
          </a:p>
          <a:p>
            <a:r>
              <a:rPr lang="en-US" altLang="zh-TW" dirty="0"/>
              <a:t>‘You swan for quite a long time.’ (</a:t>
            </a:r>
            <a:r>
              <a:rPr lang="en-US" altLang="zh-TW" dirty="0" smtClean="0"/>
              <a:t>Suzhou)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838200" y="4506632"/>
            <a:ext cx="23924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 smtClean="0"/>
              <a:t>*</a:t>
            </a:r>
            <a:r>
              <a:rPr lang="zh-TW" altLang="en-US" dirty="0" smtClean="0"/>
              <a:t>我 </a:t>
            </a:r>
            <a:r>
              <a:rPr lang="zh-TW" altLang="en-US" dirty="0"/>
              <a:t>個 </a:t>
            </a:r>
            <a:r>
              <a:rPr lang="zh-CN" altLang="en-US" dirty="0" smtClean="0"/>
              <a:t>酒 喝得</a:t>
            </a:r>
            <a:r>
              <a:rPr lang="zh-TW" altLang="en-US" dirty="0" smtClean="0"/>
              <a:t> </a:t>
            </a:r>
            <a:r>
              <a:rPr lang="zh-CN" altLang="en-US" dirty="0" smtClean="0"/>
              <a:t>好開心</a:t>
            </a:r>
            <a:endParaRPr lang="en-US" altLang="zh-TW" dirty="0" smtClean="0"/>
          </a:p>
          <a:p>
            <a:r>
              <a:rPr lang="zh-CN" altLang="en-US" dirty="0" smtClean="0"/>
              <a:t>‘</a:t>
            </a:r>
            <a:r>
              <a:rPr lang="en-US" altLang="zh-CN" dirty="0" smtClean="0"/>
              <a:t>I drink very happily.’ 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838200" y="3336364"/>
            <a:ext cx="394364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*</a:t>
            </a:r>
            <a:r>
              <a:rPr lang="zh-TW" altLang="en-US" dirty="0" smtClean="0"/>
              <a:t>我 </a:t>
            </a:r>
            <a:r>
              <a:rPr lang="zh-CN" altLang="en-US" dirty="0" smtClean="0"/>
              <a:t>個 飯 吃了蠻久</a:t>
            </a:r>
            <a:endParaRPr lang="en-US" altLang="zh-CN" dirty="0" smtClean="0"/>
          </a:p>
          <a:p>
            <a:r>
              <a:rPr lang="zh-CN" altLang="en-US" dirty="0" smtClean="0"/>
              <a:t>‘</a:t>
            </a:r>
            <a:r>
              <a:rPr lang="en-US" altLang="zh-CN" dirty="0" smtClean="0"/>
              <a:t>I ate for quite a long time.’ (</a:t>
            </a:r>
            <a:r>
              <a:rPr lang="en-US" altLang="zh-CN" dirty="0" err="1" smtClean="0"/>
              <a:t>Changshou</a:t>
            </a:r>
            <a:r>
              <a:rPr lang="en-US" altLang="zh-CN" dirty="0"/>
              <a:t>)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5814446" y="1678605"/>
            <a:ext cx="8305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Xiang (</a:t>
            </a:r>
            <a:r>
              <a:rPr lang="zh-CN" altLang="en-US" sz="2800" dirty="0"/>
              <a:t>湘</a:t>
            </a:r>
            <a:r>
              <a:rPr lang="en-US" altLang="zh-CN" sz="2800" dirty="0" smtClean="0"/>
              <a:t>): </a:t>
            </a:r>
          </a:p>
          <a:p>
            <a:endParaRPr lang="en-US" altLang="zh-TW" sz="2800" dirty="0"/>
          </a:p>
        </p:txBody>
      </p:sp>
      <p:sp>
        <p:nvSpPr>
          <p:cNvPr id="10" name="Rectangle 9"/>
          <p:cNvSpPr/>
          <p:nvPr/>
        </p:nvSpPr>
        <p:spPr>
          <a:xfrm>
            <a:off x="838200" y="3983412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 err="1" smtClean="0"/>
              <a:t>Kejia</a:t>
            </a:r>
            <a:r>
              <a:rPr lang="en-US" altLang="zh-CN" sz="2800" dirty="0" smtClean="0"/>
              <a:t> (</a:t>
            </a:r>
            <a:r>
              <a:rPr lang="zh-CN" altLang="en-US" sz="2800" dirty="0" smtClean="0"/>
              <a:t>客家</a:t>
            </a:r>
            <a:r>
              <a:rPr lang="en-US" altLang="zh-CN" sz="2800" dirty="0" smtClean="0"/>
              <a:t>): </a:t>
            </a:r>
            <a:endParaRPr lang="en-US" altLang="zh-TW" sz="2800" dirty="0"/>
          </a:p>
        </p:txBody>
      </p:sp>
      <p:sp>
        <p:nvSpPr>
          <p:cNvPr id="11" name="Rectangle 10"/>
          <p:cNvSpPr/>
          <p:nvPr/>
        </p:nvSpPr>
        <p:spPr>
          <a:xfrm>
            <a:off x="5814446" y="2106422"/>
            <a:ext cx="370409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dirty="0"/>
              <a:t>(?)</a:t>
            </a:r>
            <a:r>
              <a:rPr lang="zh-TW" altLang="en-US" dirty="0"/>
              <a:t>我 個 籃球 打 得 蠻 </a:t>
            </a:r>
            <a:r>
              <a:rPr lang="zh-TW" altLang="en-US" dirty="0" smtClean="0"/>
              <a:t>好</a:t>
            </a:r>
            <a:endParaRPr lang="en-US" altLang="zh-TW" dirty="0" smtClean="0"/>
          </a:p>
          <a:p>
            <a:r>
              <a:rPr lang="zh-CN" altLang="en-US" dirty="0" smtClean="0"/>
              <a:t>‘</a:t>
            </a:r>
            <a:r>
              <a:rPr lang="en-US" altLang="zh-CN" dirty="0" smtClean="0"/>
              <a:t>I play basketball quite well.’ (Xinhua) </a:t>
            </a:r>
            <a:endParaRPr lang="en-GB" dirty="0"/>
          </a:p>
        </p:txBody>
      </p:sp>
      <p:sp>
        <p:nvSpPr>
          <p:cNvPr id="12" name="Rectangle 11"/>
          <p:cNvSpPr/>
          <p:nvPr/>
        </p:nvSpPr>
        <p:spPr>
          <a:xfrm>
            <a:off x="838200" y="5090243"/>
            <a:ext cx="6781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800" dirty="0" smtClean="0"/>
              <a:t>Cantonese (</a:t>
            </a:r>
            <a:r>
              <a:rPr lang="zh-CN" altLang="en-US" sz="2800" dirty="0" smtClean="0"/>
              <a:t>粵</a:t>
            </a:r>
            <a:r>
              <a:rPr lang="en-US" altLang="zh-CN" sz="2800" dirty="0" smtClean="0"/>
              <a:t>) </a:t>
            </a:r>
            <a:r>
              <a:rPr lang="en-US" altLang="zh-TW" sz="2800" dirty="0" smtClean="0"/>
              <a:t>and Taiwanese Min (</a:t>
            </a:r>
            <a:r>
              <a:rPr lang="zh-CN" altLang="en-US" sz="2800" dirty="0" smtClean="0"/>
              <a:t>台灣閩）</a:t>
            </a:r>
            <a:endParaRPr lang="en-US" altLang="zh-TW" sz="2800" dirty="0"/>
          </a:p>
        </p:txBody>
      </p:sp>
      <p:sp>
        <p:nvSpPr>
          <p:cNvPr id="13" name="Rectangle 12"/>
          <p:cNvSpPr/>
          <p:nvPr/>
        </p:nvSpPr>
        <p:spPr>
          <a:xfrm>
            <a:off x="817315" y="5613463"/>
            <a:ext cx="482666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 smtClean="0"/>
              <a:t>*</a:t>
            </a:r>
            <a:r>
              <a:rPr lang="en-GB" dirty="0" err="1" smtClean="0"/>
              <a:t>佢嘅老師做得好</a:t>
            </a:r>
            <a:endParaRPr lang="en-GB" dirty="0" smtClean="0"/>
          </a:p>
          <a:p>
            <a:r>
              <a:rPr lang="en-US" dirty="0" smtClean="0"/>
              <a:t>(intended) ‘He is being a good teacher.’ </a:t>
            </a:r>
          </a:p>
          <a:p>
            <a:r>
              <a:rPr lang="en-US" dirty="0" smtClean="0"/>
              <a:t>*</a:t>
            </a:r>
            <a:r>
              <a:rPr lang="zh-CN" altLang="en-US" dirty="0" smtClean="0"/>
              <a:t>伊個籃球打甲真好</a:t>
            </a:r>
            <a:endParaRPr lang="en-US" altLang="zh-CN" dirty="0" smtClean="0"/>
          </a:p>
          <a:p>
            <a:r>
              <a:rPr lang="en-US" dirty="0" smtClean="0"/>
              <a:t>(intended) ‘He plays basketball really well.’ 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5395346" y="2923277"/>
            <a:ext cx="637755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 smtClean="0"/>
              <a:t>其個老師當得蠻好</a:t>
            </a:r>
            <a:r>
              <a:rPr lang="en-US" altLang="zh-CN" dirty="0" smtClean="0"/>
              <a:t>/</a:t>
            </a:r>
            <a:r>
              <a:rPr lang="zh-CN" altLang="en-US" dirty="0" smtClean="0"/>
              <a:t>其個籃球打得蠻好</a:t>
            </a:r>
            <a:r>
              <a:rPr lang="en-US" altLang="zh-CN" dirty="0" smtClean="0"/>
              <a:t>/</a:t>
            </a:r>
            <a:r>
              <a:rPr lang="zh-CN" altLang="en-US" dirty="0" smtClean="0"/>
              <a:t>其個棋下</a:t>
            </a:r>
            <a:r>
              <a:rPr lang="zh-CN" altLang="en-US" dirty="0"/>
              <a:t>得</a:t>
            </a:r>
            <a:r>
              <a:rPr lang="zh-CN" altLang="en-US" dirty="0" smtClean="0"/>
              <a:t>蠻好 </a:t>
            </a:r>
            <a:endParaRPr lang="en-US" altLang="zh-CN" dirty="0" smtClean="0"/>
          </a:p>
          <a:p>
            <a:r>
              <a:rPr lang="en-US" dirty="0" smtClean="0"/>
              <a:t>(</a:t>
            </a:r>
            <a:r>
              <a:rPr lang="zh-CN" altLang="en-US" dirty="0"/>
              <a:t>洞口老湘語</a:t>
            </a:r>
            <a:r>
              <a:rPr lang="en-US" altLang="zh-CN" dirty="0"/>
              <a:t>, in </a:t>
            </a:r>
            <a:r>
              <a:rPr lang="zh-CN" altLang="en-US" dirty="0"/>
              <a:t>楊 </a:t>
            </a:r>
            <a:r>
              <a:rPr lang="en-US" altLang="zh-CN" dirty="0"/>
              <a:t>2014:400)</a:t>
            </a:r>
          </a:p>
          <a:p>
            <a:endParaRPr lang="en-US" altLang="zh-CN" dirty="0" smtClean="0"/>
          </a:p>
          <a:p>
            <a:r>
              <a:rPr lang="en-US" dirty="0" smtClean="0"/>
              <a:t>‘</a:t>
            </a:r>
            <a:r>
              <a:rPr lang="en-GB" dirty="0" smtClean="0"/>
              <a:t>佢</a:t>
            </a:r>
            <a:r>
              <a:rPr lang="zh-CN" altLang="en-US" dirty="0"/>
              <a:t>個老師當得蠻好</a:t>
            </a:r>
            <a:r>
              <a:rPr lang="en-US" altLang="zh-CN" dirty="0" smtClean="0"/>
              <a:t>/</a:t>
            </a:r>
            <a:r>
              <a:rPr lang="en-GB" dirty="0"/>
              <a:t>佢</a:t>
            </a:r>
            <a:r>
              <a:rPr lang="zh-CN" altLang="en-US" dirty="0" smtClean="0"/>
              <a:t>個</a:t>
            </a:r>
            <a:r>
              <a:rPr lang="zh-CN" altLang="en-US" dirty="0"/>
              <a:t>籃球打得蠻好</a:t>
            </a:r>
            <a:r>
              <a:rPr lang="en-US" altLang="zh-CN" dirty="0" smtClean="0"/>
              <a:t>/</a:t>
            </a:r>
            <a:r>
              <a:rPr lang="en-GB" dirty="0"/>
              <a:t>佢</a:t>
            </a:r>
            <a:r>
              <a:rPr lang="zh-CN" altLang="en-US" dirty="0" smtClean="0"/>
              <a:t>個棋作得</a:t>
            </a:r>
            <a:r>
              <a:rPr lang="zh-CN" altLang="en-US" dirty="0"/>
              <a:t>蠻</a:t>
            </a:r>
            <a:r>
              <a:rPr lang="zh-CN" altLang="en-US" dirty="0" smtClean="0"/>
              <a:t>好</a:t>
            </a:r>
            <a:endParaRPr lang="en-US" altLang="zh-CN" dirty="0" smtClean="0"/>
          </a:p>
          <a:p>
            <a:endParaRPr lang="en-US" altLang="zh-CN" dirty="0" smtClean="0"/>
          </a:p>
          <a:p>
            <a:r>
              <a:rPr lang="en-US" dirty="0"/>
              <a:t>He is being a good teacher’/He plays basketball well’/He plays chess well</a:t>
            </a:r>
            <a:r>
              <a:rPr lang="en-US" dirty="0" smtClean="0"/>
              <a:t>.’ (</a:t>
            </a:r>
            <a:r>
              <a:rPr lang="zh-CN" altLang="en-US" dirty="0" smtClean="0"/>
              <a:t>贛方言吉安話</a:t>
            </a:r>
            <a:r>
              <a:rPr lang="en-US" altLang="zh-CN" dirty="0" smtClean="0"/>
              <a:t>, in </a:t>
            </a:r>
            <a:r>
              <a:rPr lang="zh-CN" altLang="en-US" dirty="0" smtClean="0"/>
              <a:t>楊 </a:t>
            </a:r>
            <a:r>
              <a:rPr lang="en-US" altLang="zh-CN" dirty="0" smtClean="0"/>
              <a:t>2014:400)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7065947" y="5613463"/>
            <a:ext cx="3874553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smtClean="0"/>
              <a:t>*</a:t>
            </a:r>
            <a:r>
              <a:rPr lang="en-US" altLang="zh-TW" sz="3200" i="1" dirty="0" err="1" smtClean="0"/>
              <a:t>keoi</a:t>
            </a:r>
            <a:r>
              <a:rPr lang="en-US" altLang="zh-TW" sz="3200" i="1" dirty="0" smtClean="0"/>
              <a:t> </a:t>
            </a:r>
            <a:r>
              <a:rPr lang="en-US" altLang="zh-TW" sz="3200" i="1" dirty="0" err="1" smtClean="0"/>
              <a:t>ge</a:t>
            </a:r>
            <a:r>
              <a:rPr lang="en-US" altLang="zh-TW" sz="3200" i="1" dirty="0" smtClean="0"/>
              <a:t> </a:t>
            </a:r>
            <a:r>
              <a:rPr lang="en-US" altLang="zh-TW" sz="3200" i="1" dirty="0" err="1" smtClean="0"/>
              <a:t>lousi</a:t>
            </a:r>
            <a:r>
              <a:rPr lang="en-US" altLang="zh-TW" sz="3200" i="1" dirty="0" smtClean="0"/>
              <a:t> </a:t>
            </a:r>
            <a:r>
              <a:rPr lang="en-US" altLang="zh-TW" sz="3200" dirty="0" smtClean="0"/>
              <a:t>in most (if not all) dialects</a:t>
            </a:r>
            <a:endParaRPr lang="en-US" altLang="zh-TW" sz="3200" dirty="0"/>
          </a:p>
        </p:txBody>
      </p:sp>
      <p:sp>
        <p:nvSpPr>
          <p:cNvPr id="16" name="Rectangle 15"/>
          <p:cNvSpPr/>
          <p:nvPr/>
        </p:nvSpPr>
        <p:spPr>
          <a:xfrm>
            <a:off x="3086100" y="4014189"/>
            <a:ext cx="23092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/>
              <a:t>Similar for Ningbo, Shaoxing, Wenzhou, Hangzhou.  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782236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0"/>
            <a:ext cx="11353800" cy="1325563"/>
          </a:xfrm>
        </p:spPr>
        <p:txBody>
          <a:bodyPr/>
          <a:lstStyle/>
          <a:p>
            <a:r>
              <a:rPr lang="en-US" dirty="0" smtClean="0"/>
              <a:t>Chinese dialectal </a:t>
            </a:r>
            <a:r>
              <a:rPr lang="en-US" dirty="0" err="1" smtClean="0"/>
              <a:t>microvariation</a:t>
            </a:r>
            <a:r>
              <a:rPr lang="en-US" dirty="0" smtClean="0"/>
              <a:t>: </a:t>
            </a:r>
            <a:r>
              <a:rPr lang="en-US" i="1" dirty="0" err="1" smtClean="0"/>
              <a:t>VdeO</a:t>
            </a:r>
            <a:r>
              <a:rPr lang="en-US" dirty="0" smtClean="0"/>
              <a:t> vs *</a:t>
            </a:r>
            <a:r>
              <a:rPr lang="en-US" i="1" dirty="0" err="1" smtClean="0"/>
              <a:t>VgeO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15715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de</a:t>
            </a:r>
            <a:r>
              <a:rPr lang="en-US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</a:t>
            </a:r>
            <a:r>
              <a:rPr lang="en-US" dirty="0" smtClean="0"/>
              <a:t> vs </a:t>
            </a:r>
            <a:r>
              <a:rPr lang="en-US" i="1" dirty="0" err="1" smtClean="0"/>
              <a:t>ge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zh-CN" altLang="en-US" dirty="0" smtClean="0"/>
              <a:t>嘅</a:t>
            </a:r>
            <a:r>
              <a:rPr lang="en-US" altLang="zh-CN" dirty="0" smtClean="0"/>
              <a:t>) </a:t>
            </a:r>
            <a:r>
              <a:rPr lang="en-US" dirty="0" smtClean="0"/>
              <a:t>(North vs South (</a:t>
            </a:r>
            <a:r>
              <a:rPr lang="zh-CN" altLang="en-US" dirty="0" smtClean="0"/>
              <a:t>南北非是</a:t>
            </a:r>
            <a:r>
              <a:rPr lang="en-US" altLang="zh-CN" dirty="0" smtClean="0"/>
              <a:t>)</a:t>
            </a:r>
            <a:r>
              <a:rPr lang="en-US" sz="3600" b="1" dirty="0" smtClean="0"/>
              <a:t>?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35535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Wu (</a:t>
            </a:r>
            <a:r>
              <a:rPr lang="zh-CN" altLang="en-US" dirty="0" smtClean="0"/>
              <a:t>吳</a:t>
            </a:r>
            <a:r>
              <a:rPr lang="en-US" altLang="zh-CN" dirty="0" smtClean="0"/>
              <a:t>): 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97995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Cantonese(</a:t>
            </a:r>
            <a:r>
              <a:rPr lang="zh-CN" altLang="en-US" dirty="0" smtClean="0"/>
              <a:t>粵</a:t>
            </a:r>
            <a:r>
              <a:rPr lang="en-US" altLang="zh-CN" dirty="0" smtClean="0"/>
              <a:t>)</a:t>
            </a:r>
            <a:r>
              <a:rPr lang="en-US" dirty="0" smtClean="0"/>
              <a:t>/Taiwanese Min (</a:t>
            </a:r>
            <a:r>
              <a:rPr lang="zh-CN" altLang="en-US" dirty="0" smtClean="0"/>
              <a:t>台灣閩</a:t>
            </a:r>
            <a:r>
              <a:rPr lang="en-US" altLang="zh-CN" dirty="0" smtClean="0"/>
              <a:t>)</a:t>
            </a:r>
            <a:r>
              <a:rPr lang="en-US" dirty="0" smtClean="0"/>
              <a:t>: 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838200" y="2481836"/>
            <a:ext cx="511800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俚 是 昨日 買</a:t>
            </a:r>
            <a:r>
              <a:rPr lang="en-US" altLang="zh-TW" dirty="0"/>
              <a:t>-</a:t>
            </a:r>
            <a:r>
              <a:rPr lang="zh-TW" altLang="en-US" dirty="0"/>
              <a:t>個 </a:t>
            </a:r>
            <a:r>
              <a:rPr lang="zh-TW" altLang="en-US" dirty="0" smtClean="0"/>
              <a:t>票</a:t>
            </a:r>
            <a:endParaRPr lang="en-US" altLang="zh-TW" dirty="0" smtClean="0"/>
          </a:p>
          <a:p>
            <a:r>
              <a:rPr lang="en-US" altLang="zh-TW" dirty="0" smtClean="0"/>
              <a:t>‘It was yesterday that you bought tickets.’ (Suzhou)</a:t>
            </a:r>
            <a:endParaRPr lang="en-US" altLang="zh-TW" dirty="0"/>
          </a:p>
        </p:txBody>
      </p:sp>
      <p:sp>
        <p:nvSpPr>
          <p:cNvPr id="7" name="Rectangle 6"/>
          <p:cNvSpPr/>
          <p:nvPr/>
        </p:nvSpPr>
        <p:spPr>
          <a:xfrm>
            <a:off x="6742651" y="1881672"/>
            <a:ext cx="544934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我 是 </a:t>
            </a:r>
            <a:r>
              <a:rPr lang="zh-TW" altLang="en-US" dirty="0" smtClean="0"/>
              <a:t>前</a:t>
            </a:r>
            <a:r>
              <a:rPr lang="zh-TW" altLang="en-US" dirty="0"/>
              <a:t>年 到</a:t>
            </a:r>
            <a:r>
              <a:rPr lang="en-US" altLang="zh-TW" dirty="0"/>
              <a:t>-</a:t>
            </a:r>
            <a:r>
              <a:rPr lang="zh-TW" altLang="en-US" dirty="0"/>
              <a:t>個 北</a:t>
            </a:r>
            <a:r>
              <a:rPr lang="zh-TW" altLang="en-US" dirty="0" smtClean="0"/>
              <a:t>京</a:t>
            </a:r>
            <a:endParaRPr lang="en-US" altLang="zh-TW" dirty="0" smtClean="0"/>
          </a:p>
          <a:p>
            <a:r>
              <a:rPr lang="en-US" dirty="0" smtClean="0"/>
              <a:t>‘It was two years ago that I went to Beijing.’ (Xinhua) </a:t>
            </a:r>
          </a:p>
          <a:p>
            <a:r>
              <a:rPr lang="en-US" dirty="0" smtClean="0"/>
              <a:t>(Wu (2005))  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838200" y="4333619"/>
            <a:ext cx="451476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dirty="0"/>
              <a:t>我 係 </a:t>
            </a:r>
            <a:r>
              <a:rPr lang="zh-TW" altLang="en-US" dirty="0" smtClean="0"/>
              <a:t>哺</a:t>
            </a:r>
            <a:r>
              <a:rPr lang="zh-CN" altLang="en-US" dirty="0" smtClean="0"/>
              <a:t>日</a:t>
            </a:r>
            <a:r>
              <a:rPr lang="zh-TW" altLang="en-US" dirty="0" smtClean="0"/>
              <a:t> </a:t>
            </a:r>
            <a:r>
              <a:rPr lang="zh-CN" altLang="en-US" dirty="0" smtClean="0"/>
              <a:t>買</a:t>
            </a:r>
            <a:r>
              <a:rPr lang="en-US" altLang="zh-CN" dirty="0" smtClean="0"/>
              <a:t>-</a:t>
            </a:r>
            <a:r>
              <a:rPr lang="zh-CN" altLang="en-US" dirty="0" smtClean="0"/>
              <a:t>介 票</a:t>
            </a:r>
            <a:endParaRPr lang="en-US" altLang="zh-TW" dirty="0" smtClean="0"/>
          </a:p>
          <a:p>
            <a:r>
              <a:rPr lang="en-US" dirty="0" smtClean="0"/>
              <a:t>‘It was </a:t>
            </a:r>
            <a:r>
              <a:rPr lang="en-US" altLang="zh-CN" dirty="0" smtClean="0"/>
              <a:t>yesterday </a:t>
            </a:r>
            <a:r>
              <a:rPr lang="en-US" dirty="0" smtClean="0"/>
              <a:t>that I bought tickets Beijing.’ </a:t>
            </a: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200" y="179426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dirty="0" smtClean="0"/>
              <a:t>吾 </a:t>
            </a:r>
            <a:r>
              <a:rPr lang="zh-TW" altLang="en-US" sz="1800" dirty="0"/>
              <a:t>是 昨日 買</a:t>
            </a:r>
            <a:r>
              <a:rPr lang="en-US" altLang="zh-TW" sz="1800" dirty="0"/>
              <a:t>-</a:t>
            </a:r>
            <a:r>
              <a:rPr lang="zh-TW" altLang="en-US" sz="1800" dirty="0"/>
              <a:t>個 </a:t>
            </a:r>
            <a:r>
              <a:rPr lang="zh-TW" altLang="en-US" sz="1800" dirty="0" smtClean="0"/>
              <a:t>票</a:t>
            </a:r>
            <a:endParaRPr lang="en-US" altLang="zh-TW" sz="1800" dirty="0" smtClean="0"/>
          </a:p>
          <a:p>
            <a:pPr marL="0" indent="0">
              <a:buNone/>
            </a:pPr>
            <a:r>
              <a:rPr lang="en-US" altLang="zh-TW" sz="1800" dirty="0" smtClean="0"/>
              <a:t>‘It was yesterday that I bought tickets.’ (Shanghainese)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38200" y="3810399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 err="1" smtClean="0"/>
              <a:t>Kejia</a:t>
            </a:r>
            <a:r>
              <a:rPr lang="en-US" altLang="zh-CN" sz="2800" dirty="0" smtClean="0"/>
              <a:t> (</a:t>
            </a:r>
            <a:r>
              <a:rPr lang="zh-CN" altLang="en-US" sz="2800" dirty="0" smtClean="0"/>
              <a:t>客家</a:t>
            </a:r>
            <a:r>
              <a:rPr lang="en-US" altLang="zh-CN" sz="2800" dirty="0" smtClean="0"/>
              <a:t>): </a:t>
            </a:r>
            <a:endParaRPr lang="en-US" altLang="zh-TW" sz="2800" dirty="0"/>
          </a:p>
        </p:txBody>
      </p:sp>
      <p:sp>
        <p:nvSpPr>
          <p:cNvPr id="11" name="Rectangle 10"/>
          <p:cNvSpPr/>
          <p:nvPr/>
        </p:nvSpPr>
        <p:spPr>
          <a:xfrm>
            <a:off x="6742651" y="1355353"/>
            <a:ext cx="6096000" cy="52322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sz="2800" dirty="0" smtClean="0"/>
              <a:t>Xiang (</a:t>
            </a:r>
            <a:r>
              <a:rPr lang="zh-CN" altLang="en-US" sz="2800" dirty="0" smtClean="0"/>
              <a:t>湘</a:t>
            </a:r>
            <a:r>
              <a:rPr lang="en-US" altLang="zh-CN" sz="2800" dirty="0" smtClean="0"/>
              <a:t>): </a:t>
            </a:r>
            <a:endParaRPr lang="en-US" altLang="zh-TW" sz="2800" dirty="0"/>
          </a:p>
        </p:txBody>
      </p:sp>
      <p:sp>
        <p:nvSpPr>
          <p:cNvPr id="12" name="Rectangle 11"/>
          <p:cNvSpPr/>
          <p:nvPr/>
        </p:nvSpPr>
        <p:spPr>
          <a:xfrm>
            <a:off x="838200" y="5367846"/>
            <a:ext cx="6096000" cy="1477328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TW" dirty="0"/>
              <a:t>*</a:t>
            </a:r>
            <a:r>
              <a:rPr lang="zh-TW" altLang="en-US" dirty="0"/>
              <a:t>佢  係  琴日     買</a:t>
            </a:r>
            <a:r>
              <a:rPr lang="en-US" altLang="zh-TW" dirty="0"/>
              <a:t>-</a:t>
            </a:r>
            <a:r>
              <a:rPr lang="zh-TW" altLang="en-US" dirty="0"/>
              <a:t>嘅    非 </a:t>
            </a:r>
            <a:endParaRPr lang="en-US" altLang="zh-TW" dirty="0"/>
          </a:p>
          <a:p>
            <a:r>
              <a:rPr lang="en-US" dirty="0" err="1"/>
              <a:t>Keui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kamjat</a:t>
            </a:r>
            <a:r>
              <a:rPr lang="en-US" dirty="0"/>
              <a:t> </a:t>
            </a:r>
            <a:r>
              <a:rPr lang="en-US" dirty="0" err="1"/>
              <a:t>maai</a:t>
            </a:r>
            <a:r>
              <a:rPr lang="en-US" dirty="0"/>
              <a:t> </a:t>
            </a:r>
            <a:r>
              <a:rPr lang="en-US" dirty="0" err="1"/>
              <a:t>ge</a:t>
            </a:r>
            <a:r>
              <a:rPr lang="en-US" dirty="0"/>
              <a:t> </a:t>
            </a:r>
            <a:r>
              <a:rPr lang="en-US" dirty="0" err="1" smtClean="0"/>
              <a:t>fei</a:t>
            </a:r>
            <a:endParaRPr lang="en-US" dirty="0" smtClean="0"/>
          </a:p>
          <a:p>
            <a:r>
              <a:rPr lang="en-US" dirty="0" smtClean="0"/>
              <a:t>(intended) ‘It was yesterday that I bought tickets.’ (Cantonese)</a:t>
            </a:r>
          </a:p>
          <a:p>
            <a:r>
              <a:rPr lang="en-US" dirty="0" smtClean="0"/>
              <a:t>*</a:t>
            </a:r>
            <a:r>
              <a:rPr lang="zh-CN" altLang="en-US" dirty="0" smtClean="0"/>
              <a:t>我是在台灣出個生</a:t>
            </a:r>
            <a:endParaRPr lang="en-US" altLang="zh-CN" dirty="0" smtClean="0"/>
          </a:p>
          <a:p>
            <a:r>
              <a:rPr lang="en-US" dirty="0" smtClean="0"/>
              <a:t>(intend) ‘It was in Taiwan where I was born.’ (Taiwanese Min)</a:t>
            </a:r>
            <a:endParaRPr lang="en-GB" dirty="0"/>
          </a:p>
        </p:txBody>
      </p:sp>
      <p:sp>
        <p:nvSpPr>
          <p:cNvPr id="13" name="Rectangle 12"/>
          <p:cNvSpPr/>
          <p:nvPr/>
        </p:nvSpPr>
        <p:spPr>
          <a:xfrm>
            <a:off x="838200" y="3179899"/>
            <a:ext cx="609045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我</a:t>
            </a:r>
            <a:r>
              <a:rPr lang="zh-CN" altLang="en-US" dirty="0" smtClean="0"/>
              <a:t>是昨日嗮個被子</a:t>
            </a:r>
            <a:endParaRPr lang="en-US" altLang="zh-TW" dirty="0" smtClean="0"/>
          </a:p>
          <a:p>
            <a:r>
              <a:rPr lang="en-US" altLang="zh-TW" dirty="0" smtClean="0"/>
              <a:t>‘It was yesterday that </a:t>
            </a:r>
            <a:r>
              <a:rPr lang="en-US" altLang="zh-CN" dirty="0" smtClean="0"/>
              <a:t>I dried the sheets</a:t>
            </a:r>
            <a:r>
              <a:rPr lang="en-US" altLang="zh-TW" dirty="0" smtClean="0"/>
              <a:t>.’ (</a:t>
            </a:r>
            <a:r>
              <a:rPr lang="en-US" altLang="zh-TW" dirty="0" err="1" smtClean="0"/>
              <a:t>Changshou</a:t>
            </a:r>
            <a:r>
              <a:rPr lang="en-US" altLang="zh-TW" dirty="0" smtClean="0"/>
              <a:t> (</a:t>
            </a:r>
            <a:r>
              <a:rPr lang="zh-CN" altLang="en-US" dirty="0" smtClean="0"/>
              <a:t>常熟話</a:t>
            </a:r>
            <a:r>
              <a:rPr lang="en-US" altLang="zh-TW" dirty="0" smtClean="0"/>
              <a:t>))</a:t>
            </a:r>
            <a:endParaRPr lang="en-US" altLang="zh-TW" dirty="0"/>
          </a:p>
        </p:txBody>
      </p:sp>
      <p:sp>
        <p:nvSpPr>
          <p:cNvPr id="14" name="Rectangle 13"/>
          <p:cNvSpPr/>
          <p:nvPr/>
        </p:nvSpPr>
        <p:spPr>
          <a:xfrm>
            <a:off x="8067607" y="3555151"/>
            <a:ext cx="2799435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smtClean="0"/>
              <a:t>(?)</a:t>
            </a:r>
            <a:r>
              <a:rPr lang="en-US" altLang="zh-TW" sz="3200" i="1" dirty="0" err="1" smtClean="0"/>
              <a:t>VgeO</a:t>
            </a:r>
            <a:r>
              <a:rPr lang="en-US" altLang="zh-TW" sz="3200" dirty="0" smtClean="0"/>
              <a:t> in central/intermediate mainland dialects</a:t>
            </a:r>
            <a:endParaRPr lang="en-US" altLang="zh-TW" sz="3200" dirty="0"/>
          </a:p>
        </p:txBody>
      </p:sp>
      <p:sp>
        <p:nvSpPr>
          <p:cNvPr id="15" name="Rectangle 14"/>
          <p:cNvSpPr/>
          <p:nvPr/>
        </p:nvSpPr>
        <p:spPr>
          <a:xfrm>
            <a:off x="5956204" y="2808101"/>
            <a:ext cx="422175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000" dirty="0" smtClean="0"/>
              <a:t>Similar for Ningbo, Shaoxing, Wenzhou, Hangzhou.  </a:t>
            </a:r>
            <a:endParaRPr lang="en-US" altLang="zh-TW" sz="2000" dirty="0"/>
          </a:p>
        </p:txBody>
      </p:sp>
    </p:spTree>
    <p:extLst>
      <p:ext uri="{BB962C8B-B14F-4D97-AF65-F5344CB8AC3E}">
        <p14:creationId xmlns:p14="http://schemas.microsoft.com/office/powerpoint/2010/main" val="13531029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altLang="zh-CN" dirty="0" smtClean="0"/>
              <a:t>Chinese nominal </a:t>
            </a:r>
            <a:r>
              <a:rPr lang="en-US" altLang="zh-CN" dirty="0" err="1" smtClean="0"/>
              <a:t>microvariation</a:t>
            </a:r>
            <a:r>
              <a:rPr lang="en-US" altLang="zh-CN" dirty="0" smtClean="0"/>
              <a:t>: </a:t>
            </a:r>
            <a:r>
              <a:rPr lang="en-US" altLang="zh-CN" dirty="0" err="1" smtClean="0"/>
              <a:t>VgeO</a:t>
            </a:r>
            <a:r>
              <a:rPr lang="en-US" altLang="zh-CN" dirty="0" smtClean="0"/>
              <a:t> vs *</a:t>
            </a:r>
            <a:r>
              <a:rPr lang="en-US" altLang="zh-CN" i="1" dirty="0" err="1" smtClean="0"/>
              <a:t>keoi</a:t>
            </a:r>
            <a:r>
              <a:rPr lang="en-US" altLang="zh-CN" i="1" dirty="0" smtClean="0"/>
              <a:t> </a:t>
            </a:r>
            <a:r>
              <a:rPr lang="en-US" altLang="zh-CN" i="1" dirty="0" err="1" smtClean="0"/>
              <a:t>ge</a:t>
            </a:r>
            <a:r>
              <a:rPr lang="en-US" altLang="zh-CN" i="1" dirty="0" smtClean="0"/>
              <a:t> </a:t>
            </a:r>
            <a:r>
              <a:rPr lang="en-US" altLang="zh-CN" i="1" dirty="0" err="1" smtClean="0"/>
              <a:t>lousi</a:t>
            </a:r>
            <a:endParaRPr lang="en-GB" i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(?)</a:t>
            </a:r>
            <a:r>
              <a:rPr lang="en-US" dirty="0" err="1" smtClean="0"/>
              <a:t>VgeO</a:t>
            </a:r>
            <a:r>
              <a:rPr lang="en-US" dirty="0" smtClean="0"/>
              <a:t> vs *</a:t>
            </a:r>
            <a:r>
              <a:rPr lang="en-US" i="1" dirty="0" err="1" smtClean="0"/>
              <a:t>keoi</a:t>
            </a:r>
            <a:r>
              <a:rPr lang="en-US" i="1" dirty="0" smtClean="0"/>
              <a:t> </a:t>
            </a:r>
            <a:r>
              <a:rPr lang="en-US" i="1" dirty="0" err="1" smtClean="0"/>
              <a:t>ge</a:t>
            </a:r>
            <a:r>
              <a:rPr lang="en-US" i="1" dirty="0" smtClean="0"/>
              <a:t> </a:t>
            </a:r>
            <a:r>
              <a:rPr lang="en-US" i="1" dirty="0" err="1" smtClean="0"/>
              <a:t>lousi</a:t>
            </a:r>
            <a:endParaRPr lang="en-GB" i="1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2294436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Intermediate mainland dialects (Wu, Xiang, </a:t>
            </a:r>
            <a:r>
              <a:rPr lang="en-US" dirty="0" err="1" smtClean="0"/>
              <a:t>Kejia</a:t>
            </a:r>
            <a:r>
              <a:rPr lang="en-US" dirty="0" smtClean="0"/>
              <a:t>) 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4594559" y="1325563"/>
            <a:ext cx="1134678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(intermediate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isogloss)</a:t>
            </a:r>
            <a:endParaRPr lang="en-GB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0" y="309721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Chinese nominalization (</a:t>
            </a:r>
            <a:r>
              <a:rPr lang="en-US" i="1" dirty="0" smtClean="0"/>
              <a:t>de/</a:t>
            </a:r>
            <a:r>
              <a:rPr lang="en-US" i="1" dirty="0" err="1" smtClean="0"/>
              <a:t>ge</a:t>
            </a:r>
            <a:r>
              <a:rPr lang="en-US" dirty="0" smtClean="0"/>
              <a:t>): </a:t>
            </a:r>
            <a:endParaRPr lang="en-GB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90371"/>
              </p:ext>
            </p:extLst>
          </p:nvPr>
        </p:nvGraphicFramePr>
        <p:xfrm>
          <a:off x="0" y="3830051"/>
          <a:ext cx="7395411" cy="2565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5137">
                  <a:extLst>
                    <a:ext uri="{9D8B030D-6E8A-4147-A177-3AD203B41FA5}">
                      <a16:colId xmlns:a16="http://schemas.microsoft.com/office/drawing/2014/main" val="97731798"/>
                    </a:ext>
                  </a:extLst>
                </a:gridCol>
                <a:gridCol w="2465137">
                  <a:extLst>
                    <a:ext uri="{9D8B030D-6E8A-4147-A177-3AD203B41FA5}">
                      <a16:colId xmlns:a16="http://schemas.microsoft.com/office/drawing/2014/main" val="253767007"/>
                    </a:ext>
                  </a:extLst>
                </a:gridCol>
                <a:gridCol w="2465137">
                  <a:extLst>
                    <a:ext uri="{9D8B030D-6E8A-4147-A177-3AD203B41FA5}">
                      <a16:colId xmlns:a16="http://schemas.microsoft.com/office/drawing/2014/main" val="5358623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Dialect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Past-time</a:t>
                      </a:r>
                      <a:r>
                        <a:rPr lang="en-US" baseline="0" dirty="0" smtClean="0"/>
                        <a:t> clefts (</a:t>
                      </a:r>
                      <a:r>
                        <a:rPr lang="en-US" baseline="0" dirty="0" err="1" smtClean="0"/>
                        <a:t>VdeO</a:t>
                      </a:r>
                      <a:r>
                        <a:rPr lang="en-US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Activity </a:t>
                      </a:r>
                      <a:r>
                        <a:rPr lang="en-US" dirty="0" err="1" smtClean="0"/>
                        <a:t>nominals</a:t>
                      </a:r>
                      <a:r>
                        <a:rPr lang="en-US" dirty="0" smtClean="0"/>
                        <a:t> (ta de </a:t>
                      </a:r>
                      <a:r>
                        <a:rPr lang="en-US" dirty="0" err="1" smtClean="0"/>
                        <a:t>laoshi</a:t>
                      </a:r>
                      <a:r>
                        <a:rPr lang="en-US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26334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North (</a:t>
                      </a:r>
                      <a:r>
                        <a:rPr lang="zh-CN" altLang="en-US" dirty="0" smtClean="0"/>
                        <a:t>北方話</a:t>
                      </a:r>
                      <a:r>
                        <a:rPr lang="en-US" altLang="zh-CN" dirty="0" smtClean="0"/>
                        <a:t>,</a:t>
                      </a:r>
                      <a:r>
                        <a:rPr lang="en-US" altLang="zh-CN" baseline="0" dirty="0" smtClean="0"/>
                        <a:t> </a:t>
                      </a:r>
                      <a:r>
                        <a:rPr lang="zh-CN" altLang="en-US" baseline="0" dirty="0" smtClean="0"/>
                        <a:t>東北話</a:t>
                      </a:r>
                      <a:r>
                        <a:rPr lang="en-US" altLang="zh-CN" dirty="0" smtClean="0"/>
                        <a:t>)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err="1" smtClean="0"/>
                        <a:t>VdeO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i="1" dirty="0" smtClean="0"/>
                        <a:t>Ta de </a:t>
                      </a:r>
                      <a:r>
                        <a:rPr lang="en-US" i="1" dirty="0" err="1" smtClean="0"/>
                        <a:t>laoshi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5026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Central/intermediate</a:t>
                      </a:r>
                      <a:r>
                        <a:rPr lang="en-US" baseline="0" dirty="0" smtClean="0"/>
                        <a:t> mainland dialects (Wu, Xiang, </a:t>
                      </a:r>
                      <a:r>
                        <a:rPr lang="en-US" baseline="0" dirty="0" err="1" smtClean="0"/>
                        <a:t>Kejia</a:t>
                      </a:r>
                      <a:r>
                        <a:rPr lang="en-US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(?) </a:t>
                      </a:r>
                      <a:r>
                        <a:rPr lang="en-US" i="1" dirty="0" err="1" smtClean="0"/>
                        <a:t>VgeO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*</a:t>
                      </a:r>
                      <a:r>
                        <a:rPr lang="en-US" i="1" dirty="0" err="1" smtClean="0"/>
                        <a:t>keoi</a:t>
                      </a:r>
                      <a:r>
                        <a:rPr lang="en-US" i="1" dirty="0" smtClean="0"/>
                        <a:t> </a:t>
                      </a:r>
                      <a:r>
                        <a:rPr lang="en-US" i="1" dirty="0" err="1" smtClean="0"/>
                        <a:t>ge</a:t>
                      </a:r>
                      <a:r>
                        <a:rPr lang="en-US" i="1" dirty="0" smtClean="0"/>
                        <a:t> </a:t>
                      </a:r>
                      <a:r>
                        <a:rPr lang="en-US" i="1" dirty="0" err="1" smtClean="0"/>
                        <a:t>lousi</a:t>
                      </a:r>
                      <a:r>
                        <a:rPr lang="en-US" i="1" dirty="0" smtClean="0"/>
                        <a:t> 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36279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South</a:t>
                      </a:r>
                      <a:r>
                        <a:rPr lang="en-US" baseline="0" dirty="0" smtClean="0"/>
                        <a:t> (Cantonese, Taiwanese Min)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r>
                        <a:rPr lang="en-US" i="1" dirty="0" err="1" smtClean="0"/>
                        <a:t>VgeO</a:t>
                      </a:r>
                      <a:endParaRPr lang="en-GB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*</a:t>
                      </a:r>
                      <a:r>
                        <a:rPr lang="en-US" i="1" dirty="0" err="1" smtClean="0"/>
                        <a:t>keoi</a:t>
                      </a:r>
                      <a:r>
                        <a:rPr lang="en-US" i="1" dirty="0" smtClean="0"/>
                        <a:t> </a:t>
                      </a:r>
                      <a:r>
                        <a:rPr lang="en-US" i="1" dirty="0" err="1" smtClean="0"/>
                        <a:t>ge</a:t>
                      </a:r>
                      <a:r>
                        <a:rPr lang="en-US" i="1" dirty="0" smtClean="0"/>
                        <a:t> </a:t>
                      </a:r>
                      <a:r>
                        <a:rPr lang="en-US" i="1" dirty="0" err="1" smtClean="0"/>
                        <a:t>lousi</a:t>
                      </a:r>
                      <a:endParaRPr lang="en-GB" i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4014214"/>
                  </a:ext>
                </a:extLst>
              </a:tr>
            </a:tbl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5410" y="802104"/>
            <a:ext cx="4796590" cy="605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27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Nominal </a:t>
            </a:r>
            <a:r>
              <a:rPr lang="en-US" dirty="0" err="1" smtClean="0"/>
              <a:t>microvariation</a:t>
            </a:r>
            <a:r>
              <a:rPr lang="en-US" dirty="0" smtClean="0"/>
              <a:t> (</a:t>
            </a:r>
            <a:r>
              <a:rPr lang="zh-CN" altLang="en-US" dirty="0" smtClean="0"/>
              <a:t>名詞參數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9" y="1005473"/>
            <a:ext cx="11349789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Chinese </a:t>
            </a:r>
            <a:r>
              <a:rPr lang="en-US" dirty="0" err="1" smtClean="0"/>
              <a:t>adnominalisers</a:t>
            </a:r>
            <a:r>
              <a:rPr lang="en-US" dirty="0" smtClean="0"/>
              <a:t> (</a:t>
            </a:r>
            <a:r>
              <a:rPr lang="en-US" i="1" dirty="0" smtClean="0"/>
              <a:t>de/</a:t>
            </a:r>
            <a:r>
              <a:rPr lang="en-US" i="1" dirty="0" err="1" smtClean="0"/>
              <a:t>ge</a:t>
            </a:r>
            <a:r>
              <a:rPr lang="en-US" dirty="0" smtClean="0"/>
              <a:t>) are nominal </a:t>
            </a:r>
            <a:r>
              <a:rPr lang="en-US" dirty="0" err="1" smtClean="0"/>
              <a:t>functors</a:t>
            </a:r>
            <a:r>
              <a:rPr lang="en-US" dirty="0" smtClean="0"/>
              <a:t> (Paul (2015, 2019))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198" y="14385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Attributional/</a:t>
            </a:r>
            <a:r>
              <a:rPr lang="en-US" dirty="0" err="1" smtClean="0"/>
              <a:t>modificational</a:t>
            </a:r>
            <a:r>
              <a:rPr lang="en-US" dirty="0" smtClean="0"/>
              <a:t> markers are relatively low on nominal spine below all the referential elements (possessives, demonstratives, numerals, quantifiers, classifiers):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198" y="2561718"/>
            <a:ext cx="10515600" cy="1413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POSS		DEM		NUM/Q	CL	MOD		NP </a:t>
            </a:r>
          </a:p>
          <a:p>
            <a:pPr marL="0" indent="0">
              <a:buNone/>
            </a:pPr>
            <a:r>
              <a:rPr lang="en-US" dirty="0" smtClean="0"/>
              <a:t>(</a:t>
            </a:r>
            <a:r>
              <a:rPr lang="en-US" dirty="0"/>
              <a:t>Cheng and </a:t>
            </a:r>
            <a:r>
              <a:rPr lang="en-US" dirty="0" err="1"/>
              <a:t>Sybesma</a:t>
            </a:r>
            <a:r>
              <a:rPr lang="en-US" dirty="0"/>
              <a:t> (1999, </a:t>
            </a:r>
            <a:r>
              <a:rPr lang="en-US" dirty="0" smtClean="0"/>
              <a:t>2015:3); </a:t>
            </a:r>
            <a:r>
              <a:rPr lang="en-US" dirty="0" err="1" smtClean="0"/>
              <a:t>Aoun</a:t>
            </a:r>
            <a:r>
              <a:rPr lang="en-US" dirty="0" smtClean="0"/>
              <a:t> and Li (2003:267); del </a:t>
            </a:r>
            <a:r>
              <a:rPr lang="en-US" dirty="0" err="1"/>
              <a:t>Gobbo</a:t>
            </a:r>
            <a:r>
              <a:rPr lang="en-US" dirty="0"/>
              <a:t> (</a:t>
            </a:r>
            <a:r>
              <a:rPr lang="en-US" dirty="0" smtClean="0"/>
              <a:t>2003:42), </a:t>
            </a:r>
            <a:r>
              <a:rPr lang="en-US" dirty="0" err="1"/>
              <a:t>Sio</a:t>
            </a:r>
            <a:r>
              <a:rPr lang="en-US" dirty="0"/>
              <a:t> (2011:129</a:t>
            </a:r>
            <a:r>
              <a:rPr lang="en-US" dirty="0" smtClean="0"/>
              <a:t>)) </a:t>
            </a:r>
            <a:endParaRPr lang="en-GB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0" y="3913453"/>
            <a:ext cx="635317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/>
              <a:t>張</a:t>
            </a:r>
            <a:r>
              <a:rPr lang="zh-CN" altLang="en-US" dirty="0" smtClean="0"/>
              <a:t>三        </a:t>
            </a:r>
            <a:r>
              <a:rPr lang="en-US" altLang="zh-CN" dirty="0" smtClean="0"/>
              <a:t>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</a:t>
            </a:r>
            <a:r>
              <a:rPr lang="zh-CN" altLang="en-US" dirty="0" smtClean="0"/>
              <a:t>這   三  本    </a:t>
            </a:r>
            <a:r>
              <a:rPr lang="en-US" altLang="zh-CN" dirty="0" smtClean="0"/>
              <a:t>Chomsky </a:t>
            </a:r>
            <a:r>
              <a:rPr lang="zh-CN" altLang="en-US" dirty="0" smtClean="0"/>
              <a:t>的 書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err="1" smtClean="0"/>
              <a:t>Zhangsan</a:t>
            </a:r>
            <a:r>
              <a:rPr lang="en-US" dirty="0" smtClean="0"/>
              <a:t> de  </a:t>
            </a:r>
            <a:r>
              <a:rPr lang="en-US" altLang="zh-CN" dirty="0" err="1" smtClean="0"/>
              <a:t>zhe</a:t>
            </a:r>
            <a:r>
              <a:rPr lang="en-US" altLang="zh-CN" dirty="0" smtClean="0"/>
              <a:t> </a:t>
            </a:r>
            <a:r>
              <a:rPr lang="en-US" dirty="0" smtClean="0"/>
              <a:t>san ben Chomsky de </a:t>
            </a:r>
            <a:r>
              <a:rPr lang="en-US" dirty="0" err="1" smtClean="0"/>
              <a:t>shu</a:t>
            </a: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</a:t>
            </a:r>
            <a:r>
              <a:rPr lang="en-US" dirty="0" err="1" smtClean="0"/>
              <a:t>Zhangsan’s</a:t>
            </a:r>
            <a:r>
              <a:rPr lang="en-US" dirty="0" smtClean="0"/>
              <a:t> three Chomsky books’ 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(modified from Saito, Lin, </a:t>
            </a:r>
            <a:r>
              <a:rPr lang="en-US" dirty="0" err="1" smtClean="0"/>
              <a:t>Murasugi</a:t>
            </a:r>
            <a:r>
              <a:rPr lang="en-US" dirty="0" smtClean="0"/>
              <a:t> (2008:121-122)) </a:t>
            </a:r>
            <a:endParaRPr lang="en-GB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6095998" y="3913453"/>
            <a:ext cx="6096002" cy="1989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/>
              <a:t>張</a:t>
            </a:r>
            <a:r>
              <a:rPr lang="zh-CN" altLang="en-US" dirty="0" smtClean="0"/>
              <a:t>三 </a:t>
            </a:r>
            <a:r>
              <a:rPr lang="en-US" altLang="zh-CN" dirty="0" smtClean="0"/>
              <a:t>(</a:t>
            </a:r>
            <a:r>
              <a:rPr lang="zh-CN" altLang="en-US" dirty="0"/>
              <a:t>嘅</a:t>
            </a:r>
            <a:r>
              <a:rPr lang="en-US" altLang="zh-CN" dirty="0" smtClean="0"/>
              <a:t>) </a:t>
            </a:r>
            <a:r>
              <a:rPr lang="zh-CN" altLang="en-US" dirty="0" smtClean="0"/>
              <a:t>呢 三     本    </a:t>
            </a:r>
            <a:r>
              <a:rPr lang="en-US" altLang="zh-CN" dirty="0" smtClean="0"/>
              <a:t>Chomsky </a:t>
            </a:r>
            <a:r>
              <a:rPr lang="zh-CN" altLang="en-US" dirty="0" smtClean="0"/>
              <a:t>嘅 書</a:t>
            </a:r>
            <a:endParaRPr lang="en-US" altLang="zh-CN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ZS      </a:t>
            </a:r>
            <a:r>
              <a:rPr lang="en-US" dirty="0" err="1" smtClean="0"/>
              <a:t>ge</a:t>
            </a:r>
            <a:r>
              <a:rPr lang="en-US" dirty="0" smtClean="0"/>
              <a:t>   </a:t>
            </a:r>
            <a:r>
              <a:rPr lang="en-US" dirty="0" err="1" smtClean="0"/>
              <a:t>ni</a:t>
            </a:r>
            <a:r>
              <a:rPr lang="en-US" dirty="0" smtClean="0"/>
              <a:t>  </a:t>
            </a:r>
            <a:r>
              <a:rPr lang="en-US" dirty="0" err="1" smtClean="0"/>
              <a:t>saam</a:t>
            </a:r>
            <a:r>
              <a:rPr lang="en-US" dirty="0" smtClean="0"/>
              <a:t> bun Chomsky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shue</a:t>
            </a:r>
            <a:endParaRPr lang="en-US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‘</a:t>
            </a:r>
            <a:r>
              <a:rPr lang="en-US" dirty="0" err="1" smtClean="0"/>
              <a:t>Zhangsan’s</a:t>
            </a:r>
            <a:r>
              <a:rPr lang="en-US" dirty="0" smtClean="0"/>
              <a:t> three Chomsky books’ 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21551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Chinese nominal domain (Paul (2005, 2012, 2019))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46484"/>
            <a:ext cx="12192000" cy="5911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	DP</a:t>
            </a:r>
          </a:p>
          <a:p>
            <a:pPr marL="0" indent="0">
              <a:buNone/>
            </a:pPr>
            <a:r>
              <a:rPr lang="en-US" sz="1800" dirty="0" err="1" smtClean="0"/>
              <a:t>SpecDP</a:t>
            </a:r>
            <a:r>
              <a:rPr lang="en-US" sz="1800" dirty="0" smtClean="0"/>
              <a:t>		D’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D		</a:t>
            </a:r>
            <a:r>
              <a:rPr lang="en-US" sz="1800" dirty="0" err="1" smtClean="0"/>
              <a:t>PossP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</a:t>
            </a:r>
            <a:r>
              <a:rPr lang="en-US" sz="1800" dirty="0" err="1" smtClean="0"/>
              <a:t>SpecPossP</a:t>
            </a:r>
            <a:r>
              <a:rPr lang="en-US" sz="1800" dirty="0" smtClean="0"/>
              <a:t>	</a:t>
            </a:r>
            <a:r>
              <a:rPr lang="en-US" sz="1800" dirty="0" err="1" smtClean="0"/>
              <a:t>Poss’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</a:t>
            </a:r>
            <a:r>
              <a:rPr lang="en-US" sz="1800" dirty="0" err="1" smtClean="0"/>
              <a:t>Poss</a:t>
            </a:r>
            <a:r>
              <a:rPr lang="en-US" sz="1800" dirty="0" smtClean="0"/>
              <a:t>		</a:t>
            </a:r>
            <a:r>
              <a:rPr lang="en-US" sz="1800" dirty="0" err="1" smtClean="0"/>
              <a:t>NumP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		</a:t>
            </a:r>
            <a:r>
              <a:rPr lang="en-US" sz="1800" dirty="0"/>
              <a:t>	</a:t>
            </a:r>
            <a:r>
              <a:rPr lang="en-US" sz="1800" dirty="0" smtClean="0"/>
              <a:t>	</a:t>
            </a:r>
            <a:r>
              <a:rPr lang="en-US" sz="1800" dirty="0" err="1" smtClean="0"/>
              <a:t>SpecNumP</a:t>
            </a:r>
            <a:r>
              <a:rPr lang="en-US" sz="1800" dirty="0" smtClean="0"/>
              <a:t>	</a:t>
            </a:r>
            <a:r>
              <a:rPr lang="en-US" sz="1800" dirty="0" err="1" smtClean="0"/>
              <a:t>Num</a:t>
            </a:r>
            <a:r>
              <a:rPr lang="en-US" sz="1800" dirty="0" smtClean="0"/>
              <a:t>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</a:t>
            </a:r>
            <a:r>
              <a:rPr lang="en-US" sz="1800" dirty="0" err="1" smtClean="0"/>
              <a:t>Num</a:t>
            </a:r>
            <a:r>
              <a:rPr lang="en-US" sz="1800" dirty="0" smtClean="0"/>
              <a:t>		QP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</a:t>
            </a:r>
            <a:r>
              <a:rPr lang="en-US" sz="1800" dirty="0" err="1" smtClean="0"/>
              <a:t>SpecQP</a:t>
            </a:r>
            <a:r>
              <a:rPr lang="en-US" sz="1800" dirty="0" smtClean="0"/>
              <a:t>		Q’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Q		CLP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</a:t>
            </a:r>
            <a:r>
              <a:rPr lang="en-US" sz="1800" dirty="0" err="1" smtClean="0"/>
              <a:t>SpecCLP</a:t>
            </a:r>
            <a:r>
              <a:rPr lang="en-US" sz="1800" dirty="0" smtClean="0"/>
              <a:t>		CL’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CL		</a:t>
            </a:r>
            <a:r>
              <a:rPr lang="en-US" sz="1800" dirty="0" err="1" smtClean="0"/>
              <a:t>ModP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										</a:t>
            </a:r>
            <a:r>
              <a:rPr lang="en-US" sz="1800" dirty="0" err="1" smtClean="0"/>
              <a:t>SpecModP</a:t>
            </a:r>
            <a:r>
              <a:rPr lang="en-US" sz="1800" dirty="0" smtClean="0"/>
              <a:t>	Mod’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	Mod	            </a:t>
            </a:r>
            <a:r>
              <a:rPr lang="en-US" sz="1800" dirty="0" err="1" smtClean="0"/>
              <a:t>nP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		            NP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7552" y="5695825"/>
            <a:ext cx="909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de/</a:t>
            </a:r>
            <a:r>
              <a:rPr lang="en-GB" sz="2400" dirty="0" err="1" smtClean="0"/>
              <a:t>ge</a:t>
            </a:r>
            <a:endParaRPr lang="en-GB" sz="2400" dirty="0"/>
          </a:p>
        </p:txBody>
      </p:sp>
      <p:sp>
        <p:nvSpPr>
          <p:cNvPr id="5" name="Rectangle 4"/>
          <p:cNvSpPr/>
          <p:nvPr/>
        </p:nvSpPr>
        <p:spPr>
          <a:xfrm>
            <a:off x="2586415" y="2752099"/>
            <a:ext cx="909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de/</a:t>
            </a:r>
            <a:r>
              <a:rPr lang="en-GB" sz="2400" dirty="0" err="1" smtClean="0"/>
              <a:t>ge</a:t>
            </a:r>
            <a:endParaRPr lang="en-GB" sz="2400" dirty="0"/>
          </a:p>
        </p:txBody>
      </p:sp>
      <p:sp>
        <p:nvSpPr>
          <p:cNvPr id="6" name="Rectangle 5"/>
          <p:cNvSpPr/>
          <p:nvPr/>
        </p:nvSpPr>
        <p:spPr>
          <a:xfrm>
            <a:off x="415875" y="3213764"/>
            <a:ext cx="407591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000" dirty="0" err="1" smtClean="0"/>
              <a:t>Longobardi</a:t>
            </a:r>
            <a:r>
              <a:rPr lang="en-GB" sz="2000" dirty="0" smtClean="0"/>
              <a:t> and </a:t>
            </a:r>
            <a:r>
              <a:rPr lang="en-GB" sz="2000" dirty="0" err="1" smtClean="0"/>
              <a:t>Silvestri</a:t>
            </a:r>
            <a:r>
              <a:rPr lang="en-GB" sz="2000" dirty="0" smtClean="0"/>
              <a:t> (2013): POSS as a high nominal functional head</a:t>
            </a:r>
            <a:endParaRPr lang="en-GB" sz="2000" dirty="0"/>
          </a:p>
        </p:txBody>
      </p:sp>
      <p:sp>
        <p:nvSpPr>
          <p:cNvPr id="7" name="Rectangle 6"/>
          <p:cNvSpPr/>
          <p:nvPr/>
        </p:nvSpPr>
        <p:spPr>
          <a:xfrm>
            <a:off x="465146" y="3921650"/>
            <a:ext cx="35637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 smtClean="0"/>
              <a:t>張三</a:t>
            </a:r>
            <a:r>
              <a:rPr lang="zh-CN" altLang="en-US" sz="2400" b="1" dirty="0" smtClean="0"/>
              <a:t>嘅</a:t>
            </a:r>
            <a:r>
              <a:rPr lang="zh-CN" altLang="en-US" sz="2400" dirty="0" smtClean="0"/>
              <a:t>三本</a:t>
            </a:r>
            <a:r>
              <a:rPr lang="en-US" altLang="zh-CN" sz="2400" dirty="0" smtClean="0"/>
              <a:t>Chomsky</a:t>
            </a:r>
            <a:r>
              <a:rPr lang="zh-CN" altLang="en-US" sz="2400" b="1" dirty="0" smtClean="0"/>
              <a:t>嘅</a:t>
            </a:r>
            <a:r>
              <a:rPr lang="zh-CN" altLang="en-US" sz="2400" dirty="0" smtClean="0"/>
              <a:t>書</a:t>
            </a:r>
            <a:endParaRPr lang="en-US" altLang="zh-CN" sz="2400" dirty="0"/>
          </a:p>
        </p:txBody>
      </p:sp>
      <p:sp>
        <p:nvSpPr>
          <p:cNvPr id="8" name="Rectangle 7"/>
          <p:cNvSpPr/>
          <p:nvPr/>
        </p:nvSpPr>
        <p:spPr>
          <a:xfrm>
            <a:off x="465146" y="4444870"/>
            <a:ext cx="28552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400" dirty="0"/>
              <a:t>張</a:t>
            </a:r>
            <a:r>
              <a:rPr lang="zh-CN" altLang="en-US" sz="2400" dirty="0" smtClean="0"/>
              <a:t>三</a:t>
            </a:r>
            <a:r>
              <a:rPr lang="zh-CN" altLang="en-US" sz="2400" b="1" dirty="0" smtClean="0"/>
              <a:t>本</a:t>
            </a:r>
            <a:r>
              <a:rPr lang="en-US" altLang="zh-CN" sz="2400" dirty="0"/>
              <a:t>Chomsky</a:t>
            </a:r>
            <a:r>
              <a:rPr lang="zh-CN" altLang="en-US" sz="2400" b="1" dirty="0"/>
              <a:t>嘅</a:t>
            </a:r>
            <a:r>
              <a:rPr lang="zh-CN" altLang="en-US" sz="2400" dirty="0"/>
              <a:t>書</a:t>
            </a:r>
            <a:endParaRPr lang="en-US" altLang="zh-CN" sz="2400" dirty="0"/>
          </a:p>
        </p:txBody>
      </p:sp>
      <p:sp>
        <p:nvSpPr>
          <p:cNvPr id="9" name="Rectangle 8"/>
          <p:cNvSpPr/>
          <p:nvPr/>
        </p:nvSpPr>
        <p:spPr>
          <a:xfrm>
            <a:off x="1134240" y="4960467"/>
            <a:ext cx="20393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POSS	     Mod</a:t>
            </a:r>
            <a:endParaRPr lang="en-US" altLang="zh-CN" sz="2400" dirty="0"/>
          </a:p>
        </p:txBody>
      </p:sp>
      <p:sp>
        <p:nvSpPr>
          <p:cNvPr id="10" name="Rectangle 9"/>
          <p:cNvSpPr/>
          <p:nvPr/>
        </p:nvSpPr>
        <p:spPr>
          <a:xfrm>
            <a:off x="9877552" y="6157490"/>
            <a:ext cx="16225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 err="1" smtClean="0"/>
              <a:t>Rubins</a:t>
            </a:r>
            <a:r>
              <a:rPr lang="en-US" sz="2000" dirty="0" smtClean="0"/>
              <a:t> (</a:t>
            </a:r>
            <a:r>
              <a:rPr lang="en-US" altLang="zh-CN" sz="2000" dirty="0" smtClean="0"/>
              <a:t>1994</a:t>
            </a:r>
            <a:r>
              <a:rPr lang="en-US" sz="2000" dirty="0" smtClean="0"/>
              <a:t>)</a:t>
            </a:r>
            <a:endParaRPr lang="en-GB" sz="2000" dirty="0"/>
          </a:p>
        </p:txBody>
      </p:sp>
      <p:sp>
        <p:nvSpPr>
          <p:cNvPr id="11" name="Rectangle 10"/>
          <p:cNvSpPr/>
          <p:nvPr/>
        </p:nvSpPr>
        <p:spPr>
          <a:xfrm>
            <a:off x="1227373" y="5420601"/>
            <a:ext cx="52770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/>
              <a:t>+D</a:t>
            </a: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15038326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Activity constructions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4226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Subject-Object Asymmetry (</a:t>
            </a:r>
            <a:r>
              <a:rPr lang="zh-CN" altLang="en-US" dirty="0" smtClean="0"/>
              <a:t>黃 </a:t>
            </a:r>
            <a:r>
              <a:rPr lang="en-US" altLang="zh-CN" dirty="0" smtClean="0"/>
              <a:t>2008; </a:t>
            </a:r>
            <a:r>
              <a:rPr lang="zh-CN" altLang="en-US" dirty="0" smtClean="0"/>
              <a:t>鄧 </a:t>
            </a:r>
            <a:r>
              <a:rPr lang="en-US" altLang="zh-CN" dirty="0" smtClean="0"/>
              <a:t>2009)</a:t>
            </a:r>
            <a:r>
              <a:rPr lang="en-US" dirty="0" smtClean="0"/>
              <a:t>: </a:t>
            </a:r>
          </a:p>
        </p:txBody>
      </p:sp>
      <p:sp>
        <p:nvSpPr>
          <p:cNvPr id="4" name="Rectangle 3"/>
          <p:cNvSpPr/>
          <p:nvPr/>
        </p:nvSpPr>
        <p:spPr>
          <a:xfrm>
            <a:off x="6657474" y="1793941"/>
            <a:ext cx="105156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800" dirty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佢做佢嘅老師 </a:t>
            </a:r>
            <a:r>
              <a:rPr lang="en-US" altLang="zh-TW" sz="28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Cantonese</a:t>
            </a:r>
            <a:r>
              <a:rPr lang="en-US" altLang="zh-TW" sz="28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)</a:t>
            </a:r>
          </a:p>
          <a:p>
            <a:r>
              <a:rPr lang="en-US" altLang="zh-TW" sz="2800" dirty="0" err="1">
                <a:ea typeface="等线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eui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zou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keui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ge</a:t>
            </a:r>
            <a:r>
              <a:rPr lang="en-US" altLang="zh-TW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TW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lousi</a:t>
            </a:r>
            <a:endParaRPr lang="en-US" altLang="zh-TW" sz="2800" dirty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TW" sz="28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*</a:t>
            </a:r>
            <a:r>
              <a:rPr lang="zh-TW" altLang="en-US" sz="2800" dirty="0" smtClean="0"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佢  嘅 老師 做   得   好</a:t>
            </a:r>
            <a:endParaRPr lang="en-US" altLang="zh-TW" sz="2800" dirty="0" smtClean="0"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800" dirty="0" err="1">
                <a:ea typeface="等线" panose="02010600030101010101" pitchFamily="2" charset="-122"/>
                <a:cs typeface="Times New Roman" panose="02020603050405020304" pitchFamily="18" charset="0"/>
              </a:rPr>
              <a:t>k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eui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ge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lousi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zou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dak</a:t>
            </a:r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sz="2800" dirty="0" err="1" smtClean="0">
                <a:ea typeface="等线" panose="02010600030101010101" pitchFamily="2" charset="-122"/>
                <a:cs typeface="Times New Roman" panose="02020603050405020304" pitchFamily="18" charset="0"/>
              </a:rPr>
              <a:t>hou</a:t>
            </a:r>
            <a:endParaRPr lang="en-US" sz="2800" dirty="0" smtClean="0"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sz="2800" dirty="0" smtClean="0">
                <a:ea typeface="等线" panose="02010600030101010101" pitchFamily="2" charset="-122"/>
                <a:cs typeface="Times New Roman" panose="02020603050405020304" pitchFamily="18" charset="0"/>
              </a:rPr>
              <a:t>‘He is being a good teacher.’ </a:t>
            </a:r>
            <a:endParaRPr lang="en-GB" sz="2800" dirty="0"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838200" y="4040710"/>
            <a:ext cx="72630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Light Verb Analysis (</a:t>
            </a:r>
            <a:r>
              <a:rPr lang="zh-CN" altLang="en-US" sz="2800" dirty="0" smtClean="0"/>
              <a:t>黃 </a:t>
            </a:r>
            <a:r>
              <a:rPr lang="en-US" altLang="zh-CN" sz="2800" dirty="0" smtClean="0"/>
              <a:t>2008; </a:t>
            </a:r>
            <a:r>
              <a:rPr lang="zh-CN" altLang="en-US" sz="2800" dirty="0" smtClean="0"/>
              <a:t>鄧 </a:t>
            </a:r>
            <a:r>
              <a:rPr lang="en-US" altLang="zh-CN" sz="2800" dirty="0" smtClean="0"/>
              <a:t>2009; 2010): </a:t>
            </a:r>
            <a:endParaRPr lang="en-GB" sz="2800" dirty="0"/>
          </a:p>
        </p:txBody>
      </p:sp>
      <p:sp>
        <p:nvSpPr>
          <p:cNvPr id="6" name="Rectangle 5"/>
          <p:cNvSpPr/>
          <p:nvPr/>
        </p:nvSpPr>
        <p:spPr>
          <a:xfrm>
            <a:off x="5326398" y="4400210"/>
            <a:ext cx="15392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/>
              <a:t>DO + VP  </a:t>
            </a:r>
            <a:endParaRPr lang="en-GB" sz="2800" dirty="0"/>
          </a:p>
        </p:txBody>
      </p:sp>
      <p:sp>
        <p:nvSpPr>
          <p:cNvPr id="7" name="Rectangle 6"/>
          <p:cNvSpPr/>
          <p:nvPr/>
        </p:nvSpPr>
        <p:spPr>
          <a:xfrm>
            <a:off x="821213" y="1793941"/>
            <a:ext cx="581927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dirty="0" smtClean="0"/>
              <a:t>他 當    他 的 老</a:t>
            </a:r>
            <a:r>
              <a:rPr lang="zh-CN" altLang="en-US" sz="2800" dirty="0"/>
              <a:t>師 </a:t>
            </a:r>
            <a:r>
              <a:rPr lang="en-US" altLang="zh-CN" sz="2800" dirty="0" smtClean="0"/>
              <a:t>(</a:t>
            </a:r>
            <a:r>
              <a:rPr lang="en-US" altLang="zh-CN" sz="2800" dirty="0"/>
              <a:t>Mandarin</a:t>
            </a:r>
            <a:r>
              <a:rPr lang="en-US" altLang="zh-CN" sz="2800" dirty="0" smtClean="0"/>
              <a:t>)</a:t>
            </a:r>
          </a:p>
          <a:p>
            <a:r>
              <a:rPr lang="en-US" altLang="zh-CN" sz="2800" dirty="0"/>
              <a:t>t</a:t>
            </a:r>
            <a:r>
              <a:rPr lang="en-US" altLang="zh-CN" sz="2800" dirty="0" smtClean="0"/>
              <a:t>a dang ta de </a:t>
            </a:r>
            <a:r>
              <a:rPr lang="en-US" altLang="zh-CN" sz="2800" dirty="0" err="1" smtClean="0"/>
              <a:t>laoshi</a:t>
            </a:r>
            <a:endParaRPr lang="en-US" altLang="zh-CN" sz="2800" dirty="0"/>
          </a:p>
          <a:p>
            <a:r>
              <a:rPr lang="zh-CN" altLang="en-US" sz="2800" dirty="0" smtClean="0"/>
              <a:t>他 的 老師  當      得 好</a:t>
            </a:r>
            <a:endParaRPr lang="en-US" altLang="zh-CN" sz="2800" dirty="0" smtClean="0"/>
          </a:p>
          <a:p>
            <a:r>
              <a:rPr lang="en-US" sz="2800" dirty="0"/>
              <a:t>t</a:t>
            </a:r>
            <a:r>
              <a:rPr lang="en-US" sz="2800" dirty="0" smtClean="0"/>
              <a:t>a de </a:t>
            </a:r>
            <a:r>
              <a:rPr lang="en-US" sz="2800" dirty="0" err="1" smtClean="0"/>
              <a:t>laoshi</a:t>
            </a:r>
            <a:r>
              <a:rPr lang="en-US" sz="2800" dirty="0" smtClean="0"/>
              <a:t> dang de </a:t>
            </a:r>
            <a:r>
              <a:rPr lang="en-US" sz="2800" dirty="0" err="1" smtClean="0"/>
              <a:t>hao</a:t>
            </a:r>
            <a:endParaRPr lang="en-US" sz="2800" dirty="0" smtClean="0"/>
          </a:p>
          <a:p>
            <a:r>
              <a:rPr lang="en-US" sz="2800" dirty="0" smtClean="0"/>
              <a:t>‘He is being a good teacher.’ </a:t>
            </a:r>
            <a:endParaRPr lang="en-GB" sz="2800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-190500" y="4799101"/>
            <a:ext cx="11353800" cy="20588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 	[DO [</a:t>
            </a:r>
            <a:r>
              <a:rPr lang="en-US" altLang="zh-CN" sz="1800" dirty="0" smtClean="0"/>
              <a:t>GP</a:t>
            </a:r>
            <a:r>
              <a:rPr lang="en-US" altLang="zh-CN" dirty="0" smtClean="0"/>
              <a:t> ta de dang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</a:t>
            </a:r>
            <a:r>
              <a:rPr lang="en-US" dirty="0" smtClean="0"/>
              <a:t>		 	</a:t>
            </a:r>
            <a:r>
              <a:rPr lang="en-US" altLang="zh-CN" dirty="0" smtClean="0"/>
              <a:t>[dang 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 </a:t>
            </a:r>
            <a:r>
              <a:rPr lang="en-US" altLang="zh-CN" dirty="0" smtClean="0"/>
              <a:t>[</a:t>
            </a:r>
            <a:r>
              <a:rPr lang="en-US" altLang="zh-CN" sz="1800" dirty="0" smtClean="0"/>
              <a:t>GP </a:t>
            </a:r>
            <a:r>
              <a:rPr lang="en-US" altLang="zh-CN" dirty="0" smtClean="0"/>
              <a:t>ta de t </a:t>
            </a:r>
            <a:r>
              <a:rPr lang="en-US" altLang="zh-CN" sz="18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]]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         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ta dang </a:t>
            </a:r>
            <a:r>
              <a:rPr lang="en-US" altLang="zh-CN" sz="20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/>
              <a:t>[</a:t>
            </a:r>
            <a:r>
              <a:rPr lang="en-US" altLang="zh-CN" sz="2000" dirty="0"/>
              <a:t>GP</a:t>
            </a:r>
            <a:r>
              <a:rPr lang="en-US" altLang="zh-CN" dirty="0"/>
              <a:t> ta de t </a:t>
            </a:r>
            <a:r>
              <a:rPr lang="en-US" altLang="zh-CN" sz="20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/>
              <a:t>laoshi</a:t>
            </a:r>
            <a:r>
              <a:rPr lang="en-US" altLang="zh-CN" dirty="0" smtClean="0"/>
              <a:t>]]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[</a:t>
            </a:r>
            <a:r>
              <a:rPr lang="en-US" altLang="zh-CN" sz="2000" dirty="0" smtClean="0"/>
              <a:t>GP</a:t>
            </a:r>
            <a:r>
              <a:rPr lang="en-US" altLang="zh-CN" dirty="0" smtClean="0"/>
              <a:t> ta de t </a:t>
            </a:r>
            <a:r>
              <a:rPr lang="en-US" altLang="zh-CN" sz="18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 </a:t>
            </a:r>
            <a:r>
              <a:rPr lang="en-US" altLang="zh-CN" sz="1800" dirty="0" smtClean="0"/>
              <a:t>j </a:t>
            </a:r>
            <a:r>
              <a:rPr lang="en-US" altLang="zh-CN" dirty="0" smtClean="0"/>
              <a:t>[dang </a:t>
            </a:r>
            <a:r>
              <a:rPr lang="en-US" altLang="zh-CN" sz="2000" dirty="0" err="1"/>
              <a:t>i</a:t>
            </a:r>
            <a:r>
              <a:rPr lang="en-US" altLang="zh-CN" sz="2400" dirty="0" smtClean="0"/>
              <a:t> </a:t>
            </a:r>
            <a:r>
              <a:rPr lang="en-US" altLang="zh-CN" dirty="0" smtClean="0"/>
              <a:t>t </a:t>
            </a:r>
            <a:r>
              <a:rPr lang="en-US" altLang="zh-CN" sz="1800" dirty="0" smtClean="0"/>
              <a:t>j</a:t>
            </a:r>
            <a:r>
              <a:rPr lang="en-US" altLang="zh-CN" dirty="0" smtClean="0"/>
              <a:t> [de </a:t>
            </a:r>
            <a:r>
              <a:rPr lang="en-US" altLang="zh-CN" dirty="0" err="1" smtClean="0"/>
              <a:t>hao</a:t>
            </a:r>
            <a:r>
              <a:rPr lang="en-US" altLang="zh-CN" dirty="0" smtClean="0"/>
              <a:t>]]		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7395534" y="4036372"/>
            <a:ext cx="4919018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In object position, both </a:t>
            </a:r>
            <a:r>
              <a:rPr lang="en-US" sz="2800" i="1" dirty="0" smtClean="0"/>
              <a:t>de</a:t>
            </a:r>
            <a:r>
              <a:rPr lang="en-US" sz="2800" dirty="0" smtClean="0"/>
              <a:t> an </a:t>
            </a:r>
            <a:r>
              <a:rPr lang="en-US" sz="2800" i="1" dirty="0" err="1" smtClean="0"/>
              <a:t>ge</a:t>
            </a:r>
            <a:r>
              <a:rPr lang="en-US" sz="2800" dirty="0" smtClean="0"/>
              <a:t> can head Activity </a:t>
            </a:r>
            <a:r>
              <a:rPr lang="en-US" sz="2800" dirty="0" err="1" smtClean="0"/>
              <a:t>nominals</a:t>
            </a:r>
            <a:r>
              <a:rPr lang="en-US" sz="2800" dirty="0" smtClean="0"/>
              <a:t> (</a:t>
            </a:r>
            <a:r>
              <a:rPr lang="en-US" sz="2800" i="1" dirty="0" smtClean="0"/>
              <a:t>ta de </a:t>
            </a:r>
            <a:r>
              <a:rPr lang="en-US" sz="2800" i="1" dirty="0" err="1" smtClean="0"/>
              <a:t>laoshi</a:t>
            </a:r>
            <a:r>
              <a:rPr lang="en-US" sz="2800" i="1" dirty="0" smtClean="0"/>
              <a:t>/</a:t>
            </a:r>
            <a:r>
              <a:rPr lang="en-US" sz="2800" i="1" dirty="0" err="1" smtClean="0"/>
              <a:t>keoi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ge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lousi</a:t>
            </a:r>
            <a:r>
              <a:rPr lang="en-US" sz="2800" dirty="0" smtClean="0"/>
              <a:t>);</a:t>
            </a:r>
          </a:p>
          <a:p>
            <a:r>
              <a:rPr lang="en-US" sz="2800" dirty="0" smtClean="0"/>
              <a:t> in subject position, </a:t>
            </a:r>
            <a:r>
              <a:rPr lang="en-US" sz="2800" i="1" dirty="0" smtClean="0"/>
              <a:t>de</a:t>
            </a:r>
            <a:r>
              <a:rPr lang="en-US" sz="2800" dirty="0" smtClean="0"/>
              <a:t> but not *</a:t>
            </a:r>
            <a:r>
              <a:rPr lang="en-US" sz="2800" i="1" dirty="0" err="1" smtClean="0"/>
              <a:t>ge</a:t>
            </a:r>
            <a:r>
              <a:rPr lang="en-US" sz="2800" i="1" dirty="0" smtClean="0"/>
              <a:t> </a:t>
            </a:r>
            <a:r>
              <a:rPr lang="en-US" sz="2800" dirty="0" smtClean="0"/>
              <a:t>is grammatical (</a:t>
            </a:r>
            <a:r>
              <a:rPr lang="en-US" sz="2800" i="1" dirty="0" smtClean="0"/>
              <a:t>ta de </a:t>
            </a:r>
            <a:r>
              <a:rPr lang="en-US" sz="2800" i="1" dirty="0" err="1" smtClean="0"/>
              <a:t>laoshi</a:t>
            </a:r>
            <a:r>
              <a:rPr lang="en-US" sz="2800" i="1" dirty="0" smtClean="0"/>
              <a:t>/*</a:t>
            </a:r>
            <a:r>
              <a:rPr lang="en-US" sz="2800" i="1" dirty="0" err="1" smtClean="0"/>
              <a:t>keoi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ge</a:t>
            </a:r>
            <a:r>
              <a:rPr lang="en-US" sz="2800" i="1" dirty="0" smtClean="0"/>
              <a:t> </a:t>
            </a:r>
            <a:r>
              <a:rPr lang="en-US" sz="2800" i="1" dirty="0" err="1" smtClean="0"/>
              <a:t>lousi</a:t>
            </a:r>
            <a:r>
              <a:rPr lang="en-US" sz="2800" dirty="0" smtClean="0"/>
              <a:t>)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329728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9" grpId="0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-13855"/>
            <a:ext cx="10515600" cy="1325563"/>
          </a:xfrm>
        </p:spPr>
        <p:txBody>
          <a:bodyPr/>
          <a:lstStyle/>
          <a:p>
            <a:r>
              <a:rPr lang="zh-CN" altLang="en-US" dirty="0" smtClean="0"/>
              <a:t>黃</a:t>
            </a:r>
            <a:r>
              <a:rPr lang="en-US" dirty="0" smtClean="0"/>
              <a:t> (2008): Light Verb DO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197" y="104869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Influential proposal (</a:t>
            </a:r>
            <a:r>
              <a:rPr lang="zh-CN" altLang="en-US" dirty="0" smtClean="0"/>
              <a:t>黃</a:t>
            </a:r>
            <a:r>
              <a:rPr lang="en-US" dirty="0" smtClean="0"/>
              <a:t> (2008)): Light Verb DO (</a:t>
            </a:r>
            <a:r>
              <a:rPr lang="en-US" dirty="0" err="1" smtClean="0"/>
              <a:t>cf</a:t>
            </a:r>
            <a:r>
              <a:rPr lang="en-US" dirty="0" smtClean="0"/>
              <a:t> Huang (1997), Lin (2001), </a:t>
            </a:r>
            <a:r>
              <a:rPr lang="en-US" dirty="0" err="1" smtClean="0"/>
              <a:t>cf</a:t>
            </a:r>
            <a:r>
              <a:rPr lang="en-US" dirty="0" smtClean="0"/>
              <a:t> Larson (1989), </a:t>
            </a:r>
            <a:r>
              <a:rPr lang="en-US" dirty="0" err="1" smtClean="0"/>
              <a:t>Dowty</a:t>
            </a:r>
            <a:r>
              <a:rPr lang="en-US" dirty="0" smtClean="0"/>
              <a:t> (1991), Hale and Keyser (1993, 2002))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853154"/>
            <a:ext cx="10515600" cy="504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DO + Gerund Phrase (</a:t>
            </a:r>
            <a:r>
              <a:rPr lang="en-US" dirty="0"/>
              <a:t>GP) </a:t>
            </a:r>
            <a:r>
              <a:rPr lang="en-US" dirty="0" smtClean="0"/>
              <a:t>nominalized by </a:t>
            </a:r>
            <a:r>
              <a:rPr lang="en-US" i="1" dirty="0" smtClean="0"/>
              <a:t>de</a:t>
            </a:r>
            <a:r>
              <a:rPr lang="en-US" dirty="0" smtClean="0"/>
              <a:t> and, by extension, </a:t>
            </a:r>
            <a:r>
              <a:rPr lang="en-US" i="1" dirty="0" err="1" smtClean="0"/>
              <a:t>ge</a:t>
            </a:r>
            <a:r>
              <a:rPr lang="en-US" dirty="0" smtClean="0"/>
              <a:t> </a:t>
            </a: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38196" y="2358055"/>
            <a:ext cx="11353804" cy="2425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他當他的老師</a:t>
            </a:r>
            <a:r>
              <a:rPr lang="en-GB" altLang="zh-CN" dirty="0" smtClean="0"/>
              <a:t>/</a:t>
            </a:r>
            <a:r>
              <a:rPr lang="zh-CN" altLang="en-US" dirty="0" smtClean="0"/>
              <a:t>他當他的老師</a:t>
            </a:r>
            <a:r>
              <a:rPr lang="en-US" altLang="zh-CN" dirty="0" smtClean="0"/>
              <a:t>	[DO [</a:t>
            </a:r>
            <a:r>
              <a:rPr lang="en-US" altLang="zh-CN" sz="1800" dirty="0" smtClean="0"/>
              <a:t>GP</a:t>
            </a:r>
            <a:r>
              <a:rPr lang="en-US" altLang="zh-CN" dirty="0" smtClean="0"/>
              <a:t> ta de dang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					</a:t>
            </a:r>
            <a:r>
              <a:rPr lang="en-US" altLang="zh-CN" dirty="0" smtClean="0"/>
              <a:t>[dang 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 </a:t>
            </a:r>
            <a:r>
              <a:rPr lang="en-US" altLang="zh-CN" dirty="0" smtClean="0"/>
              <a:t>[</a:t>
            </a:r>
            <a:r>
              <a:rPr lang="en-US" altLang="zh-CN" sz="1800" dirty="0" smtClean="0"/>
              <a:t>GP </a:t>
            </a:r>
            <a:r>
              <a:rPr lang="en-US" altLang="zh-CN" dirty="0" smtClean="0"/>
              <a:t>ta de t </a:t>
            </a:r>
            <a:r>
              <a:rPr lang="en-US" altLang="zh-CN" sz="18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]]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          		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ta dang </a:t>
            </a:r>
            <a:r>
              <a:rPr lang="en-US" altLang="zh-CN" sz="20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/>
              <a:t>[</a:t>
            </a:r>
            <a:r>
              <a:rPr lang="en-US" altLang="zh-CN" sz="2000" dirty="0"/>
              <a:t>GP</a:t>
            </a:r>
            <a:r>
              <a:rPr lang="en-US" altLang="zh-CN" dirty="0"/>
              <a:t> ta de t </a:t>
            </a:r>
            <a:r>
              <a:rPr lang="en-US" altLang="zh-CN" sz="20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/>
              <a:t>laoshi</a:t>
            </a:r>
            <a:r>
              <a:rPr lang="en-US" altLang="zh-CN" dirty="0" smtClean="0"/>
              <a:t>]] (</a:t>
            </a:r>
            <a:r>
              <a:rPr lang="zh-CN" altLang="en-US" dirty="0" smtClean="0"/>
              <a:t>他當他的老師</a:t>
            </a:r>
            <a:r>
              <a:rPr lang="en-US" altLang="zh-CN" dirty="0" smtClean="0"/>
              <a:t>)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	</a:t>
            </a:r>
            <a:r>
              <a:rPr lang="en-US" altLang="zh-CN" dirty="0"/>
              <a:t> </a:t>
            </a:r>
            <a:r>
              <a:rPr lang="en-US" altLang="zh-CN" dirty="0" smtClean="0"/>
              <a:t> 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[</a:t>
            </a:r>
            <a:r>
              <a:rPr lang="en-US" altLang="zh-CN" sz="2000" dirty="0" smtClean="0"/>
              <a:t>GP</a:t>
            </a:r>
            <a:r>
              <a:rPr lang="en-US" altLang="zh-CN" dirty="0" smtClean="0"/>
              <a:t> ta de t </a:t>
            </a:r>
            <a:r>
              <a:rPr lang="en-US" altLang="zh-CN" sz="18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 </a:t>
            </a:r>
            <a:r>
              <a:rPr lang="en-US" altLang="zh-CN" sz="1800" dirty="0" smtClean="0"/>
              <a:t>j </a:t>
            </a:r>
            <a:r>
              <a:rPr lang="en-US" altLang="zh-CN" dirty="0" smtClean="0"/>
              <a:t>[dang </a:t>
            </a:r>
            <a:r>
              <a:rPr lang="en-US" altLang="zh-CN" sz="2000" dirty="0" err="1"/>
              <a:t>i</a:t>
            </a:r>
            <a:r>
              <a:rPr lang="en-US" altLang="zh-CN" sz="2400" dirty="0" smtClean="0"/>
              <a:t> </a:t>
            </a:r>
            <a:r>
              <a:rPr lang="en-US" altLang="zh-CN" dirty="0" smtClean="0"/>
              <a:t>t </a:t>
            </a:r>
            <a:r>
              <a:rPr lang="en-US" altLang="zh-CN" sz="1800" dirty="0" smtClean="0"/>
              <a:t>j</a:t>
            </a:r>
            <a:r>
              <a:rPr lang="en-US" altLang="zh-CN" dirty="0" smtClean="0"/>
              <a:t> [de </a:t>
            </a:r>
            <a:r>
              <a:rPr lang="en-US" altLang="zh-CN" dirty="0" err="1" smtClean="0"/>
              <a:t>hao</a:t>
            </a:r>
            <a:r>
              <a:rPr lang="en-US" altLang="zh-CN" dirty="0" smtClean="0"/>
              <a:t>]]	   (</a:t>
            </a:r>
            <a:r>
              <a:rPr lang="zh-CN" altLang="en-US" dirty="0" smtClean="0"/>
              <a:t>他的老師當得好</a:t>
            </a:r>
            <a:r>
              <a:rPr lang="en-US" altLang="zh-CN" dirty="0" smtClean="0"/>
              <a:t>)</a:t>
            </a: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838197" y="4350541"/>
            <a:ext cx="10515600" cy="494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1) Activity selection (DO + GP denoting Activity event (</a:t>
            </a:r>
            <a:r>
              <a:rPr lang="en-US" altLang="zh-CN" dirty="0" smtClean="0"/>
              <a:t>e.g. </a:t>
            </a:r>
            <a:r>
              <a:rPr lang="zh-CN" altLang="en-US" dirty="0" smtClean="0"/>
              <a:t>他的當老師</a:t>
            </a:r>
            <a:r>
              <a:rPr lang="en-US" altLang="zh-CN" dirty="0" smtClean="0"/>
              <a:t>))</a:t>
            </a:r>
            <a:endParaRPr lang="en-US" dirty="0"/>
          </a:p>
        </p:txBody>
      </p:sp>
      <p:sp>
        <p:nvSpPr>
          <p:cNvPr id="11" name="Content Placeholder 2"/>
          <p:cNvSpPr txBox="1">
            <a:spLocks/>
          </p:cNvSpPr>
          <p:nvPr/>
        </p:nvSpPr>
        <p:spPr>
          <a:xfrm>
            <a:off x="838197" y="4844811"/>
            <a:ext cx="10515600" cy="494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2) Head movement of the verb (here </a:t>
            </a:r>
            <a:r>
              <a:rPr lang="en-US" i="1" dirty="0" smtClean="0"/>
              <a:t>dang </a:t>
            </a:r>
            <a:r>
              <a:rPr lang="zh-CN" altLang="en-US" dirty="0" smtClean="0"/>
              <a:t>當</a:t>
            </a:r>
            <a:r>
              <a:rPr lang="en-US" dirty="0" smtClean="0"/>
              <a:t>) from GP to DO</a:t>
            </a:r>
            <a:endParaRPr lang="en-US" dirty="0"/>
          </a:p>
        </p:txBody>
      </p:sp>
      <p:sp>
        <p:nvSpPr>
          <p:cNvPr id="12" name="Content Placeholder 2"/>
          <p:cNvSpPr txBox="1">
            <a:spLocks/>
          </p:cNvSpPr>
          <p:nvPr/>
        </p:nvSpPr>
        <p:spPr>
          <a:xfrm>
            <a:off x="838197" y="5310652"/>
            <a:ext cx="10515600" cy="4942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3) Argument selection in </a:t>
            </a:r>
            <a:r>
              <a:rPr lang="en-US" dirty="0" err="1" smtClean="0"/>
              <a:t>SpecDO</a:t>
            </a:r>
            <a:r>
              <a:rPr lang="en-US" dirty="0"/>
              <a:t> </a:t>
            </a:r>
            <a:r>
              <a:rPr lang="en-US" dirty="0" smtClean="0"/>
              <a:t>(here </a:t>
            </a:r>
            <a:r>
              <a:rPr lang="en-US" i="1" dirty="0" smtClean="0"/>
              <a:t>ta</a:t>
            </a:r>
            <a:r>
              <a:rPr lang="en-US" dirty="0" smtClean="0"/>
              <a:t> </a:t>
            </a:r>
            <a:r>
              <a:rPr lang="zh-CN" altLang="en-US" dirty="0" smtClean="0"/>
              <a:t>他 </a:t>
            </a:r>
            <a:r>
              <a:rPr lang="en-US" altLang="zh-CN" dirty="0" smtClean="0"/>
              <a:t>‘Actor’)</a:t>
            </a:r>
            <a:endParaRPr lang="en-US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838200" y="5757902"/>
            <a:ext cx="11353800" cy="4875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4) Argument deletion and remnant movement of GP to </a:t>
            </a:r>
            <a:r>
              <a:rPr lang="en-US" dirty="0" err="1" smtClean="0"/>
              <a:t>SpecDO</a:t>
            </a:r>
            <a:r>
              <a:rPr lang="en-US" dirty="0" smtClean="0"/>
              <a:t> (</a:t>
            </a:r>
            <a:r>
              <a:rPr lang="zh-CN" altLang="en-US" dirty="0" smtClean="0"/>
              <a:t>他的</a:t>
            </a:r>
            <a:r>
              <a:rPr lang="en-US" altLang="zh-CN" dirty="0" smtClean="0"/>
              <a:t>t</a:t>
            </a:r>
            <a:r>
              <a:rPr lang="en-US" altLang="zh-CN" sz="2000" dirty="0" smtClean="0"/>
              <a:t> </a:t>
            </a:r>
            <a:r>
              <a:rPr lang="en-US" altLang="zh-CN" sz="2000" dirty="0" err="1" smtClean="0"/>
              <a:t>i</a:t>
            </a:r>
            <a:r>
              <a:rPr lang="en-US" altLang="zh-CN" sz="2000" dirty="0" smtClean="0"/>
              <a:t> </a:t>
            </a:r>
            <a:r>
              <a:rPr lang="zh-CN" altLang="en-US" dirty="0" smtClean="0"/>
              <a:t>老師）</a:t>
            </a:r>
            <a:endParaRPr lang="en-US" dirty="0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838196" y="6275576"/>
            <a:ext cx="11353803" cy="582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5) New complement (e.g. </a:t>
            </a:r>
            <a:r>
              <a:rPr lang="zh-CN" altLang="en-US" dirty="0" smtClean="0"/>
              <a:t>得好 </a:t>
            </a:r>
            <a:r>
              <a:rPr lang="en-US" altLang="zh-CN" dirty="0" smtClean="0"/>
              <a:t>denoting extent) added to matrix verb </a:t>
            </a:r>
            <a:r>
              <a:rPr lang="zh-CN" altLang="en-US" dirty="0" smtClean="0"/>
              <a:t>當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1579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pPr algn="ctr"/>
            <a:r>
              <a:rPr lang="zh-CN" altLang="en-US" dirty="0"/>
              <a:t>鄧</a:t>
            </a:r>
            <a:r>
              <a:rPr lang="en-US" dirty="0" smtClean="0"/>
              <a:t> (2009)/Tang(2011): dialectal nominalization parameter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67169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zh-CN" altLang="en-US" dirty="0" smtClean="0"/>
              <a:t>鄧</a:t>
            </a:r>
            <a:r>
              <a:rPr lang="en-US" dirty="0" smtClean="0"/>
              <a:t> (2009, 2010) applies Huang’s Light Verb DO analysis to Cantonese: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680159"/>
            <a:ext cx="10515600" cy="5049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DO + Gerund Phrase (</a:t>
            </a:r>
            <a:r>
              <a:rPr lang="en-US" dirty="0"/>
              <a:t>GP) </a:t>
            </a: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218506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 smtClean="0"/>
              <a:t>佢嘅老師做得好</a:t>
            </a:r>
            <a:r>
              <a:rPr lang="en-US" altLang="zh-TW" dirty="0" smtClean="0"/>
              <a:t>:</a:t>
            </a:r>
            <a:endParaRPr lang="en-US" dirty="0" smtClean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199" y="2194286"/>
            <a:ext cx="11353801" cy="2166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	 	[DO [</a:t>
            </a:r>
            <a:r>
              <a:rPr lang="en-US" altLang="zh-CN" sz="1800" dirty="0" smtClean="0"/>
              <a:t>GP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keoi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ge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zou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lousi</a:t>
            </a:r>
            <a:r>
              <a:rPr lang="en-US" altLang="zh-CN" dirty="0" smtClean="0"/>
              <a:t>]]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				[</a:t>
            </a:r>
            <a:r>
              <a:rPr lang="en-US" altLang="zh-CN" dirty="0" err="1" smtClean="0"/>
              <a:t>zou</a:t>
            </a:r>
            <a:r>
              <a:rPr lang="en-US" altLang="zh-CN" dirty="0" smtClean="0"/>
              <a:t> 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 </a:t>
            </a:r>
            <a:r>
              <a:rPr lang="en-US" altLang="zh-CN" dirty="0" smtClean="0"/>
              <a:t>[</a:t>
            </a:r>
            <a:r>
              <a:rPr lang="en-US" altLang="zh-CN" sz="1800" dirty="0" smtClean="0"/>
              <a:t>GP </a:t>
            </a:r>
            <a:r>
              <a:rPr lang="en-US" altLang="zh-CN" dirty="0" err="1" smtClean="0"/>
              <a:t>keoi</a:t>
            </a:r>
            <a:r>
              <a:rPr lang="en-US" altLang="zh-CN" dirty="0" smtClean="0"/>
              <a:t> de t </a:t>
            </a:r>
            <a:r>
              <a:rPr lang="en-US" altLang="zh-CN" sz="18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lousi</a:t>
            </a:r>
            <a:r>
              <a:rPr lang="en-US" altLang="zh-CN" dirty="0" smtClean="0"/>
              <a:t>]]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      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keoi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zou</a:t>
            </a:r>
            <a:r>
              <a:rPr lang="en-US" altLang="zh-CN" dirty="0" smtClean="0"/>
              <a:t> </a:t>
            </a:r>
            <a:r>
              <a:rPr lang="en-US" altLang="zh-CN" sz="20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/>
              <a:t>[</a:t>
            </a:r>
            <a:r>
              <a:rPr lang="en-US" altLang="zh-CN" sz="2000" dirty="0"/>
              <a:t>GP</a:t>
            </a:r>
            <a:r>
              <a:rPr lang="en-US" altLang="zh-CN" dirty="0"/>
              <a:t> </a:t>
            </a:r>
            <a:r>
              <a:rPr lang="en-US" altLang="zh-CN" dirty="0" err="1" smtClean="0"/>
              <a:t>keoi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ge</a:t>
            </a:r>
            <a:r>
              <a:rPr lang="en-US" altLang="zh-CN" dirty="0" smtClean="0"/>
              <a:t> </a:t>
            </a:r>
            <a:r>
              <a:rPr lang="en-US" altLang="zh-CN" dirty="0"/>
              <a:t>t </a:t>
            </a:r>
            <a:r>
              <a:rPr lang="en-US" altLang="zh-CN" sz="20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 smtClean="0"/>
              <a:t>lousi</a:t>
            </a:r>
            <a:r>
              <a:rPr lang="en-US" altLang="zh-CN" dirty="0" smtClean="0"/>
              <a:t>]]  	(</a:t>
            </a:r>
            <a:r>
              <a:rPr lang="zh-TW" altLang="en-US" dirty="0" smtClean="0"/>
              <a:t>佢</a:t>
            </a:r>
            <a:r>
              <a:rPr lang="zh-CN" altLang="en-US" dirty="0" smtClean="0"/>
              <a:t>做</a:t>
            </a:r>
            <a:r>
              <a:rPr lang="zh-TW" altLang="en-US" dirty="0" smtClean="0"/>
              <a:t>佢嘅</a:t>
            </a:r>
            <a:r>
              <a:rPr lang="zh-CN" altLang="en-US" dirty="0" smtClean="0"/>
              <a:t>老師</a:t>
            </a:r>
            <a:r>
              <a:rPr lang="en-US" altLang="zh-CN" dirty="0" smtClean="0"/>
              <a:t>)</a:t>
            </a:r>
            <a:r>
              <a:rPr lang="zh-TW" altLang="en-US" dirty="0" smtClean="0"/>
              <a:t> 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[</a:t>
            </a:r>
            <a:r>
              <a:rPr lang="en-US" altLang="zh-CN" sz="2000" dirty="0" smtClean="0"/>
              <a:t>GP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keoi</a:t>
            </a:r>
            <a:r>
              <a:rPr lang="en-US" altLang="zh-CN" dirty="0" smtClean="0"/>
              <a:t> </a:t>
            </a:r>
            <a:r>
              <a:rPr lang="en-US" altLang="zh-CN" dirty="0" err="1"/>
              <a:t>g</a:t>
            </a:r>
            <a:r>
              <a:rPr lang="en-US" altLang="zh-CN" dirty="0" err="1" smtClean="0"/>
              <a:t>e</a:t>
            </a:r>
            <a:r>
              <a:rPr lang="en-US" altLang="zh-CN" dirty="0" smtClean="0"/>
              <a:t> t </a:t>
            </a:r>
            <a:r>
              <a:rPr lang="en-US" altLang="zh-CN" sz="18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 smtClean="0"/>
              <a:t>lousi</a:t>
            </a:r>
            <a:r>
              <a:rPr lang="en-US" altLang="zh-CN" dirty="0" smtClean="0"/>
              <a:t>] </a:t>
            </a:r>
            <a:r>
              <a:rPr lang="en-US" altLang="zh-CN" sz="1800" dirty="0" smtClean="0"/>
              <a:t>j </a:t>
            </a:r>
            <a:r>
              <a:rPr lang="en-US" altLang="zh-CN" dirty="0" smtClean="0"/>
              <a:t>[</a:t>
            </a:r>
            <a:r>
              <a:rPr lang="en-US" altLang="zh-CN" dirty="0" err="1" smtClean="0"/>
              <a:t>zou</a:t>
            </a:r>
            <a:r>
              <a:rPr lang="en-US" altLang="zh-CN" dirty="0" smtClean="0"/>
              <a:t> </a:t>
            </a:r>
            <a:r>
              <a:rPr lang="en-US" altLang="zh-CN" sz="2000" dirty="0" err="1"/>
              <a:t>i</a:t>
            </a:r>
            <a:r>
              <a:rPr lang="en-US" altLang="zh-CN" sz="2400" dirty="0" smtClean="0"/>
              <a:t> </a:t>
            </a:r>
            <a:r>
              <a:rPr lang="en-US" altLang="zh-CN" dirty="0" smtClean="0"/>
              <a:t>t </a:t>
            </a:r>
            <a:r>
              <a:rPr lang="en-US" altLang="zh-CN" sz="1800" dirty="0" smtClean="0"/>
              <a:t>j</a:t>
            </a:r>
            <a:r>
              <a:rPr lang="en-US" altLang="zh-CN" dirty="0" smtClean="0"/>
              <a:t> [</a:t>
            </a:r>
            <a:r>
              <a:rPr lang="en-US" altLang="zh-CN" dirty="0" err="1" smtClean="0"/>
              <a:t>dak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hou</a:t>
            </a:r>
            <a:r>
              <a:rPr lang="en-US" altLang="zh-CN" dirty="0" smtClean="0"/>
              <a:t>]]			(</a:t>
            </a:r>
            <a:r>
              <a:rPr lang="zh-TW" altLang="en-US" dirty="0" smtClean="0"/>
              <a:t>佢嘅</a:t>
            </a:r>
            <a:r>
              <a:rPr lang="zh-CN" altLang="en-US" dirty="0" smtClean="0"/>
              <a:t>老師做得好</a:t>
            </a:r>
            <a:r>
              <a:rPr lang="en-US" altLang="zh-CN" dirty="0" smtClean="0"/>
              <a:t>)</a:t>
            </a:r>
            <a:r>
              <a:rPr lang="zh-TW" altLang="en-US" dirty="0" smtClean="0"/>
              <a:t> 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-1" y="4311561"/>
            <a:ext cx="12192000" cy="2546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鄧</a:t>
            </a:r>
            <a:r>
              <a:rPr lang="en-US" dirty="0" smtClean="0"/>
              <a:t> (2008): Cantonese </a:t>
            </a:r>
            <a:r>
              <a:rPr lang="en-US" i="1" dirty="0" err="1" smtClean="0"/>
              <a:t>ge</a:t>
            </a:r>
            <a:r>
              <a:rPr lang="en-US" dirty="0" smtClean="0"/>
              <a:t> cannot </a:t>
            </a:r>
            <a:r>
              <a:rPr lang="en-US" dirty="0" err="1" smtClean="0"/>
              <a:t>nominalise</a:t>
            </a:r>
            <a:r>
              <a:rPr lang="en-US" dirty="0" smtClean="0"/>
              <a:t> a clause (</a:t>
            </a:r>
            <a:r>
              <a:rPr lang="en-US" altLang="zh-CN" i="1" dirty="0" err="1" smtClean="0"/>
              <a:t>keoi</a:t>
            </a:r>
            <a:r>
              <a:rPr lang="en-US" altLang="zh-CN" i="1" dirty="0" smtClean="0"/>
              <a:t> *</a:t>
            </a:r>
            <a:r>
              <a:rPr lang="en-US" altLang="zh-CN" i="1" dirty="0" err="1" smtClean="0"/>
              <a:t>ge</a:t>
            </a:r>
            <a:r>
              <a:rPr lang="en-US" altLang="zh-CN" i="1" dirty="0" smtClean="0"/>
              <a:t> </a:t>
            </a:r>
            <a:r>
              <a:rPr lang="en-US" altLang="zh-CN" i="1" dirty="0" err="1" smtClean="0"/>
              <a:t>zou</a:t>
            </a:r>
            <a:r>
              <a:rPr lang="en-US" altLang="zh-CN" i="1" dirty="0" smtClean="0"/>
              <a:t> </a:t>
            </a:r>
            <a:r>
              <a:rPr lang="en-US" altLang="zh-CN" i="1" dirty="0" err="1" smtClean="0"/>
              <a:t>lousi</a:t>
            </a:r>
            <a:r>
              <a:rPr lang="en-US" altLang="zh-CN" dirty="0"/>
              <a:t>)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Tang (2011): Cantonese </a:t>
            </a:r>
            <a:r>
              <a:rPr lang="en-US" i="1" dirty="0" err="1" smtClean="0"/>
              <a:t>ge</a:t>
            </a:r>
            <a:r>
              <a:rPr lang="en-US" i="1" dirty="0" smtClean="0"/>
              <a:t> </a:t>
            </a:r>
            <a:r>
              <a:rPr lang="en-US" dirty="0" smtClean="0"/>
              <a:t>is less </a:t>
            </a:r>
            <a:r>
              <a:rPr lang="en-US" dirty="0" err="1" smtClean="0"/>
              <a:t>grammaticalized</a:t>
            </a:r>
            <a:r>
              <a:rPr lang="en-US" dirty="0" smtClean="0"/>
              <a:t> as Mandarin </a:t>
            </a:r>
            <a:r>
              <a:rPr lang="en-US" i="1" dirty="0" smtClean="0"/>
              <a:t>de </a:t>
            </a:r>
            <a:r>
              <a:rPr lang="en-US" dirty="0" smtClean="0"/>
              <a:t>i.e. it still retains some of its nominal properties whereas </a:t>
            </a:r>
            <a:r>
              <a:rPr lang="en-US" i="1" dirty="0" smtClean="0"/>
              <a:t>de</a:t>
            </a:r>
            <a:r>
              <a:rPr lang="en-US" dirty="0" smtClean="0"/>
              <a:t> is more bleached </a:t>
            </a:r>
          </a:p>
          <a:p>
            <a:pPr marL="0" indent="0">
              <a:buNone/>
            </a:pPr>
            <a:r>
              <a:rPr lang="en-US" dirty="0" smtClean="0"/>
              <a:t>&gt; Tang’s nominal parameter (</a:t>
            </a:r>
            <a:r>
              <a:rPr lang="zh-CN" altLang="en-US" dirty="0" smtClean="0"/>
              <a:t>鄧 </a:t>
            </a:r>
            <a:r>
              <a:rPr lang="en-US" altLang="zh-CN" dirty="0" smtClean="0"/>
              <a:t>(2009))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18876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Critical appraisal (</a:t>
            </a:r>
            <a:r>
              <a:rPr lang="zh-CN" altLang="en-US" dirty="0" smtClean="0"/>
              <a:t>黃</a:t>
            </a:r>
            <a:r>
              <a:rPr lang="en-US" dirty="0" smtClean="0"/>
              <a:t> (2008), </a:t>
            </a:r>
            <a:r>
              <a:rPr lang="zh-CN" altLang="en-US" dirty="0" smtClean="0"/>
              <a:t>鄧 </a:t>
            </a:r>
            <a:r>
              <a:rPr lang="en-US" altLang="zh-CN" dirty="0" smtClean="0"/>
              <a:t>(2008, 2009)</a:t>
            </a:r>
            <a:r>
              <a:rPr lang="en-US" dirty="0" smtClean="0"/>
              <a:t>):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35815"/>
            <a:ext cx="10515600" cy="580586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Huang’s DO: </a:t>
            </a: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3882844"/>
            <a:ext cx="10515600" cy="7612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1) </a:t>
            </a:r>
            <a:r>
              <a:rPr lang="en-US" dirty="0" err="1" smtClean="0"/>
              <a:t>Clitic</a:t>
            </a:r>
            <a:r>
              <a:rPr lang="en-US" dirty="0" smtClean="0"/>
              <a:t> position of </a:t>
            </a:r>
            <a:r>
              <a:rPr lang="en-US" i="1" dirty="0" smtClean="0"/>
              <a:t>de</a:t>
            </a:r>
            <a:r>
              <a:rPr lang="en-US" dirty="0" smtClean="0"/>
              <a:t> (</a:t>
            </a:r>
            <a:r>
              <a:rPr lang="en-US" i="1" dirty="0" smtClean="0"/>
              <a:t>ta-de</a:t>
            </a:r>
            <a:r>
              <a:rPr lang="en-US" dirty="0" smtClean="0"/>
              <a:t>)- why not nominal head of GP (G)?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4463430"/>
            <a:ext cx="10515600" cy="1022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 smtClean="0"/>
              <a:t>2) If </a:t>
            </a:r>
            <a:r>
              <a:rPr lang="en-US" i="1" dirty="0" smtClean="0"/>
              <a:t>de</a:t>
            </a:r>
            <a:r>
              <a:rPr lang="en-US" dirty="0" smtClean="0"/>
              <a:t> is nominal head, would it not block head movement of Activity verb (here </a:t>
            </a:r>
            <a:r>
              <a:rPr lang="zh-CN" altLang="en-US" dirty="0" smtClean="0"/>
              <a:t>當</a:t>
            </a:r>
            <a:r>
              <a:rPr lang="en-US" i="1" dirty="0"/>
              <a:t>dang</a:t>
            </a:r>
            <a:r>
              <a:rPr lang="en-US" dirty="0" smtClean="0"/>
              <a:t>)? </a:t>
            </a:r>
            <a:endParaRPr lang="en-US" altLang="zh-TW" dirty="0" smtClean="0"/>
          </a:p>
        </p:txBody>
      </p:sp>
      <p:sp>
        <p:nvSpPr>
          <p:cNvPr id="7" name="Rectangle 6"/>
          <p:cNvSpPr/>
          <p:nvPr/>
        </p:nvSpPr>
        <p:spPr>
          <a:xfrm>
            <a:off x="838200" y="5257377"/>
            <a:ext cx="1051560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3) A-selection/deletion seems to violate Theta-criterion (one-to-one correspondence between theta-roles and A-positions (</a:t>
            </a:r>
            <a:r>
              <a:rPr lang="zh-CN" altLang="en-US" sz="2800" dirty="0" smtClean="0"/>
              <a:t>胡建華 </a:t>
            </a:r>
            <a:r>
              <a:rPr lang="en-US" altLang="zh-CN" sz="2800" dirty="0" smtClean="0"/>
              <a:t>(2012, 2016)), and how justify remnant movement of Activity GP to </a:t>
            </a:r>
            <a:r>
              <a:rPr lang="en-US" altLang="zh-CN" sz="2800" dirty="0" err="1" smtClean="0"/>
              <a:t>SpecDO</a:t>
            </a:r>
            <a:r>
              <a:rPr lang="en-US" altLang="zh-CN" sz="2800" dirty="0" smtClean="0"/>
              <a:t>? </a:t>
            </a:r>
            <a:endParaRPr lang="en-US" sz="28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1643650"/>
            <a:ext cx="10515601" cy="2166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dirty="0" smtClean="0"/>
              <a:t>他的老師當得好</a:t>
            </a:r>
            <a:r>
              <a:rPr lang="en-US" altLang="zh-CN" dirty="0" smtClean="0"/>
              <a:t>:		[DO [</a:t>
            </a:r>
            <a:r>
              <a:rPr lang="en-US" altLang="zh-CN" sz="1800" dirty="0" smtClean="0"/>
              <a:t>GP</a:t>
            </a:r>
            <a:r>
              <a:rPr lang="en-US" altLang="zh-CN" dirty="0" smtClean="0"/>
              <a:t> ta de dang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]]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Ta de </a:t>
            </a:r>
            <a:r>
              <a:rPr lang="en-US" dirty="0" err="1" smtClean="0"/>
              <a:t>laoshi</a:t>
            </a:r>
            <a:r>
              <a:rPr lang="en-US" dirty="0" smtClean="0"/>
              <a:t> dang de </a:t>
            </a:r>
            <a:r>
              <a:rPr lang="en-US" dirty="0" err="1" smtClean="0"/>
              <a:t>hao</a:t>
            </a:r>
            <a:r>
              <a:rPr lang="en-US" dirty="0" smtClean="0"/>
              <a:t> 	</a:t>
            </a:r>
            <a:r>
              <a:rPr lang="en-US" altLang="zh-CN" dirty="0" smtClean="0"/>
              <a:t>[dang </a:t>
            </a:r>
            <a:r>
              <a:rPr lang="en-US" altLang="zh-CN" sz="1800" dirty="0" err="1" smtClean="0"/>
              <a:t>i</a:t>
            </a:r>
            <a:r>
              <a:rPr lang="en-US" altLang="zh-CN" sz="1800" dirty="0" smtClean="0"/>
              <a:t> </a:t>
            </a:r>
            <a:r>
              <a:rPr lang="en-US" altLang="zh-CN" dirty="0" smtClean="0"/>
              <a:t>[</a:t>
            </a:r>
            <a:r>
              <a:rPr lang="en-US" altLang="zh-CN" sz="1800" dirty="0" smtClean="0"/>
              <a:t>GP </a:t>
            </a:r>
            <a:r>
              <a:rPr lang="en-US" altLang="zh-CN" dirty="0" smtClean="0"/>
              <a:t>ta de t </a:t>
            </a:r>
            <a:r>
              <a:rPr lang="en-US" altLang="zh-CN" sz="18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]]</a:t>
            </a:r>
          </a:p>
          <a:p>
            <a:pPr marL="0" indent="0">
              <a:buNone/>
            </a:pPr>
            <a:r>
              <a:rPr lang="en-US" altLang="zh-CN" dirty="0"/>
              <a:t>	</a:t>
            </a:r>
            <a:r>
              <a:rPr lang="en-US" altLang="zh-CN" dirty="0" smtClean="0"/>
              <a:t>	         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ta dang </a:t>
            </a:r>
            <a:r>
              <a:rPr lang="en-US" altLang="zh-CN" sz="2000" dirty="0" err="1" smtClean="0"/>
              <a:t>i</a:t>
            </a:r>
            <a:r>
              <a:rPr lang="en-US" altLang="zh-CN" dirty="0" smtClean="0"/>
              <a:t> </a:t>
            </a:r>
            <a:r>
              <a:rPr lang="en-US" altLang="zh-CN" dirty="0"/>
              <a:t>[</a:t>
            </a:r>
            <a:r>
              <a:rPr lang="en-US" altLang="zh-CN" sz="2000" dirty="0"/>
              <a:t>GP</a:t>
            </a:r>
            <a:r>
              <a:rPr lang="en-US" altLang="zh-CN" dirty="0"/>
              <a:t> ta de t </a:t>
            </a:r>
            <a:r>
              <a:rPr lang="en-US" altLang="zh-CN" sz="20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/>
              <a:t>laoshi</a:t>
            </a:r>
            <a:r>
              <a:rPr lang="en-US" altLang="zh-CN" dirty="0" smtClean="0"/>
              <a:t>]]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 smtClean="0"/>
              <a:t>  [</a:t>
            </a:r>
            <a:r>
              <a:rPr lang="en-US" altLang="zh-CN" sz="2000" dirty="0" smtClean="0"/>
              <a:t>DO-P</a:t>
            </a:r>
            <a:r>
              <a:rPr lang="en-US" altLang="zh-CN" dirty="0" smtClean="0"/>
              <a:t> [</a:t>
            </a:r>
            <a:r>
              <a:rPr lang="en-US" altLang="zh-CN" sz="2000" dirty="0" smtClean="0"/>
              <a:t>GP</a:t>
            </a:r>
            <a:r>
              <a:rPr lang="en-US" altLang="zh-CN" dirty="0" smtClean="0"/>
              <a:t> ta de t </a:t>
            </a:r>
            <a:r>
              <a:rPr lang="en-US" altLang="zh-CN" sz="1800" dirty="0" err="1"/>
              <a:t>i</a:t>
            </a:r>
            <a:r>
              <a:rPr lang="en-US" altLang="zh-CN" dirty="0"/>
              <a:t>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] </a:t>
            </a:r>
            <a:r>
              <a:rPr lang="en-US" altLang="zh-CN" sz="1800" dirty="0" smtClean="0"/>
              <a:t>j </a:t>
            </a:r>
            <a:r>
              <a:rPr lang="en-US" altLang="zh-CN" dirty="0" smtClean="0"/>
              <a:t>[dang </a:t>
            </a:r>
            <a:r>
              <a:rPr lang="en-US" altLang="zh-CN" sz="2000" dirty="0" err="1"/>
              <a:t>i</a:t>
            </a:r>
            <a:r>
              <a:rPr lang="en-US" altLang="zh-CN" sz="2400" dirty="0" smtClean="0"/>
              <a:t> </a:t>
            </a:r>
            <a:r>
              <a:rPr lang="en-US" altLang="zh-CN" dirty="0" smtClean="0"/>
              <a:t>t </a:t>
            </a:r>
            <a:r>
              <a:rPr lang="en-US" altLang="zh-CN" sz="1800" dirty="0" smtClean="0"/>
              <a:t>j</a:t>
            </a:r>
            <a:r>
              <a:rPr lang="en-US" altLang="zh-CN" dirty="0" smtClean="0"/>
              <a:t> [de </a:t>
            </a:r>
            <a:r>
              <a:rPr lang="en-US" altLang="zh-CN" dirty="0" err="1" smtClean="0"/>
              <a:t>hao</a:t>
            </a:r>
            <a:r>
              <a:rPr lang="en-US" altLang="zh-CN" dirty="0" smtClean="0"/>
              <a:t>]]		(Huang (2008))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797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757"/>
            <a:ext cx="10515600" cy="1325563"/>
          </a:xfrm>
        </p:spPr>
        <p:txBody>
          <a:bodyPr/>
          <a:lstStyle/>
          <a:p>
            <a:r>
              <a:rPr lang="en-US" dirty="0" smtClean="0"/>
              <a:t>New formal proposal: alternative solutions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003029"/>
            <a:ext cx="12192000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 smtClean="0"/>
              <a:t>Pace</a:t>
            </a:r>
            <a:r>
              <a:rPr lang="en-US" dirty="0" smtClean="0"/>
              <a:t> </a:t>
            </a:r>
            <a:r>
              <a:rPr lang="zh-CN" altLang="en-US" dirty="0" smtClean="0"/>
              <a:t>黃</a:t>
            </a:r>
            <a:r>
              <a:rPr lang="en-US" altLang="zh-CN" dirty="0" smtClean="0"/>
              <a:t>/</a:t>
            </a:r>
            <a:r>
              <a:rPr lang="zh-CN" altLang="en-US" dirty="0" smtClean="0"/>
              <a:t>鄧</a:t>
            </a:r>
            <a:r>
              <a:rPr lang="en-US" dirty="0" smtClean="0"/>
              <a:t>, Actor and Activity seem to be merged in different A-positions (i.e. Actor and Activity can co-occur in the same utterance): </a:t>
            </a: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895975"/>
            <a:ext cx="10515600" cy="2565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他</a:t>
            </a:r>
            <a:r>
              <a:rPr lang="en-US" altLang="zh-CN" dirty="0" smtClean="0"/>
              <a:t>	</a:t>
            </a:r>
            <a:r>
              <a:rPr lang="zh-CN" altLang="en-US" dirty="0" smtClean="0"/>
              <a:t>當</a:t>
            </a:r>
            <a:r>
              <a:rPr lang="en-US" altLang="zh-CN" dirty="0" smtClean="0"/>
              <a:t>	</a:t>
            </a:r>
            <a:r>
              <a:rPr lang="zh-CN" altLang="en-US" dirty="0" smtClean="0"/>
              <a:t>他</a:t>
            </a:r>
            <a:r>
              <a:rPr lang="en-US" altLang="zh-CN" dirty="0" smtClean="0"/>
              <a:t>	</a:t>
            </a:r>
            <a:r>
              <a:rPr lang="zh-CN" altLang="en-US" dirty="0" smtClean="0"/>
              <a:t>的</a:t>
            </a:r>
            <a:r>
              <a:rPr lang="en-US" altLang="zh-CN" dirty="0" smtClean="0"/>
              <a:t>	</a:t>
            </a:r>
            <a:r>
              <a:rPr lang="zh-CN" altLang="en-US" dirty="0" smtClean="0"/>
              <a:t>老師</a:t>
            </a:r>
            <a:r>
              <a:rPr lang="en-US" altLang="zh-CN" dirty="0" smtClean="0"/>
              <a:t>	</a:t>
            </a:r>
            <a:r>
              <a:rPr lang="zh-CN" altLang="en-US" dirty="0" smtClean="0"/>
              <a:t>當</a:t>
            </a:r>
            <a:r>
              <a:rPr lang="en-US" altLang="zh-CN" dirty="0" smtClean="0"/>
              <a:t>	</a:t>
            </a:r>
            <a:r>
              <a:rPr lang="zh-CN" altLang="en-US" dirty="0" smtClean="0"/>
              <a:t>得</a:t>
            </a:r>
            <a:r>
              <a:rPr lang="en-US" altLang="zh-CN" dirty="0" smtClean="0"/>
              <a:t>	</a:t>
            </a:r>
            <a:r>
              <a:rPr lang="zh-CN" altLang="en-US" dirty="0" smtClean="0"/>
              <a:t>好</a:t>
            </a:r>
            <a:r>
              <a:rPr lang="en-US" altLang="zh-CN" dirty="0" smtClean="0"/>
              <a:t> </a:t>
            </a:r>
          </a:p>
          <a:p>
            <a:pPr marL="0" indent="0">
              <a:buNone/>
            </a:pPr>
            <a:r>
              <a:rPr lang="en-US" altLang="zh-CN" dirty="0" smtClean="0"/>
              <a:t>Ta	dang	ta	de	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	dang	de	</a:t>
            </a:r>
            <a:r>
              <a:rPr lang="en-US" altLang="zh-CN" dirty="0" err="1" smtClean="0"/>
              <a:t>hao</a:t>
            </a:r>
            <a:endParaRPr lang="en-US" altLang="zh-CN" dirty="0" smtClean="0"/>
          </a:p>
          <a:p>
            <a:pPr marL="0" indent="0">
              <a:buNone/>
            </a:pPr>
            <a:r>
              <a:rPr lang="zh-TW" altLang="en-US" dirty="0" smtClean="0"/>
              <a:t>佢</a:t>
            </a:r>
            <a:r>
              <a:rPr lang="en-US" altLang="zh-TW" dirty="0" smtClean="0"/>
              <a:t>	</a:t>
            </a:r>
            <a:r>
              <a:rPr lang="zh-TW" altLang="en-US" dirty="0" smtClean="0"/>
              <a:t>做</a:t>
            </a:r>
            <a:r>
              <a:rPr lang="en-US" altLang="zh-TW" dirty="0" smtClean="0"/>
              <a:t>	</a:t>
            </a:r>
            <a:r>
              <a:rPr lang="zh-TW" altLang="en-US" dirty="0" smtClean="0"/>
              <a:t>佢</a:t>
            </a:r>
            <a:r>
              <a:rPr lang="en-US" altLang="zh-TW" dirty="0" smtClean="0"/>
              <a:t>	</a:t>
            </a:r>
            <a:r>
              <a:rPr lang="zh-TW" altLang="en-US" dirty="0" smtClean="0"/>
              <a:t>嘅</a:t>
            </a:r>
            <a:r>
              <a:rPr lang="en-US" altLang="zh-TW" dirty="0" smtClean="0"/>
              <a:t>	</a:t>
            </a:r>
            <a:r>
              <a:rPr lang="zh-TW" altLang="en-US" dirty="0" smtClean="0"/>
              <a:t>老師</a:t>
            </a:r>
            <a:r>
              <a:rPr lang="en-US" altLang="zh-TW" dirty="0" smtClean="0"/>
              <a:t>	</a:t>
            </a:r>
            <a:r>
              <a:rPr lang="zh-TW" altLang="en-US" dirty="0" smtClean="0"/>
              <a:t>做</a:t>
            </a:r>
            <a:r>
              <a:rPr lang="en-US" altLang="zh-TW" dirty="0" smtClean="0"/>
              <a:t>	</a:t>
            </a:r>
            <a:r>
              <a:rPr lang="zh-TW" altLang="en-US" dirty="0" smtClean="0"/>
              <a:t>得</a:t>
            </a:r>
            <a:r>
              <a:rPr lang="en-US" altLang="zh-TW" dirty="0" smtClean="0"/>
              <a:t>	</a:t>
            </a:r>
            <a:r>
              <a:rPr lang="zh-TW" altLang="en-US" dirty="0" smtClean="0"/>
              <a:t>好 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CN" dirty="0" err="1" smtClean="0"/>
              <a:t>Keoi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zou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keui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ge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lousi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zou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dak</a:t>
            </a:r>
            <a:r>
              <a:rPr lang="en-US" altLang="zh-CN" dirty="0" smtClean="0"/>
              <a:t>	</a:t>
            </a:r>
            <a:r>
              <a:rPr lang="en-US" altLang="zh-CN" dirty="0" err="1" smtClean="0"/>
              <a:t>hou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/>
              <a:t>‘He does his role as a teacher well.’ (</a:t>
            </a:r>
            <a:r>
              <a:rPr lang="en-US" altLang="zh-CN" dirty="0" smtClean="0"/>
              <a:t>Mandarin/Cantonese)</a:t>
            </a:r>
            <a:endParaRPr lang="en-US" altLang="zh-CN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5636818"/>
            <a:ext cx="10515600" cy="1390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If so, there seems to be two distinct Light Verb projections here: DO which introduces Actor (</a:t>
            </a:r>
            <a:r>
              <a:rPr lang="en-US" dirty="0" err="1" smtClean="0"/>
              <a:t>SpecDO</a:t>
            </a:r>
            <a:r>
              <a:rPr lang="en-US" dirty="0" smtClean="0"/>
              <a:t>) and DONE which introduces Activity (</a:t>
            </a:r>
            <a:r>
              <a:rPr lang="en-US" dirty="0" err="1" smtClean="0"/>
              <a:t>SpecDONE</a:t>
            </a:r>
            <a:r>
              <a:rPr lang="en-US" dirty="0" smtClean="0"/>
              <a:t>)- no need for A-deletion and remnant movement of GP</a:t>
            </a:r>
            <a:endParaRPr lang="en-US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838200" y="446142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Light verb: following Baker’s UTAH (Projection Principle), arguments are merged in the specifiers of various argument-introducing Light Verb heads (Lin (2001)) 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8086725" y="1980504"/>
            <a:ext cx="4105275" cy="13900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No need to delete subject argument (Actor) and move Activity nominal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3386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7" grpId="0"/>
      <p:bldP spid="8" grpId="0" build="p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DO-DONE Light Verb Complex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139126"/>
            <a:ext cx="121920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600" dirty="0" smtClean="0"/>
              <a:t>Assuming two distinct Light Verb projections (DO + DONE + VP &gt; Actor + Activity + V): </a:t>
            </a:r>
            <a:endParaRPr lang="en-GB" sz="2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1797877"/>
            <a:ext cx="12192000" cy="213157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他</a:t>
            </a:r>
            <a:r>
              <a:rPr lang="en-US" altLang="zh-CN" dirty="0" smtClean="0"/>
              <a:t>	</a:t>
            </a:r>
            <a:r>
              <a:rPr lang="zh-CN" altLang="en-US" dirty="0" smtClean="0"/>
              <a:t>當</a:t>
            </a:r>
            <a:r>
              <a:rPr lang="en-US" altLang="zh-CN" dirty="0" smtClean="0"/>
              <a:t>	</a:t>
            </a:r>
            <a:r>
              <a:rPr lang="zh-CN" altLang="en-US" dirty="0" smtClean="0"/>
              <a:t>他</a:t>
            </a:r>
            <a:r>
              <a:rPr lang="en-US" altLang="zh-CN" dirty="0" smtClean="0"/>
              <a:t>	</a:t>
            </a:r>
            <a:r>
              <a:rPr lang="zh-CN" altLang="en-US" dirty="0" smtClean="0"/>
              <a:t>的</a:t>
            </a:r>
            <a:r>
              <a:rPr lang="en-US" altLang="zh-CN" dirty="0" smtClean="0"/>
              <a:t>	</a:t>
            </a:r>
            <a:r>
              <a:rPr lang="zh-CN" altLang="en-US" dirty="0" smtClean="0"/>
              <a:t>老</a:t>
            </a:r>
            <a:r>
              <a:rPr lang="zh-CN" altLang="en-US" dirty="0"/>
              <a:t>師，</a:t>
            </a:r>
            <a:r>
              <a:rPr lang="zh-CN" altLang="en-US" dirty="0" smtClean="0"/>
              <a:t>我</a:t>
            </a:r>
            <a:r>
              <a:rPr lang="en-US" altLang="zh-CN" dirty="0" smtClean="0"/>
              <a:t>	</a:t>
            </a:r>
            <a:r>
              <a:rPr lang="zh-CN" altLang="en-US" dirty="0" smtClean="0"/>
              <a:t>當</a:t>
            </a:r>
            <a:r>
              <a:rPr lang="en-US" altLang="zh-CN" dirty="0" smtClean="0"/>
              <a:t>	</a:t>
            </a:r>
            <a:r>
              <a:rPr lang="zh-CN" altLang="en-US" dirty="0" smtClean="0"/>
              <a:t>我</a:t>
            </a:r>
            <a:r>
              <a:rPr lang="en-US" altLang="zh-CN" dirty="0" smtClean="0"/>
              <a:t>	</a:t>
            </a:r>
            <a:r>
              <a:rPr lang="zh-CN" altLang="en-US" dirty="0" smtClean="0"/>
              <a:t>的</a:t>
            </a:r>
            <a:r>
              <a:rPr lang="en-US" altLang="zh-CN" dirty="0" smtClean="0"/>
              <a:t>	</a:t>
            </a:r>
            <a:r>
              <a:rPr lang="zh-CN" altLang="en-US" dirty="0" smtClean="0"/>
              <a:t>學</a:t>
            </a:r>
            <a:r>
              <a:rPr lang="zh-CN" altLang="en-US" dirty="0"/>
              <a:t>生 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Ta 	dang 	ta 	de 	</a:t>
            </a:r>
            <a:r>
              <a:rPr lang="en-US" altLang="zh-CN" dirty="0" err="1" smtClean="0"/>
              <a:t>laoshi</a:t>
            </a:r>
            <a:r>
              <a:rPr lang="en-US" altLang="zh-CN" dirty="0"/>
              <a:t>, </a:t>
            </a:r>
            <a:r>
              <a:rPr lang="en-US" altLang="zh-CN" dirty="0" smtClean="0"/>
              <a:t>wo 	dang 	wo 	de 	</a:t>
            </a:r>
            <a:r>
              <a:rPr lang="en-US" altLang="zh-CN" dirty="0" err="1" smtClean="0"/>
              <a:t>xuesheng</a:t>
            </a:r>
            <a:endParaRPr lang="en-US" altLang="zh-CN" dirty="0" smtClean="0"/>
          </a:p>
          <a:p>
            <a:pPr marL="0" indent="0">
              <a:buNone/>
            </a:pPr>
            <a:r>
              <a:rPr lang="zh-TW" altLang="en-US" dirty="0" smtClean="0"/>
              <a:t>佢</a:t>
            </a:r>
            <a:r>
              <a:rPr lang="en-US" altLang="zh-TW" dirty="0" smtClean="0"/>
              <a:t>	</a:t>
            </a:r>
            <a:r>
              <a:rPr lang="zh-TW" altLang="en-US" dirty="0" smtClean="0"/>
              <a:t>做</a:t>
            </a:r>
            <a:r>
              <a:rPr lang="en-US" altLang="zh-TW" dirty="0" smtClean="0"/>
              <a:t>	</a:t>
            </a:r>
            <a:r>
              <a:rPr lang="zh-TW" altLang="en-US" dirty="0" smtClean="0"/>
              <a:t>佢</a:t>
            </a:r>
            <a:r>
              <a:rPr lang="en-US" altLang="zh-TW" dirty="0" smtClean="0"/>
              <a:t>	</a:t>
            </a:r>
            <a:r>
              <a:rPr lang="zh-TW" altLang="en-US" dirty="0" smtClean="0"/>
              <a:t>嘅</a:t>
            </a:r>
            <a:r>
              <a:rPr lang="en-US" altLang="zh-TW" dirty="0" smtClean="0"/>
              <a:t>	</a:t>
            </a:r>
            <a:r>
              <a:rPr lang="zh-TW" altLang="en-US" dirty="0" smtClean="0"/>
              <a:t>老</a:t>
            </a:r>
            <a:r>
              <a:rPr lang="zh-TW" altLang="en-US" dirty="0"/>
              <a:t>師</a:t>
            </a:r>
            <a:r>
              <a:rPr lang="zh-CN" altLang="en-US" dirty="0"/>
              <a:t>，</a:t>
            </a:r>
            <a:r>
              <a:rPr lang="zh-TW" altLang="en-US" dirty="0" smtClean="0"/>
              <a:t>我</a:t>
            </a:r>
            <a:r>
              <a:rPr lang="en-US" altLang="zh-TW" dirty="0" smtClean="0"/>
              <a:t>	</a:t>
            </a:r>
            <a:r>
              <a:rPr lang="zh-TW" altLang="en-US" dirty="0" smtClean="0"/>
              <a:t>做</a:t>
            </a:r>
            <a:r>
              <a:rPr lang="en-US" altLang="zh-TW" dirty="0" smtClean="0"/>
              <a:t>	</a:t>
            </a:r>
            <a:r>
              <a:rPr lang="zh-TW" altLang="en-US" dirty="0" smtClean="0"/>
              <a:t>我</a:t>
            </a:r>
            <a:r>
              <a:rPr lang="en-US" altLang="zh-TW" dirty="0" smtClean="0"/>
              <a:t>	</a:t>
            </a:r>
            <a:r>
              <a:rPr lang="zh-TW" altLang="en-US" dirty="0" smtClean="0"/>
              <a:t>嘅</a:t>
            </a:r>
            <a:r>
              <a:rPr lang="en-US" altLang="zh-TW" dirty="0" smtClean="0"/>
              <a:t>	</a:t>
            </a:r>
            <a:r>
              <a:rPr lang="zh-TW" altLang="en-US" dirty="0" smtClean="0"/>
              <a:t>學</a:t>
            </a:r>
            <a:r>
              <a:rPr lang="zh-TW" altLang="en-US" dirty="0"/>
              <a:t>生</a:t>
            </a:r>
            <a:endParaRPr lang="en-US" altLang="zh-TW" dirty="0"/>
          </a:p>
          <a:p>
            <a:pPr marL="0" indent="0">
              <a:buNone/>
            </a:pPr>
            <a:r>
              <a:rPr lang="en-US" altLang="zh-TW" dirty="0" err="1" smtClean="0"/>
              <a:t>Keoi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zou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keoi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ge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lousi</a:t>
            </a:r>
            <a:r>
              <a:rPr lang="en-US" altLang="zh-TW" dirty="0"/>
              <a:t>, </a:t>
            </a:r>
            <a:r>
              <a:rPr lang="en-US" altLang="zh-TW" dirty="0" smtClean="0"/>
              <a:t>	</a:t>
            </a:r>
            <a:r>
              <a:rPr lang="en-US" altLang="zh-TW" dirty="0" err="1" smtClean="0"/>
              <a:t>ngo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zou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ngo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ge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hoksaang</a:t>
            </a:r>
            <a:endParaRPr lang="en-US" altLang="zh-TW" dirty="0" smtClean="0"/>
          </a:p>
          <a:p>
            <a:pPr marL="0" indent="0">
              <a:buNone/>
            </a:pPr>
            <a:r>
              <a:rPr lang="en-US" altLang="zh-TW" dirty="0" smtClean="0"/>
              <a:t>‘He does his job in being a teacher, I do mine in being a student.’ (Mandarin/Cantonese</a:t>
            </a:r>
            <a:r>
              <a:rPr lang="en-US" altLang="zh-TW" dirty="0"/>
              <a:t>)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0" y="3929449"/>
            <a:ext cx="12192000" cy="15322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他</a:t>
            </a:r>
            <a:r>
              <a:rPr lang="en-US" altLang="zh-CN" dirty="0" smtClean="0"/>
              <a:t>	</a:t>
            </a:r>
            <a:r>
              <a:rPr lang="zh-CN" altLang="en-US" dirty="0" smtClean="0"/>
              <a:t>的</a:t>
            </a:r>
            <a:r>
              <a:rPr lang="en-US" altLang="zh-CN" dirty="0" smtClean="0"/>
              <a:t>	</a:t>
            </a:r>
            <a:r>
              <a:rPr lang="zh-CN" altLang="en-US" dirty="0" smtClean="0"/>
              <a:t>老師</a:t>
            </a:r>
            <a:r>
              <a:rPr lang="en-US" altLang="zh-CN" dirty="0" smtClean="0"/>
              <a:t>	</a:t>
            </a:r>
            <a:r>
              <a:rPr lang="zh-CN" altLang="en-US" dirty="0" smtClean="0"/>
              <a:t>當</a:t>
            </a:r>
            <a:r>
              <a:rPr lang="en-US" altLang="zh-CN" dirty="0" smtClean="0"/>
              <a:t>	</a:t>
            </a:r>
            <a:r>
              <a:rPr lang="zh-CN" altLang="en-US" dirty="0" smtClean="0"/>
              <a:t>得</a:t>
            </a:r>
            <a:r>
              <a:rPr lang="en-US" altLang="zh-CN" dirty="0" smtClean="0"/>
              <a:t>	</a:t>
            </a:r>
            <a:r>
              <a:rPr lang="zh-CN" altLang="en-US" dirty="0" smtClean="0"/>
              <a:t>好 </a:t>
            </a:r>
            <a:r>
              <a:rPr lang="en-US" altLang="zh-CN" dirty="0" smtClean="0"/>
              <a:t>/	*</a:t>
            </a:r>
            <a:r>
              <a:rPr lang="zh-TW" altLang="en-US" dirty="0" smtClean="0"/>
              <a:t>佢</a:t>
            </a:r>
            <a:r>
              <a:rPr lang="en-US" altLang="zh-TW" dirty="0" smtClean="0"/>
              <a:t>	</a:t>
            </a:r>
            <a:r>
              <a:rPr lang="zh-TW" altLang="en-US" dirty="0" smtClean="0"/>
              <a:t>嘅</a:t>
            </a:r>
            <a:r>
              <a:rPr lang="en-US" altLang="zh-TW" dirty="0" smtClean="0"/>
              <a:t>	</a:t>
            </a:r>
            <a:r>
              <a:rPr lang="zh-TW" altLang="en-US" dirty="0" smtClean="0"/>
              <a:t>老師</a:t>
            </a:r>
            <a:r>
              <a:rPr lang="en-US" altLang="zh-TW" dirty="0" smtClean="0"/>
              <a:t>	</a:t>
            </a:r>
            <a:r>
              <a:rPr lang="zh-TW" altLang="en-US" dirty="0" smtClean="0"/>
              <a:t>做</a:t>
            </a:r>
            <a:r>
              <a:rPr lang="en-US" altLang="zh-TW" dirty="0" smtClean="0"/>
              <a:t>	</a:t>
            </a:r>
            <a:r>
              <a:rPr lang="zh-TW" altLang="en-US" dirty="0" smtClean="0"/>
              <a:t>得</a:t>
            </a:r>
            <a:r>
              <a:rPr lang="en-US" altLang="zh-TW" dirty="0" smtClean="0"/>
              <a:t>	</a:t>
            </a:r>
            <a:r>
              <a:rPr lang="zh-TW" altLang="en-US" dirty="0" smtClean="0"/>
              <a:t>好</a:t>
            </a:r>
            <a:endParaRPr lang="en-US" altLang="zh-CN" dirty="0" smtClean="0"/>
          </a:p>
          <a:p>
            <a:pPr marL="0" indent="0">
              <a:buNone/>
            </a:pPr>
            <a:r>
              <a:rPr lang="en-US" altLang="zh-CN" dirty="0" smtClean="0"/>
              <a:t>Ta 	de 	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 dang 	de 	</a:t>
            </a:r>
            <a:r>
              <a:rPr lang="en-US" altLang="zh-CN" dirty="0" err="1" smtClean="0"/>
              <a:t>hao</a:t>
            </a:r>
            <a:r>
              <a:rPr lang="en-US" altLang="zh-CN" dirty="0" smtClean="0"/>
              <a:t> /	</a:t>
            </a:r>
            <a:r>
              <a:rPr lang="en-US" altLang="zh-TW" dirty="0" err="1" smtClean="0"/>
              <a:t>Keoi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ge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lousi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zou</a:t>
            </a:r>
            <a:r>
              <a:rPr lang="en-US" altLang="zh-TW" dirty="0" smtClean="0"/>
              <a:t> 	</a:t>
            </a:r>
            <a:r>
              <a:rPr lang="en-US" altLang="zh-TW" dirty="0" err="1" smtClean="0"/>
              <a:t>dak</a:t>
            </a:r>
            <a:r>
              <a:rPr lang="en-US" altLang="zh-TW" dirty="0" smtClean="0"/>
              <a:t> 	ho</a:t>
            </a:r>
          </a:p>
          <a:p>
            <a:pPr marL="0" indent="0">
              <a:buNone/>
            </a:pPr>
            <a:r>
              <a:rPr lang="en-US" altLang="zh-TW" dirty="0" smtClean="0"/>
              <a:t>‘He acts well in being a teacher.’ (Mandarin/Cantonese)</a:t>
            </a:r>
            <a:endParaRPr lang="en-US" altLang="zh-CN" dirty="0" smtClean="0"/>
          </a:p>
        </p:txBody>
      </p:sp>
      <p:sp>
        <p:nvSpPr>
          <p:cNvPr id="6" name="Rectangle 5"/>
          <p:cNvSpPr/>
          <p:nvPr/>
        </p:nvSpPr>
        <p:spPr>
          <a:xfrm>
            <a:off x="0" y="5415291"/>
            <a:ext cx="1051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In subject position, southern *</a:t>
            </a:r>
            <a:r>
              <a:rPr lang="en-US" sz="2800" b="1" i="1" dirty="0" err="1" smtClean="0"/>
              <a:t>ge</a:t>
            </a:r>
            <a:r>
              <a:rPr lang="en-US" sz="2800" b="1" dirty="0" smtClean="0"/>
              <a:t> is ungrammatical</a:t>
            </a:r>
            <a:endParaRPr lang="en-US" sz="2800" b="1" dirty="0"/>
          </a:p>
        </p:txBody>
      </p:sp>
      <p:sp>
        <p:nvSpPr>
          <p:cNvPr id="7" name="Rectangle 6"/>
          <p:cNvSpPr/>
          <p:nvPr/>
        </p:nvSpPr>
        <p:spPr>
          <a:xfrm>
            <a:off x="0" y="5919799"/>
            <a:ext cx="105156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Modified: </a:t>
            </a:r>
            <a:r>
              <a:rPr lang="en-US" sz="2800" b="1" i="1" dirty="0" err="1" smtClean="0"/>
              <a:t>ge</a:t>
            </a:r>
            <a:r>
              <a:rPr lang="en-US" sz="2800" b="1" dirty="0" smtClean="0"/>
              <a:t> in </a:t>
            </a:r>
            <a:r>
              <a:rPr lang="en-US" sz="2800" b="1" dirty="0" err="1" smtClean="0"/>
              <a:t>SpecDONE</a:t>
            </a:r>
            <a:r>
              <a:rPr lang="en-US" sz="2800" b="1" dirty="0" smtClean="0"/>
              <a:t> is ungrammatical only in the absence of DO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9908797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  <p:bldP spid="5" grpId="0"/>
      <p:bldP spid="6" grpId="0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Activity (Light Verbs)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722066" y="3022963"/>
            <a:ext cx="27478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/>
              <a:t>DO + DONE + VP  </a:t>
            </a:r>
            <a:endParaRPr lang="en-GB" sz="2800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261178" y="10718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dirty="0" smtClean="0"/>
              <a:t>佢    做  佢    嘅 老師 做  得   好 </a:t>
            </a:r>
            <a:r>
              <a:rPr lang="en-US" altLang="zh-TW" dirty="0" smtClean="0"/>
              <a:t>(Cantonese)</a:t>
            </a:r>
          </a:p>
          <a:p>
            <a:pPr marL="0" indent="0">
              <a:buNone/>
            </a:pPr>
            <a:r>
              <a:rPr lang="en-US" dirty="0" err="1" smtClean="0"/>
              <a:t>keoi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keoi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 </a:t>
            </a:r>
            <a:r>
              <a:rPr lang="en-US" dirty="0" err="1" smtClean="0"/>
              <a:t>zou</a:t>
            </a:r>
            <a:r>
              <a:rPr lang="en-US" dirty="0" smtClean="0"/>
              <a:t> </a:t>
            </a:r>
            <a:r>
              <a:rPr lang="en-US" dirty="0" err="1" smtClean="0"/>
              <a:t>dak</a:t>
            </a:r>
            <a:r>
              <a:rPr lang="en-US" dirty="0" smtClean="0"/>
              <a:t> </a:t>
            </a:r>
            <a:r>
              <a:rPr lang="en-US" dirty="0" err="1" smtClean="0"/>
              <a:t>hou</a:t>
            </a:r>
            <a:endParaRPr lang="en-US" dirty="0" smtClean="0"/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2235868" y="4156964"/>
            <a:ext cx="7720264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800" dirty="0"/>
              <a:t>[</a:t>
            </a:r>
            <a:r>
              <a:rPr lang="en-US" altLang="zh-CN" sz="2800" dirty="0" smtClean="0"/>
              <a:t>DO-P ta dang </a:t>
            </a:r>
            <a:r>
              <a:rPr lang="en-US" altLang="zh-CN" sz="2000" dirty="0" err="1" smtClean="0"/>
              <a:t>i</a:t>
            </a:r>
            <a:r>
              <a:rPr lang="en-US" altLang="zh-CN" sz="2800" dirty="0" smtClean="0"/>
              <a:t> [DONE-P ta de </a:t>
            </a:r>
            <a:r>
              <a:rPr lang="en-US" altLang="zh-CN" sz="2800" dirty="0" err="1" smtClean="0"/>
              <a:t>laoshi</a:t>
            </a:r>
            <a:r>
              <a:rPr lang="en-US" altLang="zh-CN" sz="2800" dirty="0" smtClean="0"/>
              <a:t> dang </a:t>
            </a:r>
            <a:r>
              <a:rPr lang="en-US" altLang="zh-CN" sz="2000" dirty="0" err="1" smtClean="0"/>
              <a:t>i</a:t>
            </a:r>
            <a:r>
              <a:rPr lang="en-US" altLang="zh-CN" sz="2800" dirty="0" smtClean="0"/>
              <a:t> [VP t </a:t>
            </a:r>
            <a:r>
              <a:rPr lang="en-US" altLang="zh-CN" sz="2000" dirty="0" err="1" smtClean="0"/>
              <a:t>i</a:t>
            </a:r>
            <a:r>
              <a:rPr lang="en-US" altLang="zh-CN" sz="2800" dirty="0" smtClean="0"/>
              <a:t> ]]</a:t>
            </a:r>
          </a:p>
          <a:p>
            <a:r>
              <a:rPr lang="en-US" altLang="zh-CN" sz="2800" dirty="0"/>
              <a:t>[DO-P </a:t>
            </a:r>
            <a:r>
              <a:rPr lang="en-US" altLang="zh-CN" sz="2800" dirty="0" err="1" smtClean="0"/>
              <a:t>keui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zou</a:t>
            </a:r>
            <a:r>
              <a:rPr lang="en-US" altLang="zh-CN" sz="2800" dirty="0" smtClean="0"/>
              <a:t> </a:t>
            </a:r>
            <a:r>
              <a:rPr lang="en-US" altLang="zh-CN" sz="2000" dirty="0" err="1"/>
              <a:t>i</a:t>
            </a:r>
            <a:r>
              <a:rPr lang="en-US" altLang="zh-CN" sz="2800" dirty="0"/>
              <a:t> [DONE-P </a:t>
            </a:r>
            <a:r>
              <a:rPr lang="en-US" altLang="zh-CN" sz="2800" dirty="0" err="1" smtClean="0"/>
              <a:t>keui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ge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lousi</a:t>
            </a:r>
            <a:r>
              <a:rPr lang="en-US" altLang="zh-CN" sz="2800" dirty="0" smtClean="0"/>
              <a:t> </a:t>
            </a:r>
            <a:r>
              <a:rPr lang="en-US" altLang="zh-CN" sz="2800" dirty="0" err="1" smtClean="0"/>
              <a:t>zou</a:t>
            </a:r>
            <a:r>
              <a:rPr lang="en-US" altLang="zh-CN" sz="2800" dirty="0" smtClean="0"/>
              <a:t> </a:t>
            </a:r>
            <a:r>
              <a:rPr lang="en-US" altLang="zh-CN" sz="2000" dirty="0" err="1"/>
              <a:t>i</a:t>
            </a:r>
            <a:r>
              <a:rPr lang="en-US" altLang="zh-CN" sz="2800" dirty="0"/>
              <a:t> [VP t </a:t>
            </a:r>
            <a:r>
              <a:rPr lang="en-US" altLang="zh-CN" sz="2000" dirty="0" err="1"/>
              <a:t>i</a:t>
            </a:r>
            <a:r>
              <a:rPr lang="en-US" altLang="zh-CN" sz="2800" dirty="0"/>
              <a:t> </a:t>
            </a:r>
            <a:r>
              <a:rPr lang="en-US" altLang="zh-CN" sz="2800" dirty="0" smtClean="0"/>
              <a:t>]]</a:t>
            </a:r>
            <a:endParaRPr lang="en-US" altLang="zh-CN" sz="2800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4201951" y="2143664"/>
            <a:ext cx="7990049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Theta-criterion: one theta-role per argument (</a:t>
            </a:r>
            <a:r>
              <a:rPr lang="zh-CN" altLang="en-US" dirty="0" smtClean="0"/>
              <a:t>胡 </a:t>
            </a:r>
            <a:r>
              <a:rPr lang="en-US" altLang="zh-CN" dirty="0" smtClean="0"/>
              <a:t>2016, </a:t>
            </a:r>
            <a:r>
              <a:rPr lang="en-US" altLang="zh-CN" dirty="0" err="1" smtClean="0"/>
              <a:t>cf</a:t>
            </a:r>
            <a:r>
              <a:rPr lang="en-US" altLang="zh-CN" dirty="0" smtClean="0"/>
              <a:t> </a:t>
            </a:r>
            <a:r>
              <a:rPr lang="en-US" dirty="0" smtClean="0"/>
              <a:t>Chomsky (1981))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4551574" y="3546183"/>
            <a:ext cx="113973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/>
              <a:t>Actor  </a:t>
            </a:r>
            <a:endParaRPr lang="en-GB" sz="2800" dirty="0"/>
          </a:p>
        </p:txBody>
      </p:sp>
      <p:sp>
        <p:nvSpPr>
          <p:cNvPr id="9" name="Rectangle 8"/>
          <p:cNvSpPr/>
          <p:nvPr/>
        </p:nvSpPr>
        <p:spPr>
          <a:xfrm>
            <a:off x="5528271" y="3548242"/>
            <a:ext cx="127310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 smtClean="0"/>
              <a:t>Activity</a:t>
            </a:r>
            <a:endParaRPr lang="en-GB" sz="2800" dirty="0"/>
          </a:p>
        </p:txBody>
      </p:sp>
      <p:sp>
        <p:nvSpPr>
          <p:cNvPr id="10" name="Rectangle 9"/>
          <p:cNvSpPr/>
          <p:nvPr/>
        </p:nvSpPr>
        <p:spPr>
          <a:xfrm>
            <a:off x="5955258" y="5111071"/>
            <a:ext cx="623674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Ta de </a:t>
            </a:r>
            <a:r>
              <a:rPr lang="en-US" sz="2800" dirty="0" err="1" smtClean="0"/>
              <a:t>laoshi</a:t>
            </a:r>
            <a:r>
              <a:rPr lang="en-US" sz="2800" dirty="0" smtClean="0"/>
              <a:t> (Mandarin)/</a:t>
            </a:r>
          </a:p>
          <a:p>
            <a:r>
              <a:rPr lang="en-US" sz="2800" b="1" dirty="0" smtClean="0"/>
              <a:t>*</a:t>
            </a:r>
            <a:r>
              <a:rPr lang="en-US" sz="2800" b="1" dirty="0" err="1" smtClean="0"/>
              <a:t>keui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ge</a:t>
            </a:r>
            <a:r>
              <a:rPr lang="en-US" sz="2800" b="1" dirty="0" smtClean="0"/>
              <a:t> </a:t>
            </a:r>
            <a:r>
              <a:rPr lang="en-US" sz="2800" b="1" dirty="0" err="1" smtClean="0"/>
              <a:t>lousi</a:t>
            </a:r>
            <a:r>
              <a:rPr lang="en-US" sz="2800" b="1" dirty="0" smtClean="0"/>
              <a:t> </a:t>
            </a:r>
            <a:r>
              <a:rPr lang="en-US" sz="2800" dirty="0" smtClean="0"/>
              <a:t>(Cantonese) </a:t>
            </a:r>
          </a:p>
          <a:p>
            <a:r>
              <a:rPr lang="en-US" sz="2800" dirty="0" smtClean="0"/>
              <a:t>in </a:t>
            </a:r>
            <a:r>
              <a:rPr lang="en-US" sz="2800" dirty="0" err="1" smtClean="0"/>
              <a:t>SpecDONE</a:t>
            </a:r>
            <a:r>
              <a:rPr lang="en-US" sz="2800" dirty="0" smtClean="0"/>
              <a:t> (Activity) if no Actor is projected in </a:t>
            </a:r>
            <a:r>
              <a:rPr lang="en-US" sz="2800" dirty="0" err="1" smtClean="0"/>
              <a:t>SpecDO</a:t>
            </a:r>
            <a:endParaRPr lang="en-GB" sz="2800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9112" y="107183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dirty="0" smtClean="0"/>
              <a:t>他</a:t>
            </a:r>
            <a:r>
              <a:rPr lang="zh-TW" altLang="en-US" dirty="0" smtClean="0"/>
              <a:t> </a:t>
            </a:r>
            <a:r>
              <a:rPr lang="zh-CN" altLang="en-US" dirty="0" smtClean="0"/>
              <a:t>當     他的 老師</a:t>
            </a:r>
            <a:r>
              <a:rPr lang="zh-TW" altLang="en-US" dirty="0" smtClean="0"/>
              <a:t>   </a:t>
            </a:r>
            <a:r>
              <a:rPr lang="zh-CN" altLang="en-US" dirty="0" smtClean="0"/>
              <a:t>當    得</a:t>
            </a:r>
            <a:r>
              <a:rPr lang="zh-TW" altLang="en-US" dirty="0" smtClean="0"/>
              <a:t>  好 </a:t>
            </a:r>
            <a:r>
              <a:rPr lang="en-US" altLang="zh-TW" dirty="0" smtClean="0"/>
              <a:t>(</a:t>
            </a:r>
            <a:r>
              <a:rPr lang="en-US" altLang="zh-CN" dirty="0" smtClean="0"/>
              <a:t>Mandarin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r>
              <a:rPr lang="en-US" dirty="0" smtClean="0"/>
              <a:t>Ta dang ta de </a:t>
            </a:r>
            <a:r>
              <a:rPr lang="en-US" dirty="0" err="1" smtClean="0"/>
              <a:t>laoshi</a:t>
            </a:r>
            <a:r>
              <a:rPr lang="en-US" dirty="0" smtClean="0"/>
              <a:t> dang de </a:t>
            </a:r>
            <a:r>
              <a:rPr lang="en-US" dirty="0" err="1" smtClean="0"/>
              <a:t>hao</a:t>
            </a:r>
            <a:endParaRPr lang="en-US" dirty="0" smtClean="0"/>
          </a:p>
          <a:p>
            <a:pPr marL="0" indent="0">
              <a:buNone/>
            </a:pPr>
            <a:r>
              <a:rPr lang="en-US" dirty="0" smtClean="0"/>
              <a:t>‘He is being a good teacher.’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27015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  <p:bldP spid="1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Chinese Activity nouns (</a:t>
            </a:r>
            <a:r>
              <a:rPr lang="en-US" i="1" dirty="0" smtClean="0"/>
              <a:t>ta de </a:t>
            </a:r>
            <a:r>
              <a:rPr lang="en-US" i="1" dirty="0" err="1" smtClean="0"/>
              <a:t>laoshi</a:t>
            </a:r>
            <a:r>
              <a:rPr lang="en-US" i="1" dirty="0" smtClean="0"/>
              <a:t> </a:t>
            </a:r>
            <a:r>
              <a:rPr lang="en-US" dirty="0" smtClean="0"/>
              <a:t>vs *</a:t>
            </a:r>
            <a:r>
              <a:rPr lang="en-US" i="1" dirty="0" err="1" smtClean="0"/>
              <a:t>keoi</a:t>
            </a:r>
            <a:r>
              <a:rPr lang="en-US" i="1" dirty="0" smtClean="0"/>
              <a:t> </a:t>
            </a:r>
            <a:r>
              <a:rPr lang="en-US" i="1" dirty="0" err="1" smtClean="0"/>
              <a:t>ge</a:t>
            </a:r>
            <a:r>
              <a:rPr lang="en-US" i="1" dirty="0" smtClean="0"/>
              <a:t> </a:t>
            </a:r>
            <a:r>
              <a:rPr lang="en-US" i="1" dirty="0" err="1" smtClean="0"/>
              <a:t>lousi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i="1" dirty="0"/>
              <a:t>d</a:t>
            </a:r>
            <a:r>
              <a:rPr lang="en-US" i="1" dirty="0" smtClean="0"/>
              <a:t>e</a:t>
            </a:r>
            <a:r>
              <a:rPr lang="en-US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vs</a:t>
            </a:r>
            <a:r>
              <a:rPr lang="en-US" altLang="zh-CN" i="1" dirty="0" smtClean="0"/>
              <a:t> </a:t>
            </a:r>
            <a:r>
              <a:rPr lang="en-US" altLang="zh-CN" i="1" dirty="0" err="1" smtClean="0"/>
              <a:t>ge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(</a:t>
            </a:r>
            <a:r>
              <a:rPr lang="zh-CN" altLang="en-US" dirty="0" smtClean="0"/>
              <a:t>個</a:t>
            </a:r>
            <a:r>
              <a:rPr lang="en-US" altLang="zh-CN" dirty="0" smtClean="0"/>
              <a:t>):</a:t>
            </a:r>
            <a:r>
              <a:rPr lang="zh-CN" altLang="en-US" dirty="0" smtClean="0"/>
              <a:t>的 </a:t>
            </a:r>
            <a:r>
              <a:rPr lang="en-US" altLang="zh-CN" dirty="0" smtClean="0"/>
              <a:t>&lt; </a:t>
            </a:r>
            <a:r>
              <a:rPr lang="zh-CN" altLang="en-US" dirty="0" smtClean="0"/>
              <a:t>底 </a:t>
            </a:r>
            <a:r>
              <a:rPr lang="en-US" altLang="zh-CN" dirty="0" smtClean="0"/>
              <a:t>&lt; </a:t>
            </a:r>
            <a:r>
              <a:rPr lang="zh-CN" altLang="en-US" dirty="0" smtClean="0"/>
              <a:t>者 </a:t>
            </a:r>
            <a:r>
              <a:rPr lang="en-US" altLang="zh-CN" dirty="0" smtClean="0"/>
              <a:t>(phrase-final </a:t>
            </a:r>
            <a:r>
              <a:rPr lang="en-US" altLang="zh-CN" dirty="0" err="1" smtClean="0"/>
              <a:t>nominaliser</a:t>
            </a:r>
            <a:r>
              <a:rPr lang="en-US" altLang="zh-CN" dirty="0" smtClean="0"/>
              <a:t>)/</a:t>
            </a:r>
            <a:r>
              <a:rPr lang="zh-CN" altLang="en-US" dirty="0" smtClean="0"/>
              <a:t>個 </a:t>
            </a:r>
            <a:r>
              <a:rPr lang="en-US" altLang="zh-CN" dirty="0" smtClean="0"/>
              <a:t>(classifier) 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0" y="6135841"/>
            <a:ext cx="121920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i="1" dirty="0" err="1" smtClean="0"/>
              <a:t>ge</a:t>
            </a:r>
            <a:r>
              <a:rPr lang="en-US" altLang="zh-CN" i="1" dirty="0" smtClean="0"/>
              <a:t> </a:t>
            </a:r>
            <a:r>
              <a:rPr lang="en-US" altLang="zh-CN" dirty="0" smtClean="0"/>
              <a:t>(</a:t>
            </a:r>
            <a:r>
              <a:rPr lang="zh-CN" altLang="en-US" dirty="0" smtClean="0"/>
              <a:t>個</a:t>
            </a:r>
            <a:r>
              <a:rPr lang="en-US" altLang="zh-CN" dirty="0" smtClean="0"/>
              <a:t>) as classifier has count and individualizing function -&gt;  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 cannot select 											Activity NPs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838200" y="1784503"/>
            <a:ext cx="1051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只道自己的鐧與槍舞得好</a:t>
            </a:r>
            <a:endParaRPr lang="en-US" altLang="zh-CN" sz="2400" dirty="0" smtClean="0"/>
          </a:p>
          <a:p>
            <a:r>
              <a:rPr lang="en-US" sz="2400" dirty="0" smtClean="0"/>
              <a:t>‘thinking that he wields his arms and weapons well.’ (</a:t>
            </a:r>
            <a:r>
              <a:rPr lang="zh-CN" altLang="en-US" sz="2400" dirty="0" smtClean="0"/>
              <a:t>隋唐演義</a:t>
            </a:r>
            <a:r>
              <a:rPr lang="en-US" altLang="zh-CN" sz="2400" dirty="0" smtClean="0"/>
              <a:t>)</a:t>
            </a:r>
          </a:p>
          <a:p>
            <a:r>
              <a:rPr lang="zh-CN" altLang="en-US" sz="2400" dirty="0"/>
              <a:t>他</a:t>
            </a:r>
            <a:r>
              <a:rPr lang="zh-CN" altLang="en-US" sz="2400" dirty="0" smtClean="0"/>
              <a:t>的棋子雖然下得極高</a:t>
            </a:r>
            <a:endParaRPr lang="en-US" altLang="zh-CN" sz="2400" dirty="0" smtClean="0"/>
          </a:p>
          <a:p>
            <a:r>
              <a:rPr lang="en-US" sz="2400" dirty="0" smtClean="0"/>
              <a:t>‘Although he plays well extremely well…’ (</a:t>
            </a:r>
            <a:r>
              <a:rPr lang="zh-CN" altLang="en-US" sz="2400" dirty="0" smtClean="0"/>
              <a:t>二十年目睹之怪現狀</a:t>
            </a:r>
            <a:r>
              <a:rPr lang="en-US" altLang="zh-CN" sz="2400" dirty="0" smtClean="0"/>
              <a:t>)</a:t>
            </a:r>
          </a:p>
          <a:p>
            <a:r>
              <a:rPr lang="zh-CN" altLang="en-US" sz="2400" dirty="0" smtClean="0"/>
              <a:t>貴教師的中國話說得很好</a:t>
            </a:r>
            <a:endParaRPr lang="en-US" altLang="zh-CN" sz="2400" dirty="0" smtClean="0"/>
          </a:p>
          <a:p>
            <a:r>
              <a:rPr lang="en-US" sz="2400" dirty="0" smtClean="0"/>
              <a:t>‘You teacher speaks Chinese excellently’ (</a:t>
            </a:r>
            <a:r>
              <a:rPr lang="zh-CN" altLang="en-US" sz="2400" dirty="0" smtClean="0"/>
              <a:t>文明小史，</a:t>
            </a:r>
            <a:r>
              <a:rPr lang="zh-CN" altLang="en-US" sz="2400" dirty="0"/>
              <a:t>第十三</a:t>
            </a:r>
            <a:r>
              <a:rPr lang="zh-CN" altLang="en-US" sz="2400" dirty="0" smtClean="0"/>
              <a:t>囘</a:t>
            </a:r>
            <a:r>
              <a:rPr lang="en-US" altLang="zh-CN" sz="2400" dirty="0" smtClean="0"/>
              <a:t>)</a:t>
            </a:r>
            <a:endParaRPr lang="en-GB" sz="2400" dirty="0"/>
          </a:p>
        </p:txBody>
      </p:sp>
      <p:sp>
        <p:nvSpPr>
          <p:cNvPr id="6" name="Rectangle 5"/>
          <p:cNvSpPr/>
          <p:nvPr/>
        </p:nvSpPr>
        <p:spPr>
          <a:xfrm>
            <a:off x="838200" y="4046702"/>
            <a:ext cx="105156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400" dirty="0" smtClean="0"/>
              <a:t>後面個僧祗對看</a:t>
            </a:r>
            <a:endParaRPr lang="en-US" altLang="zh-CN" sz="2400" dirty="0" smtClean="0"/>
          </a:p>
          <a:p>
            <a:r>
              <a:rPr lang="en-US" sz="2400" dirty="0" smtClean="0"/>
              <a:t>‘The monk behind you can only stare.’ (</a:t>
            </a:r>
            <a:r>
              <a:rPr lang="zh-CN" altLang="en-US" sz="2400" dirty="0" smtClean="0"/>
              <a:t>景德傳燈錄，卷八</a:t>
            </a:r>
            <a:r>
              <a:rPr lang="en-US" altLang="zh-CN" sz="2400" dirty="0" smtClean="0"/>
              <a:t>)</a:t>
            </a:r>
          </a:p>
          <a:p>
            <a:r>
              <a:rPr lang="zh-CN" altLang="en-US" sz="2400" dirty="0" smtClean="0"/>
              <a:t>用汝個月作麽？</a:t>
            </a:r>
            <a:endParaRPr lang="en-US" altLang="zh-CN" sz="2400" dirty="0" smtClean="0"/>
          </a:p>
          <a:p>
            <a:r>
              <a:rPr lang="en-US" sz="2400" dirty="0" smtClean="0"/>
              <a:t>‘What use is your moon?’ (</a:t>
            </a:r>
            <a:r>
              <a:rPr lang="zh-CN" altLang="en-US" sz="2400" dirty="0" smtClean="0"/>
              <a:t>同上</a:t>
            </a:r>
            <a:r>
              <a:rPr lang="en-US" altLang="zh-CN" sz="2400" dirty="0" smtClean="0"/>
              <a:t>)</a:t>
            </a:r>
          </a:p>
          <a:p>
            <a:r>
              <a:rPr lang="zh-CN" altLang="en-US" sz="2400" dirty="0" smtClean="0"/>
              <a:t>但只硬把定中間個心</a:t>
            </a:r>
            <a:endParaRPr lang="en-US" altLang="zh-CN" sz="2400" dirty="0" smtClean="0"/>
          </a:p>
          <a:p>
            <a:r>
              <a:rPr lang="en-US" sz="2400" dirty="0" smtClean="0"/>
              <a:t>‘</a:t>
            </a:r>
            <a:r>
              <a:rPr lang="en-US" altLang="zh-CN" sz="2400" dirty="0" smtClean="0"/>
              <a:t>But holding the heart in the middle by force…’ (</a:t>
            </a:r>
            <a:r>
              <a:rPr lang="zh-CN" altLang="en-US" sz="2400" dirty="0" smtClean="0"/>
              <a:t>朱子</a:t>
            </a:r>
            <a:r>
              <a:rPr lang="zh-CN" altLang="en-US" sz="2400" dirty="0"/>
              <a:t>語</a:t>
            </a:r>
            <a:r>
              <a:rPr lang="zh-CN" altLang="en-US" sz="2400" dirty="0" smtClean="0"/>
              <a:t>類）</a:t>
            </a:r>
            <a:endParaRPr lang="en-GB" sz="2400" dirty="0"/>
          </a:p>
        </p:txBody>
      </p:sp>
    </p:spTree>
    <p:extLst>
      <p:ext uri="{BB962C8B-B14F-4D97-AF65-F5344CB8AC3E}">
        <p14:creationId xmlns:p14="http://schemas.microsoft.com/office/powerpoint/2010/main" val="1564005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Activity Structure (DO + DONE)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325563"/>
            <a:ext cx="12192000" cy="55324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 smtClean="0"/>
              <a:t>		DO-P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 err="1" smtClean="0"/>
              <a:t>SpecDO</a:t>
            </a:r>
            <a:r>
              <a:rPr lang="en-US" sz="1800" dirty="0" smtClean="0"/>
              <a:t>				DO’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DO				DONE-P</a:t>
            </a:r>
          </a:p>
          <a:p>
            <a:pPr marL="0" indent="0">
              <a:buNone/>
            </a:pP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</a:t>
            </a:r>
            <a:r>
              <a:rPr lang="en-US" sz="1800" dirty="0" err="1" smtClean="0"/>
              <a:t>SpecDONE</a:t>
            </a:r>
            <a:r>
              <a:rPr lang="en-US" sz="1800" dirty="0" smtClean="0"/>
              <a:t>			DONE’</a:t>
            </a:r>
          </a:p>
          <a:p>
            <a:pPr marL="0" indent="0">
              <a:buNone/>
            </a:pPr>
            <a:r>
              <a:rPr lang="en-US" sz="1800" dirty="0" smtClean="0"/>
              <a:t>				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DONE		…		VP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V’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V</a:t>
            </a:r>
            <a:endParaRPr lang="en-GB" sz="1800" dirty="0"/>
          </a:p>
        </p:txBody>
      </p:sp>
      <p:sp>
        <p:nvSpPr>
          <p:cNvPr id="4" name="Rectangle 3"/>
          <p:cNvSpPr/>
          <p:nvPr/>
        </p:nvSpPr>
        <p:spPr>
          <a:xfrm>
            <a:off x="3647540" y="3851454"/>
            <a:ext cx="5819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Activity (headed by </a:t>
            </a:r>
            <a:r>
              <a:rPr lang="en-US" altLang="zh-CN" i="1" dirty="0" smtClean="0"/>
              <a:t>de/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5" name="Rectangle 4"/>
          <p:cNvSpPr/>
          <p:nvPr/>
        </p:nvSpPr>
        <p:spPr>
          <a:xfrm>
            <a:off x="3647540" y="4220786"/>
            <a:ext cx="58192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Ta de </a:t>
            </a:r>
            <a:r>
              <a:rPr lang="en-US" altLang="zh-CN" dirty="0" err="1" smtClean="0"/>
              <a:t>laoshi</a:t>
            </a:r>
            <a:r>
              <a:rPr lang="en-US" altLang="zh-CN" dirty="0" smtClean="0"/>
              <a:t>/</a:t>
            </a:r>
          </a:p>
          <a:p>
            <a:r>
              <a:rPr lang="en-US" dirty="0" smtClean="0"/>
              <a:t>*</a:t>
            </a:r>
            <a:r>
              <a:rPr lang="en-US" dirty="0" err="1" smtClean="0"/>
              <a:t>Keoi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0" y="2341225"/>
            <a:ext cx="5819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Actor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0" y="2628549"/>
            <a:ext cx="5819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/>
              <a:t>t</a:t>
            </a:r>
            <a:r>
              <a:rPr lang="en-US" altLang="zh-CN" dirty="0" smtClean="0"/>
              <a:t>a / </a:t>
            </a:r>
            <a:r>
              <a:rPr lang="en-US" altLang="zh-CN" dirty="0" err="1" smtClean="0"/>
              <a:t>keoi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0" y="2997881"/>
            <a:ext cx="581927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Actor (raised </a:t>
            </a:r>
          </a:p>
          <a:p>
            <a:r>
              <a:rPr lang="en-US" dirty="0"/>
              <a:t>f</a:t>
            </a:r>
            <a:r>
              <a:rPr lang="en-US" dirty="0" smtClean="0"/>
              <a:t>rom Activity (</a:t>
            </a:r>
            <a:r>
              <a:rPr lang="en-US" dirty="0" err="1" smtClean="0"/>
              <a:t>SpecDONE</a:t>
            </a:r>
            <a:r>
              <a:rPr lang="en-US" dirty="0" smtClean="0"/>
              <a:t>))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2253773" y="5493226"/>
            <a:ext cx="5819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Without DO</a:t>
            </a:r>
            <a:r>
              <a:rPr lang="en-US" altLang="zh-CN" i="1" dirty="0" smtClean="0"/>
              <a:t>, de</a:t>
            </a:r>
            <a:r>
              <a:rPr lang="en-US" altLang="zh-CN" dirty="0" smtClean="0"/>
              <a:t> but not *</a:t>
            </a:r>
            <a:r>
              <a:rPr lang="en-US" altLang="zh-CN" i="1" dirty="0" err="1" smtClean="0"/>
              <a:t>ge</a:t>
            </a:r>
            <a:r>
              <a:rPr lang="en-US" altLang="zh-CN" dirty="0" smtClean="0"/>
              <a:t> can head an Activity nominal</a:t>
            </a:r>
            <a:endParaRPr lang="en-GB" dirty="0"/>
          </a:p>
        </p:txBody>
      </p:sp>
      <p:sp>
        <p:nvSpPr>
          <p:cNvPr id="10" name="Rectangle 9"/>
          <p:cNvSpPr/>
          <p:nvPr/>
        </p:nvSpPr>
        <p:spPr>
          <a:xfrm>
            <a:off x="2253773" y="5074359"/>
            <a:ext cx="581927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 smtClean="0"/>
              <a:t>With DO, Actor is raised from the Activity nominal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19638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cleft 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-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constructions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Chinese cleft constructions (</a:t>
            </a:r>
            <a:r>
              <a:rPr lang="en-US" i="1" dirty="0" err="1" smtClean="0"/>
              <a:t>shi</a:t>
            </a:r>
            <a:r>
              <a:rPr lang="en-US" dirty="0"/>
              <a:t> </a:t>
            </a:r>
            <a:r>
              <a:rPr lang="en-US" dirty="0" smtClean="0"/>
              <a:t>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) </a:t>
            </a:r>
            <a:r>
              <a:rPr lang="en-US" dirty="0" smtClean="0"/>
              <a:t>+ </a:t>
            </a:r>
            <a:r>
              <a:rPr lang="en-US" i="1" dirty="0" smtClean="0"/>
              <a:t>de</a:t>
            </a:r>
            <a:r>
              <a:rPr lang="en-US" dirty="0" smtClean="0"/>
              <a:t> (</a:t>
            </a:r>
            <a:r>
              <a:rPr lang="zh-CN" altLang="en-US" dirty="0" smtClean="0"/>
              <a:t>的</a:t>
            </a:r>
            <a:r>
              <a:rPr lang="en-US" altLang="zh-CN" dirty="0" smtClean="0"/>
              <a:t>) </a:t>
            </a:r>
            <a:r>
              <a:rPr lang="en-US" dirty="0" smtClean="0"/>
              <a:t>constructions): </a:t>
            </a:r>
          </a:p>
        </p:txBody>
      </p:sp>
      <p:sp>
        <p:nvSpPr>
          <p:cNvPr id="4" name="Rectangle 3"/>
          <p:cNvSpPr/>
          <p:nvPr/>
        </p:nvSpPr>
        <p:spPr>
          <a:xfrm>
            <a:off x="831897" y="5371651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Cleft constructions are copular (Zhan and </a:t>
            </a:r>
            <a:r>
              <a:rPr lang="en-US" sz="2800" dirty="0" err="1" smtClean="0"/>
              <a:t>Traugott</a:t>
            </a:r>
            <a:r>
              <a:rPr lang="en-US" sz="2800" dirty="0" smtClean="0"/>
              <a:t> (2012, 2017), </a:t>
            </a:r>
            <a:r>
              <a:rPr lang="en-US" sz="2800" dirty="0" err="1" smtClean="0"/>
              <a:t>cf</a:t>
            </a:r>
            <a:r>
              <a:rPr lang="en-US" sz="2800" dirty="0" smtClean="0"/>
              <a:t> Higgins (1979)). </a:t>
            </a:r>
            <a:endParaRPr lang="en-GB" sz="2800" dirty="0"/>
          </a:p>
        </p:txBody>
      </p:sp>
      <p:sp>
        <p:nvSpPr>
          <p:cNvPr id="5" name="Rectangle 4"/>
          <p:cNvSpPr/>
          <p:nvPr/>
        </p:nvSpPr>
        <p:spPr>
          <a:xfrm>
            <a:off x="838200" y="4417544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It + COP + focus (relativized element) + presupposition (relative clause) (</a:t>
            </a:r>
            <a:r>
              <a:rPr lang="en-US" sz="2800" dirty="0" err="1" smtClean="0"/>
              <a:t>Hedberg</a:t>
            </a:r>
            <a:r>
              <a:rPr lang="en-US" sz="2800" dirty="0" smtClean="0"/>
              <a:t> (2000:96))</a:t>
            </a:r>
            <a:endParaRPr lang="en-GB" sz="2800" dirty="0"/>
          </a:p>
        </p:txBody>
      </p:sp>
      <p:sp>
        <p:nvSpPr>
          <p:cNvPr id="7" name="Rectangle 6"/>
          <p:cNvSpPr/>
          <p:nvPr/>
        </p:nvSpPr>
        <p:spPr>
          <a:xfrm>
            <a:off x="838200" y="1772149"/>
            <a:ext cx="11353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SUBJECT + COP + focus + presupposition + DE </a:t>
            </a:r>
          </a:p>
          <a:p>
            <a:r>
              <a:rPr lang="en-US" sz="2800" dirty="0" smtClean="0"/>
              <a:t>(Lee (2005:133), Paul and Whitman (2008:430), Hole (2011:1710))</a:t>
            </a:r>
            <a:endParaRPr lang="en-GB" sz="2800" dirty="0"/>
          </a:p>
        </p:txBody>
      </p:sp>
      <p:sp>
        <p:nvSpPr>
          <p:cNvPr id="8" name="Rectangle 7"/>
          <p:cNvSpPr/>
          <p:nvPr/>
        </p:nvSpPr>
        <p:spPr>
          <a:xfrm>
            <a:off x="990600" y="3035387"/>
            <a:ext cx="112014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smtClean="0"/>
              <a:t>COP + </a:t>
            </a:r>
            <a:r>
              <a:rPr lang="en-US" sz="2800" i="1" dirty="0" err="1" smtClean="0"/>
              <a:t>VOde</a:t>
            </a:r>
            <a:r>
              <a:rPr lang="en-US" sz="2800" dirty="0" smtClean="0"/>
              <a:t> /</a:t>
            </a:r>
            <a:r>
              <a:rPr lang="en-US" sz="2800" dirty="0"/>
              <a:t> </a:t>
            </a:r>
            <a:r>
              <a:rPr lang="en-US" sz="2800" i="1" dirty="0" err="1" smtClean="0"/>
              <a:t>VdeO</a:t>
            </a:r>
            <a:r>
              <a:rPr lang="en-US" sz="2800" dirty="0" smtClean="0"/>
              <a:t> (Long and Xiao (2009, 2011), Zhan (2012), Long (2013))</a:t>
            </a:r>
            <a:endParaRPr lang="en-GB" sz="2800" dirty="0"/>
          </a:p>
        </p:txBody>
      </p:sp>
      <p:sp>
        <p:nvSpPr>
          <p:cNvPr id="9" name="Rectangle 8"/>
          <p:cNvSpPr/>
          <p:nvPr/>
        </p:nvSpPr>
        <p:spPr>
          <a:xfrm>
            <a:off x="1953126" y="3589074"/>
            <a:ext cx="11353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i="1" dirty="0" err="1" smtClean="0"/>
              <a:t>VOge</a:t>
            </a:r>
            <a:r>
              <a:rPr lang="en-US" sz="2800" dirty="0"/>
              <a:t> </a:t>
            </a:r>
            <a:r>
              <a:rPr lang="en-US" sz="2800" dirty="0" smtClean="0"/>
              <a:t>/ </a:t>
            </a:r>
            <a:r>
              <a:rPr lang="en-US" sz="2800" i="1" dirty="0" err="1" smtClean="0"/>
              <a:t>VgeO</a:t>
            </a:r>
            <a:r>
              <a:rPr lang="en-US" sz="2800" dirty="0" smtClean="0"/>
              <a:t> (</a:t>
            </a:r>
            <a:r>
              <a:rPr lang="zh-CN" altLang="en-US" sz="2800" dirty="0" smtClean="0"/>
              <a:t>李 </a:t>
            </a:r>
            <a:r>
              <a:rPr lang="en-US" altLang="zh-CN" sz="2800" dirty="0" smtClean="0"/>
              <a:t>2016)</a:t>
            </a:r>
            <a:endParaRPr lang="en-GB" sz="2800" dirty="0"/>
          </a:p>
        </p:txBody>
      </p:sp>
    </p:spTree>
    <p:extLst>
      <p:ext uri="{BB962C8B-B14F-4D97-AF65-F5344CB8AC3E}">
        <p14:creationId xmlns:p14="http://schemas.microsoft.com/office/powerpoint/2010/main" val="11282170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7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copula 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/</a:t>
            </a:r>
            <a:r>
              <a:rPr lang="zh-CN" altLang="en-US" dirty="0" smtClean="0"/>
              <a:t>係</a:t>
            </a:r>
            <a:r>
              <a:rPr lang="en-US" altLang="zh-CN" dirty="0" smtClean="0"/>
              <a:t>) + relative clause (</a:t>
            </a:r>
            <a:r>
              <a:rPr lang="en-US" altLang="zh-CN" dirty="0" err="1" smtClean="0"/>
              <a:t>VOde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VOge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33994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2400" dirty="0" smtClean="0"/>
              <a:t>師指面前狗子云：“明明個，明明個。”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zh-CN" altLang="en-US" sz="2400" dirty="0" smtClean="0"/>
              <a:t>僧便問師：”既是明明個，為個摩頭在裏許？</a:t>
            </a:r>
            <a:endParaRPr lang="en-US" altLang="zh-CN" sz="2400" dirty="0" smtClean="0"/>
          </a:p>
          <a:p>
            <a:pPr marL="0" indent="0">
              <a:buNone/>
            </a:pPr>
            <a:r>
              <a:rPr lang="en-US" altLang="zh-CN" sz="2400" dirty="0" smtClean="0"/>
              <a:t>‘Teacher points at a dog ahead and says, ‘It is bright, bright.’ </a:t>
            </a:r>
          </a:p>
          <a:p>
            <a:pPr marL="0" indent="0">
              <a:buNone/>
            </a:pPr>
            <a:r>
              <a:rPr lang="en-US" altLang="zh-CN" sz="2400" dirty="0" smtClean="0"/>
              <a:t>Monk then asks, ‘If it is bright, why is its head inside?’ </a:t>
            </a:r>
          </a:p>
          <a:p>
            <a:pPr marL="0" indent="0">
              <a:buNone/>
            </a:pPr>
            <a:endParaRPr lang="en-GB" sz="24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7947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200" y="1796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 smtClean="0"/>
              <a:t>師云：“人人盡有底衣即是。”</a:t>
            </a:r>
            <a:endParaRPr lang="en-US" altLang="zh-CN" sz="2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zh-CN" altLang="en-US" sz="2400" dirty="0" smtClean="0"/>
              <a:t>僧云：“既是人人盡有底，用被做什摩？</a:t>
            </a:r>
            <a:endParaRPr lang="en-US" altLang="zh-CN" sz="2400" dirty="0" smtClean="0"/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400" dirty="0" smtClean="0"/>
              <a:t>Teacher says, ‘The clothes which everyone has then it is.’ Monk says, ‘As it is clothes which everyone has, why use sheets?’ </a:t>
            </a:r>
            <a:endParaRPr lang="en-GB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36532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COP + </a:t>
            </a:r>
            <a:r>
              <a:rPr lang="en-US" i="1" dirty="0" err="1" smtClean="0"/>
              <a:t>VOde</a:t>
            </a:r>
            <a:r>
              <a:rPr lang="en-US" dirty="0" smtClean="0"/>
              <a:t> / </a:t>
            </a:r>
            <a:r>
              <a:rPr lang="en-US" i="1" dirty="0" err="1" smtClean="0"/>
              <a:t>VOge</a:t>
            </a:r>
            <a:r>
              <a:rPr lang="en-US" dirty="0" smtClean="0"/>
              <a:t>:</a:t>
            </a:r>
            <a:endParaRPr lang="en-GB" dirty="0"/>
          </a:p>
        </p:txBody>
      </p:sp>
      <p:sp>
        <p:nvSpPr>
          <p:cNvPr id="13" name="Content Placeholder 2"/>
          <p:cNvSpPr txBox="1">
            <a:spLocks/>
          </p:cNvSpPr>
          <p:nvPr/>
        </p:nvSpPr>
        <p:spPr>
          <a:xfrm>
            <a:off x="3902242" y="135124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Equational: subject and complement are co-referential</a:t>
            </a:r>
            <a:endParaRPr lang="en-GB" dirty="0"/>
          </a:p>
        </p:txBody>
      </p:sp>
      <p:sp>
        <p:nvSpPr>
          <p:cNvPr id="14" name="Rectangle 13"/>
          <p:cNvSpPr/>
          <p:nvPr/>
        </p:nvSpPr>
        <p:spPr>
          <a:xfrm>
            <a:off x="1202806" y="5394920"/>
            <a:ext cx="750927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i="1" dirty="0" err="1" smtClean="0"/>
              <a:t>VOde</a:t>
            </a:r>
            <a:r>
              <a:rPr lang="en-US" altLang="zh-TW" sz="3200" i="1" dirty="0" smtClean="0"/>
              <a:t>/</a:t>
            </a:r>
            <a:r>
              <a:rPr lang="en-US" altLang="zh-TW" sz="3200" i="1" dirty="0" err="1" smtClean="0"/>
              <a:t>VOge</a:t>
            </a:r>
            <a:r>
              <a:rPr lang="en-US" altLang="zh-TW" sz="3200" dirty="0" smtClean="0"/>
              <a:t>: </a:t>
            </a:r>
            <a:endParaRPr lang="en-US" altLang="zh-TW" sz="3200" dirty="0"/>
          </a:p>
        </p:txBody>
      </p:sp>
      <p:sp>
        <p:nvSpPr>
          <p:cNvPr id="15" name="Rectangle 14"/>
          <p:cNvSpPr/>
          <p:nvPr/>
        </p:nvSpPr>
        <p:spPr>
          <a:xfrm>
            <a:off x="4266848" y="5132467"/>
            <a:ext cx="7509277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dirty="0" smtClean="0"/>
              <a:t>In sentence-final position where there is no nominal complement, </a:t>
            </a:r>
            <a:r>
              <a:rPr lang="en-US" altLang="zh-TW" sz="3200" i="1" dirty="0" smtClean="0"/>
              <a:t>de/</a:t>
            </a:r>
            <a:r>
              <a:rPr lang="en-US" altLang="zh-TW" sz="3200" i="1" dirty="0" err="1" smtClean="0"/>
              <a:t>ge</a:t>
            </a:r>
            <a:r>
              <a:rPr lang="en-US" altLang="zh-TW" sz="3200" dirty="0" smtClean="0"/>
              <a:t> can be reanalyzed as sentence-final particle (SFP)</a:t>
            </a:r>
            <a:endParaRPr lang="en-US" altLang="zh-TW" sz="320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7221563" y="1871174"/>
            <a:ext cx="4343400" cy="1386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Paul (2011), Zhang (2013):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dirty="0" smtClean="0"/>
              <a:t>-</a:t>
            </a:r>
            <a:r>
              <a:rPr lang="zh-CN" altLang="en-US" dirty="0" smtClean="0"/>
              <a:t>的話</a:t>
            </a:r>
            <a:r>
              <a:rPr lang="en-US" altLang="zh-CN" i="1" dirty="0" err="1" smtClean="0"/>
              <a:t>dehua</a:t>
            </a:r>
            <a:r>
              <a:rPr lang="en-US" altLang="zh-CN" dirty="0" smtClean="0"/>
              <a:t> conditionals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99119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13" grpId="0"/>
      <p:bldP spid="14" grpId="0"/>
      <p:bldP spid="15" grpId="0"/>
      <p:bldP spid="10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Chinese copula (</a:t>
            </a:r>
            <a:r>
              <a:rPr lang="zh-CN" altLang="en-US" dirty="0" smtClean="0"/>
              <a:t>是</a:t>
            </a:r>
            <a:r>
              <a:rPr lang="en-US" altLang="zh-CN" dirty="0" smtClean="0"/>
              <a:t>/</a:t>
            </a:r>
            <a:r>
              <a:rPr lang="zh-CN" altLang="en-US" dirty="0" smtClean="0"/>
              <a:t>係</a:t>
            </a:r>
            <a:r>
              <a:rPr lang="en-US" altLang="zh-CN" dirty="0" smtClean="0"/>
              <a:t>) + relative clause (</a:t>
            </a:r>
            <a:r>
              <a:rPr lang="en-US" altLang="zh-CN" dirty="0" err="1" smtClean="0"/>
              <a:t>VdeO</a:t>
            </a:r>
            <a:r>
              <a:rPr lang="en-US" altLang="zh-CN" dirty="0" smtClean="0"/>
              <a:t>/</a:t>
            </a:r>
            <a:r>
              <a:rPr lang="en-US" altLang="zh-CN" dirty="0" err="1" smtClean="0"/>
              <a:t>VgeO</a:t>
            </a:r>
            <a:r>
              <a:rPr lang="en-US" altLang="zh-CN" dirty="0" smtClean="0"/>
              <a:t>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2492" y="4678362"/>
            <a:ext cx="11353800" cy="4351338"/>
          </a:xfrm>
        </p:spPr>
        <p:txBody>
          <a:bodyPr/>
          <a:lstStyle/>
          <a:p>
            <a:pPr marL="0" indent="0">
              <a:buNone/>
            </a:pPr>
            <a:r>
              <a:rPr lang="en-US" altLang="zh-TW" i="1" dirty="0" err="1" smtClean="0"/>
              <a:t>VdeO</a:t>
            </a:r>
            <a:r>
              <a:rPr lang="en-US" altLang="zh-TW" dirty="0" smtClean="0"/>
              <a:t>/*</a:t>
            </a:r>
            <a:r>
              <a:rPr lang="en-US" altLang="zh-TW" i="1" dirty="0" err="1" smtClean="0"/>
              <a:t>VgeO</a:t>
            </a:r>
            <a:r>
              <a:rPr lang="en-US" altLang="zh-TW" dirty="0" smtClean="0"/>
              <a:t>: </a:t>
            </a:r>
            <a:endParaRPr lang="en-GB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838200" y="1794752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GB" dirty="0"/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838199" y="1693591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TW" altLang="en-US" sz="1800" dirty="0" smtClean="0"/>
              <a:t>那兩個人是如此如此這般這般使的手段</a:t>
            </a:r>
            <a:r>
              <a:rPr lang="zh-CN" altLang="en-US" sz="1800" dirty="0" smtClean="0"/>
              <a:t>。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sz="1800" dirty="0" smtClean="0"/>
              <a:t>‘As for those two people, it was manipulation used in thus </a:t>
            </a:r>
            <a:r>
              <a:rPr lang="en-US" sz="1800" dirty="0" err="1" smtClean="0"/>
              <a:t>thus</a:t>
            </a:r>
            <a:r>
              <a:rPr lang="en-US" sz="1800" dirty="0" smtClean="0"/>
              <a:t> such </a:t>
            </a:r>
            <a:r>
              <a:rPr lang="en-US" sz="1800" dirty="0" err="1" smtClean="0"/>
              <a:t>such</a:t>
            </a:r>
            <a:r>
              <a:rPr lang="en-US" sz="1800" dirty="0" smtClean="0"/>
              <a:t> a way’ &gt; ‘It was thus </a:t>
            </a:r>
            <a:r>
              <a:rPr lang="en-US" sz="1800" dirty="0" err="1" smtClean="0"/>
              <a:t>thus</a:t>
            </a:r>
            <a:r>
              <a:rPr lang="en-US" sz="1800" dirty="0" smtClean="0"/>
              <a:t> so </a:t>
            </a:r>
            <a:r>
              <a:rPr lang="en-US" sz="1800" dirty="0" err="1" smtClean="0"/>
              <a:t>so</a:t>
            </a:r>
            <a:r>
              <a:rPr lang="en-US" sz="1800" dirty="0" smtClean="0"/>
              <a:t> that those two people manipulated.’ (</a:t>
            </a:r>
            <a:r>
              <a:rPr lang="zh-CN" altLang="en-US" sz="1800" dirty="0" smtClean="0"/>
              <a:t>元雜劇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r>
              <a:rPr lang="zh-TW" altLang="en-US" sz="1800" dirty="0"/>
              <a:t>娘原是氣惱上起的病</a:t>
            </a:r>
            <a:endParaRPr lang="en-US" altLang="zh-TW" sz="1800" dirty="0"/>
          </a:p>
          <a:p>
            <a:pPr marL="0" indent="0">
              <a:buNone/>
            </a:pPr>
            <a:r>
              <a:rPr lang="en-GB" sz="1800" dirty="0"/>
              <a:t>‘As for my mother, it was originally the illness that was contracted by getting angry.’ &gt; ‘it was through anger that mother contracted illness.’ (</a:t>
            </a:r>
            <a:r>
              <a:rPr lang="zh-CN" altLang="en-US" sz="1800" dirty="0"/>
              <a:t>金瓶梅詞話</a:t>
            </a:r>
            <a:r>
              <a:rPr lang="en-GB" sz="1800" dirty="0"/>
              <a:t>)	</a:t>
            </a:r>
            <a:endParaRPr lang="en-GB" sz="1800" dirty="0" smtClean="0"/>
          </a:p>
          <a:p>
            <a:pPr marL="0" indent="0">
              <a:buNone/>
            </a:pPr>
            <a:r>
              <a:rPr lang="zh-TW" altLang="en-US" sz="1800" dirty="0"/>
              <a:t>悟空，你是哪世修來的緣法</a:t>
            </a:r>
            <a:r>
              <a:rPr lang="en-US" altLang="zh-TW" sz="1800" dirty="0"/>
              <a:t>? </a:t>
            </a:r>
          </a:p>
          <a:p>
            <a:pPr marL="0" indent="0">
              <a:buNone/>
            </a:pPr>
            <a:r>
              <a:rPr lang="en-GB" sz="1800" dirty="0"/>
              <a:t>‘</a:t>
            </a:r>
            <a:r>
              <a:rPr lang="en-GB" sz="1800" dirty="0" err="1"/>
              <a:t>Wukong</a:t>
            </a:r>
            <a:r>
              <a:rPr lang="en-GB" sz="1800" dirty="0"/>
              <a:t>, as for you, it is the karma of which life that is obtained?’ </a:t>
            </a:r>
            <a:r>
              <a:rPr lang="en-GB" sz="1800" dirty="0" smtClean="0"/>
              <a:t>&gt; ‘In which life did you obtain karma?’ (</a:t>
            </a:r>
            <a:r>
              <a:rPr lang="en-GB" sz="1800" i="1" dirty="0" err="1" smtClean="0"/>
              <a:t>Xiyouji</a:t>
            </a:r>
            <a:r>
              <a:rPr lang="en-GB" sz="1800" i="1" dirty="0" smtClean="0"/>
              <a:t> </a:t>
            </a:r>
            <a:r>
              <a:rPr lang="zh-TW" altLang="en-US" sz="1800" dirty="0"/>
              <a:t>西游記</a:t>
            </a:r>
            <a:r>
              <a:rPr lang="en-GB" sz="1800" dirty="0"/>
              <a:t>)</a:t>
            </a:r>
          </a:p>
          <a:p>
            <a:pPr marL="0" indent="0">
              <a:buNone/>
            </a:pPr>
            <a:endParaRPr lang="en-GB" sz="1800" dirty="0"/>
          </a:p>
          <a:p>
            <a:pPr marL="0" indent="0">
              <a:buNone/>
            </a:pPr>
            <a:endParaRPr lang="en-GB" sz="1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325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COP + </a:t>
            </a:r>
            <a:r>
              <a:rPr lang="en-US" i="1" dirty="0" err="1" smtClean="0"/>
              <a:t>Vde</a:t>
            </a:r>
            <a:r>
              <a:rPr lang="en-US" i="1" dirty="0" err="1"/>
              <a:t>O</a:t>
            </a:r>
            <a:r>
              <a:rPr lang="en-US" i="1" dirty="0" smtClean="0"/>
              <a:t> / </a:t>
            </a:r>
            <a:r>
              <a:rPr lang="en-US" i="1" dirty="0" err="1" smtClean="0"/>
              <a:t>VgeO</a:t>
            </a:r>
            <a:r>
              <a:rPr lang="en-US" dirty="0" smtClean="0"/>
              <a:t>: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838200" y="4682331"/>
            <a:ext cx="1135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1800" dirty="0" smtClean="0"/>
              <a:t>须</a:t>
            </a:r>
            <a:r>
              <a:rPr lang="zh-CN" altLang="en-US" sz="1800" dirty="0"/>
              <a:t>是先</a:t>
            </a:r>
            <a:r>
              <a:rPr lang="zh-CN" altLang="en-US" sz="1800" dirty="0" smtClean="0"/>
              <a:t>说个粗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‘First one must deal with it.’ (</a:t>
            </a:r>
            <a:r>
              <a:rPr lang="zh-CN" altLang="en-US" sz="1800" dirty="0" smtClean="0"/>
              <a:t>朱子語類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r>
              <a:rPr lang="zh-CN" altLang="en-US" sz="1800" dirty="0"/>
              <a:t>须是把</a:t>
            </a:r>
            <a:r>
              <a:rPr lang="zh-CN" altLang="en-US" sz="1800" dirty="0" smtClean="0"/>
              <a:t>做个题目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altLang="zh-CN" sz="1800" dirty="0" smtClean="0"/>
              <a:t>‘First one must create topic.’ (</a:t>
            </a:r>
            <a:r>
              <a:rPr lang="zh-CN" altLang="en-US" sz="1800" dirty="0"/>
              <a:t>同</a:t>
            </a:r>
            <a:r>
              <a:rPr lang="zh-CN" altLang="en-US" sz="1800" dirty="0" smtClean="0"/>
              <a:t>上</a:t>
            </a:r>
            <a:r>
              <a:rPr lang="en-US" altLang="zh-CN" sz="1800" dirty="0" smtClean="0"/>
              <a:t>)</a:t>
            </a:r>
          </a:p>
          <a:p>
            <a:pPr marL="0" indent="0">
              <a:buNone/>
            </a:pPr>
            <a:r>
              <a:rPr lang="zh-CN" altLang="en-US" sz="1800" dirty="0"/>
              <a:t>只是</a:t>
            </a:r>
            <a:r>
              <a:rPr lang="zh-CN" altLang="en-US" sz="1800" dirty="0" smtClean="0"/>
              <a:t>寻个是处</a:t>
            </a:r>
            <a:endParaRPr lang="en-US" altLang="zh-CN" sz="1800" dirty="0" smtClean="0"/>
          </a:p>
          <a:p>
            <a:pPr marL="0" indent="0">
              <a:buNone/>
            </a:pPr>
            <a:r>
              <a:rPr lang="en-US" sz="1800" dirty="0" smtClean="0"/>
              <a:t>‘Only seek a </a:t>
            </a:r>
            <a:r>
              <a:rPr lang="en-US" altLang="zh-CN" sz="1800" dirty="0" smtClean="0"/>
              <a:t>point.’ (</a:t>
            </a:r>
            <a:r>
              <a:rPr lang="zh-CN" altLang="en-US" sz="1800" dirty="0" smtClean="0"/>
              <a:t>同上</a:t>
            </a:r>
            <a:r>
              <a:rPr lang="en-US" altLang="zh-CN" sz="1800" dirty="0" smtClean="0"/>
              <a:t>)</a:t>
            </a:r>
            <a:endParaRPr lang="en-US" sz="1800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3878179" y="132556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Non-equational/illogical copulas (Yue (1968))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5440712" y="5228946"/>
            <a:ext cx="675128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3200" i="1" dirty="0" err="1"/>
              <a:t>g</a:t>
            </a:r>
            <a:r>
              <a:rPr lang="en-US" altLang="zh-TW" sz="3200" i="1" dirty="0" err="1" smtClean="0"/>
              <a:t>e</a:t>
            </a:r>
            <a:r>
              <a:rPr lang="en-US" altLang="zh-TW" sz="3200" dirty="0" smtClean="0"/>
              <a:t> retains quantificational meaning and tends to modify either the object noun or the event  </a:t>
            </a:r>
            <a:endParaRPr lang="en-US" altLang="zh-TW" sz="3200" dirty="0"/>
          </a:p>
        </p:txBody>
      </p:sp>
    </p:spTree>
    <p:extLst>
      <p:ext uri="{BB962C8B-B14F-4D97-AF65-F5344CB8AC3E}">
        <p14:creationId xmlns:p14="http://schemas.microsoft.com/office/powerpoint/2010/main" val="1069770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  <p:bldP spid="6" grpId="0"/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9100" y="0"/>
            <a:ext cx="11353800" cy="1325563"/>
          </a:xfrm>
        </p:spPr>
        <p:txBody>
          <a:bodyPr/>
          <a:lstStyle/>
          <a:p>
            <a:r>
              <a:rPr lang="en-US" dirty="0" smtClean="0"/>
              <a:t>Chinese nominal domain in intermediate dialects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325563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(?)</a:t>
            </a:r>
            <a:r>
              <a:rPr lang="en-US" dirty="0" err="1" smtClean="0"/>
              <a:t>VgeO</a:t>
            </a:r>
            <a:r>
              <a:rPr lang="en-US" dirty="0" smtClean="0"/>
              <a:t> vs *</a:t>
            </a:r>
            <a:r>
              <a:rPr lang="en-US" dirty="0" err="1" smtClean="0"/>
              <a:t>keoi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 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419100" y="1700738"/>
            <a:ext cx="11353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吾 是 昨日 買</a:t>
            </a:r>
            <a:r>
              <a:rPr lang="en-US" altLang="zh-TW" dirty="0"/>
              <a:t>-</a:t>
            </a:r>
            <a:r>
              <a:rPr lang="zh-TW" altLang="en-US" dirty="0"/>
              <a:t>個 </a:t>
            </a:r>
            <a:r>
              <a:rPr lang="zh-TW" altLang="en-US" dirty="0" smtClean="0"/>
              <a:t>票 </a:t>
            </a:r>
            <a:r>
              <a:rPr lang="en-US" altLang="zh-TW" dirty="0" smtClean="0"/>
              <a:t>/ </a:t>
            </a:r>
            <a:r>
              <a:rPr lang="zh-TW" altLang="en-US" dirty="0" smtClean="0"/>
              <a:t>*</a:t>
            </a:r>
            <a:r>
              <a:rPr lang="zh-TW" altLang="en-US" dirty="0"/>
              <a:t>吾 個 飯 吃</a:t>
            </a:r>
            <a:r>
              <a:rPr lang="en-US" altLang="zh-TW" dirty="0"/>
              <a:t>-</a:t>
            </a:r>
            <a:r>
              <a:rPr lang="zh-TW" altLang="en-US" dirty="0"/>
              <a:t>了 蠻 久</a:t>
            </a:r>
            <a:endParaRPr lang="en-US" altLang="zh-TW" dirty="0"/>
          </a:p>
          <a:p>
            <a:r>
              <a:rPr lang="en-US" altLang="zh-TW" dirty="0" smtClean="0"/>
              <a:t>‘</a:t>
            </a:r>
            <a:r>
              <a:rPr lang="en-US" altLang="zh-TW" dirty="0"/>
              <a:t>It was yesterday that I bought tickets.’ </a:t>
            </a:r>
            <a:r>
              <a:rPr lang="en-US" altLang="zh-TW" dirty="0" smtClean="0"/>
              <a:t>/ </a:t>
            </a:r>
            <a:r>
              <a:rPr lang="zh-CN" altLang="en-US" dirty="0" smtClean="0"/>
              <a:t>‘</a:t>
            </a:r>
            <a:r>
              <a:rPr lang="en-US" altLang="zh-CN" dirty="0"/>
              <a:t>I ate for quite a long time.’ </a:t>
            </a:r>
            <a:r>
              <a:rPr lang="en-US" altLang="zh-CN" dirty="0" smtClean="0"/>
              <a:t>(Wu) </a:t>
            </a:r>
            <a:endParaRPr lang="en-US" altLang="zh-TW" dirty="0"/>
          </a:p>
          <a:p>
            <a:r>
              <a:rPr lang="en-US" altLang="zh-TW" dirty="0" smtClean="0"/>
              <a:t> </a:t>
            </a:r>
            <a:endParaRPr lang="en-US" altLang="zh-TW" dirty="0"/>
          </a:p>
        </p:txBody>
      </p:sp>
      <p:sp>
        <p:nvSpPr>
          <p:cNvPr id="5" name="Rectangle 4"/>
          <p:cNvSpPr/>
          <p:nvPr/>
        </p:nvSpPr>
        <p:spPr>
          <a:xfrm>
            <a:off x="419100" y="2300902"/>
            <a:ext cx="102489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dirty="0"/>
              <a:t>我 是 前年 到</a:t>
            </a:r>
            <a:r>
              <a:rPr lang="en-US" altLang="zh-TW" dirty="0"/>
              <a:t>-</a:t>
            </a:r>
            <a:r>
              <a:rPr lang="zh-TW" altLang="en-US" dirty="0"/>
              <a:t>個 北</a:t>
            </a:r>
            <a:r>
              <a:rPr lang="zh-TW" altLang="en-US" dirty="0" smtClean="0"/>
              <a:t>京</a:t>
            </a:r>
            <a:r>
              <a:rPr lang="en-US" altLang="zh-TW" dirty="0" smtClean="0"/>
              <a:t>/</a:t>
            </a:r>
            <a:r>
              <a:rPr lang="en-US" altLang="zh-TW" dirty="0"/>
              <a:t>(?)</a:t>
            </a:r>
            <a:r>
              <a:rPr lang="zh-TW" altLang="en-US" dirty="0"/>
              <a:t>我 個 籃球 打 得 蠻 好</a:t>
            </a:r>
            <a:endParaRPr lang="en-US" altLang="zh-TW" dirty="0"/>
          </a:p>
          <a:p>
            <a:r>
              <a:rPr lang="en-US" altLang="zh-CN" dirty="0" smtClean="0"/>
              <a:t>‘It was two years ago that I went to Beijing.’ / </a:t>
            </a:r>
            <a:r>
              <a:rPr lang="zh-CN" altLang="en-US" dirty="0" smtClean="0"/>
              <a:t>‘</a:t>
            </a:r>
            <a:r>
              <a:rPr lang="en-US" altLang="zh-CN" dirty="0"/>
              <a:t>I play basketball quite well.’ (</a:t>
            </a:r>
            <a:r>
              <a:rPr lang="en-US" altLang="zh-CN" dirty="0" smtClean="0"/>
              <a:t>Xinhua, Xi</a:t>
            </a:r>
            <a:r>
              <a:rPr lang="en-US" dirty="0" smtClean="0"/>
              <a:t>ang)  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419100" y="2901066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zh-TW" altLang="en-US" dirty="0"/>
              <a:t>我 係 哺</a:t>
            </a:r>
            <a:r>
              <a:rPr lang="zh-CN" altLang="en-US" dirty="0"/>
              <a:t>日</a:t>
            </a:r>
            <a:r>
              <a:rPr lang="zh-TW" altLang="en-US" dirty="0"/>
              <a:t> </a:t>
            </a:r>
            <a:r>
              <a:rPr lang="zh-CN" altLang="en-US" dirty="0"/>
              <a:t>買</a:t>
            </a:r>
            <a:r>
              <a:rPr lang="en-US" altLang="zh-CN" dirty="0"/>
              <a:t>-</a:t>
            </a:r>
            <a:r>
              <a:rPr lang="zh-CN" altLang="en-US" dirty="0"/>
              <a:t>介 </a:t>
            </a:r>
            <a:r>
              <a:rPr lang="zh-CN" altLang="en-US" dirty="0" smtClean="0"/>
              <a:t>票 </a:t>
            </a:r>
            <a:r>
              <a:rPr lang="en-US" altLang="zh-CN" dirty="0" smtClean="0"/>
              <a:t>/ </a:t>
            </a:r>
            <a:r>
              <a:rPr lang="zh-CN" altLang="en-US" dirty="0" smtClean="0"/>
              <a:t>*我介步跑得好</a:t>
            </a:r>
            <a:endParaRPr lang="en-US" altLang="zh-TW" dirty="0"/>
          </a:p>
          <a:p>
            <a:r>
              <a:rPr lang="en-US" dirty="0"/>
              <a:t>‘It was </a:t>
            </a:r>
            <a:r>
              <a:rPr lang="en-US" altLang="zh-CN" dirty="0"/>
              <a:t>yesterday </a:t>
            </a:r>
            <a:r>
              <a:rPr lang="en-US" dirty="0"/>
              <a:t>that I bought tickets Beijing.’ </a:t>
            </a:r>
            <a:r>
              <a:rPr lang="en-US" dirty="0" smtClean="0"/>
              <a:t>(</a:t>
            </a:r>
            <a:r>
              <a:rPr lang="en-US" dirty="0" err="1" smtClean="0"/>
              <a:t>Kejia</a:t>
            </a:r>
            <a:r>
              <a:rPr lang="en-US" dirty="0" smtClean="0"/>
              <a:t>)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161673" y="3938882"/>
            <a:ext cx="8773027" cy="32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 err="1" smtClean="0"/>
              <a:t>VgeO</a:t>
            </a:r>
            <a:r>
              <a:rPr lang="en-US" dirty="0" smtClean="0"/>
              <a:t> (non-referential) vs *</a:t>
            </a:r>
            <a:r>
              <a:rPr lang="en-US" i="1" dirty="0" err="1" smtClean="0"/>
              <a:t>keoi</a:t>
            </a:r>
            <a:r>
              <a:rPr lang="en-US" i="1" dirty="0" smtClean="0"/>
              <a:t> </a:t>
            </a:r>
            <a:r>
              <a:rPr lang="en-US" i="1" dirty="0" err="1" smtClean="0"/>
              <a:t>ge</a:t>
            </a:r>
            <a:r>
              <a:rPr lang="en-US" i="1" dirty="0" smtClean="0"/>
              <a:t> </a:t>
            </a:r>
            <a:r>
              <a:rPr lang="en-US" i="1" dirty="0" err="1" smtClean="0"/>
              <a:t>lousi</a:t>
            </a:r>
            <a:r>
              <a:rPr lang="en-US" i="1" dirty="0" smtClean="0"/>
              <a:t> </a:t>
            </a:r>
            <a:r>
              <a:rPr lang="en-US" dirty="0" smtClean="0"/>
              <a:t>(referential) </a:t>
            </a:r>
            <a:endParaRPr lang="en-GB" dirty="0"/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6019571" y="4330367"/>
            <a:ext cx="3542440" cy="32644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 smtClean="0"/>
              <a:t>Possessive (+D)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3515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/>
      <p:bldP spid="5" grpId="0"/>
      <p:bldP spid="6" grpId="0"/>
      <p:bldP spid="7" grpId="0"/>
      <p:bldP spid="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r>
              <a:rPr lang="en-US" dirty="0" smtClean="0"/>
              <a:t>Chinese nominal domain (final)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46484"/>
            <a:ext cx="12192000" cy="591151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800" dirty="0" smtClean="0"/>
              <a:t>	DP</a:t>
            </a:r>
          </a:p>
          <a:p>
            <a:pPr marL="0" indent="0">
              <a:buNone/>
            </a:pPr>
            <a:r>
              <a:rPr lang="en-US" sz="1800" dirty="0" err="1" smtClean="0"/>
              <a:t>SpecDP</a:t>
            </a:r>
            <a:r>
              <a:rPr lang="en-US" sz="1800" dirty="0" smtClean="0"/>
              <a:t>		D’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D		</a:t>
            </a:r>
            <a:r>
              <a:rPr lang="en-US" sz="1800" dirty="0" err="1" smtClean="0"/>
              <a:t>PossP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</a:t>
            </a:r>
            <a:r>
              <a:rPr lang="en-US" sz="1800" dirty="0" err="1" smtClean="0"/>
              <a:t>SpecPossP</a:t>
            </a:r>
            <a:r>
              <a:rPr lang="en-US" sz="1800" dirty="0" smtClean="0"/>
              <a:t>	</a:t>
            </a:r>
            <a:r>
              <a:rPr lang="en-US" sz="1800" dirty="0" err="1" smtClean="0"/>
              <a:t>Poss’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</a:t>
            </a:r>
            <a:r>
              <a:rPr lang="en-US" sz="1800" dirty="0" err="1" smtClean="0"/>
              <a:t>Poss</a:t>
            </a:r>
            <a:r>
              <a:rPr lang="en-US" sz="1800" dirty="0" smtClean="0"/>
              <a:t>		</a:t>
            </a:r>
            <a:r>
              <a:rPr lang="en-US" sz="1800" dirty="0" err="1" smtClean="0"/>
              <a:t>NumP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		</a:t>
            </a:r>
            <a:r>
              <a:rPr lang="en-US" sz="1800" dirty="0"/>
              <a:t>	</a:t>
            </a:r>
            <a:r>
              <a:rPr lang="en-US" sz="1800" dirty="0" smtClean="0"/>
              <a:t>	</a:t>
            </a:r>
            <a:r>
              <a:rPr lang="en-US" sz="1800" dirty="0" err="1" smtClean="0"/>
              <a:t>SpecNumP</a:t>
            </a:r>
            <a:r>
              <a:rPr lang="en-US" sz="1800" dirty="0" smtClean="0"/>
              <a:t>	</a:t>
            </a:r>
            <a:r>
              <a:rPr lang="en-US" sz="1800" dirty="0" err="1" smtClean="0"/>
              <a:t>Num</a:t>
            </a:r>
            <a:r>
              <a:rPr lang="en-US" sz="1800" dirty="0" smtClean="0"/>
              <a:t>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</a:t>
            </a:r>
            <a:r>
              <a:rPr lang="en-US" sz="1800" dirty="0" err="1" smtClean="0"/>
              <a:t>Num</a:t>
            </a:r>
            <a:r>
              <a:rPr lang="en-US" sz="1800" dirty="0" smtClean="0"/>
              <a:t>		QP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</a:t>
            </a:r>
            <a:r>
              <a:rPr lang="en-US" sz="1800" dirty="0" err="1" smtClean="0"/>
              <a:t>SpecQP</a:t>
            </a:r>
            <a:r>
              <a:rPr lang="en-US" sz="1800" dirty="0" smtClean="0"/>
              <a:t>		Q’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Q		CLP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</a:t>
            </a:r>
            <a:r>
              <a:rPr lang="en-US" sz="1800" dirty="0" err="1" smtClean="0"/>
              <a:t>SpecCLP</a:t>
            </a:r>
            <a:r>
              <a:rPr lang="en-US" sz="1800" dirty="0" smtClean="0"/>
              <a:t>		CL’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CL		</a:t>
            </a:r>
            <a:r>
              <a:rPr lang="en-US" sz="1800" dirty="0" err="1" smtClean="0"/>
              <a:t>ModP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</a:t>
            </a:r>
            <a:r>
              <a:rPr lang="en-US" sz="1800" dirty="0" err="1" smtClean="0"/>
              <a:t>SpecModP</a:t>
            </a:r>
            <a:r>
              <a:rPr lang="en-US" sz="1800" dirty="0" smtClean="0"/>
              <a:t>	Mod’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	Mod	            </a:t>
            </a:r>
            <a:r>
              <a:rPr lang="en-US" sz="1800" dirty="0" err="1" smtClean="0"/>
              <a:t>nP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											            NP</a:t>
            </a:r>
          </a:p>
        </p:txBody>
      </p:sp>
      <p:sp>
        <p:nvSpPr>
          <p:cNvPr id="4" name="Rectangle 3"/>
          <p:cNvSpPr/>
          <p:nvPr/>
        </p:nvSpPr>
        <p:spPr>
          <a:xfrm>
            <a:off x="9877552" y="5695825"/>
            <a:ext cx="909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de/</a:t>
            </a:r>
            <a:r>
              <a:rPr lang="en-GB" sz="2400" dirty="0" err="1" smtClean="0"/>
              <a:t>ge</a:t>
            </a:r>
            <a:endParaRPr lang="en-GB" sz="2400" dirty="0"/>
          </a:p>
        </p:txBody>
      </p:sp>
      <p:sp>
        <p:nvSpPr>
          <p:cNvPr id="5" name="Rectangle 4"/>
          <p:cNvSpPr/>
          <p:nvPr/>
        </p:nvSpPr>
        <p:spPr>
          <a:xfrm>
            <a:off x="2586415" y="2752099"/>
            <a:ext cx="9094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400" dirty="0" smtClean="0"/>
              <a:t>de/</a:t>
            </a:r>
            <a:r>
              <a:rPr lang="en-GB" sz="2400" dirty="0" err="1" smtClean="0"/>
              <a:t>ge</a:t>
            </a:r>
            <a:endParaRPr lang="en-GB" sz="2400" dirty="0"/>
          </a:p>
        </p:txBody>
      </p:sp>
      <p:sp>
        <p:nvSpPr>
          <p:cNvPr id="6" name="Rectangle 5"/>
          <p:cNvSpPr/>
          <p:nvPr/>
        </p:nvSpPr>
        <p:spPr>
          <a:xfrm>
            <a:off x="9745176" y="6007421"/>
            <a:ext cx="11741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 err="1" smtClean="0"/>
              <a:t>ge</a:t>
            </a:r>
            <a:r>
              <a:rPr lang="en-GB" dirty="0" smtClean="0"/>
              <a:t>: +count</a:t>
            </a:r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2586415" y="3213764"/>
            <a:ext cx="4427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+D</a:t>
            </a:r>
            <a:endParaRPr lang="en-GB" dirty="0"/>
          </a:p>
        </p:txBody>
      </p:sp>
      <p:sp>
        <p:nvSpPr>
          <p:cNvPr id="8" name="Rectangle 7"/>
          <p:cNvSpPr/>
          <p:nvPr/>
        </p:nvSpPr>
        <p:spPr>
          <a:xfrm>
            <a:off x="7969562" y="6211669"/>
            <a:ext cx="416947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+count pre-empts past-time clefts (*</a:t>
            </a:r>
            <a:r>
              <a:rPr lang="en-US" dirty="0" err="1" smtClean="0"/>
              <a:t>VgeO</a:t>
            </a:r>
            <a:r>
              <a:rPr lang="en-US" dirty="0" smtClean="0"/>
              <a:t>)</a:t>
            </a:r>
          </a:p>
          <a:p>
            <a:r>
              <a:rPr lang="en-US" dirty="0" smtClean="0"/>
              <a:t>and Activity </a:t>
            </a:r>
            <a:r>
              <a:rPr lang="en-US" dirty="0" err="1" smtClean="0"/>
              <a:t>nominals</a:t>
            </a:r>
            <a:r>
              <a:rPr lang="en-US" dirty="0" smtClean="0"/>
              <a:t> (*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)</a:t>
            </a:r>
            <a:endParaRPr lang="en-GB" dirty="0"/>
          </a:p>
        </p:txBody>
      </p:sp>
      <p:sp>
        <p:nvSpPr>
          <p:cNvPr id="9" name="Rectangle 8"/>
          <p:cNvSpPr/>
          <p:nvPr/>
        </p:nvSpPr>
        <p:spPr>
          <a:xfrm>
            <a:off x="1780643" y="3445449"/>
            <a:ext cx="252096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+D pre-empts past-time clefts (*</a:t>
            </a:r>
            <a:r>
              <a:rPr lang="en-US" dirty="0" err="1" smtClean="0"/>
              <a:t>VgeO</a:t>
            </a:r>
            <a:r>
              <a:rPr lang="en-US" dirty="0" smtClean="0"/>
              <a:t>) and Activity </a:t>
            </a:r>
            <a:r>
              <a:rPr lang="en-US" dirty="0" err="1" smtClean="0"/>
              <a:t>nominals</a:t>
            </a:r>
            <a:r>
              <a:rPr lang="en-US" dirty="0" smtClean="0"/>
              <a:t> (*</a:t>
            </a:r>
            <a:r>
              <a:rPr lang="en-US" dirty="0" err="1" smtClean="0"/>
              <a:t>keui</a:t>
            </a:r>
            <a:r>
              <a:rPr lang="en-US" dirty="0" smtClean="0"/>
              <a:t> </a:t>
            </a:r>
            <a:r>
              <a:rPr lang="en-US" dirty="0" err="1" smtClean="0"/>
              <a:t>ge</a:t>
            </a:r>
            <a:r>
              <a:rPr lang="en-US" dirty="0" smtClean="0"/>
              <a:t> </a:t>
            </a:r>
            <a:r>
              <a:rPr lang="en-US" dirty="0" err="1" smtClean="0"/>
              <a:t>lousi</a:t>
            </a:r>
            <a:r>
              <a:rPr lang="en-US" dirty="0" smtClean="0"/>
              <a:t>)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49528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 smtClean="0"/>
              <a:t>Conclusions</a:t>
            </a:r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0" y="967786"/>
            <a:ext cx="12192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i="1" dirty="0" err="1" smtClean="0"/>
              <a:t>ge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嘅</a:t>
            </a:r>
            <a:r>
              <a:rPr lang="en-US" altLang="zh-CN" sz="2800" dirty="0" smtClean="0"/>
              <a:t>) </a:t>
            </a:r>
            <a:r>
              <a:rPr lang="en-GB" sz="2800" dirty="0" smtClean="0"/>
              <a:t>and </a:t>
            </a:r>
            <a:r>
              <a:rPr lang="en-GB" sz="2800" i="1" dirty="0" smtClean="0"/>
              <a:t>de</a:t>
            </a:r>
            <a:r>
              <a:rPr lang="en-GB" sz="2800" dirty="0" smtClean="0"/>
              <a:t> (</a:t>
            </a:r>
            <a:r>
              <a:rPr lang="zh-CN" altLang="en-US" sz="2800" dirty="0" smtClean="0"/>
              <a:t>的</a:t>
            </a:r>
            <a:r>
              <a:rPr lang="en-US" altLang="zh-CN" sz="2800" dirty="0" smtClean="0"/>
              <a:t>)</a:t>
            </a:r>
            <a:r>
              <a:rPr lang="en-GB" altLang="zh-CN" sz="2800" dirty="0"/>
              <a:t> </a:t>
            </a:r>
            <a:r>
              <a:rPr lang="en-GB" altLang="zh-CN" sz="2800" dirty="0" smtClean="0"/>
              <a:t>show discrepancies in past-time clefts (</a:t>
            </a:r>
            <a:r>
              <a:rPr lang="en-GB" altLang="zh-CN" sz="2800" i="1" dirty="0" err="1" smtClean="0"/>
              <a:t>VdeO</a:t>
            </a:r>
            <a:r>
              <a:rPr lang="en-GB" altLang="zh-CN" sz="2800" i="1" dirty="0" smtClean="0"/>
              <a:t>/</a:t>
            </a:r>
            <a:r>
              <a:rPr lang="en-GB" sz="2800" i="1" dirty="0" err="1" smtClean="0"/>
              <a:t>VgeO</a:t>
            </a:r>
            <a:r>
              <a:rPr lang="en-GB" sz="2800" dirty="0" smtClean="0"/>
              <a:t>) and Activity </a:t>
            </a:r>
            <a:r>
              <a:rPr lang="en-GB" sz="2800" dirty="0" err="1" smtClean="0"/>
              <a:t>nominals</a:t>
            </a:r>
            <a:r>
              <a:rPr lang="en-GB" sz="2800" dirty="0" smtClean="0"/>
              <a:t> (</a:t>
            </a:r>
            <a:r>
              <a:rPr lang="en-GB" sz="2800" i="1" dirty="0" smtClean="0"/>
              <a:t>ta de </a:t>
            </a:r>
            <a:r>
              <a:rPr lang="en-GB" sz="2800" i="1" dirty="0" err="1" smtClean="0"/>
              <a:t>laoshi</a:t>
            </a:r>
            <a:r>
              <a:rPr lang="en-GB" sz="2800" i="1" dirty="0" smtClean="0"/>
              <a:t>/</a:t>
            </a:r>
            <a:r>
              <a:rPr lang="en-GB" sz="2800" i="1" dirty="0" err="1" smtClean="0"/>
              <a:t>keui</a:t>
            </a:r>
            <a:r>
              <a:rPr lang="en-GB" sz="2800" i="1" dirty="0" smtClean="0"/>
              <a:t> </a:t>
            </a:r>
            <a:r>
              <a:rPr lang="en-GB" sz="2800" i="1" dirty="0" err="1" smtClean="0"/>
              <a:t>ge</a:t>
            </a:r>
            <a:r>
              <a:rPr lang="en-GB" sz="2800" i="1" dirty="0" smtClean="0"/>
              <a:t> </a:t>
            </a:r>
            <a:r>
              <a:rPr lang="en-GB" sz="2800" i="1" dirty="0" err="1" smtClean="0"/>
              <a:t>lousi</a:t>
            </a:r>
            <a:r>
              <a:rPr lang="en-GB" sz="2800" dirty="0" smtClean="0"/>
              <a:t>):</a:t>
            </a:r>
            <a:endParaRPr lang="en-GB" sz="28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838200" y="190578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i="1" dirty="0" err="1" smtClean="0"/>
              <a:t>ge</a:t>
            </a:r>
            <a:r>
              <a:rPr lang="en-US" dirty="0" smtClean="0"/>
              <a:t> is more marked than </a:t>
            </a:r>
            <a:r>
              <a:rPr lang="en-US" i="1" dirty="0" smtClean="0"/>
              <a:t>de</a:t>
            </a:r>
            <a:r>
              <a:rPr lang="en-US" dirty="0" smtClean="0"/>
              <a:t> &lt;- </a:t>
            </a:r>
            <a:endParaRPr lang="en-GB" dirty="0"/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5386136" y="1892023"/>
            <a:ext cx="6805864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c</a:t>
            </a:r>
            <a:r>
              <a:rPr lang="en-US" dirty="0" smtClean="0"/>
              <a:t>lassifier </a:t>
            </a:r>
            <a:r>
              <a:rPr lang="en-US" dirty="0" err="1" smtClean="0"/>
              <a:t>ge</a:t>
            </a:r>
            <a:r>
              <a:rPr lang="en-US" dirty="0" smtClean="0"/>
              <a:t> (</a:t>
            </a:r>
            <a:r>
              <a:rPr lang="zh-CN" altLang="en-US" dirty="0" smtClean="0"/>
              <a:t>個</a:t>
            </a:r>
            <a:r>
              <a:rPr lang="en-US" altLang="zh-CN" dirty="0" smtClean="0"/>
              <a:t>) (+count/individual/delimit) (</a:t>
            </a:r>
            <a:r>
              <a:rPr lang="en-US" altLang="zh-CN" dirty="0" err="1" smtClean="0"/>
              <a:t>Bisang</a:t>
            </a:r>
            <a:r>
              <a:rPr lang="en-US" altLang="zh-CN" dirty="0" smtClean="0"/>
              <a:t> and Li (2012), Zhang (2013))</a:t>
            </a:r>
            <a:endParaRPr lang="en-GB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754875"/>
              </p:ext>
            </p:extLst>
          </p:nvPr>
        </p:nvGraphicFramePr>
        <p:xfrm>
          <a:off x="838200" y="2846130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8182128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9100170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Dialect families/areas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Adnominaliser</a:t>
                      </a:r>
                      <a:r>
                        <a:rPr lang="en-US" dirty="0" smtClean="0"/>
                        <a:t> (</a:t>
                      </a:r>
                      <a:r>
                        <a:rPr lang="zh-CN" altLang="en-US" dirty="0" smtClean="0"/>
                        <a:t>結構助詞）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5397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North 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de  (</a:t>
                      </a:r>
                      <a:r>
                        <a:rPr lang="en-US" dirty="0" err="1" smtClean="0"/>
                        <a:t>VdeO</a:t>
                      </a:r>
                      <a:r>
                        <a:rPr lang="en-US" dirty="0" smtClean="0"/>
                        <a:t>,</a:t>
                      </a:r>
                      <a:r>
                        <a:rPr lang="en-US" baseline="0" dirty="0" smtClean="0"/>
                        <a:t> ta de </a:t>
                      </a:r>
                      <a:r>
                        <a:rPr lang="en-US" baseline="0" dirty="0" err="1" smtClean="0"/>
                        <a:t>laoshi</a:t>
                      </a:r>
                      <a:r>
                        <a:rPr lang="en-US" baseline="0" dirty="0" smtClean="0"/>
                        <a:t>) (-count)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8802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Intermediate (Wu, Xiang, </a:t>
                      </a:r>
                      <a:r>
                        <a:rPr lang="en-US" dirty="0" err="1" smtClean="0"/>
                        <a:t>Kejia</a:t>
                      </a:r>
                      <a:r>
                        <a:rPr lang="en-US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</a:t>
                      </a:r>
                      <a:r>
                        <a:rPr lang="en-US" baseline="0" dirty="0" smtClean="0"/>
                        <a:t> (</a:t>
                      </a:r>
                      <a:r>
                        <a:rPr lang="en-US" baseline="0" dirty="0" err="1" smtClean="0"/>
                        <a:t>VgeO</a:t>
                      </a:r>
                      <a:r>
                        <a:rPr lang="en-US" baseline="0" dirty="0" smtClean="0"/>
                        <a:t>, *</a:t>
                      </a:r>
                      <a:r>
                        <a:rPr lang="en-US" baseline="0" dirty="0" err="1" smtClean="0"/>
                        <a:t>keoi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lousi</a:t>
                      </a:r>
                      <a:r>
                        <a:rPr lang="en-US" baseline="0" dirty="0" smtClean="0"/>
                        <a:t>) (+count, +/-D)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993721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South (Cantonese, Taiwanese Min)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ge</a:t>
                      </a:r>
                      <a:r>
                        <a:rPr lang="en-US" baseline="0" dirty="0" smtClean="0"/>
                        <a:t> (*</a:t>
                      </a:r>
                      <a:r>
                        <a:rPr lang="en-US" baseline="0" dirty="0" err="1" smtClean="0"/>
                        <a:t>VgeO</a:t>
                      </a:r>
                      <a:r>
                        <a:rPr lang="en-US" baseline="0" dirty="0" smtClean="0"/>
                        <a:t>, *</a:t>
                      </a:r>
                      <a:r>
                        <a:rPr lang="en-US" baseline="0" dirty="0" err="1" smtClean="0"/>
                        <a:t>keoi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ge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lousi</a:t>
                      </a:r>
                      <a:r>
                        <a:rPr lang="en-US" baseline="0" dirty="0" smtClean="0"/>
                        <a:t>) (+count, +D)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3735461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838200" y="4329101"/>
            <a:ext cx="10515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smtClean="0"/>
              <a:t>Degree of </a:t>
            </a:r>
            <a:r>
              <a:rPr lang="en-US" sz="2400" dirty="0" err="1" smtClean="0"/>
              <a:t>nominality</a:t>
            </a:r>
            <a:r>
              <a:rPr lang="en-US" sz="2400" dirty="0" smtClean="0"/>
              <a:t>: </a:t>
            </a:r>
            <a:endParaRPr lang="en-GB" sz="2400" dirty="0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642378"/>
              </p:ext>
            </p:extLst>
          </p:nvPr>
        </p:nvGraphicFramePr>
        <p:xfrm>
          <a:off x="838200" y="5070781"/>
          <a:ext cx="812800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4095741850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9750713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Construction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 smtClean="0"/>
                        <a:t>Featural</a:t>
                      </a:r>
                      <a:r>
                        <a:rPr lang="en-US" dirty="0" smtClean="0"/>
                        <a:t> make-up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00258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Possessives (ta de </a:t>
                      </a:r>
                      <a:r>
                        <a:rPr lang="en-US" dirty="0" err="1" smtClean="0"/>
                        <a:t>laoshi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keoi</a:t>
                      </a:r>
                      <a:r>
                        <a:rPr lang="en-US" dirty="0" smtClean="0"/>
                        <a:t> </a:t>
                      </a:r>
                      <a:r>
                        <a:rPr lang="en-US" dirty="0" err="1" smtClean="0"/>
                        <a:t>ge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lousi</a:t>
                      </a:r>
                      <a:r>
                        <a:rPr lang="en-US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POSS</a:t>
                      </a:r>
                      <a:r>
                        <a:rPr lang="en-US" baseline="0" dirty="0" smtClean="0"/>
                        <a:t> (+D)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2292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Relative</a:t>
                      </a:r>
                      <a:r>
                        <a:rPr lang="en-US" baseline="0" dirty="0" smtClean="0"/>
                        <a:t> clauses (</a:t>
                      </a:r>
                      <a:r>
                        <a:rPr lang="en-US" baseline="0" dirty="0" err="1" smtClean="0"/>
                        <a:t>VgeO</a:t>
                      </a:r>
                      <a:r>
                        <a:rPr lang="en-US" baseline="0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Mod (+count,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dirty="0" smtClean="0"/>
                        <a:t>+/-</a:t>
                      </a:r>
                      <a:r>
                        <a:rPr lang="en-US" baseline="0" dirty="0" smtClean="0"/>
                        <a:t>D)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685604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Relative clauses (</a:t>
                      </a:r>
                      <a:r>
                        <a:rPr lang="en-US" dirty="0" err="1" smtClean="0"/>
                        <a:t>VdeO</a:t>
                      </a:r>
                      <a:r>
                        <a:rPr lang="en-US" dirty="0" smtClean="0"/>
                        <a:t>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Mod (-count,</a:t>
                      </a:r>
                      <a:r>
                        <a:rPr lang="en-US" baseline="0" dirty="0" smtClean="0"/>
                        <a:t> +/-D)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168065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7634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  <p:bldP spid="7" grpId="0"/>
      <p:bldP spid="9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4685</Words>
  <Application>Microsoft Office PowerPoint</Application>
  <PresentationFormat>Widescreen</PresentationFormat>
  <Paragraphs>403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新細明體</vt:lpstr>
      <vt:lpstr>等线</vt:lpstr>
      <vt:lpstr>等线 Light</vt:lpstr>
      <vt:lpstr>Arial</vt:lpstr>
      <vt:lpstr>Calibri</vt:lpstr>
      <vt:lpstr>Calibri Light</vt:lpstr>
      <vt:lpstr>Times New Roman</vt:lpstr>
      <vt:lpstr>Office Theme</vt:lpstr>
      <vt:lpstr>Microvariation in Sinitic nominalization (漢語方言名詞化的構造和參數)</vt:lpstr>
      <vt:lpstr>Nominalisation in Chinese (漢語名詞化)</vt:lpstr>
      <vt:lpstr>Nominalisation in Chinese dialects: microvariation (漢語名詞化的參數)</vt:lpstr>
      <vt:lpstr>Nominalisation in Chinese dialects: microvariation (漢語名詞化的參數) (2)</vt:lpstr>
      <vt:lpstr>Summary: Research Context and Empirical Questions</vt:lpstr>
      <vt:lpstr>Chinese dialectal microvariation:  ta de laoshi vs *keoi ge lousi</vt:lpstr>
      <vt:lpstr>Chinese dialectal microvariation: VdeO vs *VgeO</vt:lpstr>
      <vt:lpstr>Chinese nominal microvariation: VgeO vs *keoi ge lousi</vt:lpstr>
      <vt:lpstr>Nominal microvariation (名詞參數)</vt:lpstr>
      <vt:lpstr>Chinese nominal domain (Paul (2005, 2012, 2019))</vt:lpstr>
      <vt:lpstr>Chinese Activity constructions</vt:lpstr>
      <vt:lpstr>黃 (2008): Light Verb DO</vt:lpstr>
      <vt:lpstr>鄧 (2009)/Tang(2011): dialectal nominalization parameter</vt:lpstr>
      <vt:lpstr>Critical appraisal (黃 (2008), 鄧 (2008, 2009)):</vt:lpstr>
      <vt:lpstr>New formal proposal: alternative solutions</vt:lpstr>
      <vt:lpstr>DO-DONE Light Verb Complex</vt:lpstr>
      <vt:lpstr>Chinese Activity (Light Verbs) </vt:lpstr>
      <vt:lpstr>Chinese Activity nouns (ta de laoshi vs *keoi ge lousi)</vt:lpstr>
      <vt:lpstr>Activity Structure (DO + DONE)</vt:lpstr>
      <vt:lpstr>Chinese cleft (是-的) constructions</vt:lpstr>
      <vt:lpstr>Chinese copula (是/係) + relative clause (VOde/VOge)</vt:lpstr>
      <vt:lpstr>Chinese copula (是/係) + relative clause (VdeO/VgeO)</vt:lpstr>
      <vt:lpstr>Chinese nominal domain in intermediate dialects</vt:lpstr>
      <vt:lpstr>Chinese nominal domain (final)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Microvariation in Sinitic nominalization</dc:title>
  <dc:creator>Keith Tse</dc:creator>
  <cp:lastModifiedBy>Keith Tse</cp:lastModifiedBy>
  <cp:revision>15</cp:revision>
  <dcterms:created xsi:type="dcterms:W3CDTF">2021-07-16T00:21:29Z</dcterms:created>
  <dcterms:modified xsi:type="dcterms:W3CDTF">2021-07-16T10:08:28Z</dcterms:modified>
</cp:coreProperties>
</file>