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82" r:id="rId4"/>
    <p:sldId id="259" r:id="rId5"/>
    <p:sldId id="260" r:id="rId6"/>
    <p:sldId id="294" r:id="rId7"/>
    <p:sldId id="261" r:id="rId8"/>
    <p:sldId id="262" r:id="rId9"/>
    <p:sldId id="263" r:id="rId10"/>
    <p:sldId id="283" r:id="rId11"/>
    <p:sldId id="284" r:id="rId12"/>
    <p:sldId id="269" r:id="rId13"/>
    <p:sldId id="264" r:id="rId14"/>
    <p:sldId id="265" r:id="rId15"/>
    <p:sldId id="276" r:id="rId16"/>
    <p:sldId id="285" r:id="rId17"/>
    <p:sldId id="286" r:id="rId18"/>
    <p:sldId id="287" r:id="rId19"/>
    <p:sldId id="279" r:id="rId20"/>
    <p:sldId id="288" r:id="rId21"/>
    <p:sldId id="289" r:id="rId22"/>
    <p:sldId id="270" r:id="rId23"/>
    <p:sldId id="290" r:id="rId24"/>
    <p:sldId id="275" r:id="rId25"/>
    <p:sldId id="291" r:id="rId26"/>
    <p:sldId id="292" r:id="rId27"/>
    <p:sldId id="266" r:id="rId28"/>
    <p:sldId id="267" r:id="rId29"/>
    <p:sldId id="268" r:id="rId30"/>
    <p:sldId id="272" r:id="rId31"/>
    <p:sldId id="273" r:id="rId32"/>
    <p:sldId id="274" r:id="rId33"/>
    <p:sldId id="293"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83" d="100"/>
          <a:sy n="83" d="100"/>
        </p:scale>
        <p:origin x="48" y="8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61388-5F83-4FFB-B6A1-E275FECC76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373AF52-9A15-4115-8CFA-D26B03D012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BCAEC8C-B6AC-4E1E-9D08-04AF89E9959D}"/>
              </a:ext>
            </a:extLst>
          </p:cNvPr>
          <p:cNvSpPr>
            <a:spLocks noGrp="1"/>
          </p:cNvSpPr>
          <p:nvPr>
            <p:ph type="dt" sz="half" idx="10"/>
          </p:nvPr>
        </p:nvSpPr>
        <p:spPr/>
        <p:txBody>
          <a:bodyPr/>
          <a:lstStyle/>
          <a:p>
            <a:fld id="{C327978C-C64E-4447-9BB1-90A0C3647601}" type="datetimeFigureOut">
              <a:rPr lang="en-GB" smtClean="0"/>
              <a:pPr/>
              <a:t>19/11/2021</a:t>
            </a:fld>
            <a:endParaRPr lang="en-GB"/>
          </a:p>
        </p:txBody>
      </p:sp>
      <p:sp>
        <p:nvSpPr>
          <p:cNvPr id="5" name="Footer Placeholder 4">
            <a:extLst>
              <a:ext uri="{FF2B5EF4-FFF2-40B4-BE49-F238E27FC236}">
                <a16:creationId xmlns:a16="http://schemas.microsoft.com/office/drawing/2014/main" id="{9198FBF7-B32A-499C-B757-F68D8BF6A82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157D7F1-3CA0-4F7B-8905-944477268021}"/>
              </a:ext>
            </a:extLst>
          </p:cNvPr>
          <p:cNvSpPr>
            <a:spLocks noGrp="1"/>
          </p:cNvSpPr>
          <p:nvPr>
            <p:ph type="sldNum" sz="quarter" idx="12"/>
          </p:nvPr>
        </p:nvSpPr>
        <p:spPr/>
        <p:txBody>
          <a:bodyPr/>
          <a:lstStyle/>
          <a:p>
            <a:fld id="{E060668E-73CC-4756-A240-DED7E7D63AB3}" type="slidenum">
              <a:rPr lang="en-GB" smtClean="0"/>
              <a:pPr/>
              <a:t>‹#›</a:t>
            </a:fld>
            <a:endParaRPr lang="en-GB"/>
          </a:p>
        </p:txBody>
      </p:sp>
    </p:spTree>
    <p:extLst>
      <p:ext uri="{BB962C8B-B14F-4D97-AF65-F5344CB8AC3E}">
        <p14:creationId xmlns:p14="http://schemas.microsoft.com/office/powerpoint/2010/main" val="12666599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6F85B-62EF-4F72-B803-1FBE9BF285C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0D0B1A8-E70B-4F5A-8686-D5BDB038E8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B5A44C3-7892-483D-BF9C-70187C829209}"/>
              </a:ext>
            </a:extLst>
          </p:cNvPr>
          <p:cNvSpPr>
            <a:spLocks noGrp="1"/>
          </p:cNvSpPr>
          <p:nvPr>
            <p:ph type="dt" sz="half" idx="10"/>
          </p:nvPr>
        </p:nvSpPr>
        <p:spPr/>
        <p:txBody>
          <a:bodyPr/>
          <a:lstStyle/>
          <a:p>
            <a:fld id="{C327978C-C64E-4447-9BB1-90A0C3647601}" type="datetimeFigureOut">
              <a:rPr lang="en-GB" smtClean="0"/>
              <a:pPr/>
              <a:t>19/11/2021</a:t>
            </a:fld>
            <a:endParaRPr lang="en-GB"/>
          </a:p>
        </p:txBody>
      </p:sp>
      <p:sp>
        <p:nvSpPr>
          <p:cNvPr id="5" name="Footer Placeholder 4">
            <a:extLst>
              <a:ext uri="{FF2B5EF4-FFF2-40B4-BE49-F238E27FC236}">
                <a16:creationId xmlns:a16="http://schemas.microsoft.com/office/drawing/2014/main" id="{1558DBB0-FB8B-404A-82CB-8A8DE18D246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935B240-71BC-42F6-BBA5-3EA75E2F12A8}"/>
              </a:ext>
            </a:extLst>
          </p:cNvPr>
          <p:cNvSpPr>
            <a:spLocks noGrp="1"/>
          </p:cNvSpPr>
          <p:nvPr>
            <p:ph type="sldNum" sz="quarter" idx="12"/>
          </p:nvPr>
        </p:nvSpPr>
        <p:spPr/>
        <p:txBody>
          <a:bodyPr/>
          <a:lstStyle/>
          <a:p>
            <a:fld id="{E060668E-73CC-4756-A240-DED7E7D63AB3}" type="slidenum">
              <a:rPr lang="en-GB" smtClean="0"/>
              <a:pPr/>
              <a:t>‹#›</a:t>
            </a:fld>
            <a:endParaRPr lang="en-GB"/>
          </a:p>
        </p:txBody>
      </p:sp>
    </p:spTree>
    <p:extLst>
      <p:ext uri="{BB962C8B-B14F-4D97-AF65-F5344CB8AC3E}">
        <p14:creationId xmlns:p14="http://schemas.microsoft.com/office/powerpoint/2010/main" val="2996048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9BB0D-D31C-43F1-8B38-FC690417183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D2C1932E-1569-4F8F-BA5B-8DA4428440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DBD2E3-C833-476A-83EB-938349AD1734}"/>
              </a:ext>
            </a:extLst>
          </p:cNvPr>
          <p:cNvSpPr>
            <a:spLocks noGrp="1"/>
          </p:cNvSpPr>
          <p:nvPr>
            <p:ph type="dt" sz="half" idx="10"/>
          </p:nvPr>
        </p:nvSpPr>
        <p:spPr/>
        <p:txBody>
          <a:bodyPr/>
          <a:lstStyle/>
          <a:p>
            <a:fld id="{C327978C-C64E-4447-9BB1-90A0C3647601}" type="datetimeFigureOut">
              <a:rPr lang="en-GB" smtClean="0"/>
              <a:pPr/>
              <a:t>19/11/2021</a:t>
            </a:fld>
            <a:endParaRPr lang="en-GB"/>
          </a:p>
        </p:txBody>
      </p:sp>
      <p:sp>
        <p:nvSpPr>
          <p:cNvPr id="5" name="Footer Placeholder 4">
            <a:extLst>
              <a:ext uri="{FF2B5EF4-FFF2-40B4-BE49-F238E27FC236}">
                <a16:creationId xmlns:a16="http://schemas.microsoft.com/office/drawing/2014/main" id="{2759C05D-0B50-427E-91F8-FB6CB3ADC03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CC72D9C-9CF8-4BA4-A79B-337517A6CE22}"/>
              </a:ext>
            </a:extLst>
          </p:cNvPr>
          <p:cNvSpPr>
            <a:spLocks noGrp="1"/>
          </p:cNvSpPr>
          <p:nvPr>
            <p:ph type="sldNum" sz="quarter" idx="12"/>
          </p:nvPr>
        </p:nvSpPr>
        <p:spPr/>
        <p:txBody>
          <a:bodyPr/>
          <a:lstStyle/>
          <a:p>
            <a:fld id="{E060668E-73CC-4756-A240-DED7E7D63AB3}" type="slidenum">
              <a:rPr lang="en-GB" smtClean="0"/>
              <a:pPr/>
              <a:t>‹#›</a:t>
            </a:fld>
            <a:endParaRPr lang="en-GB"/>
          </a:p>
        </p:txBody>
      </p:sp>
    </p:spTree>
    <p:extLst>
      <p:ext uri="{BB962C8B-B14F-4D97-AF65-F5344CB8AC3E}">
        <p14:creationId xmlns:p14="http://schemas.microsoft.com/office/powerpoint/2010/main" val="20985369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DFDE4-2B4C-417D-80B3-22BB4B633E1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50C3640-DA6E-4BB7-80AC-1A0B9AE7EE9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CD768BB-E377-404D-9C48-EA25D0B15C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9090E31-5AA6-495D-8DD9-B8C70ABAA94F}"/>
              </a:ext>
            </a:extLst>
          </p:cNvPr>
          <p:cNvSpPr>
            <a:spLocks noGrp="1"/>
          </p:cNvSpPr>
          <p:nvPr>
            <p:ph type="dt" sz="half" idx="10"/>
          </p:nvPr>
        </p:nvSpPr>
        <p:spPr/>
        <p:txBody>
          <a:bodyPr/>
          <a:lstStyle/>
          <a:p>
            <a:fld id="{C327978C-C64E-4447-9BB1-90A0C3647601}" type="datetimeFigureOut">
              <a:rPr lang="en-GB" smtClean="0"/>
              <a:pPr/>
              <a:t>19/11/2021</a:t>
            </a:fld>
            <a:endParaRPr lang="en-GB"/>
          </a:p>
        </p:txBody>
      </p:sp>
      <p:sp>
        <p:nvSpPr>
          <p:cNvPr id="6" name="Footer Placeholder 5">
            <a:extLst>
              <a:ext uri="{FF2B5EF4-FFF2-40B4-BE49-F238E27FC236}">
                <a16:creationId xmlns:a16="http://schemas.microsoft.com/office/drawing/2014/main" id="{76B028FA-BDC3-4528-8A4F-9BE76AC81ED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EA48BDB-AFC7-4024-913D-A9F80A3A771E}"/>
              </a:ext>
            </a:extLst>
          </p:cNvPr>
          <p:cNvSpPr>
            <a:spLocks noGrp="1"/>
          </p:cNvSpPr>
          <p:nvPr>
            <p:ph type="sldNum" sz="quarter" idx="12"/>
          </p:nvPr>
        </p:nvSpPr>
        <p:spPr/>
        <p:txBody>
          <a:bodyPr/>
          <a:lstStyle/>
          <a:p>
            <a:fld id="{E060668E-73CC-4756-A240-DED7E7D63AB3}" type="slidenum">
              <a:rPr lang="en-GB" smtClean="0"/>
              <a:pPr/>
              <a:t>‹#›</a:t>
            </a:fld>
            <a:endParaRPr lang="en-GB"/>
          </a:p>
        </p:txBody>
      </p:sp>
    </p:spTree>
    <p:extLst>
      <p:ext uri="{BB962C8B-B14F-4D97-AF65-F5344CB8AC3E}">
        <p14:creationId xmlns:p14="http://schemas.microsoft.com/office/powerpoint/2010/main" val="1675954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1552D-BB29-4808-929C-AF5BB68CBFF9}"/>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5FB0ACA-FDC2-40E9-89EC-B3084D7942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993B20-2372-457D-8542-A7259620D8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AA152A54-FE5C-4FC1-B0DA-4E48D5594A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F12046-D0FB-4745-83F4-541A0734EF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B1E86D2-DB79-4958-8FEE-549E10E24FB6}"/>
              </a:ext>
            </a:extLst>
          </p:cNvPr>
          <p:cNvSpPr>
            <a:spLocks noGrp="1"/>
          </p:cNvSpPr>
          <p:nvPr>
            <p:ph type="dt" sz="half" idx="10"/>
          </p:nvPr>
        </p:nvSpPr>
        <p:spPr/>
        <p:txBody>
          <a:bodyPr/>
          <a:lstStyle/>
          <a:p>
            <a:fld id="{C327978C-C64E-4447-9BB1-90A0C3647601}" type="datetimeFigureOut">
              <a:rPr lang="en-GB" smtClean="0"/>
              <a:pPr/>
              <a:t>19/11/2021</a:t>
            </a:fld>
            <a:endParaRPr lang="en-GB"/>
          </a:p>
        </p:txBody>
      </p:sp>
      <p:sp>
        <p:nvSpPr>
          <p:cNvPr id="8" name="Footer Placeholder 7">
            <a:extLst>
              <a:ext uri="{FF2B5EF4-FFF2-40B4-BE49-F238E27FC236}">
                <a16:creationId xmlns:a16="http://schemas.microsoft.com/office/drawing/2014/main" id="{1EBA0A38-95EF-47AD-B2F1-DA0A2622BE42}"/>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03865230-275B-4896-8916-47255E84AC86}"/>
              </a:ext>
            </a:extLst>
          </p:cNvPr>
          <p:cNvSpPr>
            <a:spLocks noGrp="1"/>
          </p:cNvSpPr>
          <p:nvPr>
            <p:ph type="sldNum" sz="quarter" idx="12"/>
          </p:nvPr>
        </p:nvSpPr>
        <p:spPr/>
        <p:txBody>
          <a:bodyPr/>
          <a:lstStyle/>
          <a:p>
            <a:fld id="{E060668E-73CC-4756-A240-DED7E7D63AB3}" type="slidenum">
              <a:rPr lang="en-GB" smtClean="0"/>
              <a:pPr/>
              <a:t>‹#›</a:t>
            </a:fld>
            <a:endParaRPr lang="en-GB"/>
          </a:p>
        </p:txBody>
      </p:sp>
    </p:spTree>
    <p:extLst>
      <p:ext uri="{BB962C8B-B14F-4D97-AF65-F5344CB8AC3E}">
        <p14:creationId xmlns:p14="http://schemas.microsoft.com/office/powerpoint/2010/main" val="2279740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58CEE-E535-4783-8FF4-3849BD2671F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CC2D7CA-34D2-453A-900A-610400243558}"/>
              </a:ext>
            </a:extLst>
          </p:cNvPr>
          <p:cNvSpPr>
            <a:spLocks noGrp="1"/>
          </p:cNvSpPr>
          <p:nvPr>
            <p:ph type="dt" sz="half" idx="10"/>
          </p:nvPr>
        </p:nvSpPr>
        <p:spPr/>
        <p:txBody>
          <a:bodyPr/>
          <a:lstStyle/>
          <a:p>
            <a:fld id="{C327978C-C64E-4447-9BB1-90A0C3647601}" type="datetimeFigureOut">
              <a:rPr lang="en-GB" smtClean="0"/>
              <a:pPr/>
              <a:t>19/11/2021</a:t>
            </a:fld>
            <a:endParaRPr lang="en-GB"/>
          </a:p>
        </p:txBody>
      </p:sp>
      <p:sp>
        <p:nvSpPr>
          <p:cNvPr id="4" name="Footer Placeholder 3">
            <a:extLst>
              <a:ext uri="{FF2B5EF4-FFF2-40B4-BE49-F238E27FC236}">
                <a16:creationId xmlns:a16="http://schemas.microsoft.com/office/drawing/2014/main" id="{26163CDF-237B-4E06-A114-AAB91E80C912}"/>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9CC7A23-DE69-4CF7-8442-F911F1700781}"/>
              </a:ext>
            </a:extLst>
          </p:cNvPr>
          <p:cNvSpPr>
            <a:spLocks noGrp="1"/>
          </p:cNvSpPr>
          <p:nvPr>
            <p:ph type="sldNum" sz="quarter" idx="12"/>
          </p:nvPr>
        </p:nvSpPr>
        <p:spPr/>
        <p:txBody>
          <a:bodyPr/>
          <a:lstStyle/>
          <a:p>
            <a:fld id="{E060668E-73CC-4756-A240-DED7E7D63AB3}" type="slidenum">
              <a:rPr lang="en-GB" smtClean="0"/>
              <a:pPr/>
              <a:t>‹#›</a:t>
            </a:fld>
            <a:endParaRPr lang="en-GB"/>
          </a:p>
        </p:txBody>
      </p:sp>
    </p:spTree>
    <p:extLst>
      <p:ext uri="{BB962C8B-B14F-4D97-AF65-F5344CB8AC3E}">
        <p14:creationId xmlns:p14="http://schemas.microsoft.com/office/powerpoint/2010/main" val="1460286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83A8F2-F75C-4BF4-A033-CD93F9EF5807}"/>
              </a:ext>
            </a:extLst>
          </p:cNvPr>
          <p:cNvSpPr>
            <a:spLocks noGrp="1"/>
          </p:cNvSpPr>
          <p:nvPr>
            <p:ph type="dt" sz="half" idx="10"/>
          </p:nvPr>
        </p:nvSpPr>
        <p:spPr/>
        <p:txBody>
          <a:bodyPr/>
          <a:lstStyle/>
          <a:p>
            <a:fld id="{C327978C-C64E-4447-9BB1-90A0C3647601}" type="datetimeFigureOut">
              <a:rPr lang="en-GB" smtClean="0"/>
              <a:pPr/>
              <a:t>19/11/2021</a:t>
            </a:fld>
            <a:endParaRPr lang="en-GB"/>
          </a:p>
        </p:txBody>
      </p:sp>
      <p:sp>
        <p:nvSpPr>
          <p:cNvPr id="3" name="Footer Placeholder 2">
            <a:extLst>
              <a:ext uri="{FF2B5EF4-FFF2-40B4-BE49-F238E27FC236}">
                <a16:creationId xmlns:a16="http://schemas.microsoft.com/office/drawing/2014/main" id="{2A8EF129-023E-4677-85E2-4C555298B8AA}"/>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4A34286-94A7-4EE1-BF9C-64DECD0CC7CA}"/>
              </a:ext>
            </a:extLst>
          </p:cNvPr>
          <p:cNvSpPr>
            <a:spLocks noGrp="1"/>
          </p:cNvSpPr>
          <p:nvPr>
            <p:ph type="sldNum" sz="quarter" idx="12"/>
          </p:nvPr>
        </p:nvSpPr>
        <p:spPr/>
        <p:txBody>
          <a:bodyPr/>
          <a:lstStyle/>
          <a:p>
            <a:fld id="{E060668E-73CC-4756-A240-DED7E7D63AB3}" type="slidenum">
              <a:rPr lang="en-GB" smtClean="0"/>
              <a:pPr/>
              <a:t>‹#›</a:t>
            </a:fld>
            <a:endParaRPr lang="en-GB"/>
          </a:p>
        </p:txBody>
      </p:sp>
    </p:spTree>
    <p:extLst>
      <p:ext uri="{BB962C8B-B14F-4D97-AF65-F5344CB8AC3E}">
        <p14:creationId xmlns:p14="http://schemas.microsoft.com/office/powerpoint/2010/main" val="4073862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E64D8-2029-4087-B1EB-AA4A41002F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912254C-C67F-4873-9FD2-90E254BEA8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C66F1A5-2ABE-46AE-9A74-806F65B5F1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C7B55C-C323-4A7D-AF3F-CA23D26970FB}"/>
              </a:ext>
            </a:extLst>
          </p:cNvPr>
          <p:cNvSpPr>
            <a:spLocks noGrp="1"/>
          </p:cNvSpPr>
          <p:nvPr>
            <p:ph type="dt" sz="half" idx="10"/>
          </p:nvPr>
        </p:nvSpPr>
        <p:spPr/>
        <p:txBody>
          <a:bodyPr/>
          <a:lstStyle/>
          <a:p>
            <a:fld id="{C327978C-C64E-4447-9BB1-90A0C3647601}" type="datetimeFigureOut">
              <a:rPr lang="en-GB" smtClean="0"/>
              <a:pPr/>
              <a:t>19/11/2021</a:t>
            </a:fld>
            <a:endParaRPr lang="en-GB"/>
          </a:p>
        </p:txBody>
      </p:sp>
      <p:sp>
        <p:nvSpPr>
          <p:cNvPr id="6" name="Footer Placeholder 5">
            <a:extLst>
              <a:ext uri="{FF2B5EF4-FFF2-40B4-BE49-F238E27FC236}">
                <a16:creationId xmlns:a16="http://schemas.microsoft.com/office/drawing/2014/main" id="{69F33BFC-C490-441F-B621-868E969C336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668AA82-2FA7-4DDB-BBE2-8CB0117D34CC}"/>
              </a:ext>
            </a:extLst>
          </p:cNvPr>
          <p:cNvSpPr>
            <a:spLocks noGrp="1"/>
          </p:cNvSpPr>
          <p:nvPr>
            <p:ph type="sldNum" sz="quarter" idx="12"/>
          </p:nvPr>
        </p:nvSpPr>
        <p:spPr/>
        <p:txBody>
          <a:bodyPr/>
          <a:lstStyle/>
          <a:p>
            <a:fld id="{E060668E-73CC-4756-A240-DED7E7D63AB3}" type="slidenum">
              <a:rPr lang="en-GB" smtClean="0"/>
              <a:pPr/>
              <a:t>‹#›</a:t>
            </a:fld>
            <a:endParaRPr lang="en-GB"/>
          </a:p>
        </p:txBody>
      </p:sp>
    </p:spTree>
    <p:extLst>
      <p:ext uri="{BB962C8B-B14F-4D97-AF65-F5344CB8AC3E}">
        <p14:creationId xmlns:p14="http://schemas.microsoft.com/office/powerpoint/2010/main" val="744782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D89DB-9D1A-4F78-8A8D-D6EE543456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DC48EAE-D26D-45EC-8AB3-3C7986D67A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C52FECC2-42F4-4052-B8FF-43CFE19E46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879015-4E28-495D-B727-4ECBD6FA6D69}"/>
              </a:ext>
            </a:extLst>
          </p:cNvPr>
          <p:cNvSpPr>
            <a:spLocks noGrp="1"/>
          </p:cNvSpPr>
          <p:nvPr>
            <p:ph type="dt" sz="half" idx="10"/>
          </p:nvPr>
        </p:nvSpPr>
        <p:spPr/>
        <p:txBody>
          <a:bodyPr/>
          <a:lstStyle/>
          <a:p>
            <a:fld id="{C327978C-C64E-4447-9BB1-90A0C3647601}" type="datetimeFigureOut">
              <a:rPr lang="en-GB" smtClean="0"/>
              <a:pPr/>
              <a:t>19/11/2021</a:t>
            </a:fld>
            <a:endParaRPr lang="en-GB"/>
          </a:p>
        </p:txBody>
      </p:sp>
      <p:sp>
        <p:nvSpPr>
          <p:cNvPr id="6" name="Footer Placeholder 5">
            <a:extLst>
              <a:ext uri="{FF2B5EF4-FFF2-40B4-BE49-F238E27FC236}">
                <a16:creationId xmlns:a16="http://schemas.microsoft.com/office/drawing/2014/main" id="{DB76281F-5D9F-447A-90D0-C50103966BF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4929837-7580-45E7-8A3C-99094047898B}"/>
              </a:ext>
            </a:extLst>
          </p:cNvPr>
          <p:cNvSpPr>
            <a:spLocks noGrp="1"/>
          </p:cNvSpPr>
          <p:nvPr>
            <p:ph type="sldNum" sz="quarter" idx="12"/>
          </p:nvPr>
        </p:nvSpPr>
        <p:spPr/>
        <p:txBody>
          <a:bodyPr/>
          <a:lstStyle/>
          <a:p>
            <a:fld id="{E060668E-73CC-4756-A240-DED7E7D63AB3}" type="slidenum">
              <a:rPr lang="en-GB" smtClean="0"/>
              <a:pPr/>
              <a:t>‹#›</a:t>
            </a:fld>
            <a:endParaRPr lang="en-GB"/>
          </a:p>
        </p:txBody>
      </p:sp>
    </p:spTree>
    <p:extLst>
      <p:ext uri="{BB962C8B-B14F-4D97-AF65-F5344CB8AC3E}">
        <p14:creationId xmlns:p14="http://schemas.microsoft.com/office/powerpoint/2010/main" val="21112483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88E5F-167F-418E-9F13-0E591D2D0662}"/>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10C36AA-0927-4887-90FF-AE19B5F02C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638BE34-8E20-4D81-8B82-F240FD6FF53A}"/>
              </a:ext>
            </a:extLst>
          </p:cNvPr>
          <p:cNvSpPr>
            <a:spLocks noGrp="1"/>
          </p:cNvSpPr>
          <p:nvPr>
            <p:ph type="dt" sz="half" idx="10"/>
          </p:nvPr>
        </p:nvSpPr>
        <p:spPr/>
        <p:txBody>
          <a:bodyPr/>
          <a:lstStyle/>
          <a:p>
            <a:fld id="{C327978C-C64E-4447-9BB1-90A0C3647601}" type="datetimeFigureOut">
              <a:rPr lang="en-GB" smtClean="0"/>
              <a:pPr/>
              <a:t>19/11/2021</a:t>
            </a:fld>
            <a:endParaRPr lang="en-GB"/>
          </a:p>
        </p:txBody>
      </p:sp>
      <p:sp>
        <p:nvSpPr>
          <p:cNvPr id="5" name="Footer Placeholder 4">
            <a:extLst>
              <a:ext uri="{FF2B5EF4-FFF2-40B4-BE49-F238E27FC236}">
                <a16:creationId xmlns:a16="http://schemas.microsoft.com/office/drawing/2014/main" id="{F10D1DDB-A733-4DAD-B302-785161EDBD8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43D2128-FB85-4369-A47B-1A846336F697}"/>
              </a:ext>
            </a:extLst>
          </p:cNvPr>
          <p:cNvSpPr>
            <a:spLocks noGrp="1"/>
          </p:cNvSpPr>
          <p:nvPr>
            <p:ph type="sldNum" sz="quarter" idx="12"/>
          </p:nvPr>
        </p:nvSpPr>
        <p:spPr/>
        <p:txBody>
          <a:bodyPr/>
          <a:lstStyle/>
          <a:p>
            <a:fld id="{E060668E-73CC-4756-A240-DED7E7D63AB3}" type="slidenum">
              <a:rPr lang="en-GB" smtClean="0"/>
              <a:pPr/>
              <a:t>‹#›</a:t>
            </a:fld>
            <a:endParaRPr lang="en-GB"/>
          </a:p>
        </p:txBody>
      </p:sp>
    </p:spTree>
    <p:extLst>
      <p:ext uri="{BB962C8B-B14F-4D97-AF65-F5344CB8AC3E}">
        <p14:creationId xmlns:p14="http://schemas.microsoft.com/office/powerpoint/2010/main" val="16462018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E58283-3B6C-4D13-A7E8-58A40B39A09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98D9006-6A30-41C0-A91C-5F69A1D907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A231E4A-22A2-4F69-A388-DC9F69A8016D}"/>
              </a:ext>
            </a:extLst>
          </p:cNvPr>
          <p:cNvSpPr>
            <a:spLocks noGrp="1"/>
          </p:cNvSpPr>
          <p:nvPr>
            <p:ph type="dt" sz="half" idx="10"/>
          </p:nvPr>
        </p:nvSpPr>
        <p:spPr/>
        <p:txBody>
          <a:bodyPr/>
          <a:lstStyle/>
          <a:p>
            <a:fld id="{C327978C-C64E-4447-9BB1-90A0C3647601}" type="datetimeFigureOut">
              <a:rPr lang="en-GB" smtClean="0"/>
              <a:pPr/>
              <a:t>19/11/2021</a:t>
            </a:fld>
            <a:endParaRPr lang="en-GB"/>
          </a:p>
        </p:txBody>
      </p:sp>
      <p:sp>
        <p:nvSpPr>
          <p:cNvPr id="5" name="Footer Placeholder 4">
            <a:extLst>
              <a:ext uri="{FF2B5EF4-FFF2-40B4-BE49-F238E27FC236}">
                <a16:creationId xmlns:a16="http://schemas.microsoft.com/office/drawing/2014/main" id="{9AAF791E-913E-44E0-B716-D7058A3F4CF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AD0450B-B576-45D6-B9DE-69704A711A05}"/>
              </a:ext>
            </a:extLst>
          </p:cNvPr>
          <p:cNvSpPr>
            <a:spLocks noGrp="1"/>
          </p:cNvSpPr>
          <p:nvPr>
            <p:ph type="sldNum" sz="quarter" idx="12"/>
          </p:nvPr>
        </p:nvSpPr>
        <p:spPr/>
        <p:txBody>
          <a:bodyPr/>
          <a:lstStyle/>
          <a:p>
            <a:fld id="{E060668E-73CC-4756-A240-DED7E7D63AB3}" type="slidenum">
              <a:rPr lang="en-GB" smtClean="0"/>
              <a:pPr/>
              <a:t>‹#›</a:t>
            </a:fld>
            <a:endParaRPr lang="en-GB"/>
          </a:p>
        </p:txBody>
      </p:sp>
    </p:spTree>
    <p:extLst>
      <p:ext uri="{BB962C8B-B14F-4D97-AF65-F5344CB8AC3E}">
        <p14:creationId xmlns:p14="http://schemas.microsoft.com/office/powerpoint/2010/main" val="22149859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0D2185-1A5C-44E5-8553-4D6856DB9E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F13AB6F-7C5B-49F8-B9F6-C6052EA4B9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1A8FFA0-35BF-4C2A-91D5-2D991ADC6A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27978C-C64E-4447-9BB1-90A0C3647601}" type="datetimeFigureOut">
              <a:rPr lang="en-GB" smtClean="0"/>
              <a:pPr/>
              <a:t>19/11/2021</a:t>
            </a:fld>
            <a:endParaRPr lang="en-GB"/>
          </a:p>
        </p:txBody>
      </p:sp>
      <p:sp>
        <p:nvSpPr>
          <p:cNvPr id="5" name="Footer Placeholder 4">
            <a:extLst>
              <a:ext uri="{FF2B5EF4-FFF2-40B4-BE49-F238E27FC236}">
                <a16:creationId xmlns:a16="http://schemas.microsoft.com/office/drawing/2014/main" id="{3E6027C0-75DF-44F3-9CD8-E6C63E4E6F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637FDC89-644B-4195-B491-11B3A1A088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60668E-73CC-4756-A240-DED7E7D63AB3}" type="slidenum">
              <a:rPr lang="en-GB" smtClean="0"/>
              <a:pPr/>
              <a:t>‹#›</a:t>
            </a:fld>
            <a:endParaRPr lang="en-GB"/>
          </a:p>
        </p:txBody>
      </p:sp>
    </p:spTree>
    <p:extLst>
      <p:ext uri="{BB962C8B-B14F-4D97-AF65-F5344CB8AC3E}">
        <p14:creationId xmlns:p14="http://schemas.microsoft.com/office/powerpoint/2010/main" val="12832747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412772"/>
            <a:ext cx="9144000" cy="2387600"/>
          </a:xfrm>
        </p:spPr>
        <p:txBody>
          <a:bodyPr>
            <a:normAutofit fontScale="90000"/>
          </a:bodyPr>
          <a:lstStyle/>
          <a:p>
            <a:r>
              <a:rPr lang="en-US" altLang="zh-CN" dirty="0" err="1"/>
              <a:t>Microvariation</a:t>
            </a:r>
            <a:r>
              <a:rPr lang="en-US" altLang="zh-CN" dirty="0"/>
              <a:t> in Sinitic nominalization (</a:t>
            </a:r>
            <a:r>
              <a:rPr lang="zh-CN" altLang="en-US" dirty="0"/>
              <a:t>漢語方言名詞化的構造和參數</a:t>
            </a:r>
            <a:r>
              <a:rPr lang="en-US" altLang="zh-CN" dirty="0"/>
              <a:t>)</a:t>
            </a:r>
            <a:endParaRPr lang="en-GB" dirty="0"/>
          </a:p>
        </p:txBody>
      </p:sp>
      <p:sp>
        <p:nvSpPr>
          <p:cNvPr id="3" name="Subtitle 2"/>
          <p:cNvSpPr>
            <a:spLocks noGrp="1"/>
          </p:cNvSpPr>
          <p:nvPr>
            <p:ph type="subTitle" idx="1"/>
          </p:nvPr>
        </p:nvSpPr>
        <p:spPr>
          <a:xfrm>
            <a:off x="1524000" y="2987681"/>
            <a:ext cx="9144000" cy="1655762"/>
          </a:xfrm>
        </p:spPr>
        <p:txBody>
          <a:bodyPr>
            <a:normAutofit fontScale="92500" lnSpcReduction="10000"/>
          </a:bodyPr>
          <a:lstStyle/>
          <a:p>
            <a:r>
              <a:rPr lang="en-US" dirty="0"/>
              <a:t>Keith Tse (MCIL CL)</a:t>
            </a:r>
          </a:p>
          <a:p>
            <a:r>
              <a:rPr lang="en-US" dirty="0"/>
              <a:t>Lancaster University/Ronin Institute/IGDORE</a:t>
            </a:r>
            <a:endParaRPr lang="en-US" altLang="zh-CN" dirty="0"/>
          </a:p>
          <a:p>
            <a:r>
              <a:rPr lang="en-US" altLang="zh-CN" dirty="0"/>
              <a:t>Yale Syntax Reading Group</a:t>
            </a:r>
            <a:endParaRPr lang="en-US" dirty="0"/>
          </a:p>
          <a:p>
            <a:r>
              <a:rPr lang="en-US" dirty="0"/>
              <a:t>19</a:t>
            </a:r>
            <a:r>
              <a:rPr lang="en-US" baseline="30000" dirty="0"/>
              <a:t>th</a:t>
            </a:r>
            <a:r>
              <a:rPr lang="en-US" dirty="0"/>
              <a:t> November 2021</a:t>
            </a:r>
            <a:endParaRPr lang="en-GB" dirty="0"/>
          </a:p>
        </p:txBody>
      </p:sp>
      <p:sp>
        <p:nvSpPr>
          <p:cNvPr id="4" name="Subtitle 2"/>
          <p:cNvSpPr txBox="1">
            <a:spLocks/>
          </p:cNvSpPr>
          <p:nvPr/>
        </p:nvSpPr>
        <p:spPr>
          <a:xfrm>
            <a:off x="0" y="4830752"/>
            <a:ext cx="12192000" cy="2030381"/>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dirty="0"/>
              <a:t>First and foremost, I would like to thank the </a:t>
            </a:r>
            <a:r>
              <a:rPr lang="en-US" sz="1800" dirty="0" err="1"/>
              <a:t>organiser</a:t>
            </a:r>
            <a:r>
              <a:rPr lang="en-US" sz="1800" dirty="0"/>
              <a:t> of this Reading Group, </a:t>
            </a:r>
            <a:r>
              <a:rPr lang="en-US" sz="1800" dirty="0" err="1"/>
              <a:t>Milena</a:t>
            </a:r>
            <a:r>
              <a:rPr lang="en-US" sz="1800" dirty="0"/>
              <a:t> </a:t>
            </a:r>
            <a:r>
              <a:rPr lang="en-US" sz="1800" dirty="0" err="1"/>
              <a:t>Sereikaite,for</a:t>
            </a:r>
            <a:r>
              <a:rPr lang="en-US" sz="1800" dirty="0"/>
              <a:t> inviting me to present my ongoing work on Chinese </a:t>
            </a:r>
            <a:r>
              <a:rPr lang="en-US" sz="1800" dirty="0" err="1"/>
              <a:t>nominalisation</a:t>
            </a:r>
            <a:r>
              <a:rPr lang="en-US" sz="1800" dirty="0"/>
              <a:t>, and to Professor Jim Wood, to whom I presented earlier versions of my work at MVC21 and JeNOM9. My thanks to audiences at previous conferences to whom earlier versions of my work on Chinese nominal constructions were presented, namely FoCaL-2 (Education University of Hong Kong, July 2019), Isoctal-3 (University of Cork, Ireland, December 2019) and 24</a:t>
            </a:r>
            <a:r>
              <a:rPr lang="en-US" sz="1800" baseline="30000" dirty="0"/>
              <a:t>th</a:t>
            </a:r>
            <a:r>
              <a:rPr lang="en-US" sz="1800" dirty="0"/>
              <a:t> Yue Dialects International Conference (University of Macau, November 2020), and 9</a:t>
            </a:r>
            <a:r>
              <a:rPr lang="en-US" sz="1800" baseline="30000" dirty="0"/>
              <a:t>th</a:t>
            </a:r>
            <a:r>
              <a:rPr lang="en-US" sz="1800" dirty="0"/>
              <a:t> Workshop on Nominalizations/9emes </a:t>
            </a:r>
            <a:r>
              <a:rPr lang="en-US" sz="1800" dirty="0" err="1"/>
              <a:t>Journées</a:t>
            </a:r>
            <a:r>
              <a:rPr lang="en-US" sz="1800" dirty="0"/>
              <a:t> </a:t>
            </a:r>
            <a:r>
              <a:rPr lang="en-US" sz="1800" dirty="0" err="1"/>
              <a:t>d’Etude</a:t>
            </a:r>
            <a:r>
              <a:rPr lang="en-US" sz="1800" dirty="0"/>
              <a:t> sur les </a:t>
            </a:r>
            <a:r>
              <a:rPr lang="en-US" sz="1800" dirty="0" err="1"/>
              <a:t>Nominalisations</a:t>
            </a:r>
            <a:r>
              <a:rPr lang="en-US" sz="1800" dirty="0"/>
              <a:t> (JENom9) (June 2021). Special thanks also to my supervisors and mentors in East Asian and Theoretical Linguistics, especially Professor Feng Sheng-Li (</a:t>
            </a:r>
            <a:r>
              <a:rPr lang="zh-CN" altLang="en-US" sz="1800" dirty="0"/>
              <a:t>馮勝利</a:t>
            </a:r>
            <a:r>
              <a:rPr lang="en-US" altLang="zh-CN" sz="1800" dirty="0"/>
              <a:t>), </a:t>
            </a:r>
            <a:r>
              <a:rPr lang="en-US" sz="1800" dirty="0"/>
              <a:t>Professor George </a:t>
            </a:r>
            <a:r>
              <a:rPr lang="en-US" sz="1800" dirty="0" err="1"/>
              <a:t>Tsoulas</a:t>
            </a:r>
            <a:r>
              <a:rPr lang="en-US" sz="1800" dirty="0"/>
              <a:t>, Professor Giuseppe </a:t>
            </a:r>
            <a:r>
              <a:rPr lang="en-US" sz="1800" dirty="0" err="1"/>
              <a:t>Longobardi</a:t>
            </a:r>
            <a:r>
              <a:rPr lang="en-US" sz="1800" dirty="0"/>
              <a:t>, Professor Peter Sells, Professor Ian Roberts and Professor Edith Aldridge for helping me with the facts and theories. </a:t>
            </a:r>
            <a:r>
              <a:rPr lang="en-US" altLang="zh-CN" sz="1800" dirty="0"/>
              <a:t>I hope that you find the content of my presentation satisfactory. </a:t>
            </a:r>
            <a:endParaRPr lang="en-GB" sz="1800" dirty="0"/>
          </a:p>
        </p:txBody>
      </p:sp>
    </p:spTree>
    <p:extLst>
      <p:ext uri="{BB962C8B-B14F-4D97-AF65-F5344CB8AC3E}">
        <p14:creationId xmlns:p14="http://schemas.microsoft.com/office/powerpoint/2010/main" val="40404906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altLang="zh-CN" dirty="0" err="1"/>
              <a:t>Nominalisation</a:t>
            </a:r>
            <a:r>
              <a:rPr lang="en-US" altLang="zh-CN" dirty="0"/>
              <a:t> in Chinese (</a:t>
            </a:r>
            <a:r>
              <a:rPr lang="zh-CN" altLang="en-US" dirty="0"/>
              <a:t>漢語名詞化</a:t>
            </a:r>
            <a:r>
              <a:rPr lang="en-US" altLang="zh-CN" dirty="0"/>
              <a:t>)</a:t>
            </a:r>
            <a:endParaRPr lang="en-GB" dirty="0"/>
          </a:p>
        </p:txBody>
      </p:sp>
      <p:sp>
        <p:nvSpPr>
          <p:cNvPr id="3" name="Content Placeholder 2"/>
          <p:cNvSpPr>
            <a:spLocks noGrp="1"/>
          </p:cNvSpPr>
          <p:nvPr>
            <p:ph idx="1"/>
          </p:nvPr>
        </p:nvSpPr>
        <p:spPr>
          <a:xfrm>
            <a:off x="838200" y="3709562"/>
            <a:ext cx="10515600" cy="4351338"/>
          </a:xfrm>
        </p:spPr>
        <p:txBody>
          <a:bodyPr/>
          <a:lstStyle/>
          <a:p>
            <a:pPr marL="0" indent="0">
              <a:buNone/>
            </a:pPr>
            <a:r>
              <a:rPr lang="en-US" dirty="0"/>
              <a:t>Attribution: </a:t>
            </a:r>
            <a:endParaRPr lang="en-GB" dirty="0"/>
          </a:p>
        </p:txBody>
      </p:sp>
      <p:sp>
        <p:nvSpPr>
          <p:cNvPr id="5" name="Content Placeholder 2"/>
          <p:cNvSpPr txBox="1">
            <a:spLocks/>
          </p:cNvSpPr>
          <p:nvPr/>
        </p:nvSpPr>
        <p:spPr>
          <a:xfrm>
            <a:off x="838200" y="1399620"/>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err="1"/>
              <a:t>Adnominaliser</a:t>
            </a:r>
            <a:r>
              <a:rPr lang="en-US" dirty="0"/>
              <a:t> (</a:t>
            </a:r>
            <a:r>
              <a:rPr lang="zh-CN" altLang="en-US" dirty="0"/>
              <a:t>結構助詞</a:t>
            </a:r>
            <a:r>
              <a:rPr lang="en-US" altLang="zh-CN" dirty="0"/>
              <a:t>): </a:t>
            </a:r>
            <a:r>
              <a:rPr lang="en-US" altLang="zh-CN" i="1" dirty="0"/>
              <a:t>de</a:t>
            </a:r>
            <a:r>
              <a:rPr lang="en-US" altLang="zh-CN" dirty="0"/>
              <a:t> (</a:t>
            </a:r>
            <a:r>
              <a:rPr lang="zh-CN" altLang="en-US" dirty="0"/>
              <a:t>的</a:t>
            </a:r>
            <a:r>
              <a:rPr lang="en-US" altLang="zh-CN" dirty="0"/>
              <a:t>)/ </a:t>
            </a:r>
            <a:r>
              <a:rPr lang="en-US" altLang="zh-CN" i="1" dirty="0" err="1"/>
              <a:t>ge</a:t>
            </a:r>
            <a:r>
              <a:rPr lang="en-US" altLang="zh-CN" dirty="0"/>
              <a:t> (</a:t>
            </a:r>
            <a:r>
              <a:rPr lang="zh-CN" altLang="en-US" dirty="0"/>
              <a:t>嘅</a:t>
            </a:r>
            <a:r>
              <a:rPr lang="en-US" altLang="zh-CN" dirty="0"/>
              <a:t>/</a:t>
            </a:r>
            <a:r>
              <a:rPr lang="zh-CN" altLang="en-US" dirty="0"/>
              <a:t>个</a:t>
            </a:r>
            <a:r>
              <a:rPr lang="en-US" altLang="zh-CN" dirty="0"/>
              <a:t>) ([t-]/[g-]) </a:t>
            </a:r>
            <a:r>
              <a:rPr lang="zh-CN" altLang="en-US" dirty="0"/>
              <a:t> </a:t>
            </a:r>
            <a:endParaRPr lang="en-GB" dirty="0"/>
          </a:p>
        </p:txBody>
      </p:sp>
      <p:sp>
        <p:nvSpPr>
          <p:cNvPr id="7" name="Content Placeholder 2"/>
          <p:cNvSpPr txBox="1">
            <a:spLocks/>
          </p:cNvSpPr>
          <p:nvPr/>
        </p:nvSpPr>
        <p:spPr>
          <a:xfrm>
            <a:off x="838200" y="5696946"/>
            <a:ext cx="113538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Different functional heads in nominal domain (Paul (2019))</a:t>
            </a:r>
            <a:endParaRPr lang="en-GB" dirty="0"/>
          </a:p>
        </p:txBody>
      </p:sp>
      <p:sp>
        <p:nvSpPr>
          <p:cNvPr id="8" name="Content Placeholder 2"/>
          <p:cNvSpPr txBox="1">
            <a:spLocks/>
          </p:cNvSpPr>
          <p:nvPr/>
        </p:nvSpPr>
        <p:spPr>
          <a:xfrm>
            <a:off x="838200" y="957456"/>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(Ad)nominalization (Yap et al (2011)): </a:t>
            </a:r>
            <a:endParaRPr lang="en-GB" dirty="0"/>
          </a:p>
        </p:txBody>
      </p:sp>
      <p:sp>
        <p:nvSpPr>
          <p:cNvPr id="9" name="Content Placeholder 2"/>
          <p:cNvSpPr txBox="1">
            <a:spLocks/>
          </p:cNvSpPr>
          <p:nvPr/>
        </p:nvSpPr>
        <p:spPr>
          <a:xfrm>
            <a:off x="838200" y="1855186"/>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Possession (</a:t>
            </a:r>
            <a:r>
              <a:rPr lang="en-US" dirty="0" err="1"/>
              <a:t>cf</a:t>
            </a:r>
            <a:r>
              <a:rPr lang="en-US" dirty="0"/>
              <a:t> English ‘s): </a:t>
            </a:r>
          </a:p>
          <a:p>
            <a:pPr marL="0" indent="0">
              <a:buFont typeface="Arial" panose="020B0604020202020204" pitchFamily="34" charset="0"/>
              <a:buNone/>
            </a:pPr>
            <a:endParaRPr lang="en-GB" dirty="0"/>
          </a:p>
        </p:txBody>
      </p:sp>
      <p:sp>
        <p:nvSpPr>
          <p:cNvPr id="10" name="Content Placeholder 2"/>
          <p:cNvSpPr txBox="1">
            <a:spLocks/>
          </p:cNvSpPr>
          <p:nvPr/>
        </p:nvSpPr>
        <p:spPr>
          <a:xfrm>
            <a:off x="838200" y="2242840"/>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dirty="0"/>
              <a:t>我的車 </a:t>
            </a:r>
            <a:r>
              <a:rPr lang="en-US" altLang="zh-CN" dirty="0"/>
              <a:t>(Mandarin)</a:t>
            </a:r>
          </a:p>
          <a:p>
            <a:pPr marL="0" indent="0">
              <a:buFont typeface="Arial" panose="020B0604020202020204" pitchFamily="34" charset="0"/>
              <a:buNone/>
            </a:pPr>
            <a:r>
              <a:rPr lang="en-US" dirty="0"/>
              <a:t>wo de </a:t>
            </a:r>
            <a:r>
              <a:rPr lang="en-US" dirty="0" err="1"/>
              <a:t>che</a:t>
            </a:r>
            <a:r>
              <a:rPr lang="en-US" dirty="0"/>
              <a:t> </a:t>
            </a:r>
          </a:p>
          <a:p>
            <a:pPr marL="0" indent="0">
              <a:buFont typeface="Arial" panose="020B0604020202020204" pitchFamily="34" charset="0"/>
              <a:buNone/>
            </a:pPr>
            <a:r>
              <a:rPr lang="en-US" dirty="0"/>
              <a:t>‘My car’ </a:t>
            </a:r>
            <a:endParaRPr lang="en-GB" dirty="0"/>
          </a:p>
        </p:txBody>
      </p:sp>
      <p:sp>
        <p:nvSpPr>
          <p:cNvPr id="11" name="Content Placeholder 2"/>
          <p:cNvSpPr txBox="1">
            <a:spLocks/>
          </p:cNvSpPr>
          <p:nvPr/>
        </p:nvSpPr>
        <p:spPr>
          <a:xfrm>
            <a:off x="5771147" y="222848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t>我   嘅 車 </a:t>
            </a:r>
            <a:r>
              <a:rPr lang="en-US" altLang="zh-CN" dirty="0"/>
              <a:t>(</a:t>
            </a:r>
            <a:r>
              <a:rPr lang="zh-CN" altLang="en-US" dirty="0"/>
              <a:t>我  架 車</a:t>
            </a:r>
            <a:r>
              <a:rPr lang="en-US" altLang="zh-CN" dirty="0"/>
              <a:t>)  (Cantonese)</a:t>
            </a:r>
          </a:p>
          <a:p>
            <a:pPr marL="0" indent="0">
              <a:buFont typeface="Arial" panose="020B0604020202020204" pitchFamily="34" charset="0"/>
              <a:buNone/>
            </a:pPr>
            <a:r>
              <a:rPr lang="en-US" dirty="0" err="1"/>
              <a:t>ngo</a:t>
            </a:r>
            <a:r>
              <a:rPr lang="en-US" dirty="0"/>
              <a:t> </a:t>
            </a:r>
            <a:r>
              <a:rPr lang="en-US" dirty="0" err="1"/>
              <a:t>ge</a:t>
            </a:r>
            <a:r>
              <a:rPr lang="en-US" dirty="0"/>
              <a:t> </a:t>
            </a:r>
            <a:r>
              <a:rPr lang="en-US" dirty="0" err="1"/>
              <a:t>ce</a:t>
            </a:r>
            <a:r>
              <a:rPr lang="en-US" dirty="0"/>
              <a:t>  </a:t>
            </a:r>
            <a:r>
              <a:rPr lang="en-US" dirty="0" err="1"/>
              <a:t>ngo</a:t>
            </a:r>
            <a:r>
              <a:rPr lang="en-US" dirty="0"/>
              <a:t> </a:t>
            </a:r>
            <a:r>
              <a:rPr lang="en-US" dirty="0" err="1"/>
              <a:t>ga</a:t>
            </a:r>
            <a:r>
              <a:rPr lang="en-US" dirty="0"/>
              <a:t> </a:t>
            </a:r>
            <a:r>
              <a:rPr lang="en-US" dirty="0" err="1"/>
              <a:t>ce</a:t>
            </a:r>
            <a:endParaRPr lang="en-US" dirty="0"/>
          </a:p>
          <a:p>
            <a:pPr marL="0" indent="0">
              <a:buFont typeface="Arial" panose="020B0604020202020204" pitchFamily="34" charset="0"/>
              <a:buNone/>
            </a:pPr>
            <a:r>
              <a:rPr lang="en-US" dirty="0"/>
              <a:t>‘My car’ (</a:t>
            </a:r>
            <a:r>
              <a:rPr lang="en-US" dirty="0" err="1"/>
              <a:t>Sio</a:t>
            </a:r>
            <a:r>
              <a:rPr lang="en-US" dirty="0"/>
              <a:t> (2011:129))</a:t>
            </a:r>
            <a:endParaRPr lang="en-GB" dirty="0"/>
          </a:p>
        </p:txBody>
      </p:sp>
      <p:sp>
        <p:nvSpPr>
          <p:cNvPr id="12" name="Content Placeholder 2"/>
          <p:cNvSpPr txBox="1">
            <a:spLocks/>
          </p:cNvSpPr>
          <p:nvPr/>
        </p:nvSpPr>
        <p:spPr>
          <a:xfrm>
            <a:off x="838200" y="4181834"/>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dirty="0"/>
              <a:t>胖     的 女人 </a:t>
            </a:r>
            <a:r>
              <a:rPr lang="en-US" altLang="zh-CN" dirty="0"/>
              <a:t>(Mandarin)</a:t>
            </a:r>
          </a:p>
          <a:p>
            <a:pPr marL="0" indent="0">
              <a:buFont typeface="Arial" panose="020B0604020202020204" pitchFamily="34" charset="0"/>
              <a:buNone/>
            </a:pPr>
            <a:r>
              <a:rPr lang="en-US" dirty="0"/>
              <a:t>pang de </a:t>
            </a:r>
            <a:r>
              <a:rPr lang="en-US" dirty="0" err="1"/>
              <a:t>nüren</a:t>
            </a:r>
            <a:r>
              <a:rPr lang="en-US" dirty="0"/>
              <a:t> </a:t>
            </a:r>
          </a:p>
          <a:p>
            <a:pPr marL="0" indent="0">
              <a:buFont typeface="Arial" panose="020B0604020202020204" pitchFamily="34" charset="0"/>
              <a:buNone/>
            </a:pPr>
            <a:r>
              <a:rPr lang="en-US" dirty="0"/>
              <a:t>‘fat woman’ </a:t>
            </a:r>
            <a:endParaRPr lang="en-GB" dirty="0"/>
          </a:p>
        </p:txBody>
      </p:sp>
      <p:sp>
        <p:nvSpPr>
          <p:cNvPr id="13" name="Content Placeholder 2"/>
          <p:cNvSpPr txBox="1">
            <a:spLocks/>
          </p:cNvSpPr>
          <p:nvPr/>
        </p:nvSpPr>
        <p:spPr>
          <a:xfrm>
            <a:off x="5771147" y="4185434"/>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t>肥     嘅 女    人 </a:t>
            </a:r>
            <a:r>
              <a:rPr lang="en-US" altLang="zh-CN" dirty="0"/>
              <a:t>(Cantonese)</a:t>
            </a:r>
          </a:p>
          <a:p>
            <a:pPr marL="0" indent="0">
              <a:buFont typeface="Arial" panose="020B0604020202020204" pitchFamily="34" charset="0"/>
              <a:buNone/>
            </a:pPr>
            <a:r>
              <a:rPr lang="en-US" dirty="0"/>
              <a:t>pang </a:t>
            </a:r>
            <a:r>
              <a:rPr lang="en-US" altLang="zh-CN" dirty="0" err="1"/>
              <a:t>g</a:t>
            </a:r>
            <a:r>
              <a:rPr lang="en-US" dirty="0" err="1"/>
              <a:t>e</a:t>
            </a:r>
            <a:r>
              <a:rPr lang="en-US" dirty="0"/>
              <a:t> </a:t>
            </a:r>
            <a:r>
              <a:rPr lang="en-US" dirty="0" err="1"/>
              <a:t>neoi</a:t>
            </a:r>
            <a:r>
              <a:rPr lang="en-US" dirty="0"/>
              <a:t> </a:t>
            </a:r>
            <a:r>
              <a:rPr lang="en-US" dirty="0" err="1"/>
              <a:t>jan</a:t>
            </a:r>
            <a:r>
              <a:rPr lang="en-US" dirty="0"/>
              <a:t> </a:t>
            </a:r>
          </a:p>
          <a:p>
            <a:pPr marL="0" indent="0">
              <a:buFont typeface="Arial" panose="020B0604020202020204" pitchFamily="34" charset="0"/>
              <a:buNone/>
            </a:pPr>
            <a:r>
              <a:rPr lang="en-US" dirty="0"/>
              <a:t>‘fat woman’ (</a:t>
            </a:r>
            <a:r>
              <a:rPr lang="en-US" dirty="0" err="1"/>
              <a:t>Sio</a:t>
            </a:r>
            <a:r>
              <a:rPr lang="en-US" dirty="0"/>
              <a:t> (2011:129)) </a:t>
            </a:r>
            <a:endParaRPr lang="en-GB" dirty="0"/>
          </a:p>
        </p:txBody>
      </p:sp>
      <p:sp>
        <p:nvSpPr>
          <p:cNvPr id="14" name="Content Placeholder 2"/>
          <p:cNvSpPr txBox="1">
            <a:spLocks/>
          </p:cNvSpPr>
          <p:nvPr/>
        </p:nvSpPr>
        <p:spPr>
          <a:xfrm>
            <a:off x="838200" y="6085098"/>
            <a:ext cx="10515600" cy="117737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t>的 </a:t>
            </a:r>
            <a:r>
              <a:rPr lang="en-US" altLang="zh-CN" dirty="0"/>
              <a:t>&lt; </a:t>
            </a:r>
            <a:r>
              <a:rPr lang="zh-CN" altLang="en-US" dirty="0"/>
              <a:t>底 </a:t>
            </a:r>
            <a:r>
              <a:rPr lang="en-US" altLang="zh-CN" dirty="0"/>
              <a:t>&lt; </a:t>
            </a:r>
            <a:r>
              <a:rPr lang="zh-CN" altLang="en-US" dirty="0"/>
              <a:t>者 </a:t>
            </a:r>
            <a:r>
              <a:rPr lang="en-US" altLang="zh-CN" dirty="0"/>
              <a:t>(phrase-final </a:t>
            </a:r>
            <a:r>
              <a:rPr lang="en-US" altLang="zh-CN" dirty="0" err="1"/>
              <a:t>nominaliser</a:t>
            </a:r>
            <a:r>
              <a:rPr lang="en-US" altLang="zh-CN" dirty="0"/>
              <a:t>: XP-n) (</a:t>
            </a:r>
            <a:r>
              <a:rPr lang="zh-CN" altLang="en-US" dirty="0"/>
              <a:t>劉 </a:t>
            </a:r>
            <a:r>
              <a:rPr lang="en-US" altLang="zh-CN" dirty="0"/>
              <a:t>2008; Aldridge 2009);</a:t>
            </a:r>
            <a:r>
              <a:rPr lang="zh-CN" altLang="en-US" dirty="0"/>
              <a:t>個 </a:t>
            </a:r>
            <a:r>
              <a:rPr lang="en-US" altLang="zh-CN" dirty="0"/>
              <a:t>(general classifier) (CL) (</a:t>
            </a:r>
            <a:r>
              <a:rPr lang="zh-CN" altLang="en-US" dirty="0"/>
              <a:t>曹 </a:t>
            </a:r>
            <a:r>
              <a:rPr lang="en-US" altLang="zh-CN" dirty="0"/>
              <a:t>1995; </a:t>
            </a:r>
            <a:r>
              <a:rPr lang="zh-CN" altLang="en-US" dirty="0"/>
              <a:t>李 </a:t>
            </a:r>
            <a:r>
              <a:rPr lang="en-US" altLang="zh-CN" dirty="0"/>
              <a:t>2016) </a:t>
            </a:r>
            <a:endParaRPr lang="en-GB" dirty="0"/>
          </a:p>
        </p:txBody>
      </p:sp>
    </p:spTree>
    <p:extLst>
      <p:ext uri="{BB962C8B-B14F-4D97-AF65-F5344CB8AC3E}">
        <p14:creationId xmlns:p14="http://schemas.microsoft.com/office/powerpoint/2010/main" val="587250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7" grpId="0"/>
      <p:bldP spid="8" grpId="0"/>
      <p:bldP spid="9" grpId="0"/>
      <p:bldP spid="10" grpId="0"/>
      <p:bldP spid="11" grpId="0"/>
      <p:bldP spid="12" grpId="0"/>
      <p:bldP spid="13" grpId="0"/>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dirty="0"/>
              <a:t>Chinese </a:t>
            </a:r>
            <a:r>
              <a:rPr lang="en-US" dirty="0" err="1"/>
              <a:t>adnominalisers</a:t>
            </a:r>
            <a:r>
              <a:rPr lang="en-US" dirty="0"/>
              <a:t> (structural particle </a:t>
            </a:r>
            <a:r>
              <a:rPr lang="zh-CN" altLang="en-US" dirty="0"/>
              <a:t>結構助詞</a:t>
            </a:r>
            <a:r>
              <a:rPr lang="en-US" altLang="zh-CN" dirty="0"/>
              <a:t>)</a:t>
            </a:r>
            <a:endParaRPr lang="en-GB" dirty="0"/>
          </a:p>
        </p:txBody>
      </p:sp>
      <p:sp>
        <p:nvSpPr>
          <p:cNvPr id="3" name="Content Placeholder 2"/>
          <p:cNvSpPr>
            <a:spLocks noGrp="1"/>
          </p:cNvSpPr>
          <p:nvPr>
            <p:ph idx="1"/>
          </p:nvPr>
        </p:nvSpPr>
        <p:spPr>
          <a:xfrm>
            <a:off x="838200" y="1325563"/>
            <a:ext cx="10515600" cy="4351338"/>
          </a:xfrm>
        </p:spPr>
        <p:txBody>
          <a:bodyPr/>
          <a:lstStyle/>
          <a:p>
            <a:pPr marL="0" indent="0">
              <a:buNone/>
            </a:pPr>
            <a:r>
              <a:rPr lang="en-US" dirty="0"/>
              <a:t>Mandarin Chinese </a:t>
            </a:r>
            <a:r>
              <a:rPr lang="en-US" i="1" dirty="0"/>
              <a:t>de </a:t>
            </a:r>
            <a:r>
              <a:rPr lang="en-US" dirty="0"/>
              <a:t>(</a:t>
            </a:r>
            <a:r>
              <a:rPr lang="zh-CN" altLang="en-US" dirty="0"/>
              <a:t>的</a:t>
            </a:r>
            <a:r>
              <a:rPr lang="en-US" altLang="zh-CN" dirty="0"/>
              <a:t>):</a:t>
            </a:r>
            <a:endParaRPr lang="en-GB" dirty="0"/>
          </a:p>
        </p:txBody>
      </p:sp>
      <p:sp>
        <p:nvSpPr>
          <p:cNvPr id="4" name="Content Placeholder 2"/>
          <p:cNvSpPr txBox="1">
            <a:spLocks/>
          </p:cNvSpPr>
          <p:nvPr/>
        </p:nvSpPr>
        <p:spPr>
          <a:xfrm>
            <a:off x="834572" y="5043182"/>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Cantonese ge3 (</a:t>
            </a:r>
            <a:r>
              <a:rPr lang="zh-CN" altLang="en-US" dirty="0"/>
              <a:t>嘅</a:t>
            </a:r>
            <a:r>
              <a:rPr lang="en-US" altLang="zh-CN" dirty="0"/>
              <a:t>) </a:t>
            </a:r>
            <a:endParaRPr lang="en-GB" dirty="0"/>
          </a:p>
        </p:txBody>
      </p:sp>
      <p:sp>
        <p:nvSpPr>
          <p:cNvPr id="5" name="Content Placeholder 2"/>
          <p:cNvSpPr txBox="1">
            <a:spLocks/>
          </p:cNvSpPr>
          <p:nvPr/>
        </p:nvSpPr>
        <p:spPr>
          <a:xfrm>
            <a:off x="4737709" y="1321271"/>
            <a:ext cx="7294418"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Linker (inverse predication) (den </a:t>
            </a:r>
            <a:r>
              <a:rPr lang="en-US" dirty="0" err="1"/>
              <a:t>Dikken</a:t>
            </a:r>
            <a:r>
              <a:rPr lang="en-US" dirty="0"/>
              <a:t> and </a:t>
            </a:r>
            <a:r>
              <a:rPr lang="en-US" dirty="0" err="1"/>
              <a:t>Singhapreecha</a:t>
            </a:r>
            <a:r>
              <a:rPr lang="en-US" dirty="0"/>
              <a:t> (2004), den </a:t>
            </a:r>
            <a:r>
              <a:rPr lang="en-US" dirty="0" err="1"/>
              <a:t>Dikken</a:t>
            </a:r>
            <a:r>
              <a:rPr lang="en-US" dirty="0"/>
              <a:t> (2006))</a:t>
            </a:r>
            <a:endParaRPr lang="en-GB" dirty="0"/>
          </a:p>
        </p:txBody>
      </p:sp>
      <p:sp>
        <p:nvSpPr>
          <p:cNvPr id="6" name="Content Placeholder 2"/>
          <p:cNvSpPr txBox="1">
            <a:spLocks/>
          </p:cNvSpPr>
          <p:nvPr/>
        </p:nvSpPr>
        <p:spPr>
          <a:xfrm>
            <a:off x="4737709" y="215675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Modification marker (</a:t>
            </a:r>
            <a:r>
              <a:rPr lang="en-US" dirty="0" err="1"/>
              <a:t>Rubins</a:t>
            </a:r>
            <a:r>
              <a:rPr lang="en-US" dirty="0"/>
              <a:t>’ (1994) </a:t>
            </a:r>
            <a:r>
              <a:rPr lang="en-US" i="1" dirty="0"/>
              <a:t>Modifier</a:t>
            </a:r>
            <a:r>
              <a:rPr lang="en-US" dirty="0"/>
              <a:t>)</a:t>
            </a:r>
            <a:endParaRPr lang="en-GB" dirty="0"/>
          </a:p>
        </p:txBody>
      </p:sp>
      <p:sp>
        <p:nvSpPr>
          <p:cNvPr id="7" name="Content Placeholder 2"/>
          <p:cNvSpPr txBox="1">
            <a:spLocks/>
          </p:cNvSpPr>
          <p:nvPr/>
        </p:nvSpPr>
        <p:spPr>
          <a:xfrm>
            <a:off x="4006042" y="5039152"/>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Possession/Modification (</a:t>
            </a:r>
            <a:r>
              <a:rPr lang="en-US" dirty="0" err="1"/>
              <a:t>Sio</a:t>
            </a:r>
            <a:r>
              <a:rPr lang="en-US" dirty="0"/>
              <a:t> (2006, 2011))</a:t>
            </a:r>
            <a:endParaRPr lang="en-GB" dirty="0"/>
          </a:p>
        </p:txBody>
      </p:sp>
      <p:sp>
        <p:nvSpPr>
          <p:cNvPr id="8" name="Content Placeholder 2"/>
          <p:cNvSpPr txBox="1">
            <a:spLocks/>
          </p:cNvSpPr>
          <p:nvPr/>
        </p:nvSpPr>
        <p:spPr>
          <a:xfrm>
            <a:off x="278476" y="5854530"/>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Chinese dialects: </a:t>
            </a:r>
            <a:r>
              <a:rPr lang="en-US" i="1" dirty="0"/>
              <a:t>de</a:t>
            </a:r>
            <a:r>
              <a:rPr lang="en-US" dirty="0"/>
              <a:t> [t-] / </a:t>
            </a:r>
            <a:r>
              <a:rPr lang="en-US" i="1" dirty="0" err="1"/>
              <a:t>ge</a:t>
            </a:r>
            <a:r>
              <a:rPr lang="en-US" dirty="0"/>
              <a:t> [g-] </a:t>
            </a:r>
            <a:endParaRPr lang="en-GB" dirty="0"/>
          </a:p>
        </p:txBody>
      </p:sp>
      <p:sp>
        <p:nvSpPr>
          <p:cNvPr id="9" name="Content Placeholder 2"/>
          <p:cNvSpPr txBox="1">
            <a:spLocks/>
          </p:cNvSpPr>
          <p:nvPr/>
        </p:nvSpPr>
        <p:spPr>
          <a:xfrm>
            <a:off x="5140037" y="5858822"/>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Nominal element </a:t>
            </a:r>
            <a:endParaRPr lang="en-GB" dirty="0"/>
          </a:p>
        </p:txBody>
      </p:sp>
      <p:sp>
        <p:nvSpPr>
          <p:cNvPr id="10" name="Content Placeholder 2"/>
          <p:cNvSpPr txBox="1">
            <a:spLocks/>
          </p:cNvSpPr>
          <p:nvPr/>
        </p:nvSpPr>
        <p:spPr>
          <a:xfrm>
            <a:off x="7840288" y="5854530"/>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North vs South (</a:t>
            </a:r>
            <a:r>
              <a:rPr lang="zh-CN" altLang="en-US" dirty="0"/>
              <a:t>鄧</a:t>
            </a:r>
            <a:r>
              <a:rPr lang="en-US" dirty="0"/>
              <a:t> (2010))</a:t>
            </a:r>
            <a:endParaRPr lang="en-GB" dirty="0"/>
          </a:p>
        </p:txBody>
      </p:sp>
      <p:sp>
        <p:nvSpPr>
          <p:cNvPr id="12" name="Content Placeholder 2"/>
          <p:cNvSpPr txBox="1">
            <a:spLocks/>
          </p:cNvSpPr>
          <p:nvPr/>
        </p:nvSpPr>
        <p:spPr>
          <a:xfrm>
            <a:off x="2029691" y="4003622"/>
            <a:ext cx="932410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Functional element (</a:t>
            </a:r>
            <a:r>
              <a:rPr lang="en-US" i="1" dirty="0"/>
              <a:t>de</a:t>
            </a:r>
            <a:r>
              <a:rPr lang="en-US" dirty="0"/>
              <a:t>) in different positions</a:t>
            </a:r>
          </a:p>
          <a:p>
            <a:pPr marL="0" indent="0">
              <a:buFont typeface="Arial" panose="020B0604020202020204" pitchFamily="34" charset="0"/>
              <a:buNone/>
            </a:pPr>
            <a:r>
              <a:rPr lang="en-US" dirty="0"/>
              <a:t>on nominal spine (</a:t>
            </a:r>
            <a:r>
              <a:rPr lang="en-US" altLang="zh-CN" dirty="0"/>
              <a:t>Paul (2019), </a:t>
            </a:r>
            <a:r>
              <a:rPr lang="en-US" altLang="zh-CN" dirty="0" err="1"/>
              <a:t>cf</a:t>
            </a:r>
            <a:r>
              <a:rPr lang="en-US" altLang="zh-CN" dirty="0"/>
              <a:t> Paul (2005, 2012))</a:t>
            </a:r>
            <a:endParaRPr lang="en-GB" dirty="0"/>
          </a:p>
        </p:txBody>
      </p:sp>
      <p:sp>
        <p:nvSpPr>
          <p:cNvPr id="13" name="Content Placeholder 2"/>
          <p:cNvSpPr txBox="1">
            <a:spLocks/>
          </p:cNvSpPr>
          <p:nvPr/>
        </p:nvSpPr>
        <p:spPr>
          <a:xfrm>
            <a:off x="4737709" y="2646834"/>
            <a:ext cx="7294418"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Possessive marker (Li and Thompson (1981)), </a:t>
            </a:r>
          </a:p>
          <a:p>
            <a:pPr marL="0" indent="0">
              <a:buFont typeface="Arial" panose="020B0604020202020204" pitchFamily="34" charset="0"/>
              <a:buNone/>
            </a:pPr>
            <a:r>
              <a:rPr lang="en-US" dirty="0" err="1"/>
              <a:t>Cf</a:t>
            </a:r>
            <a:r>
              <a:rPr lang="en-US" dirty="0"/>
              <a:t> Japanese </a:t>
            </a:r>
            <a:r>
              <a:rPr lang="en-US" i="1" dirty="0"/>
              <a:t>no</a:t>
            </a:r>
            <a:r>
              <a:rPr lang="en-US" dirty="0"/>
              <a:t> (Kitagawa (1982), </a:t>
            </a:r>
            <a:r>
              <a:rPr lang="en-US" dirty="0" err="1"/>
              <a:t>cf</a:t>
            </a:r>
            <a:r>
              <a:rPr lang="en-US" dirty="0"/>
              <a:t> </a:t>
            </a:r>
            <a:r>
              <a:rPr lang="en-US" dirty="0" err="1"/>
              <a:t>Murasagi</a:t>
            </a:r>
            <a:r>
              <a:rPr lang="en-US" dirty="0"/>
              <a:t>, 					Saito, Lin (2008))</a:t>
            </a:r>
            <a:endParaRPr lang="en-GB" dirty="0"/>
          </a:p>
        </p:txBody>
      </p:sp>
    </p:spTree>
    <p:extLst>
      <p:ext uri="{BB962C8B-B14F-4D97-AF65-F5344CB8AC3E}">
        <p14:creationId xmlns:p14="http://schemas.microsoft.com/office/powerpoint/2010/main" val="1986226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7" grpId="0"/>
      <p:bldP spid="8" grpId="0"/>
      <p:bldP spid="9" grpId="0"/>
      <p:bldP spid="10" grpId="0"/>
      <p:bldP spid="12" grpId="0"/>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a:bodyPr>
          <a:lstStyle/>
          <a:p>
            <a:r>
              <a:rPr lang="en-US" altLang="zh-CN" dirty="0" err="1"/>
              <a:t>Nominalisation</a:t>
            </a:r>
            <a:r>
              <a:rPr lang="en-US" altLang="zh-CN" dirty="0"/>
              <a:t> in Chinese dialects: </a:t>
            </a:r>
            <a:r>
              <a:rPr lang="en-US" altLang="zh-CN" dirty="0" err="1"/>
              <a:t>microvariation</a:t>
            </a:r>
            <a:r>
              <a:rPr lang="en-US" altLang="zh-CN" dirty="0"/>
              <a:t> (</a:t>
            </a:r>
            <a:r>
              <a:rPr lang="zh-CN" altLang="en-US" dirty="0"/>
              <a:t>漢語名詞化的參數</a:t>
            </a:r>
            <a:r>
              <a:rPr lang="en-US" altLang="zh-CN" dirty="0"/>
              <a:t>)</a:t>
            </a:r>
            <a:endParaRPr lang="en-GB" dirty="0"/>
          </a:p>
        </p:txBody>
      </p:sp>
      <p:sp>
        <p:nvSpPr>
          <p:cNvPr id="3" name="Content Placeholder 2"/>
          <p:cNvSpPr>
            <a:spLocks noGrp="1"/>
          </p:cNvSpPr>
          <p:nvPr>
            <p:ph idx="1"/>
          </p:nvPr>
        </p:nvSpPr>
        <p:spPr>
          <a:xfrm>
            <a:off x="838200" y="2306966"/>
            <a:ext cx="10515600" cy="4351338"/>
          </a:xfrm>
        </p:spPr>
        <p:txBody>
          <a:bodyPr/>
          <a:lstStyle/>
          <a:p>
            <a:pPr marL="0" indent="0">
              <a:buNone/>
            </a:pPr>
            <a:r>
              <a:rPr lang="en-US" dirty="0"/>
              <a:t>Chinese cleft constructions (</a:t>
            </a:r>
            <a:r>
              <a:rPr lang="zh-CN" altLang="en-US" dirty="0"/>
              <a:t>是</a:t>
            </a:r>
            <a:r>
              <a:rPr lang="en-US" altLang="zh-CN" dirty="0"/>
              <a:t>-</a:t>
            </a:r>
            <a:r>
              <a:rPr lang="zh-CN" altLang="en-US" dirty="0"/>
              <a:t>的</a:t>
            </a:r>
            <a:r>
              <a:rPr lang="en-US" altLang="zh-CN" dirty="0"/>
              <a:t>/</a:t>
            </a:r>
            <a:r>
              <a:rPr lang="zh-CN" altLang="en-US" dirty="0"/>
              <a:t>係</a:t>
            </a:r>
            <a:r>
              <a:rPr lang="en-US" altLang="zh-CN" dirty="0"/>
              <a:t>-</a:t>
            </a:r>
            <a:r>
              <a:rPr lang="zh-CN" altLang="en-US" dirty="0"/>
              <a:t>嘅</a:t>
            </a:r>
            <a:r>
              <a:rPr lang="en-US" altLang="zh-CN" dirty="0"/>
              <a:t>: COP +</a:t>
            </a:r>
            <a:r>
              <a:rPr lang="en-US" dirty="0"/>
              <a:t> </a:t>
            </a:r>
            <a:r>
              <a:rPr lang="en-US" dirty="0" err="1"/>
              <a:t>VO</a:t>
            </a:r>
            <a:r>
              <a:rPr lang="en-US" i="1" dirty="0" err="1"/>
              <a:t>de</a:t>
            </a:r>
            <a:r>
              <a:rPr lang="en-US" i="1" dirty="0"/>
              <a:t>/</a:t>
            </a:r>
            <a:r>
              <a:rPr lang="en-US" i="1" dirty="0" err="1"/>
              <a:t>ge</a:t>
            </a:r>
            <a:r>
              <a:rPr lang="en-US" i="1" dirty="0"/>
              <a:t> </a:t>
            </a:r>
            <a:r>
              <a:rPr lang="en-US" dirty="0"/>
              <a:t>or </a:t>
            </a:r>
            <a:r>
              <a:rPr lang="en-US" dirty="0" err="1"/>
              <a:t>V</a:t>
            </a:r>
            <a:r>
              <a:rPr lang="en-US" i="1" dirty="0" err="1"/>
              <a:t>de</a:t>
            </a:r>
            <a:r>
              <a:rPr lang="en-US" i="1" dirty="0"/>
              <a:t>/</a:t>
            </a:r>
            <a:r>
              <a:rPr lang="en-US" i="1" dirty="0" err="1"/>
              <a:t>ge</a:t>
            </a:r>
            <a:r>
              <a:rPr lang="en-US" dirty="0" err="1"/>
              <a:t>O</a:t>
            </a:r>
            <a:r>
              <a:rPr lang="en-US" dirty="0"/>
              <a:t>): </a:t>
            </a:r>
            <a:endParaRPr lang="en-GB" dirty="0"/>
          </a:p>
        </p:txBody>
      </p:sp>
      <p:sp>
        <p:nvSpPr>
          <p:cNvPr id="5" name="Content Placeholder 2"/>
          <p:cNvSpPr txBox="1">
            <a:spLocks/>
          </p:cNvSpPr>
          <p:nvPr/>
        </p:nvSpPr>
        <p:spPr>
          <a:xfrm>
            <a:off x="838200" y="1325013"/>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err="1"/>
              <a:t>Adnominaliser</a:t>
            </a:r>
            <a:r>
              <a:rPr lang="en-US" dirty="0"/>
              <a:t> (</a:t>
            </a:r>
            <a:r>
              <a:rPr lang="zh-CN" altLang="en-US" dirty="0"/>
              <a:t>結構助詞</a:t>
            </a:r>
            <a:r>
              <a:rPr lang="en-US" altLang="zh-CN" dirty="0"/>
              <a:t>): </a:t>
            </a:r>
            <a:r>
              <a:rPr lang="en-US" altLang="zh-CN" i="1" dirty="0"/>
              <a:t>de</a:t>
            </a:r>
            <a:r>
              <a:rPr lang="en-US" altLang="zh-CN" dirty="0"/>
              <a:t> (</a:t>
            </a:r>
            <a:r>
              <a:rPr lang="zh-CN" altLang="en-US" dirty="0"/>
              <a:t>的</a:t>
            </a:r>
            <a:r>
              <a:rPr lang="en-US" altLang="zh-CN" dirty="0"/>
              <a:t>) vs </a:t>
            </a:r>
            <a:r>
              <a:rPr lang="en-US" altLang="zh-CN" i="1" dirty="0" err="1"/>
              <a:t>ge</a:t>
            </a:r>
            <a:r>
              <a:rPr lang="en-US" altLang="zh-CN" dirty="0"/>
              <a:t> (</a:t>
            </a:r>
            <a:r>
              <a:rPr lang="zh-CN" altLang="en-US" dirty="0"/>
              <a:t>嘅</a:t>
            </a:r>
            <a:r>
              <a:rPr lang="en-US" altLang="zh-CN" dirty="0"/>
              <a:t>) </a:t>
            </a:r>
            <a:r>
              <a:rPr lang="zh-CN" altLang="en-US" dirty="0"/>
              <a:t> </a:t>
            </a:r>
            <a:endParaRPr lang="en-GB" dirty="0"/>
          </a:p>
        </p:txBody>
      </p:sp>
      <p:sp>
        <p:nvSpPr>
          <p:cNvPr id="6" name="Content Placeholder 2"/>
          <p:cNvSpPr txBox="1">
            <a:spLocks/>
          </p:cNvSpPr>
          <p:nvPr/>
        </p:nvSpPr>
        <p:spPr>
          <a:xfrm>
            <a:off x="852036" y="4196607"/>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dirty="0"/>
              <a:t>他 是 昨天      買</a:t>
            </a:r>
            <a:r>
              <a:rPr lang="en-US" altLang="zh-CN" dirty="0"/>
              <a:t>-</a:t>
            </a:r>
            <a:r>
              <a:rPr lang="zh-CN" altLang="en-US" dirty="0"/>
              <a:t>的   票 </a:t>
            </a:r>
            <a:r>
              <a:rPr lang="en-US" altLang="zh-CN" dirty="0"/>
              <a:t>(Mandarin)</a:t>
            </a:r>
          </a:p>
          <a:p>
            <a:pPr marL="0" indent="0">
              <a:buFont typeface="Arial" panose="020B0604020202020204" pitchFamily="34" charset="0"/>
              <a:buNone/>
            </a:pPr>
            <a:r>
              <a:rPr lang="en-US" altLang="zh-CN" dirty="0"/>
              <a:t>ta </a:t>
            </a:r>
            <a:r>
              <a:rPr lang="en-US" altLang="zh-CN" dirty="0" err="1"/>
              <a:t>shi</a:t>
            </a:r>
            <a:r>
              <a:rPr lang="en-US" altLang="zh-CN" dirty="0"/>
              <a:t> </a:t>
            </a:r>
            <a:r>
              <a:rPr lang="en-US" altLang="zh-CN" dirty="0" err="1"/>
              <a:t>zuotian</a:t>
            </a:r>
            <a:r>
              <a:rPr lang="en-US" altLang="zh-CN" dirty="0"/>
              <a:t> </a:t>
            </a:r>
            <a:r>
              <a:rPr lang="en-US" altLang="zh-CN" dirty="0" err="1"/>
              <a:t>mai</a:t>
            </a:r>
            <a:r>
              <a:rPr lang="en-US" altLang="zh-CN" dirty="0"/>
              <a:t>-de </a:t>
            </a:r>
            <a:r>
              <a:rPr lang="en-US" altLang="zh-CN" dirty="0" err="1"/>
              <a:t>piao</a:t>
            </a:r>
            <a:endParaRPr lang="en-US" altLang="zh-CN" dirty="0"/>
          </a:p>
          <a:p>
            <a:pPr marL="0" indent="0">
              <a:buFont typeface="Arial" panose="020B0604020202020204" pitchFamily="34" charset="0"/>
              <a:buNone/>
            </a:pPr>
            <a:r>
              <a:rPr lang="en-US" altLang="zh-CN" dirty="0"/>
              <a:t>‘It was yesterday that he bought tickets.’  </a:t>
            </a:r>
            <a:r>
              <a:rPr lang="zh-CN" altLang="en-US" dirty="0"/>
              <a:t> </a:t>
            </a:r>
            <a:endParaRPr lang="en-GB" dirty="0"/>
          </a:p>
        </p:txBody>
      </p:sp>
      <p:sp>
        <p:nvSpPr>
          <p:cNvPr id="7" name="Content Placeholder 2"/>
          <p:cNvSpPr txBox="1">
            <a:spLocks/>
          </p:cNvSpPr>
          <p:nvPr/>
        </p:nvSpPr>
        <p:spPr>
          <a:xfrm>
            <a:off x="838200" y="1819737"/>
            <a:ext cx="113538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Tang (2011)/</a:t>
            </a:r>
            <a:r>
              <a:rPr lang="zh-CN" altLang="en-US" dirty="0"/>
              <a:t>鄧 </a:t>
            </a:r>
            <a:r>
              <a:rPr lang="en-US" altLang="zh-CN" dirty="0"/>
              <a:t>2008; 2009; 2010: </a:t>
            </a:r>
            <a:r>
              <a:rPr lang="en-US" dirty="0"/>
              <a:t>North vs South (</a:t>
            </a:r>
            <a:r>
              <a:rPr lang="zh-CN" altLang="en-US" dirty="0"/>
              <a:t>南北非是</a:t>
            </a:r>
            <a:r>
              <a:rPr lang="en-US" altLang="zh-CN" dirty="0"/>
              <a:t>) (</a:t>
            </a:r>
            <a:r>
              <a:rPr lang="zh-CN" altLang="en-US" dirty="0"/>
              <a:t>鄧</a:t>
            </a:r>
            <a:r>
              <a:rPr lang="en-US" altLang="zh-CN" dirty="0"/>
              <a:t> 2009:243)</a:t>
            </a:r>
            <a:endParaRPr lang="en-GB" dirty="0"/>
          </a:p>
          <a:p>
            <a:pPr marL="0" indent="0">
              <a:buFont typeface="Arial" panose="020B0604020202020204" pitchFamily="34" charset="0"/>
              <a:buNone/>
            </a:pPr>
            <a:r>
              <a:rPr lang="en-US" altLang="zh-CN" dirty="0"/>
              <a:t> </a:t>
            </a:r>
            <a:endParaRPr lang="en-GB" dirty="0"/>
          </a:p>
        </p:txBody>
      </p:sp>
      <p:sp>
        <p:nvSpPr>
          <p:cNvPr id="9" name="Content Placeholder 2"/>
          <p:cNvSpPr txBox="1">
            <a:spLocks/>
          </p:cNvSpPr>
          <p:nvPr/>
        </p:nvSpPr>
        <p:spPr>
          <a:xfrm>
            <a:off x="838198" y="2803532"/>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dirty="0"/>
              <a:t>他是昨天買票的 </a:t>
            </a:r>
            <a:r>
              <a:rPr lang="en-US" altLang="zh-CN" dirty="0"/>
              <a:t>(Mandarin)</a:t>
            </a:r>
          </a:p>
          <a:p>
            <a:pPr marL="0" indent="0">
              <a:buFont typeface="Arial" panose="020B0604020202020204" pitchFamily="34" charset="0"/>
              <a:buNone/>
            </a:pPr>
            <a:r>
              <a:rPr lang="en-US" dirty="0"/>
              <a:t>ta </a:t>
            </a:r>
            <a:r>
              <a:rPr lang="en-US" dirty="0" err="1"/>
              <a:t>shi</a:t>
            </a:r>
            <a:r>
              <a:rPr lang="en-US" dirty="0"/>
              <a:t> </a:t>
            </a:r>
            <a:r>
              <a:rPr lang="en-US" dirty="0" err="1"/>
              <a:t>zuotian</a:t>
            </a:r>
            <a:r>
              <a:rPr lang="en-US" dirty="0"/>
              <a:t> </a:t>
            </a:r>
            <a:r>
              <a:rPr lang="en-US" dirty="0" err="1"/>
              <a:t>mai</a:t>
            </a:r>
            <a:r>
              <a:rPr lang="en-US" dirty="0"/>
              <a:t> </a:t>
            </a:r>
            <a:r>
              <a:rPr lang="en-US" dirty="0" err="1"/>
              <a:t>piao</a:t>
            </a:r>
            <a:r>
              <a:rPr lang="en-US" dirty="0"/>
              <a:t> de</a:t>
            </a:r>
          </a:p>
          <a:p>
            <a:pPr marL="0" indent="0">
              <a:buFont typeface="Arial" panose="020B0604020202020204" pitchFamily="34" charset="0"/>
              <a:buNone/>
            </a:pPr>
            <a:r>
              <a:rPr lang="en-US" dirty="0"/>
              <a:t>‘It was yesterday that he bought tickets.’ </a:t>
            </a:r>
            <a:endParaRPr lang="en-GB" dirty="0"/>
          </a:p>
        </p:txBody>
      </p:sp>
      <p:sp>
        <p:nvSpPr>
          <p:cNvPr id="4" name="Rectangle 3"/>
          <p:cNvSpPr/>
          <p:nvPr/>
        </p:nvSpPr>
        <p:spPr>
          <a:xfrm>
            <a:off x="9065594" y="408397"/>
            <a:ext cx="3140242" cy="954107"/>
          </a:xfrm>
          <a:prstGeom prst="rect">
            <a:avLst/>
          </a:prstGeom>
        </p:spPr>
        <p:txBody>
          <a:bodyPr wrap="square">
            <a:spAutoFit/>
          </a:bodyPr>
          <a:lstStyle/>
          <a:p>
            <a:r>
              <a:rPr lang="en-US" sz="2800" i="1" dirty="0"/>
              <a:t>de</a:t>
            </a:r>
            <a:r>
              <a:rPr lang="en-US" sz="2800" dirty="0"/>
              <a:t> (</a:t>
            </a:r>
            <a:r>
              <a:rPr lang="zh-CN" altLang="en-US" sz="2800" dirty="0"/>
              <a:t>的</a:t>
            </a:r>
            <a:r>
              <a:rPr lang="en-US" altLang="zh-CN" sz="2800" dirty="0"/>
              <a:t>) </a:t>
            </a:r>
            <a:r>
              <a:rPr lang="en-GB" sz="2800" dirty="0"/>
              <a:t>≠  </a:t>
            </a:r>
            <a:r>
              <a:rPr lang="en-GB" sz="2800" i="1" dirty="0" err="1"/>
              <a:t>ge</a:t>
            </a:r>
            <a:r>
              <a:rPr lang="en-GB" sz="2800" dirty="0"/>
              <a:t> (</a:t>
            </a:r>
            <a:r>
              <a:rPr lang="zh-CN" altLang="en-US" sz="2800" dirty="0"/>
              <a:t>嘅）</a:t>
            </a:r>
            <a:r>
              <a:rPr lang="en-GB" altLang="zh-CN" sz="2800" dirty="0"/>
              <a:t>:</a:t>
            </a:r>
            <a:r>
              <a:rPr lang="en-US" altLang="zh-CN" sz="2800" dirty="0"/>
              <a:t> </a:t>
            </a:r>
            <a:r>
              <a:rPr lang="en-US" altLang="zh-CN" sz="2800" i="1" dirty="0" err="1"/>
              <a:t>VdeO</a:t>
            </a:r>
            <a:r>
              <a:rPr lang="en-US" altLang="zh-CN" sz="2800" dirty="0"/>
              <a:t>/*</a:t>
            </a:r>
            <a:r>
              <a:rPr lang="en-US" altLang="zh-CN" sz="2800" i="1" dirty="0" err="1"/>
              <a:t>VgeO</a:t>
            </a:r>
            <a:endParaRPr lang="en-GB" sz="2800" i="1" dirty="0"/>
          </a:p>
        </p:txBody>
      </p:sp>
      <p:sp>
        <p:nvSpPr>
          <p:cNvPr id="10" name="Content Placeholder 2"/>
          <p:cNvSpPr txBox="1">
            <a:spLocks/>
          </p:cNvSpPr>
          <p:nvPr/>
        </p:nvSpPr>
        <p:spPr>
          <a:xfrm>
            <a:off x="6095997" y="4118705"/>
            <a:ext cx="588544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dirty="0"/>
              <a:t>*</a:t>
            </a:r>
            <a:r>
              <a:rPr lang="zh-TW" altLang="en-US" b="1" dirty="0"/>
              <a:t>佢  係  琴日     買</a:t>
            </a:r>
            <a:r>
              <a:rPr lang="en-US" altLang="zh-TW" b="1" dirty="0"/>
              <a:t>-</a:t>
            </a:r>
            <a:r>
              <a:rPr lang="zh-TW" altLang="en-US" b="1" dirty="0"/>
              <a:t>嘅    非 </a:t>
            </a:r>
            <a:r>
              <a:rPr lang="en-US" altLang="zh-TW" dirty="0"/>
              <a:t>(Cantonese)</a:t>
            </a:r>
          </a:p>
          <a:p>
            <a:pPr marL="0" indent="0">
              <a:buNone/>
            </a:pPr>
            <a:r>
              <a:rPr lang="en-US" dirty="0" err="1"/>
              <a:t>keoi</a:t>
            </a:r>
            <a:r>
              <a:rPr lang="en-US" dirty="0"/>
              <a:t> </a:t>
            </a:r>
            <a:r>
              <a:rPr lang="en-US" dirty="0" err="1"/>
              <a:t>hai</a:t>
            </a:r>
            <a:r>
              <a:rPr lang="en-US" dirty="0"/>
              <a:t> </a:t>
            </a:r>
            <a:r>
              <a:rPr lang="en-US" dirty="0" err="1"/>
              <a:t>kamjat</a:t>
            </a:r>
            <a:r>
              <a:rPr lang="en-US" dirty="0"/>
              <a:t> </a:t>
            </a:r>
            <a:r>
              <a:rPr lang="en-US" dirty="0" err="1"/>
              <a:t>maai</a:t>
            </a:r>
            <a:r>
              <a:rPr lang="en-US" dirty="0"/>
              <a:t> </a:t>
            </a:r>
            <a:r>
              <a:rPr lang="en-US" dirty="0" err="1"/>
              <a:t>ge</a:t>
            </a:r>
            <a:r>
              <a:rPr lang="en-US" dirty="0"/>
              <a:t> </a:t>
            </a:r>
            <a:r>
              <a:rPr lang="en-US" dirty="0" err="1"/>
              <a:t>fei</a:t>
            </a:r>
            <a:endParaRPr lang="en-GB" dirty="0"/>
          </a:p>
        </p:txBody>
      </p:sp>
      <p:sp>
        <p:nvSpPr>
          <p:cNvPr id="11" name="Content Placeholder 2"/>
          <p:cNvSpPr txBox="1">
            <a:spLocks/>
          </p:cNvSpPr>
          <p:nvPr/>
        </p:nvSpPr>
        <p:spPr>
          <a:xfrm>
            <a:off x="5913117" y="2718638"/>
            <a:ext cx="6251208"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TW" altLang="en-US" dirty="0"/>
              <a:t>佢 </a:t>
            </a:r>
            <a:r>
              <a:rPr lang="en-US" altLang="zh-TW" dirty="0"/>
              <a:t>   </a:t>
            </a:r>
            <a:r>
              <a:rPr lang="zh-CN" altLang="en-US" dirty="0"/>
              <a:t>係  琴日    買</a:t>
            </a:r>
            <a:r>
              <a:rPr lang="zh-TW" altLang="en-US" dirty="0"/>
              <a:t>     </a:t>
            </a:r>
            <a:r>
              <a:rPr lang="zh-CN" altLang="en-US" dirty="0"/>
              <a:t>非 </a:t>
            </a:r>
            <a:r>
              <a:rPr lang="zh-TW" altLang="en-US" dirty="0"/>
              <a:t>嘅 </a:t>
            </a:r>
            <a:r>
              <a:rPr lang="en-US" altLang="zh-TW" dirty="0"/>
              <a:t>(Cantonese)</a:t>
            </a:r>
          </a:p>
          <a:p>
            <a:pPr marL="0" indent="0">
              <a:buNone/>
            </a:pPr>
            <a:r>
              <a:rPr lang="en-US" altLang="zh-TW" dirty="0" err="1"/>
              <a:t>keoi</a:t>
            </a:r>
            <a:r>
              <a:rPr lang="en-US" altLang="zh-TW" dirty="0"/>
              <a:t> </a:t>
            </a:r>
            <a:r>
              <a:rPr lang="en-US" altLang="zh-TW" dirty="0" err="1"/>
              <a:t>hai</a:t>
            </a:r>
            <a:r>
              <a:rPr lang="en-US" altLang="zh-TW" dirty="0"/>
              <a:t> </a:t>
            </a:r>
            <a:r>
              <a:rPr lang="en-US" altLang="zh-TW" dirty="0" err="1"/>
              <a:t>kamjat</a:t>
            </a:r>
            <a:r>
              <a:rPr lang="en-US" altLang="zh-TW" dirty="0"/>
              <a:t> </a:t>
            </a:r>
            <a:r>
              <a:rPr lang="en-US" altLang="zh-TW" dirty="0" err="1"/>
              <a:t>maai</a:t>
            </a:r>
            <a:r>
              <a:rPr lang="en-US" altLang="zh-TW" dirty="0"/>
              <a:t> </a:t>
            </a:r>
            <a:r>
              <a:rPr lang="en-US" altLang="zh-TW" dirty="0" err="1"/>
              <a:t>fei</a:t>
            </a:r>
            <a:r>
              <a:rPr lang="en-US" altLang="zh-TW" dirty="0"/>
              <a:t> </a:t>
            </a:r>
            <a:r>
              <a:rPr lang="en-US" altLang="zh-TW" dirty="0" err="1"/>
              <a:t>ge</a:t>
            </a:r>
            <a:endParaRPr lang="en-US" altLang="zh-TW" dirty="0"/>
          </a:p>
          <a:p>
            <a:pPr marL="0" indent="0">
              <a:buNone/>
            </a:pPr>
            <a:endParaRPr lang="en-GB" dirty="0"/>
          </a:p>
        </p:txBody>
      </p:sp>
      <p:sp>
        <p:nvSpPr>
          <p:cNvPr id="13" name="Rectangle 12"/>
          <p:cNvSpPr/>
          <p:nvPr/>
        </p:nvSpPr>
        <p:spPr>
          <a:xfrm>
            <a:off x="13836" y="5486113"/>
            <a:ext cx="12192000" cy="1384995"/>
          </a:xfrm>
          <a:prstGeom prst="rect">
            <a:avLst/>
          </a:prstGeom>
        </p:spPr>
        <p:txBody>
          <a:bodyPr wrap="square">
            <a:spAutoFit/>
          </a:bodyPr>
          <a:lstStyle/>
          <a:p>
            <a:r>
              <a:rPr lang="en-US" sz="2800" dirty="0"/>
              <a:t>Sentence-final </a:t>
            </a:r>
            <a:r>
              <a:rPr lang="en-US" sz="2800" i="1" dirty="0"/>
              <a:t>de/</a:t>
            </a:r>
            <a:r>
              <a:rPr lang="en-US" sz="2800" i="1" dirty="0" err="1"/>
              <a:t>ge</a:t>
            </a:r>
            <a:r>
              <a:rPr lang="en-US" sz="2800" dirty="0"/>
              <a:t> (SFP) expresses all TAM values, whereas verbal suffix </a:t>
            </a:r>
            <a:r>
              <a:rPr lang="en-US" sz="2800" i="1" dirty="0"/>
              <a:t>de</a:t>
            </a:r>
            <a:r>
              <a:rPr lang="en-US" sz="2800" dirty="0"/>
              <a:t> (</a:t>
            </a:r>
            <a:r>
              <a:rPr lang="en-US" sz="2800" dirty="0" err="1"/>
              <a:t>VdeO</a:t>
            </a:r>
            <a:r>
              <a:rPr lang="en-US" sz="2800" dirty="0"/>
              <a:t>) expresses past tense (Simpson and Wu (2002), Paul and Whitman (2008), Hole (2011), </a:t>
            </a:r>
            <a:r>
              <a:rPr lang="en-US" sz="2800" dirty="0" err="1"/>
              <a:t>cf</a:t>
            </a:r>
            <a:r>
              <a:rPr lang="en-US" sz="2800" dirty="0"/>
              <a:t> </a:t>
            </a:r>
            <a:r>
              <a:rPr lang="en-US" sz="2800" dirty="0" err="1"/>
              <a:t>Dragunov</a:t>
            </a:r>
            <a:r>
              <a:rPr lang="en-US" sz="2800" dirty="0"/>
              <a:t> (1952), Chao (1968), Li and Thomson (1981).</a:t>
            </a:r>
            <a:endParaRPr lang="en-GB" sz="2800" dirty="0"/>
          </a:p>
        </p:txBody>
      </p:sp>
    </p:spTree>
    <p:extLst>
      <p:ext uri="{BB962C8B-B14F-4D97-AF65-F5344CB8AC3E}">
        <p14:creationId xmlns:p14="http://schemas.microsoft.com/office/powerpoint/2010/main" val="961474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6" grpId="0"/>
      <p:bldP spid="7" grpId="0"/>
      <p:bldP spid="9" grpId="0"/>
      <p:bldP spid="4" grpId="0"/>
      <p:bldP spid="10" grpId="0"/>
      <p:bldP spid="11" grpId="0"/>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a:bodyPr>
          <a:lstStyle/>
          <a:p>
            <a:r>
              <a:rPr lang="en-US" altLang="zh-CN" dirty="0" err="1"/>
              <a:t>Nominalisation</a:t>
            </a:r>
            <a:r>
              <a:rPr lang="en-US" altLang="zh-CN" dirty="0"/>
              <a:t> in Chinese dialects: </a:t>
            </a:r>
            <a:r>
              <a:rPr lang="en-US" altLang="zh-CN" dirty="0" err="1"/>
              <a:t>microvariation</a:t>
            </a:r>
            <a:r>
              <a:rPr lang="en-US" altLang="zh-CN" dirty="0"/>
              <a:t> (</a:t>
            </a:r>
            <a:r>
              <a:rPr lang="zh-CN" altLang="en-US" dirty="0"/>
              <a:t>漢語名詞化的參數</a:t>
            </a:r>
            <a:r>
              <a:rPr lang="en-US" altLang="zh-CN" dirty="0"/>
              <a:t>) (2)</a:t>
            </a:r>
            <a:endParaRPr lang="en-GB" dirty="0"/>
          </a:p>
        </p:txBody>
      </p:sp>
      <p:sp>
        <p:nvSpPr>
          <p:cNvPr id="5" name="Content Placeholder 2"/>
          <p:cNvSpPr txBox="1">
            <a:spLocks/>
          </p:cNvSpPr>
          <p:nvPr/>
        </p:nvSpPr>
        <p:spPr>
          <a:xfrm>
            <a:off x="838200" y="1325013"/>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err="1"/>
              <a:t>Adnominaliser</a:t>
            </a:r>
            <a:r>
              <a:rPr lang="en-US" dirty="0"/>
              <a:t> (</a:t>
            </a:r>
            <a:r>
              <a:rPr lang="zh-CN" altLang="en-US" dirty="0"/>
              <a:t>結構助詞</a:t>
            </a:r>
            <a:r>
              <a:rPr lang="en-US" altLang="zh-CN" dirty="0"/>
              <a:t>): </a:t>
            </a:r>
            <a:r>
              <a:rPr lang="en-US" altLang="zh-CN" i="1" dirty="0"/>
              <a:t>de</a:t>
            </a:r>
            <a:r>
              <a:rPr lang="en-US" altLang="zh-CN" dirty="0"/>
              <a:t> (</a:t>
            </a:r>
            <a:r>
              <a:rPr lang="zh-CN" altLang="en-US" dirty="0"/>
              <a:t>的</a:t>
            </a:r>
            <a:r>
              <a:rPr lang="en-US" altLang="zh-CN" dirty="0"/>
              <a:t>) vs </a:t>
            </a:r>
            <a:r>
              <a:rPr lang="en-US" altLang="zh-CN" i="1" dirty="0" err="1"/>
              <a:t>ge</a:t>
            </a:r>
            <a:r>
              <a:rPr lang="en-US" altLang="zh-CN" dirty="0"/>
              <a:t> (</a:t>
            </a:r>
            <a:r>
              <a:rPr lang="zh-CN" altLang="en-US" dirty="0"/>
              <a:t>嘅</a:t>
            </a:r>
            <a:r>
              <a:rPr lang="en-US" altLang="zh-CN" dirty="0"/>
              <a:t>) </a:t>
            </a:r>
            <a:r>
              <a:rPr lang="zh-CN" altLang="en-US" dirty="0"/>
              <a:t> </a:t>
            </a:r>
            <a:endParaRPr lang="en-GB" dirty="0"/>
          </a:p>
        </p:txBody>
      </p:sp>
      <p:sp>
        <p:nvSpPr>
          <p:cNvPr id="6" name="Content Placeholder 2"/>
          <p:cNvSpPr txBox="1">
            <a:spLocks/>
          </p:cNvSpPr>
          <p:nvPr/>
        </p:nvSpPr>
        <p:spPr>
          <a:xfrm>
            <a:off x="838200" y="387395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t>他的 老師   當     得 好</a:t>
            </a:r>
            <a:endParaRPr lang="en-US" altLang="zh-CN" dirty="0"/>
          </a:p>
          <a:p>
            <a:pPr marL="0" indent="0">
              <a:buFont typeface="Arial" panose="020B0604020202020204" pitchFamily="34" charset="0"/>
              <a:buNone/>
            </a:pPr>
            <a:r>
              <a:rPr lang="en-US" altLang="zh-CN" dirty="0"/>
              <a:t>ta de </a:t>
            </a:r>
            <a:r>
              <a:rPr lang="en-US" altLang="zh-CN" dirty="0" err="1"/>
              <a:t>laoshi</a:t>
            </a:r>
            <a:r>
              <a:rPr lang="en-US" altLang="zh-CN" dirty="0"/>
              <a:t> dang de </a:t>
            </a:r>
            <a:r>
              <a:rPr lang="en-US" altLang="zh-CN" dirty="0" err="1"/>
              <a:t>hao</a:t>
            </a:r>
            <a:endParaRPr lang="en-US" altLang="zh-CN" dirty="0"/>
          </a:p>
          <a:p>
            <a:pPr marL="0" indent="0">
              <a:buFont typeface="Arial" panose="020B0604020202020204" pitchFamily="34" charset="0"/>
              <a:buNone/>
            </a:pPr>
            <a:r>
              <a:rPr lang="en-US" altLang="zh-CN" dirty="0"/>
              <a:t>‘He is being a good teacher.’ </a:t>
            </a:r>
            <a:endParaRPr lang="en-GB" dirty="0"/>
          </a:p>
        </p:txBody>
      </p:sp>
      <p:sp>
        <p:nvSpPr>
          <p:cNvPr id="9" name="Content Placeholder 2"/>
          <p:cNvSpPr txBox="1">
            <a:spLocks/>
          </p:cNvSpPr>
          <p:nvPr/>
        </p:nvSpPr>
        <p:spPr>
          <a:xfrm>
            <a:off x="838200" y="183146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Chinese Activity </a:t>
            </a:r>
            <a:r>
              <a:rPr lang="en-US" dirty="0" err="1"/>
              <a:t>nominals</a:t>
            </a:r>
            <a:r>
              <a:rPr lang="en-US" dirty="0"/>
              <a:t> (</a:t>
            </a:r>
            <a:r>
              <a:rPr lang="zh-CN" altLang="en-US" dirty="0"/>
              <a:t>他的老師當得好</a:t>
            </a:r>
            <a:r>
              <a:rPr lang="en-US" altLang="zh-CN" dirty="0"/>
              <a:t>) (</a:t>
            </a:r>
            <a:r>
              <a:rPr lang="zh-CN" altLang="en-US" dirty="0"/>
              <a:t>黃 </a:t>
            </a:r>
            <a:r>
              <a:rPr lang="en-US" altLang="zh-CN" dirty="0"/>
              <a:t>(2008)):</a:t>
            </a:r>
          </a:p>
          <a:p>
            <a:pPr marL="0" indent="0">
              <a:buFont typeface="Arial" panose="020B0604020202020204" pitchFamily="34" charset="0"/>
              <a:buNone/>
            </a:pPr>
            <a:r>
              <a:rPr lang="zh-CN" altLang="en-US" dirty="0"/>
              <a:t>他當他的老師</a:t>
            </a:r>
            <a:r>
              <a:rPr lang="en-US" altLang="zh-CN" dirty="0"/>
              <a:t> (Mandarin)</a:t>
            </a:r>
          </a:p>
          <a:p>
            <a:pPr marL="0" indent="0">
              <a:buFont typeface="Arial" panose="020B0604020202020204" pitchFamily="34" charset="0"/>
              <a:buNone/>
            </a:pPr>
            <a:r>
              <a:rPr lang="en-US" dirty="0"/>
              <a:t>ta de </a:t>
            </a:r>
            <a:r>
              <a:rPr lang="en-US" dirty="0" err="1"/>
              <a:t>laoshi</a:t>
            </a:r>
            <a:r>
              <a:rPr lang="en-US" dirty="0"/>
              <a:t> dang de </a:t>
            </a:r>
            <a:r>
              <a:rPr lang="en-US" dirty="0" err="1"/>
              <a:t>hao</a:t>
            </a:r>
            <a:endParaRPr lang="en-US" dirty="0"/>
          </a:p>
          <a:p>
            <a:pPr marL="0" indent="0">
              <a:buFont typeface="Arial" panose="020B0604020202020204" pitchFamily="34" charset="0"/>
              <a:buNone/>
            </a:pPr>
            <a:r>
              <a:rPr lang="en-US" dirty="0"/>
              <a:t>‘He is being a teacher.’ </a:t>
            </a:r>
            <a:endParaRPr lang="en-GB" dirty="0"/>
          </a:p>
        </p:txBody>
      </p:sp>
      <p:sp>
        <p:nvSpPr>
          <p:cNvPr id="4" name="Rectangle 3"/>
          <p:cNvSpPr/>
          <p:nvPr/>
        </p:nvSpPr>
        <p:spPr>
          <a:xfrm>
            <a:off x="0" y="5304265"/>
            <a:ext cx="12191999" cy="1384995"/>
          </a:xfrm>
          <a:prstGeom prst="rect">
            <a:avLst/>
          </a:prstGeom>
        </p:spPr>
        <p:txBody>
          <a:bodyPr wrap="square">
            <a:spAutoFit/>
          </a:bodyPr>
          <a:lstStyle/>
          <a:p>
            <a:r>
              <a:rPr lang="en-US" sz="2800" i="1" dirty="0"/>
              <a:t>de</a:t>
            </a:r>
            <a:r>
              <a:rPr lang="en-US" sz="2800" dirty="0"/>
              <a:t> (</a:t>
            </a:r>
            <a:r>
              <a:rPr lang="zh-CN" altLang="en-US" sz="2800" dirty="0"/>
              <a:t>的</a:t>
            </a:r>
            <a:r>
              <a:rPr lang="en-US" altLang="zh-CN" sz="2800" dirty="0"/>
              <a:t>) </a:t>
            </a:r>
            <a:r>
              <a:rPr lang="en-GB" sz="2800" dirty="0"/>
              <a:t>≠  </a:t>
            </a:r>
            <a:r>
              <a:rPr lang="en-GB" sz="2800" i="1" dirty="0" err="1"/>
              <a:t>ge</a:t>
            </a:r>
            <a:r>
              <a:rPr lang="en-GB" sz="2800" dirty="0"/>
              <a:t> (</a:t>
            </a:r>
            <a:r>
              <a:rPr lang="zh-CN" altLang="en-US" sz="2800" dirty="0"/>
              <a:t>嘅）</a:t>
            </a:r>
            <a:r>
              <a:rPr lang="en-US" altLang="zh-CN" sz="2800" dirty="0"/>
              <a:t>: </a:t>
            </a:r>
            <a:r>
              <a:rPr lang="en-US" altLang="zh-CN" sz="2800" i="1" dirty="0"/>
              <a:t>de</a:t>
            </a:r>
            <a:r>
              <a:rPr lang="en-US" altLang="zh-CN" sz="2800" dirty="0"/>
              <a:t>, not </a:t>
            </a:r>
            <a:r>
              <a:rPr lang="en-US" altLang="zh-CN" sz="2800" i="1" dirty="0" err="1"/>
              <a:t>ge</a:t>
            </a:r>
            <a:r>
              <a:rPr lang="en-US" altLang="zh-CN" sz="2800" dirty="0"/>
              <a:t>, can head Activity </a:t>
            </a:r>
            <a:r>
              <a:rPr lang="en-US" altLang="zh-CN" sz="2800" dirty="0" err="1"/>
              <a:t>nominals</a:t>
            </a:r>
            <a:r>
              <a:rPr lang="en-US" altLang="zh-CN" sz="2800" dirty="0"/>
              <a:t> (</a:t>
            </a:r>
            <a:r>
              <a:rPr lang="zh-CN" altLang="en-US" sz="2800" dirty="0"/>
              <a:t>他的老師</a:t>
            </a:r>
            <a:r>
              <a:rPr lang="en-US" altLang="zh-CN" sz="2800" dirty="0"/>
              <a:t>/*</a:t>
            </a:r>
            <a:r>
              <a:rPr lang="zh-TW" altLang="en-US" sz="2800" dirty="0"/>
              <a:t>佢嘅</a:t>
            </a:r>
            <a:r>
              <a:rPr lang="zh-CN" altLang="en-US" sz="2800" dirty="0"/>
              <a:t>老師）</a:t>
            </a:r>
            <a:r>
              <a:rPr lang="en-US" altLang="zh-CN" sz="2800" dirty="0"/>
              <a:t>in subject position, whereas both </a:t>
            </a:r>
            <a:r>
              <a:rPr lang="en-US" altLang="zh-CN" sz="2800" i="1" dirty="0"/>
              <a:t>de</a:t>
            </a:r>
            <a:r>
              <a:rPr lang="en-US" altLang="zh-CN" sz="2800" dirty="0"/>
              <a:t> and </a:t>
            </a:r>
            <a:r>
              <a:rPr lang="en-US" altLang="zh-CN" sz="2800" i="1" dirty="0" err="1"/>
              <a:t>ge</a:t>
            </a:r>
            <a:r>
              <a:rPr lang="en-US" altLang="zh-CN" sz="2800" dirty="0"/>
              <a:t> can do so in object position (</a:t>
            </a:r>
            <a:r>
              <a:rPr lang="zh-CN" altLang="en-US" sz="2800" dirty="0"/>
              <a:t>他當他的老師</a:t>
            </a:r>
            <a:r>
              <a:rPr lang="en-US" altLang="zh-CN" sz="2800" dirty="0"/>
              <a:t>/</a:t>
            </a:r>
            <a:r>
              <a:rPr lang="zh-TW" altLang="en-US" sz="2800" dirty="0"/>
              <a:t>佢</a:t>
            </a:r>
            <a:r>
              <a:rPr lang="zh-CN" altLang="en-US" sz="2800" dirty="0"/>
              <a:t>做</a:t>
            </a:r>
            <a:r>
              <a:rPr lang="zh-TW" altLang="en-US" sz="2800" dirty="0"/>
              <a:t>佢嘅</a:t>
            </a:r>
            <a:r>
              <a:rPr lang="zh-CN" altLang="en-US" sz="2800" dirty="0"/>
              <a:t>老師）</a:t>
            </a:r>
            <a:r>
              <a:rPr lang="en-US" altLang="zh-CN" sz="2800" dirty="0"/>
              <a:t>. </a:t>
            </a:r>
            <a:r>
              <a:rPr lang="zh-TW" altLang="en-US" sz="2800" dirty="0"/>
              <a:t> </a:t>
            </a:r>
            <a:endParaRPr lang="en-GB" sz="2800" dirty="0"/>
          </a:p>
        </p:txBody>
      </p:sp>
      <p:sp>
        <p:nvSpPr>
          <p:cNvPr id="10" name="Content Placeholder 2"/>
          <p:cNvSpPr txBox="1">
            <a:spLocks/>
          </p:cNvSpPr>
          <p:nvPr/>
        </p:nvSpPr>
        <p:spPr>
          <a:xfrm>
            <a:off x="4989694" y="2337373"/>
            <a:ext cx="588544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TW" altLang="en-US" dirty="0"/>
              <a:t>佢    </a:t>
            </a:r>
            <a:r>
              <a:rPr lang="zh-CN" altLang="en-US" dirty="0"/>
              <a:t>做</a:t>
            </a:r>
            <a:r>
              <a:rPr lang="zh-TW" altLang="en-US" dirty="0"/>
              <a:t>   佢   嘅 </a:t>
            </a:r>
            <a:r>
              <a:rPr lang="zh-CN" altLang="en-US" dirty="0"/>
              <a:t>老師</a:t>
            </a:r>
            <a:r>
              <a:rPr lang="zh-TW" altLang="en-US" dirty="0"/>
              <a:t>  </a:t>
            </a:r>
            <a:r>
              <a:rPr lang="en-US" altLang="zh-TW" dirty="0"/>
              <a:t>(Cantonese)</a:t>
            </a:r>
          </a:p>
          <a:p>
            <a:pPr marL="0" indent="0">
              <a:buNone/>
            </a:pPr>
            <a:r>
              <a:rPr lang="en-US" dirty="0" err="1"/>
              <a:t>ke</a:t>
            </a:r>
            <a:r>
              <a:rPr lang="en-US" altLang="zh-CN" dirty="0" err="1"/>
              <a:t>o</a:t>
            </a:r>
            <a:r>
              <a:rPr lang="en-US" dirty="0" err="1"/>
              <a:t>i</a:t>
            </a:r>
            <a:r>
              <a:rPr lang="en-US" dirty="0"/>
              <a:t> </a:t>
            </a:r>
            <a:r>
              <a:rPr lang="en-US" dirty="0" err="1"/>
              <a:t>zou</a:t>
            </a:r>
            <a:r>
              <a:rPr lang="en-US" dirty="0"/>
              <a:t> </a:t>
            </a:r>
            <a:r>
              <a:rPr lang="en-US" dirty="0" err="1"/>
              <a:t>keoi</a:t>
            </a:r>
            <a:r>
              <a:rPr lang="en-US" dirty="0"/>
              <a:t> </a:t>
            </a:r>
            <a:r>
              <a:rPr lang="en-US" dirty="0" err="1"/>
              <a:t>ge</a:t>
            </a:r>
            <a:r>
              <a:rPr lang="en-US" dirty="0"/>
              <a:t> </a:t>
            </a:r>
            <a:r>
              <a:rPr lang="en-US" dirty="0" err="1"/>
              <a:t>lousi</a:t>
            </a:r>
            <a:endParaRPr lang="en-US" dirty="0"/>
          </a:p>
        </p:txBody>
      </p:sp>
      <p:sp>
        <p:nvSpPr>
          <p:cNvPr id="11" name="Content Placeholder 2"/>
          <p:cNvSpPr txBox="1">
            <a:spLocks/>
          </p:cNvSpPr>
          <p:nvPr/>
        </p:nvSpPr>
        <p:spPr>
          <a:xfrm>
            <a:off x="4989693" y="3873955"/>
            <a:ext cx="588544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dirty="0"/>
              <a:t>*</a:t>
            </a:r>
            <a:r>
              <a:rPr lang="zh-TW" altLang="en-US" b="1" dirty="0"/>
              <a:t>佢  嘅 老師 做  得   好 </a:t>
            </a:r>
            <a:endParaRPr lang="en-US" altLang="zh-TW" b="1" dirty="0"/>
          </a:p>
          <a:p>
            <a:pPr marL="0" indent="0">
              <a:buNone/>
            </a:pPr>
            <a:r>
              <a:rPr lang="en-US" dirty="0" err="1"/>
              <a:t>keui</a:t>
            </a:r>
            <a:r>
              <a:rPr lang="en-US" dirty="0"/>
              <a:t> </a:t>
            </a:r>
            <a:r>
              <a:rPr lang="en-US" dirty="0" err="1"/>
              <a:t>ge</a:t>
            </a:r>
            <a:r>
              <a:rPr lang="en-US" dirty="0"/>
              <a:t> </a:t>
            </a:r>
            <a:r>
              <a:rPr lang="en-US" dirty="0" err="1"/>
              <a:t>lousi</a:t>
            </a:r>
            <a:r>
              <a:rPr lang="en-US" dirty="0"/>
              <a:t> </a:t>
            </a:r>
            <a:r>
              <a:rPr lang="en-US" dirty="0" err="1"/>
              <a:t>zou</a:t>
            </a:r>
            <a:r>
              <a:rPr lang="en-US" dirty="0"/>
              <a:t> </a:t>
            </a:r>
            <a:r>
              <a:rPr lang="en-US" dirty="0" err="1"/>
              <a:t>dak</a:t>
            </a:r>
            <a:r>
              <a:rPr lang="en-US" dirty="0"/>
              <a:t> </a:t>
            </a:r>
            <a:r>
              <a:rPr lang="en-US" dirty="0" err="1"/>
              <a:t>hou</a:t>
            </a:r>
            <a:endParaRPr lang="en-US" dirty="0"/>
          </a:p>
          <a:p>
            <a:pPr marL="0" indent="0">
              <a:buNone/>
            </a:pPr>
            <a:endParaRPr lang="en-GB" dirty="0"/>
          </a:p>
        </p:txBody>
      </p:sp>
      <p:sp>
        <p:nvSpPr>
          <p:cNvPr id="13" name="Rectangle 12"/>
          <p:cNvSpPr/>
          <p:nvPr/>
        </p:nvSpPr>
        <p:spPr>
          <a:xfrm>
            <a:off x="10001250" y="114614"/>
            <a:ext cx="2190750" cy="4832092"/>
          </a:xfrm>
          <a:prstGeom prst="rect">
            <a:avLst/>
          </a:prstGeom>
        </p:spPr>
        <p:txBody>
          <a:bodyPr wrap="square">
            <a:spAutoFit/>
          </a:bodyPr>
          <a:lstStyle/>
          <a:p>
            <a:r>
              <a:rPr lang="en-GB" sz="2800" i="1" dirty="0" err="1"/>
              <a:t>ge</a:t>
            </a:r>
            <a:r>
              <a:rPr lang="en-GB" sz="2800" dirty="0"/>
              <a:t> (</a:t>
            </a:r>
            <a:r>
              <a:rPr lang="zh-CN" altLang="en-US" sz="2800" dirty="0"/>
              <a:t>嘅</a:t>
            </a:r>
            <a:r>
              <a:rPr lang="en-US" altLang="zh-CN" sz="2800" dirty="0"/>
              <a:t>) is more marked than </a:t>
            </a:r>
            <a:r>
              <a:rPr lang="en-US" altLang="zh-CN" sz="2800" i="1" dirty="0"/>
              <a:t>de </a:t>
            </a:r>
            <a:r>
              <a:rPr lang="en-US" altLang="zh-CN" sz="2800" dirty="0"/>
              <a:t>(</a:t>
            </a:r>
            <a:r>
              <a:rPr lang="zh-CN" altLang="en-US" sz="2800" dirty="0"/>
              <a:t>的</a:t>
            </a:r>
            <a:r>
              <a:rPr lang="en-US" altLang="zh-CN" sz="2800" dirty="0"/>
              <a:t>) since it does not occur in past-time clefts or Activity </a:t>
            </a:r>
            <a:r>
              <a:rPr lang="en-US" altLang="zh-CN" sz="2800" dirty="0" err="1"/>
              <a:t>nominals</a:t>
            </a:r>
            <a:r>
              <a:rPr lang="en-US" altLang="zh-CN" sz="2800" dirty="0"/>
              <a:t> in subject position. </a:t>
            </a:r>
            <a:endParaRPr lang="en-GB" sz="2800" dirty="0"/>
          </a:p>
        </p:txBody>
      </p:sp>
    </p:spTree>
    <p:extLst>
      <p:ext uri="{BB962C8B-B14F-4D97-AF65-F5344CB8AC3E}">
        <p14:creationId xmlns:p14="http://schemas.microsoft.com/office/powerpoint/2010/main" val="1848096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9" grpId="0"/>
      <p:bldP spid="4" grpId="0"/>
      <p:bldP spid="10" grpId="0"/>
      <p:bldP spid="11" grpId="0"/>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dirty="0"/>
              <a:t>Dialectal </a:t>
            </a:r>
            <a:r>
              <a:rPr lang="en-US" dirty="0" err="1"/>
              <a:t>microvariation</a:t>
            </a:r>
            <a:r>
              <a:rPr lang="en-US" dirty="0"/>
              <a:t> (Tang/</a:t>
            </a:r>
            <a:r>
              <a:rPr lang="zh-CN" altLang="en-US" dirty="0"/>
              <a:t>鄧</a:t>
            </a:r>
            <a:r>
              <a:rPr lang="en-US" dirty="0"/>
              <a:t> (2009, 2010, 2011)</a:t>
            </a:r>
            <a:endParaRPr lang="en-GB" dirty="0"/>
          </a:p>
        </p:txBody>
      </p:sp>
      <p:sp>
        <p:nvSpPr>
          <p:cNvPr id="4" name="Content Placeholder 2"/>
          <p:cNvSpPr txBox="1">
            <a:spLocks/>
          </p:cNvSpPr>
          <p:nvPr/>
        </p:nvSpPr>
        <p:spPr>
          <a:xfrm>
            <a:off x="0" y="1325563"/>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Dialectal variation: North (</a:t>
            </a:r>
            <a:r>
              <a:rPr lang="zh-CN" altLang="en-US" dirty="0"/>
              <a:t>的 </a:t>
            </a:r>
            <a:r>
              <a:rPr lang="en-US" altLang="zh-CN" dirty="0"/>
              <a:t>(</a:t>
            </a:r>
            <a:r>
              <a:rPr lang="en-US" altLang="zh-CN" i="1" dirty="0"/>
              <a:t>de</a:t>
            </a:r>
            <a:r>
              <a:rPr lang="en-US" altLang="zh-CN" dirty="0"/>
              <a:t>)) </a:t>
            </a:r>
            <a:r>
              <a:rPr lang="en-US" dirty="0"/>
              <a:t>vs South (</a:t>
            </a:r>
            <a:r>
              <a:rPr lang="zh-CN" altLang="en-US" dirty="0"/>
              <a:t>個</a:t>
            </a:r>
            <a:r>
              <a:rPr lang="en-US" altLang="zh-CN" dirty="0"/>
              <a:t>/</a:t>
            </a:r>
            <a:r>
              <a:rPr lang="zh-TW" altLang="en-US" dirty="0"/>
              <a:t>嘅</a:t>
            </a:r>
            <a:r>
              <a:rPr lang="en-US" altLang="zh-TW" dirty="0"/>
              <a:t> (</a:t>
            </a:r>
            <a:r>
              <a:rPr lang="en-US" altLang="zh-TW" i="1" dirty="0" err="1"/>
              <a:t>ge</a:t>
            </a:r>
            <a:r>
              <a:rPr lang="en-US" altLang="zh-TW" dirty="0"/>
              <a:t>) </a:t>
            </a:r>
            <a:r>
              <a:rPr lang="en-US" dirty="0"/>
              <a:t>(</a:t>
            </a:r>
            <a:r>
              <a:rPr lang="zh-CN" altLang="en-US" dirty="0"/>
              <a:t>南北非是 </a:t>
            </a:r>
            <a:r>
              <a:rPr lang="en-US" altLang="zh-CN" dirty="0"/>
              <a:t>(</a:t>
            </a:r>
            <a:r>
              <a:rPr lang="zh-CN" altLang="en-US" dirty="0"/>
              <a:t>鄧</a:t>
            </a:r>
            <a:r>
              <a:rPr lang="en-US" altLang="zh-CN" dirty="0"/>
              <a:t> (2009))</a:t>
            </a:r>
            <a:r>
              <a:rPr lang="en-US" dirty="0"/>
              <a:t> </a:t>
            </a:r>
            <a:endParaRPr lang="en-GB" dirty="0"/>
          </a:p>
        </p:txBody>
      </p:sp>
      <p:sp>
        <p:nvSpPr>
          <p:cNvPr id="6" name="Content Placeholder 2"/>
          <p:cNvSpPr txBox="1">
            <a:spLocks/>
          </p:cNvSpPr>
          <p:nvPr/>
        </p:nvSpPr>
        <p:spPr>
          <a:xfrm>
            <a:off x="0" y="1833951"/>
            <a:ext cx="12192000" cy="36645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t>伊</a:t>
            </a:r>
            <a:r>
              <a:rPr lang="en-GB" altLang="zh-CN" dirty="0"/>
              <a:t>	</a:t>
            </a:r>
            <a:r>
              <a:rPr lang="zh-CN" altLang="en-US" dirty="0"/>
              <a:t>當</a:t>
            </a:r>
            <a:r>
              <a:rPr lang="en-GB" altLang="zh-CN" dirty="0"/>
              <a:t>	</a:t>
            </a:r>
            <a:r>
              <a:rPr lang="zh-CN" altLang="en-US" dirty="0"/>
              <a:t>伊</a:t>
            </a:r>
            <a:r>
              <a:rPr lang="en-GB" altLang="zh-CN" dirty="0"/>
              <a:t>	</a:t>
            </a:r>
            <a:r>
              <a:rPr lang="zh-CN" altLang="en-US" dirty="0"/>
              <a:t>格</a:t>
            </a:r>
            <a:r>
              <a:rPr lang="en-GB" altLang="zh-CN" dirty="0"/>
              <a:t>	</a:t>
            </a:r>
            <a:r>
              <a:rPr lang="zh-CN" altLang="en-US" dirty="0"/>
              <a:t>老師，*</a:t>
            </a:r>
            <a:r>
              <a:rPr lang="zh-CN" altLang="en-US" b="1" dirty="0"/>
              <a:t>伊</a:t>
            </a:r>
            <a:r>
              <a:rPr lang="en-GB" altLang="zh-CN" b="1" dirty="0"/>
              <a:t>	</a:t>
            </a:r>
            <a:r>
              <a:rPr lang="zh-CN" altLang="en-US" b="1" dirty="0"/>
              <a:t>格</a:t>
            </a:r>
            <a:r>
              <a:rPr lang="en-GB" altLang="zh-CN" b="1" dirty="0"/>
              <a:t>	</a:t>
            </a:r>
            <a:r>
              <a:rPr lang="zh-CN" altLang="en-US" b="1" dirty="0"/>
              <a:t>老師</a:t>
            </a:r>
            <a:r>
              <a:rPr lang="en-GB" altLang="zh-CN" b="1" dirty="0"/>
              <a:t>	    </a:t>
            </a:r>
            <a:r>
              <a:rPr lang="zh-CN" altLang="en-US" b="1" dirty="0"/>
              <a:t>當</a:t>
            </a:r>
            <a:r>
              <a:rPr lang="en-GB" altLang="zh-CN" b="1" dirty="0"/>
              <a:t>	</a:t>
            </a:r>
            <a:r>
              <a:rPr lang="zh-CN" altLang="en-US" b="1" dirty="0"/>
              <a:t>甲</a:t>
            </a:r>
            <a:r>
              <a:rPr lang="en-GB" altLang="zh-CN" b="1" dirty="0"/>
              <a:t>	</a:t>
            </a:r>
            <a:r>
              <a:rPr lang="zh-CN" altLang="en-US" b="1" dirty="0"/>
              <a:t>好 </a:t>
            </a:r>
            <a:r>
              <a:rPr lang="en-US" altLang="zh-CN" dirty="0"/>
              <a:t>(Shanghainese)  </a:t>
            </a:r>
          </a:p>
          <a:p>
            <a:pPr marL="0" indent="0">
              <a:buNone/>
            </a:pPr>
            <a:r>
              <a:rPr lang="zh-TW" altLang="en-US" dirty="0"/>
              <a:t>佢</a:t>
            </a:r>
            <a:r>
              <a:rPr lang="en-GB" altLang="zh-TW" dirty="0"/>
              <a:t>	</a:t>
            </a:r>
            <a:r>
              <a:rPr lang="zh-CN" altLang="en-US" dirty="0"/>
              <a:t>當</a:t>
            </a:r>
            <a:r>
              <a:rPr lang="en-GB" altLang="zh-CN" dirty="0"/>
              <a:t>	</a:t>
            </a:r>
            <a:r>
              <a:rPr lang="zh-TW" altLang="en-US" dirty="0"/>
              <a:t>佢</a:t>
            </a:r>
            <a:r>
              <a:rPr lang="en-GB" altLang="zh-TW" dirty="0"/>
              <a:t>	</a:t>
            </a:r>
            <a:r>
              <a:rPr lang="zh-TW" altLang="en-US" dirty="0"/>
              <a:t>个</a:t>
            </a:r>
            <a:r>
              <a:rPr lang="en-GB" altLang="zh-TW" dirty="0"/>
              <a:t>	</a:t>
            </a:r>
            <a:r>
              <a:rPr lang="zh-CN" altLang="en-US" dirty="0"/>
              <a:t>先生，</a:t>
            </a:r>
            <a:r>
              <a:rPr lang="en-US" altLang="zh-TW" dirty="0"/>
              <a:t>*</a:t>
            </a:r>
            <a:r>
              <a:rPr lang="zh-TW" altLang="en-US" b="1" dirty="0"/>
              <a:t>佢</a:t>
            </a:r>
            <a:r>
              <a:rPr lang="en-GB" altLang="zh-TW" b="1" dirty="0"/>
              <a:t>	</a:t>
            </a:r>
            <a:r>
              <a:rPr lang="zh-TW" altLang="en-US" b="1" dirty="0"/>
              <a:t>个</a:t>
            </a:r>
            <a:r>
              <a:rPr lang="en-GB" altLang="zh-TW" b="1" dirty="0"/>
              <a:t>	</a:t>
            </a:r>
            <a:r>
              <a:rPr lang="zh-CN" altLang="en-US" b="1" dirty="0"/>
              <a:t>先生</a:t>
            </a:r>
            <a:r>
              <a:rPr lang="en-GB" altLang="zh-CN" b="1" dirty="0"/>
              <a:t>	    </a:t>
            </a:r>
            <a:r>
              <a:rPr lang="zh-CN" altLang="en-US" b="1" dirty="0"/>
              <a:t>當</a:t>
            </a:r>
            <a:r>
              <a:rPr lang="en-GB" altLang="zh-CN" b="1" dirty="0"/>
              <a:t>	</a:t>
            </a:r>
            <a:r>
              <a:rPr lang="zh-CN" altLang="en-US" b="1" dirty="0"/>
              <a:t>好</a:t>
            </a:r>
            <a:r>
              <a:rPr lang="en-GB" altLang="zh-CN" b="1" dirty="0"/>
              <a:t>	</a:t>
            </a:r>
            <a:r>
              <a:rPr lang="zh-CN" altLang="en-US" b="1" dirty="0"/>
              <a:t>險 </a:t>
            </a:r>
            <a:r>
              <a:rPr lang="en-US" altLang="zh-CN" dirty="0"/>
              <a:t>(Wenzhou</a:t>
            </a:r>
            <a:r>
              <a:rPr lang="en-US" altLang="zh-TW" dirty="0"/>
              <a:t>)</a:t>
            </a:r>
          </a:p>
          <a:p>
            <a:pPr marL="0" indent="0">
              <a:buNone/>
            </a:pPr>
            <a:r>
              <a:rPr lang="zh-TW" altLang="en-US" dirty="0"/>
              <a:t>佢</a:t>
            </a:r>
            <a:r>
              <a:rPr lang="en-GB" altLang="zh-TW" dirty="0"/>
              <a:t>	</a:t>
            </a:r>
            <a:r>
              <a:rPr lang="zh-CN" altLang="en-US" dirty="0"/>
              <a:t>當</a:t>
            </a:r>
            <a:r>
              <a:rPr lang="en-GB" altLang="zh-CN" dirty="0"/>
              <a:t>	</a:t>
            </a:r>
            <a:r>
              <a:rPr lang="zh-TW" altLang="en-US" dirty="0"/>
              <a:t>佢</a:t>
            </a:r>
            <a:r>
              <a:rPr lang="en-GB" altLang="zh-TW" dirty="0"/>
              <a:t>	</a:t>
            </a:r>
            <a:r>
              <a:rPr lang="zh-TW" altLang="en-US" dirty="0"/>
              <a:t>个</a:t>
            </a:r>
            <a:r>
              <a:rPr lang="en-GB" altLang="zh-TW" dirty="0"/>
              <a:t>	</a:t>
            </a:r>
            <a:r>
              <a:rPr lang="zh-CN" altLang="en-US" dirty="0"/>
              <a:t>老師，</a:t>
            </a:r>
            <a:r>
              <a:rPr lang="en-US" altLang="zh-CN" dirty="0"/>
              <a:t>*</a:t>
            </a:r>
            <a:r>
              <a:rPr lang="zh-TW" altLang="en-US" b="1" dirty="0"/>
              <a:t>佢</a:t>
            </a:r>
            <a:r>
              <a:rPr lang="en-GB" altLang="zh-TW" b="1" dirty="0"/>
              <a:t>	</a:t>
            </a:r>
            <a:r>
              <a:rPr lang="zh-TW" altLang="en-US" b="1" dirty="0"/>
              <a:t>个</a:t>
            </a:r>
            <a:r>
              <a:rPr lang="en-GB" altLang="zh-TW" b="1" dirty="0"/>
              <a:t>	</a:t>
            </a:r>
            <a:r>
              <a:rPr lang="zh-CN" altLang="en-US" b="1" dirty="0"/>
              <a:t>老師</a:t>
            </a:r>
            <a:r>
              <a:rPr lang="en-GB" altLang="zh-CN" b="1" dirty="0"/>
              <a:t>	    </a:t>
            </a:r>
            <a:r>
              <a:rPr lang="zh-CN" altLang="en-US" b="1" dirty="0"/>
              <a:t>當</a:t>
            </a:r>
            <a:r>
              <a:rPr lang="en-GB" altLang="zh-CN" b="1" dirty="0"/>
              <a:t>	</a:t>
            </a:r>
            <a:r>
              <a:rPr lang="zh-CN" altLang="en-US" b="1" dirty="0"/>
              <a:t>得</a:t>
            </a:r>
            <a:r>
              <a:rPr lang="en-GB" altLang="zh-CN" b="1" dirty="0"/>
              <a:t>	</a:t>
            </a:r>
            <a:r>
              <a:rPr lang="zh-CN" altLang="en-US" b="1" dirty="0"/>
              <a:t>好 </a:t>
            </a:r>
            <a:r>
              <a:rPr lang="en-US" altLang="zh-CN" dirty="0"/>
              <a:t>(Xiang dialect)</a:t>
            </a:r>
          </a:p>
          <a:p>
            <a:pPr marL="0" indent="0">
              <a:buNone/>
            </a:pPr>
            <a:r>
              <a:rPr lang="zh-CN" altLang="en-US" dirty="0"/>
              <a:t>伊</a:t>
            </a:r>
            <a:r>
              <a:rPr lang="en-GB" altLang="zh-CN" dirty="0"/>
              <a:t>	</a:t>
            </a:r>
            <a:r>
              <a:rPr lang="zh-CN" altLang="en-US" dirty="0"/>
              <a:t>當</a:t>
            </a:r>
            <a:r>
              <a:rPr lang="en-GB" altLang="zh-CN" dirty="0"/>
              <a:t>	</a:t>
            </a:r>
            <a:r>
              <a:rPr lang="zh-CN" altLang="en-US" dirty="0"/>
              <a:t>伊</a:t>
            </a:r>
            <a:r>
              <a:rPr lang="en-GB" altLang="zh-CN" dirty="0"/>
              <a:t>	</a:t>
            </a:r>
            <a:r>
              <a:rPr lang="zh-CN" altLang="en-US" dirty="0"/>
              <a:t>個</a:t>
            </a:r>
            <a:r>
              <a:rPr lang="en-GB" altLang="zh-CN" dirty="0"/>
              <a:t>	</a:t>
            </a:r>
            <a:r>
              <a:rPr lang="zh-CN" altLang="en-US" dirty="0"/>
              <a:t>老師，</a:t>
            </a:r>
            <a:r>
              <a:rPr lang="en-US" altLang="zh-CN" dirty="0"/>
              <a:t>*</a:t>
            </a:r>
            <a:r>
              <a:rPr lang="zh-CN" altLang="en-US" b="1" dirty="0"/>
              <a:t>伊</a:t>
            </a:r>
            <a:r>
              <a:rPr lang="en-US" altLang="zh-CN" b="1" dirty="0"/>
              <a:t>	</a:t>
            </a:r>
            <a:r>
              <a:rPr lang="zh-CN" altLang="en-US" b="1" dirty="0"/>
              <a:t>個</a:t>
            </a:r>
            <a:r>
              <a:rPr lang="en-US" altLang="zh-CN" b="1" dirty="0"/>
              <a:t>	</a:t>
            </a:r>
            <a:r>
              <a:rPr lang="zh-CN" altLang="en-US" b="1" dirty="0"/>
              <a:t>老師</a:t>
            </a:r>
            <a:r>
              <a:rPr lang="en-US" altLang="zh-CN" b="1" dirty="0"/>
              <a:t>	    </a:t>
            </a:r>
            <a:r>
              <a:rPr lang="zh-CN" altLang="en-US" b="1" dirty="0"/>
              <a:t>當</a:t>
            </a:r>
            <a:r>
              <a:rPr lang="en-US" altLang="zh-CN" b="1" dirty="0"/>
              <a:t>	</a:t>
            </a:r>
            <a:r>
              <a:rPr lang="zh-CN" altLang="en-US" b="1" dirty="0"/>
              <a:t>甲</a:t>
            </a:r>
            <a:r>
              <a:rPr lang="en-US" altLang="zh-CN" b="1" dirty="0"/>
              <a:t>	 </a:t>
            </a:r>
            <a:r>
              <a:rPr lang="zh-CN" altLang="en-US" b="1" dirty="0"/>
              <a:t>好 </a:t>
            </a:r>
            <a:r>
              <a:rPr lang="en-US" altLang="zh-CN" dirty="0"/>
              <a:t>(Taiwan Min)</a:t>
            </a:r>
          </a:p>
          <a:p>
            <a:pPr marL="0" indent="0">
              <a:buNone/>
            </a:pPr>
            <a:r>
              <a:rPr lang="en-US" altLang="zh-CN" dirty="0"/>
              <a:t>he	does	he	NOM	teacher  he	NOM	teacher  be	COMP	 good</a:t>
            </a:r>
          </a:p>
          <a:p>
            <a:pPr marL="0" indent="0">
              <a:buNone/>
            </a:pPr>
            <a:r>
              <a:rPr lang="en-US" altLang="zh-CN" dirty="0"/>
              <a:t>‘He is being a teacher, his being a teacher is done well.’ </a:t>
            </a:r>
          </a:p>
        </p:txBody>
      </p:sp>
      <p:sp>
        <p:nvSpPr>
          <p:cNvPr id="11" name="Content Placeholder 2"/>
          <p:cNvSpPr txBox="1">
            <a:spLocks/>
          </p:cNvSpPr>
          <p:nvPr/>
        </p:nvSpPr>
        <p:spPr>
          <a:xfrm>
            <a:off x="0" y="4894603"/>
            <a:ext cx="13030199" cy="15645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dirty="0"/>
              <a:t>Northern </a:t>
            </a:r>
            <a:r>
              <a:rPr lang="en-US" altLang="zh-CN" i="1" dirty="0"/>
              <a:t>de/</a:t>
            </a:r>
            <a:r>
              <a:rPr lang="en-US" altLang="zh-CN" dirty="0"/>
              <a:t>Southern *</a:t>
            </a:r>
            <a:r>
              <a:rPr lang="en-US" altLang="zh-CN" i="1" dirty="0" err="1"/>
              <a:t>ge</a:t>
            </a:r>
            <a:r>
              <a:rPr lang="en-US" altLang="zh-CN" dirty="0"/>
              <a:t> in Activity </a:t>
            </a:r>
            <a:r>
              <a:rPr lang="en-US" altLang="zh-CN" dirty="0" err="1"/>
              <a:t>nominals</a:t>
            </a:r>
            <a:r>
              <a:rPr lang="en-US" altLang="zh-CN" dirty="0"/>
              <a:t> in subject position  </a:t>
            </a:r>
          </a:p>
        </p:txBody>
      </p:sp>
      <p:sp>
        <p:nvSpPr>
          <p:cNvPr id="7" name="Content Placeholder 2"/>
          <p:cNvSpPr txBox="1">
            <a:spLocks/>
          </p:cNvSpPr>
          <p:nvPr/>
        </p:nvSpPr>
        <p:spPr>
          <a:xfrm>
            <a:off x="0" y="5498461"/>
            <a:ext cx="12192000" cy="13595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i="1" dirty="0"/>
              <a:t>de/</a:t>
            </a:r>
            <a:r>
              <a:rPr lang="en-US" b="1" i="1" dirty="0" err="1"/>
              <a:t>ge</a:t>
            </a:r>
            <a:r>
              <a:rPr lang="en-US" b="1" i="1" dirty="0"/>
              <a:t> </a:t>
            </a:r>
            <a:r>
              <a:rPr lang="en-US" b="1" dirty="0"/>
              <a:t>when Activity nominal (</a:t>
            </a:r>
            <a:r>
              <a:rPr lang="en-US" b="1" i="1" dirty="0"/>
              <a:t>ta de </a:t>
            </a:r>
            <a:r>
              <a:rPr lang="en-US" b="1" i="1" dirty="0" err="1"/>
              <a:t>laoshi</a:t>
            </a:r>
            <a:r>
              <a:rPr lang="en-US" b="1" dirty="0"/>
              <a:t>/</a:t>
            </a:r>
            <a:r>
              <a:rPr lang="en-US" b="1" i="1" dirty="0" err="1"/>
              <a:t>keoi</a:t>
            </a:r>
            <a:r>
              <a:rPr lang="en-US" b="1" i="1" dirty="0"/>
              <a:t> </a:t>
            </a:r>
            <a:r>
              <a:rPr lang="en-US" b="1" i="1" dirty="0" err="1"/>
              <a:t>ge</a:t>
            </a:r>
            <a:r>
              <a:rPr lang="en-US" b="1" i="1" dirty="0"/>
              <a:t> </a:t>
            </a:r>
            <a:r>
              <a:rPr lang="en-US" b="1" i="1" dirty="0" err="1"/>
              <a:t>lousi</a:t>
            </a:r>
            <a:r>
              <a:rPr lang="en-US" b="1" dirty="0"/>
              <a:t>) is in object position</a:t>
            </a:r>
          </a:p>
          <a:p>
            <a:pPr marL="0" indent="0">
              <a:buFont typeface="Arial" panose="020B0604020202020204" pitchFamily="34" charset="0"/>
              <a:buNone/>
            </a:pPr>
            <a:r>
              <a:rPr lang="en-US" b="1" i="1" dirty="0"/>
              <a:t>de/</a:t>
            </a:r>
            <a:r>
              <a:rPr lang="en-US" b="1" dirty="0"/>
              <a:t>*</a:t>
            </a:r>
            <a:r>
              <a:rPr lang="en-US" b="1" i="1" dirty="0" err="1"/>
              <a:t>ge</a:t>
            </a:r>
            <a:r>
              <a:rPr lang="en-US" b="1" dirty="0"/>
              <a:t> when Activity nominal (</a:t>
            </a:r>
            <a:r>
              <a:rPr lang="en-US" b="1" i="1" dirty="0"/>
              <a:t>ta de </a:t>
            </a:r>
            <a:r>
              <a:rPr lang="en-US" b="1" i="1" dirty="0" err="1"/>
              <a:t>laoshi</a:t>
            </a:r>
            <a:r>
              <a:rPr lang="en-US" b="1" i="1" dirty="0"/>
              <a:t>/*</a:t>
            </a:r>
            <a:r>
              <a:rPr lang="en-US" b="1" i="1" dirty="0" err="1"/>
              <a:t>keoi</a:t>
            </a:r>
            <a:r>
              <a:rPr lang="en-US" b="1" i="1" dirty="0"/>
              <a:t> </a:t>
            </a:r>
            <a:r>
              <a:rPr lang="en-US" b="1" i="1" dirty="0" err="1"/>
              <a:t>ge</a:t>
            </a:r>
            <a:r>
              <a:rPr lang="en-US" b="1" i="1" dirty="0"/>
              <a:t> </a:t>
            </a:r>
            <a:r>
              <a:rPr lang="en-US" b="1" i="1" dirty="0" err="1"/>
              <a:t>lousi</a:t>
            </a:r>
            <a:r>
              <a:rPr lang="en-US" b="1" dirty="0"/>
              <a:t>) is in subject position</a:t>
            </a:r>
            <a:endParaRPr lang="en-GB" b="1" dirty="0"/>
          </a:p>
        </p:txBody>
      </p:sp>
    </p:spTree>
    <p:extLst>
      <p:ext uri="{BB962C8B-B14F-4D97-AF65-F5344CB8AC3E}">
        <p14:creationId xmlns:p14="http://schemas.microsoft.com/office/powerpoint/2010/main" val="3882724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11"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pPr algn="ctr"/>
            <a:r>
              <a:rPr lang="en-US" dirty="0"/>
              <a:t>Chinese dialectal </a:t>
            </a:r>
            <a:r>
              <a:rPr lang="en-US" dirty="0" err="1"/>
              <a:t>microvariation</a:t>
            </a:r>
            <a:r>
              <a:rPr lang="en-US" dirty="0"/>
              <a:t>: </a:t>
            </a:r>
            <a:br>
              <a:rPr lang="en-US" dirty="0"/>
            </a:br>
            <a:r>
              <a:rPr lang="en-US" i="1" dirty="0"/>
              <a:t>ta de </a:t>
            </a:r>
            <a:r>
              <a:rPr lang="en-US" i="1" dirty="0" err="1"/>
              <a:t>laoshi</a:t>
            </a:r>
            <a:r>
              <a:rPr lang="en-US" i="1" dirty="0"/>
              <a:t> </a:t>
            </a:r>
            <a:r>
              <a:rPr lang="en-US" dirty="0"/>
              <a:t>vs *</a:t>
            </a:r>
            <a:r>
              <a:rPr lang="en-US" i="1" dirty="0" err="1"/>
              <a:t>keoi</a:t>
            </a:r>
            <a:r>
              <a:rPr lang="en-US" i="1" dirty="0"/>
              <a:t> </a:t>
            </a:r>
            <a:r>
              <a:rPr lang="en-US" i="1" dirty="0" err="1"/>
              <a:t>ge</a:t>
            </a:r>
            <a:r>
              <a:rPr lang="en-US" i="1" dirty="0"/>
              <a:t> </a:t>
            </a:r>
            <a:r>
              <a:rPr lang="en-US" i="1" dirty="0" err="1"/>
              <a:t>lousi</a:t>
            </a:r>
            <a:endParaRPr lang="en-GB" i="1" dirty="0"/>
          </a:p>
        </p:txBody>
      </p:sp>
      <p:sp>
        <p:nvSpPr>
          <p:cNvPr id="3" name="Content Placeholder 2"/>
          <p:cNvSpPr>
            <a:spLocks noGrp="1"/>
          </p:cNvSpPr>
          <p:nvPr>
            <p:ph idx="1"/>
          </p:nvPr>
        </p:nvSpPr>
        <p:spPr>
          <a:xfrm>
            <a:off x="0" y="1325563"/>
            <a:ext cx="12192000" cy="4351338"/>
          </a:xfrm>
        </p:spPr>
        <p:txBody>
          <a:bodyPr/>
          <a:lstStyle/>
          <a:p>
            <a:pPr marL="0" indent="0">
              <a:buNone/>
            </a:pPr>
            <a:r>
              <a:rPr lang="en-US" dirty="0"/>
              <a:t>Most dialects do not permit </a:t>
            </a:r>
            <a:r>
              <a:rPr lang="en-US" i="1" dirty="0" err="1"/>
              <a:t>ge</a:t>
            </a:r>
            <a:r>
              <a:rPr lang="en-US" dirty="0"/>
              <a:t> in Activity </a:t>
            </a:r>
            <a:r>
              <a:rPr lang="en-US" dirty="0" err="1"/>
              <a:t>nominals</a:t>
            </a:r>
            <a:r>
              <a:rPr lang="en-US" dirty="0"/>
              <a:t> like Cantonese (*</a:t>
            </a:r>
            <a:r>
              <a:rPr lang="en-US" i="1" dirty="0" err="1"/>
              <a:t>keoi</a:t>
            </a:r>
            <a:r>
              <a:rPr lang="en-US" i="1" dirty="0"/>
              <a:t> </a:t>
            </a:r>
            <a:r>
              <a:rPr lang="en-US" i="1" dirty="0" err="1"/>
              <a:t>ge</a:t>
            </a:r>
            <a:r>
              <a:rPr lang="en-US" i="1" dirty="0"/>
              <a:t> </a:t>
            </a:r>
            <a:r>
              <a:rPr lang="en-US" i="1" dirty="0" err="1"/>
              <a:t>lousi</a:t>
            </a:r>
            <a:r>
              <a:rPr lang="en-US" dirty="0"/>
              <a:t>): </a:t>
            </a:r>
          </a:p>
        </p:txBody>
      </p:sp>
      <p:sp>
        <p:nvSpPr>
          <p:cNvPr id="4" name="Rectangle 3"/>
          <p:cNvSpPr/>
          <p:nvPr/>
        </p:nvSpPr>
        <p:spPr>
          <a:xfrm>
            <a:off x="838200" y="1673805"/>
            <a:ext cx="8305800" cy="954107"/>
          </a:xfrm>
          <a:prstGeom prst="rect">
            <a:avLst/>
          </a:prstGeom>
        </p:spPr>
        <p:txBody>
          <a:bodyPr wrap="square">
            <a:spAutoFit/>
          </a:bodyPr>
          <a:lstStyle/>
          <a:p>
            <a:r>
              <a:rPr lang="en-US" altLang="zh-TW" sz="2800" dirty="0"/>
              <a:t>Wu (</a:t>
            </a:r>
            <a:r>
              <a:rPr lang="zh-CN" altLang="en-US" sz="2800" dirty="0"/>
              <a:t>吳</a:t>
            </a:r>
            <a:r>
              <a:rPr lang="en-US" altLang="zh-CN" sz="2800" dirty="0"/>
              <a:t>): </a:t>
            </a:r>
          </a:p>
          <a:p>
            <a:endParaRPr lang="en-US" altLang="zh-TW" sz="2800" dirty="0"/>
          </a:p>
        </p:txBody>
      </p:sp>
      <p:sp>
        <p:nvSpPr>
          <p:cNvPr id="5" name="Rectangle 4"/>
          <p:cNvSpPr/>
          <p:nvPr/>
        </p:nvSpPr>
        <p:spPr>
          <a:xfrm>
            <a:off x="838200" y="2117222"/>
            <a:ext cx="6096000" cy="646331"/>
          </a:xfrm>
          <a:prstGeom prst="rect">
            <a:avLst/>
          </a:prstGeom>
        </p:spPr>
        <p:txBody>
          <a:bodyPr>
            <a:spAutoFit/>
          </a:bodyPr>
          <a:lstStyle/>
          <a:p>
            <a:r>
              <a:rPr lang="zh-TW" altLang="en-US" dirty="0"/>
              <a:t>*吾 個 飯 吃了 蠻 久</a:t>
            </a:r>
            <a:endParaRPr lang="en-US" altLang="zh-TW" dirty="0"/>
          </a:p>
          <a:p>
            <a:r>
              <a:rPr lang="zh-CN" altLang="en-US" dirty="0"/>
              <a:t>‘</a:t>
            </a:r>
            <a:r>
              <a:rPr lang="en-US" altLang="zh-CN" dirty="0"/>
              <a:t>I ate for quite a long time.’ (Shanghainese) </a:t>
            </a:r>
            <a:endParaRPr lang="en-US" altLang="zh-TW" dirty="0"/>
          </a:p>
        </p:txBody>
      </p:sp>
      <p:sp>
        <p:nvSpPr>
          <p:cNvPr id="6" name="Rectangle 5"/>
          <p:cNvSpPr/>
          <p:nvPr/>
        </p:nvSpPr>
        <p:spPr>
          <a:xfrm>
            <a:off x="838200" y="2690033"/>
            <a:ext cx="6096000" cy="646331"/>
          </a:xfrm>
          <a:prstGeom prst="rect">
            <a:avLst/>
          </a:prstGeom>
        </p:spPr>
        <p:txBody>
          <a:bodyPr>
            <a:spAutoFit/>
          </a:bodyPr>
          <a:lstStyle/>
          <a:p>
            <a:r>
              <a:rPr lang="zh-TW" altLang="en-US" dirty="0"/>
              <a:t>*俚 個 水 游</a:t>
            </a:r>
            <a:r>
              <a:rPr lang="en-US" altLang="zh-TW" dirty="0"/>
              <a:t>-</a:t>
            </a:r>
            <a:r>
              <a:rPr lang="zh-TW" altLang="en-US" dirty="0"/>
              <a:t>了 蠻 久</a:t>
            </a:r>
            <a:endParaRPr lang="en-US" altLang="zh-TW" dirty="0"/>
          </a:p>
          <a:p>
            <a:r>
              <a:rPr lang="en-US" altLang="zh-TW" dirty="0"/>
              <a:t>‘You swan for quite a long time.’ (Suzhou)</a:t>
            </a:r>
            <a:endParaRPr lang="en-GB" dirty="0"/>
          </a:p>
        </p:txBody>
      </p:sp>
      <p:sp>
        <p:nvSpPr>
          <p:cNvPr id="7" name="Rectangle 6"/>
          <p:cNvSpPr/>
          <p:nvPr/>
        </p:nvSpPr>
        <p:spPr>
          <a:xfrm>
            <a:off x="838200" y="4506632"/>
            <a:ext cx="2392450" cy="646331"/>
          </a:xfrm>
          <a:prstGeom prst="rect">
            <a:avLst/>
          </a:prstGeom>
        </p:spPr>
        <p:txBody>
          <a:bodyPr wrap="none">
            <a:spAutoFit/>
          </a:bodyPr>
          <a:lstStyle/>
          <a:p>
            <a:r>
              <a:rPr lang="en-US" altLang="zh-TW" dirty="0"/>
              <a:t>*</a:t>
            </a:r>
            <a:r>
              <a:rPr lang="zh-TW" altLang="en-US" dirty="0"/>
              <a:t>我 個 </a:t>
            </a:r>
            <a:r>
              <a:rPr lang="zh-CN" altLang="en-US" dirty="0"/>
              <a:t>酒 喝得</a:t>
            </a:r>
            <a:r>
              <a:rPr lang="zh-TW" altLang="en-US" dirty="0"/>
              <a:t> </a:t>
            </a:r>
            <a:r>
              <a:rPr lang="zh-CN" altLang="en-US" dirty="0"/>
              <a:t>好開心</a:t>
            </a:r>
            <a:endParaRPr lang="en-US" altLang="zh-TW" dirty="0"/>
          </a:p>
          <a:p>
            <a:r>
              <a:rPr lang="zh-CN" altLang="en-US" dirty="0"/>
              <a:t>‘</a:t>
            </a:r>
            <a:r>
              <a:rPr lang="en-US" altLang="zh-CN" dirty="0"/>
              <a:t>I drink very happily.’ </a:t>
            </a:r>
            <a:endParaRPr lang="en-GB" dirty="0"/>
          </a:p>
        </p:txBody>
      </p:sp>
      <p:sp>
        <p:nvSpPr>
          <p:cNvPr id="8" name="Rectangle 7"/>
          <p:cNvSpPr/>
          <p:nvPr/>
        </p:nvSpPr>
        <p:spPr>
          <a:xfrm>
            <a:off x="838200" y="3336364"/>
            <a:ext cx="3943644" cy="646331"/>
          </a:xfrm>
          <a:prstGeom prst="rect">
            <a:avLst/>
          </a:prstGeom>
        </p:spPr>
        <p:txBody>
          <a:bodyPr wrap="none">
            <a:spAutoFit/>
          </a:bodyPr>
          <a:lstStyle/>
          <a:p>
            <a:r>
              <a:rPr lang="zh-CN" altLang="en-US" dirty="0"/>
              <a:t>*</a:t>
            </a:r>
            <a:r>
              <a:rPr lang="zh-TW" altLang="en-US" dirty="0"/>
              <a:t>我 </a:t>
            </a:r>
            <a:r>
              <a:rPr lang="zh-CN" altLang="en-US" dirty="0"/>
              <a:t>個 飯 吃了蠻久</a:t>
            </a:r>
            <a:endParaRPr lang="en-US" altLang="zh-CN" dirty="0"/>
          </a:p>
          <a:p>
            <a:r>
              <a:rPr lang="zh-CN" altLang="en-US" dirty="0"/>
              <a:t>‘</a:t>
            </a:r>
            <a:r>
              <a:rPr lang="en-US" altLang="zh-CN" dirty="0"/>
              <a:t>I ate for quite a long time.’ (</a:t>
            </a:r>
            <a:r>
              <a:rPr lang="en-US" altLang="zh-CN" dirty="0" err="1"/>
              <a:t>Changshou</a:t>
            </a:r>
            <a:r>
              <a:rPr lang="en-US" altLang="zh-CN" dirty="0"/>
              <a:t>)</a:t>
            </a:r>
            <a:endParaRPr lang="en-GB" dirty="0"/>
          </a:p>
        </p:txBody>
      </p:sp>
      <p:sp>
        <p:nvSpPr>
          <p:cNvPr id="9" name="Rectangle 8"/>
          <p:cNvSpPr/>
          <p:nvPr/>
        </p:nvSpPr>
        <p:spPr>
          <a:xfrm>
            <a:off x="5814446" y="1678605"/>
            <a:ext cx="8305800" cy="954107"/>
          </a:xfrm>
          <a:prstGeom prst="rect">
            <a:avLst/>
          </a:prstGeom>
        </p:spPr>
        <p:txBody>
          <a:bodyPr wrap="square">
            <a:spAutoFit/>
          </a:bodyPr>
          <a:lstStyle/>
          <a:p>
            <a:r>
              <a:rPr lang="en-US" altLang="zh-TW" sz="2800" dirty="0"/>
              <a:t>Xiang (</a:t>
            </a:r>
            <a:r>
              <a:rPr lang="zh-CN" altLang="en-US" sz="2800" dirty="0"/>
              <a:t>湘</a:t>
            </a:r>
            <a:r>
              <a:rPr lang="en-US" altLang="zh-CN" sz="2800" dirty="0"/>
              <a:t>): </a:t>
            </a:r>
          </a:p>
          <a:p>
            <a:endParaRPr lang="en-US" altLang="zh-TW" sz="2800" dirty="0"/>
          </a:p>
        </p:txBody>
      </p:sp>
      <p:sp>
        <p:nvSpPr>
          <p:cNvPr id="10" name="Rectangle 9"/>
          <p:cNvSpPr/>
          <p:nvPr/>
        </p:nvSpPr>
        <p:spPr>
          <a:xfrm>
            <a:off x="838200" y="3983412"/>
            <a:ext cx="6096000" cy="523220"/>
          </a:xfrm>
          <a:prstGeom prst="rect">
            <a:avLst/>
          </a:prstGeom>
        </p:spPr>
        <p:txBody>
          <a:bodyPr>
            <a:spAutoFit/>
          </a:bodyPr>
          <a:lstStyle/>
          <a:p>
            <a:r>
              <a:rPr lang="en-US" altLang="zh-CN" sz="2800" dirty="0" err="1"/>
              <a:t>Kejia</a:t>
            </a:r>
            <a:r>
              <a:rPr lang="en-US" altLang="zh-CN" sz="2800" dirty="0"/>
              <a:t> (</a:t>
            </a:r>
            <a:r>
              <a:rPr lang="zh-CN" altLang="en-US" sz="2800" dirty="0"/>
              <a:t>客家</a:t>
            </a:r>
            <a:r>
              <a:rPr lang="en-US" altLang="zh-CN" sz="2800" dirty="0"/>
              <a:t>): </a:t>
            </a:r>
            <a:endParaRPr lang="en-US" altLang="zh-TW" sz="2800" dirty="0"/>
          </a:p>
        </p:txBody>
      </p:sp>
      <p:sp>
        <p:nvSpPr>
          <p:cNvPr id="11" name="Rectangle 10"/>
          <p:cNvSpPr/>
          <p:nvPr/>
        </p:nvSpPr>
        <p:spPr>
          <a:xfrm>
            <a:off x="5814446" y="2106422"/>
            <a:ext cx="3704091" cy="646331"/>
          </a:xfrm>
          <a:prstGeom prst="rect">
            <a:avLst/>
          </a:prstGeom>
        </p:spPr>
        <p:txBody>
          <a:bodyPr wrap="none">
            <a:spAutoFit/>
          </a:bodyPr>
          <a:lstStyle/>
          <a:p>
            <a:r>
              <a:rPr lang="en-US" altLang="zh-TW" dirty="0"/>
              <a:t>(?)</a:t>
            </a:r>
            <a:r>
              <a:rPr lang="zh-TW" altLang="en-US" dirty="0"/>
              <a:t>我 個 籃球 打 得 蠻 好</a:t>
            </a:r>
            <a:endParaRPr lang="en-US" altLang="zh-TW" dirty="0"/>
          </a:p>
          <a:p>
            <a:r>
              <a:rPr lang="zh-CN" altLang="en-US" dirty="0"/>
              <a:t>‘</a:t>
            </a:r>
            <a:r>
              <a:rPr lang="en-US" altLang="zh-CN" dirty="0"/>
              <a:t>I play basketball quite well.’ (Xinhua) </a:t>
            </a:r>
            <a:endParaRPr lang="en-GB" dirty="0"/>
          </a:p>
        </p:txBody>
      </p:sp>
      <p:sp>
        <p:nvSpPr>
          <p:cNvPr id="12" name="Rectangle 11"/>
          <p:cNvSpPr/>
          <p:nvPr/>
        </p:nvSpPr>
        <p:spPr>
          <a:xfrm>
            <a:off x="838200" y="5090243"/>
            <a:ext cx="6781800" cy="523220"/>
          </a:xfrm>
          <a:prstGeom prst="rect">
            <a:avLst/>
          </a:prstGeom>
        </p:spPr>
        <p:txBody>
          <a:bodyPr wrap="square">
            <a:spAutoFit/>
          </a:bodyPr>
          <a:lstStyle/>
          <a:p>
            <a:r>
              <a:rPr lang="en-US" altLang="zh-TW" sz="2800" dirty="0"/>
              <a:t>Cantonese (</a:t>
            </a:r>
            <a:r>
              <a:rPr lang="zh-CN" altLang="en-US" sz="2800" dirty="0"/>
              <a:t>粵</a:t>
            </a:r>
            <a:r>
              <a:rPr lang="en-US" altLang="zh-CN" sz="2800" dirty="0"/>
              <a:t>) </a:t>
            </a:r>
            <a:r>
              <a:rPr lang="en-US" altLang="zh-TW" sz="2800" dirty="0"/>
              <a:t>and Taiwanese Min (</a:t>
            </a:r>
            <a:r>
              <a:rPr lang="zh-CN" altLang="en-US" sz="2800" dirty="0"/>
              <a:t>台灣閩）</a:t>
            </a:r>
            <a:endParaRPr lang="en-US" altLang="zh-TW" sz="2800" dirty="0"/>
          </a:p>
        </p:txBody>
      </p:sp>
      <p:sp>
        <p:nvSpPr>
          <p:cNvPr id="13" name="Rectangle 12"/>
          <p:cNvSpPr/>
          <p:nvPr/>
        </p:nvSpPr>
        <p:spPr>
          <a:xfrm>
            <a:off x="817315" y="5613463"/>
            <a:ext cx="4826669" cy="1200329"/>
          </a:xfrm>
          <a:prstGeom prst="rect">
            <a:avLst/>
          </a:prstGeom>
        </p:spPr>
        <p:txBody>
          <a:bodyPr wrap="square">
            <a:spAutoFit/>
          </a:bodyPr>
          <a:lstStyle/>
          <a:p>
            <a:r>
              <a:rPr lang="en-GB" dirty="0"/>
              <a:t>*</a:t>
            </a:r>
            <a:r>
              <a:rPr lang="en-GB" dirty="0" err="1"/>
              <a:t>佢嘅老師做得好</a:t>
            </a:r>
            <a:endParaRPr lang="en-GB" dirty="0"/>
          </a:p>
          <a:p>
            <a:r>
              <a:rPr lang="en-US" dirty="0"/>
              <a:t>(intended) ‘He is being a good teacher.’ </a:t>
            </a:r>
          </a:p>
          <a:p>
            <a:r>
              <a:rPr lang="en-US" dirty="0"/>
              <a:t>*</a:t>
            </a:r>
            <a:r>
              <a:rPr lang="zh-CN" altLang="en-US" dirty="0"/>
              <a:t>伊個籃球打甲真好</a:t>
            </a:r>
            <a:endParaRPr lang="en-US" altLang="zh-CN" dirty="0"/>
          </a:p>
          <a:p>
            <a:r>
              <a:rPr lang="en-US" dirty="0"/>
              <a:t>(intended) ‘He plays basketball really well.’ </a:t>
            </a:r>
            <a:endParaRPr lang="en-GB" dirty="0"/>
          </a:p>
        </p:txBody>
      </p:sp>
      <p:sp>
        <p:nvSpPr>
          <p:cNvPr id="14" name="Rectangle 13"/>
          <p:cNvSpPr/>
          <p:nvPr/>
        </p:nvSpPr>
        <p:spPr>
          <a:xfrm>
            <a:off x="5395346" y="2923277"/>
            <a:ext cx="6377554" cy="2031325"/>
          </a:xfrm>
          <a:prstGeom prst="rect">
            <a:avLst/>
          </a:prstGeom>
        </p:spPr>
        <p:txBody>
          <a:bodyPr wrap="square">
            <a:spAutoFit/>
          </a:bodyPr>
          <a:lstStyle/>
          <a:p>
            <a:r>
              <a:rPr lang="zh-CN" altLang="en-US" dirty="0"/>
              <a:t>其個老師當得蠻好</a:t>
            </a:r>
            <a:r>
              <a:rPr lang="en-US" altLang="zh-CN" dirty="0"/>
              <a:t>/</a:t>
            </a:r>
            <a:r>
              <a:rPr lang="zh-CN" altLang="en-US" dirty="0"/>
              <a:t>其個籃球打得蠻好</a:t>
            </a:r>
            <a:r>
              <a:rPr lang="en-US" altLang="zh-CN" dirty="0"/>
              <a:t>/</a:t>
            </a:r>
            <a:r>
              <a:rPr lang="zh-CN" altLang="en-US" dirty="0"/>
              <a:t>其個棋下得蠻好 </a:t>
            </a:r>
            <a:endParaRPr lang="en-US" altLang="zh-CN" dirty="0"/>
          </a:p>
          <a:p>
            <a:r>
              <a:rPr lang="en-US" dirty="0"/>
              <a:t>(</a:t>
            </a:r>
            <a:r>
              <a:rPr lang="zh-CN" altLang="en-US" dirty="0"/>
              <a:t>洞口老湘語</a:t>
            </a:r>
            <a:r>
              <a:rPr lang="en-US" altLang="zh-CN" dirty="0"/>
              <a:t>, in </a:t>
            </a:r>
            <a:r>
              <a:rPr lang="zh-CN" altLang="en-US" dirty="0"/>
              <a:t>楊 </a:t>
            </a:r>
            <a:r>
              <a:rPr lang="en-US" altLang="zh-CN" dirty="0"/>
              <a:t>2014:400)</a:t>
            </a:r>
          </a:p>
          <a:p>
            <a:endParaRPr lang="en-US" altLang="zh-CN" dirty="0"/>
          </a:p>
          <a:p>
            <a:r>
              <a:rPr lang="en-US" dirty="0"/>
              <a:t>‘</a:t>
            </a:r>
            <a:r>
              <a:rPr lang="en-GB" dirty="0"/>
              <a:t>佢</a:t>
            </a:r>
            <a:r>
              <a:rPr lang="zh-CN" altLang="en-US" dirty="0"/>
              <a:t>個老師當得蠻好</a:t>
            </a:r>
            <a:r>
              <a:rPr lang="en-US" altLang="zh-CN" dirty="0"/>
              <a:t>/</a:t>
            </a:r>
            <a:r>
              <a:rPr lang="en-GB" dirty="0"/>
              <a:t>佢</a:t>
            </a:r>
            <a:r>
              <a:rPr lang="zh-CN" altLang="en-US" dirty="0"/>
              <a:t>個籃球打得蠻好</a:t>
            </a:r>
            <a:r>
              <a:rPr lang="en-US" altLang="zh-CN" dirty="0"/>
              <a:t>/</a:t>
            </a:r>
            <a:r>
              <a:rPr lang="en-GB" dirty="0"/>
              <a:t>佢</a:t>
            </a:r>
            <a:r>
              <a:rPr lang="zh-CN" altLang="en-US" dirty="0"/>
              <a:t>個棋作得蠻好</a:t>
            </a:r>
            <a:endParaRPr lang="en-US" altLang="zh-CN" dirty="0"/>
          </a:p>
          <a:p>
            <a:endParaRPr lang="en-US" altLang="zh-CN" dirty="0"/>
          </a:p>
          <a:p>
            <a:r>
              <a:rPr lang="en-US" dirty="0"/>
              <a:t>He is being a good teacher’/He plays basketball well’/He plays chess well.’ (</a:t>
            </a:r>
            <a:r>
              <a:rPr lang="zh-CN" altLang="en-US" dirty="0"/>
              <a:t>贛方言吉安話</a:t>
            </a:r>
            <a:r>
              <a:rPr lang="en-US" altLang="zh-CN" dirty="0"/>
              <a:t>, in </a:t>
            </a:r>
            <a:r>
              <a:rPr lang="zh-CN" altLang="en-US" dirty="0"/>
              <a:t>楊 </a:t>
            </a:r>
            <a:r>
              <a:rPr lang="en-US" altLang="zh-CN" dirty="0"/>
              <a:t>2014:400)</a:t>
            </a:r>
            <a:endParaRPr lang="en-US" dirty="0"/>
          </a:p>
        </p:txBody>
      </p:sp>
      <p:sp>
        <p:nvSpPr>
          <p:cNvPr id="15" name="Rectangle 14"/>
          <p:cNvSpPr/>
          <p:nvPr/>
        </p:nvSpPr>
        <p:spPr>
          <a:xfrm>
            <a:off x="7065947" y="5613463"/>
            <a:ext cx="3874553" cy="1077218"/>
          </a:xfrm>
          <a:prstGeom prst="rect">
            <a:avLst/>
          </a:prstGeom>
        </p:spPr>
        <p:txBody>
          <a:bodyPr wrap="square">
            <a:spAutoFit/>
          </a:bodyPr>
          <a:lstStyle/>
          <a:p>
            <a:r>
              <a:rPr lang="en-US" altLang="zh-TW" sz="3200" dirty="0"/>
              <a:t>*</a:t>
            </a:r>
            <a:r>
              <a:rPr lang="en-US" altLang="zh-TW" sz="3200" i="1" dirty="0" err="1"/>
              <a:t>keoi</a:t>
            </a:r>
            <a:r>
              <a:rPr lang="en-US" altLang="zh-TW" sz="3200" i="1" dirty="0"/>
              <a:t> </a:t>
            </a:r>
            <a:r>
              <a:rPr lang="en-US" altLang="zh-TW" sz="3200" i="1" dirty="0" err="1"/>
              <a:t>ge</a:t>
            </a:r>
            <a:r>
              <a:rPr lang="en-US" altLang="zh-TW" sz="3200" i="1" dirty="0"/>
              <a:t> </a:t>
            </a:r>
            <a:r>
              <a:rPr lang="en-US" altLang="zh-TW" sz="3200" i="1" dirty="0" err="1"/>
              <a:t>lousi</a:t>
            </a:r>
            <a:r>
              <a:rPr lang="en-US" altLang="zh-TW" sz="3200" i="1" dirty="0"/>
              <a:t> </a:t>
            </a:r>
            <a:r>
              <a:rPr lang="en-US" altLang="zh-TW" sz="3200" dirty="0"/>
              <a:t>in most (if not all) dialects</a:t>
            </a:r>
          </a:p>
        </p:txBody>
      </p:sp>
      <p:sp>
        <p:nvSpPr>
          <p:cNvPr id="16" name="Rectangle 15"/>
          <p:cNvSpPr/>
          <p:nvPr/>
        </p:nvSpPr>
        <p:spPr>
          <a:xfrm>
            <a:off x="3086100" y="4014189"/>
            <a:ext cx="2309245" cy="1015663"/>
          </a:xfrm>
          <a:prstGeom prst="rect">
            <a:avLst/>
          </a:prstGeom>
        </p:spPr>
        <p:txBody>
          <a:bodyPr wrap="square">
            <a:spAutoFit/>
          </a:bodyPr>
          <a:lstStyle/>
          <a:p>
            <a:r>
              <a:rPr lang="en-US" altLang="zh-TW" sz="2000" dirty="0"/>
              <a:t>Similar for Ningbo, Shaoxing, Wenzhou, Hangzhou.  </a:t>
            </a:r>
          </a:p>
        </p:txBody>
      </p:sp>
    </p:spTree>
    <p:extLst>
      <p:ext uri="{BB962C8B-B14F-4D97-AF65-F5344CB8AC3E}">
        <p14:creationId xmlns:p14="http://schemas.microsoft.com/office/powerpoint/2010/main" val="782236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7" grpId="0"/>
      <p:bldP spid="8" grpId="0"/>
      <p:bldP spid="9" grpId="0"/>
      <p:bldP spid="10" grpId="0"/>
      <p:bldP spid="11" grpId="0"/>
      <p:bldP spid="12" grpId="0"/>
      <p:bldP spid="13" grpId="0"/>
      <p:bldP spid="14" grpId="0"/>
      <p:bldP spid="15" grpId="0"/>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9100" y="0"/>
            <a:ext cx="11353800" cy="1325563"/>
          </a:xfrm>
        </p:spPr>
        <p:txBody>
          <a:bodyPr/>
          <a:lstStyle/>
          <a:p>
            <a:r>
              <a:rPr lang="en-US" dirty="0"/>
              <a:t>Chinese dialectal </a:t>
            </a:r>
            <a:r>
              <a:rPr lang="en-US" dirty="0" err="1"/>
              <a:t>microvariation</a:t>
            </a:r>
            <a:r>
              <a:rPr lang="en-US" dirty="0"/>
              <a:t>: </a:t>
            </a:r>
            <a:r>
              <a:rPr lang="en-US" i="1" dirty="0" err="1"/>
              <a:t>VdeO</a:t>
            </a:r>
            <a:r>
              <a:rPr lang="en-US" dirty="0"/>
              <a:t> vs *</a:t>
            </a:r>
            <a:r>
              <a:rPr lang="en-US" i="1" dirty="0" err="1"/>
              <a:t>VgeO</a:t>
            </a:r>
            <a:endParaRPr lang="en-GB" i="1" dirty="0"/>
          </a:p>
        </p:txBody>
      </p:sp>
      <p:sp>
        <p:nvSpPr>
          <p:cNvPr id="3" name="Content Placeholder 2"/>
          <p:cNvSpPr>
            <a:spLocks noGrp="1"/>
          </p:cNvSpPr>
          <p:nvPr>
            <p:ph idx="1"/>
          </p:nvPr>
        </p:nvSpPr>
        <p:spPr>
          <a:xfrm>
            <a:off x="838200" y="915715"/>
            <a:ext cx="10515600" cy="4351338"/>
          </a:xfrm>
        </p:spPr>
        <p:txBody>
          <a:bodyPr/>
          <a:lstStyle/>
          <a:p>
            <a:pPr marL="0" indent="0">
              <a:buNone/>
            </a:pPr>
            <a:r>
              <a:rPr lang="en-US" i="1" dirty="0"/>
              <a:t>de</a:t>
            </a:r>
            <a:r>
              <a:rPr lang="en-US" dirty="0"/>
              <a:t> (</a:t>
            </a:r>
            <a:r>
              <a:rPr lang="zh-CN" altLang="en-US" dirty="0"/>
              <a:t>的</a:t>
            </a:r>
            <a:r>
              <a:rPr lang="en-US" altLang="zh-CN" dirty="0"/>
              <a:t>)</a:t>
            </a:r>
            <a:r>
              <a:rPr lang="en-US" dirty="0"/>
              <a:t> vs </a:t>
            </a:r>
            <a:r>
              <a:rPr lang="en-US" i="1" dirty="0" err="1"/>
              <a:t>ge</a:t>
            </a:r>
            <a:r>
              <a:rPr lang="en-US" dirty="0"/>
              <a:t> (</a:t>
            </a:r>
            <a:r>
              <a:rPr lang="zh-CN" altLang="en-US" dirty="0"/>
              <a:t>嘅</a:t>
            </a:r>
            <a:r>
              <a:rPr lang="en-US" altLang="zh-CN" dirty="0"/>
              <a:t>) </a:t>
            </a:r>
            <a:r>
              <a:rPr lang="en-US" dirty="0"/>
              <a:t>(North vs South (</a:t>
            </a:r>
            <a:r>
              <a:rPr lang="zh-CN" altLang="en-US" dirty="0"/>
              <a:t>南北非是</a:t>
            </a:r>
            <a:r>
              <a:rPr lang="en-US" altLang="zh-CN" dirty="0"/>
              <a:t>)</a:t>
            </a:r>
            <a:r>
              <a:rPr lang="en-US" sz="3600" b="1" dirty="0"/>
              <a:t>?</a:t>
            </a:r>
            <a:r>
              <a:rPr lang="en-US" dirty="0"/>
              <a:t>)</a:t>
            </a:r>
            <a:endParaRPr lang="en-GB" dirty="0"/>
          </a:p>
        </p:txBody>
      </p:sp>
      <p:sp>
        <p:nvSpPr>
          <p:cNvPr id="4" name="Content Placeholder 2"/>
          <p:cNvSpPr txBox="1">
            <a:spLocks/>
          </p:cNvSpPr>
          <p:nvPr/>
        </p:nvSpPr>
        <p:spPr>
          <a:xfrm>
            <a:off x="838200" y="1355353"/>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Wu (</a:t>
            </a:r>
            <a:r>
              <a:rPr lang="zh-CN" altLang="en-US" dirty="0"/>
              <a:t>吳</a:t>
            </a:r>
            <a:r>
              <a:rPr lang="en-US" altLang="zh-CN" dirty="0"/>
              <a:t>): </a:t>
            </a:r>
          </a:p>
        </p:txBody>
      </p:sp>
      <p:sp>
        <p:nvSpPr>
          <p:cNvPr id="5" name="Content Placeholder 2"/>
          <p:cNvSpPr txBox="1">
            <a:spLocks/>
          </p:cNvSpPr>
          <p:nvPr/>
        </p:nvSpPr>
        <p:spPr>
          <a:xfrm>
            <a:off x="838200" y="4979950"/>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Cantonese(</a:t>
            </a:r>
            <a:r>
              <a:rPr lang="zh-CN" altLang="en-US" dirty="0"/>
              <a:t>粵</a:t>
            </a:r>
            <a:r>
              <a:rPr lang="en-US" altLang="zh-CN" dirty="0"/>
              <a:t>)</a:t>
            </a:r>
            <a:r>
              <a:rPr lang="en-US" dirty="0"/>
              <a:t>/Taiwanese Min (</a:t>
            </a:r>
            <a:r>
              <a:rPr lang="zh-CN" altLang="en-US" dirty="0"/>
              <a:t>台灣閩</a:t>
            </a:r>
            <a:r>
              <a:rPr lang="en-US" altLang="zh-CN" dirty="0"/>
              <a:t>)</a:t>
            </a:r>
            <a:r>
              <a:rPr lang="en-US" dirty="0"/>
              <a:t>: </a:t>
            </a:r>
            <a:endParaRPr lang="en-GB" dirty="0"/>
          </a:p>
        </p:txBody>
      </p:sp>
      <p:sp>
        <p:nvSpPr>
          <p:cNvPr id="6" name="Rectangle 5"/>
          <p:cNvSpPr/>
          <p:nvPr/>
        </p:nvSpPr>
        <p:spPr>
          <a:xfrm>
            <a:off x="838200" y="2481836"/>
            <a:ext cx="5118004" cy="646331"/>
          </a:xfrm>
          <a:prstGeom prst="rect">
            <a:avLst/>
          </a:prstGeom>
        </p:spPr>
        <p:txBody>
          <a:bodyPr wrap="none">
            <a:spAutoFit/>
          </a:bodyPr>
          <a:lstStyle/>
          <a:p>
            <a:r>
              <a:rPr lang="zh-TW" altLang="en-US" dirty="0"/>
              <a:t>俚 是 昨日 買</a:t>
            </a:r>
            <a:r>
              <a:rPr lang="en-US" altLang="zh-TW" dirty="0"/>
              <a:t>-</a:t>
            </a:r>
            <a:r>
              <a:rPr lang="zh-TW" altLang="en-US" dirty="0"/>
              <a:t>個 票</a:t>
            </a:r>
            <a:endParaRPr lang="en-US" altLang="zh-TW" dirty="0"/>
          </a:p>
          <a:p>
            <a:r>
              <a:rPr lang="en-US" altLang="zh-TW" dirty="0"/>
              <a:t>‘It was yesterday that you bought tickets.’ (Suzhou)</a:t>
            </a:r>
          </a:p>
        </p:txBody>
      </p:sp>
      <p:sp>
        <p:nvSpPr>
          <p:cNvPr id="7" name="Rectangle 6"/>
          <p:cNvSpPr/>
          <p:nvPr/>
        </p:nvSpPr>
        <p:spPr>
          <a:xfrm>
            <a:off x="6742651" y="1881672"/>
            <a:ext cx="5449349" cy="923330"/>
          </a:xfrm>
          <a:prstGeom prst="rect">
            <a:avLst/>
          </a:prstGeom>
        </p:spPr>
        <p:txBody>
          <a:bodyPr wrap="square">
            <a:spAutoFit/>
          </a:bodyPr>
          <a:lstStyle/>
          <a:p>
            <a:r>
              <a:rPr lang="zh-TW" altLang="en-US" dirty="0"/>
              <a:t>我 是 前年 到</a:t>
            </a:r>
            <a:r>
              <a:rPr lang="en-US" altLang="zh-TW" dirty="0"/>
              <a:t>-</a:t>
            </a:r>
            <a:r>
              <a:rPr lang="zh-TW" altLang="en-US" dirty="0"/>
              <a:t>個 北京</a:t>
            </a:r>
            <a:endParaRPr lang="en-US" altLang="zh-TW" dirty="0"/>
          </a:p>
          <a:p>
            <a:r>
              <a:rPr lang="en-US" dirty="0"/>
              <a:t>‘It was two years ago that I went to Beijing.’ (Xinhua) </a:t>
            </a:r>
          </a:p>
          <a:p>
            <a:r>
              <a:rPr lang="en-US" dirty="0"/>
              <a:t>(Wu (2005))  </a:t>
            </a:r>
            <a:endParaRPr lang="en-GB" dirty="0"/>
          </a:p>
        </p:txBody>
      </p:sp>
      <p:sp>
        <p:nvSpPr>
          <p:cNvPr id="8" name="Rectangle 7"/>
          <p:cNvSpPr/>
          <p:nvPr/>
        </p:nvSpPr>
        <p:spPr>
          <a:xfrm>
            <a:off x="838200" y="4333619"/>
            <a:ext cx="4514762" cy="646331"/>
          </a:xfrm>
          <a:prstGeom prst="rect">
            <a:avLst/>
          </a:prstGeom>
        </p:spPr>
        <p:txBody>
          <a:bodyPr wrap="none">
            <a:spAutoFit/>
          </a:bodyPr>
          <a:lstStyle/>
          <a:p>
            <a:r>
              <a:rPr lang="zh-TW" altLang="en-US" dirty="0"/>
              <a:t>我 係 哺</a:t>
            </a:r>
            <a:r>
              <a:rPr lang="zh-CN" altLang="en-US" dirty="0"/>
              <a:t>日</a:t>
            </a:r>
            <a:r>
              <a:rPr lang="zh-TW" altLang="en-US" dirty="0"/>
              <a:t> </a:t>
            </a:r>
            <a:r>
              <a:rPr lang="zh-CN" altLang="en-US" dirty="0"/>
              <a:t>買</a:t>
            </a:r>
            <a:r>
              <a:rPr lang="en-US" altLang="zh-CN" dirty="0"/>
              <a:t>-</a:t>
            </a:r>
            <a:r>
              <a:rPr lang="zh-CN" altLang="en-US" dirty="0"/>
              <a:t>介 票</a:t>
            </a:r>
            <a:endParaRPr lang="en-US" altLang="zh-TW" dirty="0"/>
          </a:p>
          <a:p>
            <a:r>
              <a:rPr lang="en-US" dirty="0"/>
              <a:t>‘It was </a:t>
            </a:r>
            <a:r>
              <a:rPr lang="en-US" altLang="zh-CN" dirty="0"/>
              <a:t>yesterday </a:t>
            </a:r>
            <a:r>
              <a:rPr lang="en-US" dirty="0"/>
              <a:t>that I bought tickets Beijing.’ </a:t>
            </a:r>
            <a:endParaRPr lang="en-GB" dirty="0"/>
          </a:p>
        </p:txBody>
      </p:sp>
      <p:sp>
        <p:nvSpPr>
          <p:cNvPr id="9" name="Content Placeholder 2"/>
          <p:cNvSpPr txBox="1">
            <a:spLocks/>
          </p:cNvSpPr>
          <p:nvPr/>
        </p:nvSpPr>
        <p:spPr>
          <a:xfrm>
            <a:off x="838200" y="1794269"/>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TW" altLang="en-US" sz="1800" dirty="0"/>
              <a:t>吾 是 昨日 買</a:t>
            </a:r>
            <a:r>
              <a:rPr lang="en-US" altLang="zh-TW" sz="1800" dirty="0"/>
              <a:t>-</a:t>
            </a:r>
            <a:r>
              <a:rPr lang="zh-TW" altLang="en-US" sz="1800" dirty="0"/>
              <a:t>個 票</a:t>
            </a:r>
            <a:endParaRPr lang="en-US" altLang="zh-TW" sz="1800" dirty="0"/>
          </a:p>
          <a:p>
            <a:pPr marL="0" indent="0">
              <a:buNone/>
            </a:pPr>
            <a:r>
              <a:rPr lang="en-US" altLang="zh-TW" sz="1800" dirty="0"/>
              <a:t>‘It was yesterday that I bought tickets.’ (Shanghainese) </a:t>
            </a:r>
          </a:p>
        </p:txBody>
      </p:sp>
      <p:sp>
        <p:nvSpPr>
          <p:cNvPr id="10" name="Rectangle 9"/>
          <p:cNvSpPr/>
          <p:nvPr/>
        </p:nvSpPr>
        <p:spPr>
          <a:xfrm>
            <a:off x="838200" y="3810399"/>
            <a:ext cx="6096000" cy="523220"/>
          </a:xfrm>
          <a:prstGeom prst="rect">
            <a:avLst/>
          </a:prstGeom>
        </p:spPr>
        <p:txBody>
          <a:bodyPr>
            <a:spAutoFit/>
          </a:bodyPr>
          <a:lstStyle/>
          <a:p>
            <a:r>
              <a:rPr lang="en-US" altLang="zh-CN" sz="2800" dirty="0" err="1"/>
              <a:t>Kejia</a:t>
            </a:r>
            <a:r>
              <a:rPr lang="en-US" altLang="zh-CN" sz="2800" dirty="0"/>
              <a:t> (</a:t>
            </a:r>
            <a:r>
              <a:rPr lang="zh-CN" altLang="en-US" sz="2800" dirty="0"/>
              <a:t>客家</a:t>
            </a:r>
            <a:r>
              <a:rPr lang="en-US" altLang="zh-CN" sz="2800" dirty="0"/>
              <a:t>): </a:t>
            </a:r>
            <a:endParaRPr lang="en-US" altLang="zh-TW" sz="2800" dirty="0"/>
          </a:p>
        </p:txBody>
      </p:sp>
      <p:sp>
        <p:nvSpPr>
          <p:cNvPr id="11" name="Rectangle 10"/>
          <p:cNvSpPr/>
          <p:nvPr/>
        </p:nvSpPr>
        <p:spPr>
          <a:xfrm>
            <a:off x="6742651" y="1355353"/>
            <a:ext cx="6096000" cy="523220"/>
          </a:xfrm>
          <a:prstGeom prst="rect">
            <a:avLst/>
          </a:prstGeom>
        </p:spPr>
        <p:txBody>
          <a:bodyPr>
            <a:spAutoFit/>
          </a:bodyPr>
          <a:lstStyle/>
          <a:p>
            <a:r>
              <a:rPr lang="en-US" altLang="zh-CN" sz="2800" dirty="0"/>
              <a:t>Xiang (</a:t>
            </a:r>
            <a:r>
              <a:rPr lang="zh-CN" altLang="en-US" sz="2800" dirty="0"/>
              <a:t>湘</a:t>
            </a:r>
            <a:r>
              <a:rPr lang="en-US" altLang="zh-CN" sz="2800" dirty="0"/>
              <a:t>): </a:t>
            </a:r>
            <a:endParaRPr lang="en-US" altLang="zh-TW" sz="2800" dirty="0"/>
          </a:p>
        </p:txBody>
      </p:sp>
      <p:sp>
        <p:nvSpPr>
          <p:cNvPr id="12" name="Rectangle 11"/>
          <p:cNvSpPr/>
          <p:nvPr/>
        </p:nvSpPr>
        <p:spPr>
          <a:xfrm>
            <a:off x="838200" y="5367846"/>
            <a:ext cx="6096000" cy="1477328"/>
          </a:xfrm>
          <a:prstGeom prst="rect">
            <a:avLst/>
          </a:prstGeom>
        </p:spPr>
        <p:txBody>
          <a:bodyPr>
            <a:spAutoFit/>
          </a:bodyPr>
          <a:lstStyle/>
          <a:p>
            <a:r>
              <a:rPr lang="en-US" altLang="zh-TW" dirty="0"/>
              <a:t>*</a:t>
            </a:r>
            <a:r>
              <a:rPr lang="zh-TW" altLang="en-US" dirty="0"/>
              <a:t>佢  係  琴日     買</a:t>
            </a:r>
            <a:r>
              <a:rPr lang="en-US" altLang="zh-TW" dirty="0"/>
              <a:t>-</a:t>
            </a:r>
            <a:r>
              <a:rPr lang="zh-TW" altLang="en-US" dirty="0"/>
              <a:t>嘅    非 </a:t>
            </a:r>
            <a:endParaRPr lang="en-US" altLang="zh-TW" dirty="0"/>
          </a:p>
          <a:p>
            <a:r>
              <a:rPr lang="en-US" dirty="0" err="1"/>
              <a:t>Keui</a:t>
            </a:r>
            <a:r>
              <a:rPr lang="en-US" dirty="0"/>
              <a:t> </a:t>
            </a:r>
            <a:r>
              <a:rPr lang="en-US" dirty="0" err="1"/>
              <a:t>hai</a:t>
            </a:r>
            <a:r>
              <a:rPr lang="en-US" dirty="0"/>
              <a:t> </a:t>
            </a:r>
            <a:r>
              <a:rPr lang="en-US" dirty="0" err="1"/>
              <a:t>kamjat</a:t>
            </a:r>
            <a:r>
              <a:rPr lang="en-US" dirty="0"/>
              <a:t> </a:t>
            </a:r>
            <a:r>
              <a:rPr lang="en-US" dirty="0" err="1"/>
              <a:t>maai</a:t>
            </a:r>
            <a:r>
              <a:rPr lang="en-US" dirty="0"/>
              <a:t> </a:t>
            </a:r>
            <a:r>
              <a:rPr lang="en-US" dirty="0" err="1"/>
              <a:t>ge</a:t>
            </a:r>
            <a:r>
              <a:rPr lang="en-US" dirty="0"/>
              <a:t> </a:t>
            </a:r>
            <a:r>
              <a:rPr lang="en-US" dirty="0" err="1"/>
              <a:t>fei</a:t>
            </a:r>
            <a:endParaRPr lang="en-US" dirty="0"/>
          </a:p>
          <a:p>
            <a:r>
              <a:rPr lang="en-US" dirty="0"/>
              <a:t>(intended) ‘It was yesterday that I bought tickets.’ (Cantonese)</a:t>
            </a:r>
          </a:p>
          <a:p>
            <a:r>
              <a:rPr lang="en-US" dirty="0"/>
              <a:t>*</a:t>
            </a:r>
            <a:r>
              <a:rPr lang="zh-CN" altLang="en-US" dirty="0"/>
              <a:t>我是在台灣出個生</a:t>
            </a:r>
            <a:endParaRPr lang="en-US" altLang="zh-CN" dirty="0"/>
          </a:p>
          <a:p>
            <a:r>
              <a:rPr lang="en-US" dirty="0"/>
              <a:t>(intend) ‘It was in Taiwan where I was born.’ (Taiwanese Min)</a:t>
            </a:r>
            <a:endParaRPr lang="en-GB" dirty="0"/>
          </a:p>
        </p:txBody>
      </p:sp>
      <p:sp>
        <p:nvSpPr>
          <p:cNvPr id="13" name="Rectangle 12"/>
          <p:cNvSpPr/>
          <p:nvPr/>
        </p:nvSpPr>
        <p:spPr>
          <a:xfrm>
            <a:off x="838200" y="3179899"/>
            <a:ext cx="6090450" cy="646331"/>
          </a:xfrm>
          <a:prstGeom prst="rect">
            <a:avLst/>
          </a:prstGeom>
        </p:spPr>
        <p:txBody>
          <a:bodyPr wrap="none">
            <a:spAutoFit/>
          </a:bodyPr>
          <a:lstStyle/>
          <a:p>
            <a:r>
              <a:rPr lang="zh-CN" altLang="en-US" dirty="0"/>
              <a:t>我是昨日嗮個被子</a:t>
            </a:r>
            <a:endParaRPr lang="en-US" altLang="zh-TW" dirty="0"/>
          </a:p>
          <a:p>
            <a:r>
              <a:rPr lang="en-US" altLang="zh-TW" dirty="0"/>
              <a:t>‘It was yesterday that </a:t>
            </a:r>
            <a:r>
              <a:rPr lang="en-US" altLang="zh-CN" dirty="0"/>
              <a:t>I dried the sheets</a:t>
            </a:r>
            <a:r>
              <a:rPr lang="en-US" altLang="zh-TW" dirty="0"/>
              <a:t>.’ (</a:t>
            </a:r>
            <a:r>
              <a:rPr lang="en-US" altLang="zh-TW" dirty="0" err="1"/>
              <a:t>Changshou</a:t>
            </a:r>
            <a:r>
              <a:rPr lang="en-US" altLang="zh-TW" dirty="0"/>
              <a:t> (</a:t>
            </a:r>
            <a:r>
              <a:rPr lang="zh-CN" altLang="en-US" dirty="0"/>
              <a:t>常熟話</a:t>
            </a:r>
            <a:r>
              <a:rPr lang="en-US" altLang="zh-TW" dirty="0"/>
              <a:t>))</a:t>
            </a:r>
          </a:p>
        </p:txBody>
      </p:sp>
      <p:sp>
        <p:nvSpPr>
          <p:cNvPr id="14" name="Rectangle 13"/>
          <p:cNvSpPr/>
          <p:nvPr/>
        </p:nvSpPr>
        <p:spPr>
          <a:xfrm>
            <a:off x="8067607" y="3555151"/>
            <a:ext cx="2799435" cy="2062103"/>
          </a:xfrm>
          <a:prstGeom prst="rect">
            <a:avLst/>
          </a:prstGeom>
        </p:spPr>
        <p:txBody>
          <a:bodyPr wrap="square">
            <a:spAutoFit/>
          </a:bodyPr>
          <a:lstStyle/>
          <a:p>
            <a:r>
              <a:rPr lang="en-US" altLang="zh-TW" sz="3200" dirty="0"/>
              <a:t>(?)</a:t>
            </a:r>
            <a:r>
              <a:rPr lang="en-US" altLang="zh-TW" sz="3200" i="1" dirty="0" err="1"/>
              <a:t>VgeO</a:t>
            </a:r>
            <a:r>
              <a:rPr lang="en-US" altLang="zh-TW" sz="3200" dirty="0"/>
              <a:t> in central/intermediate mainland dialects</a:t>
            </a:r>
          </a:p>
        </p:txBody>
      </p:sp>
      <p:sp>
        <p:nvSpPr>
          <p:cNvPr id="15" name="Rectangle 14"/>
          <p:cNvSpPr/>
          <p:nvPr/>
        </p:nvSpPr>
        <p:spPr>
          <a:xfrm>
            <a:off x="5956204" y="2808101"/>
            <a:ext cx="4221754" cy="707886"/>
          </a:xfrm>
          <a:prstGeom prst="rect">
            <a:avLst/>
          </a:prstGeom>
        </p:spPr>
        <p:txBody>
          <a:bodyPr wrap="square">
            <a:spAutoFit/>
          </a:bodyPr>
          <a:lstStyle/>
          <a:p>
            <a:r>
              <a:rPr lang="en-US" altLang="zh-TW" sz="2000" dirty="0"/>
              <a:t>Similar for Ningbo, Shaoxing, Wenzhou, Hangzhou.  </a:t>
            </a:r>
          </a:p>
        </p:txBody>
      </p:sp>
    </p:spTree>
    <p:extLst>
      <p:ext uri="{BB962C8B-B14F-4D97-AF65-F5344CB8AC3E}">
        <p14:creationId xmlns:p14="http://schemas.microsoft.com/office/powerpoint/2010/main" val="1353102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7" grpId="0"/>
      <p:bldP spid="8" grpId="0"/>
      <p:bldP spid="9" grpId="0"/>
      <p:bldP spid="10" grpId="0"/>
      <p:bldP spid="11" grpId="0"/>
      <p:bldP spid="12" grpId="0"/>
      <p:bldP spid="13" grpId="0"/>
      <p:bldP spid="14" grpId="0"/>
      <p:bldP spid="1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altLang="zh-CN" dirty="0"/>
              <a:t>Chinese nominal </a:t>
            </a:r>
            <a:r>
              <a:rPr lang="en-US" altLang="zh-CN" dirty="0" err="1"/>
              <a:t>microvariation</a:t>
            </a:r>
            <a:r>
              <a:rPr lang="en-US" altLang="zh-CN" dirty="0"/>
              <a:t>: </a:t>
            </a:r>
            <a:r>
              <a:rPr lang="en-US" altLang="zh-CN" dirty="0" err="1"/>
              <a:t>VgeO</a:t>
            </a:r>
            <a:r>
              <a:rPr lang="en-US" altLang="zh-CN" dirty="0"/>
              <a:t> vs *</a:t>
            </a:r>
            <a:r>
              <a:rPr lang="en-US" altLang="zh-CN" i="1" dirty="0" err="1"/>
              <a:t>keoi</a:t>
            </a:r>
            <a:r>
              <a:rPr lang="en-US" altLang="zh-CN" i="1" dirty="0"/>
              <a:t> </a:t>
            </a:r>
            <a:r>
              <a:rPr lang="en-US" altLang="zh-CN" i="1" dirty="0" err="1"/>
              <a:t>ge</a:t>
            </a:r>
            <a:r>
              <a:rPr lang="en-US" altLang="zh-CN" i="1" dirty="0"/>
              <a:t> </a:t>
            </a:r>
            <a:r>
              <a:rPr lang="en-US" altLang="zh-CN" i="1" dirty="0" err="1"/>
              <a:t>lousi</a:t>
            </a:r>
            <a:endParaRPr lang="en-GB" i="1" dirty="0"/>
          </a:p>
        </p:txBody>
      </p:sp>
      <p:sp>
        <p:nvSpPr>
          <p:cNvPr id="3" name="Content Placeholder 2"/>
          <p:cNvSpPr>
            <a:spLocks noGrp="1"/>
          </p:cNvSpPr>
          <p:nvPr>
            <p:ph idx="1"/>
          </p:nvPr>
        </p:nvSpPr>
        <p:spPr>
          <a:xfrm>
            <a:off x="838200" y="1325563"/>
            <a:ext cx="10515600" cy="4351338"/>
          </a:xfrm>
        </p:spPr>
        <p:txBody>
          <a:bodyPr/>
          <a:lstStyle/>
          <a:p>
            <a:pPr marL="0" indent="0">
              <a:buNone/>
            </a:pPr>
            <a:r>
              <a:rPr lang="en-US" dirty="0"/>
              <a:t>(?)</a:t>
            </a:r>
            <a:r>
              <a:rPr lang="en-US" dirty="0" err="1"/>
              <a:t>VgeO</a:t>
            </a:r>
            <a:r>
              <a:rPr lang="en-US" dirty="0"/>
              <a:t> vs *</a:t>
            </a:r>
            <a:r>
              <a:rPr lang="en-US" i="1" dirty="0" err="1"/>
              <a:t>keoi</a:t>
            </a:r>
            <a:r>
              <a:rPr lang="en-US" i="1" dirty="0"/>
              <a:t> </a:t>
            </a:r>
            <a:r>
              <a:rPr lang="en-US" i="1" dirty="0" err="1"/>
              <a:t>ge</a:t>
            </a:r>
            <a:r>
              <a:rPr lang="en-US" i="1" dirty="0"/>
              <a:t> </a:t>
            </a:r>
            <a:r>
              <a:rPr lang="en-US" i="1" dirty="0" err="1"/>
              <a:t>lousi</a:t>
            </a:r>
            <a:endParaRPr lang="en-GB" i="1" dirty="0"/>
          </a:p>
        </p:txBody>
      </p:sp>
      <p:sp>
        <p:nvSpPr>
          <p:cNvPr id="4" name="Content Placeholder 2"/>
          <p:cNvSpPr txBox="1">
            <a:spLocks/>
          </p:cNvSpPr>
          <p:nvPr/>
        </p:nvSpPr>
        <p:spPr>
          <a:xfrm>
            <a:off x="0" y="2294436"/>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Intermediate mainland dialects (Wu, Xiang, </a:t>
            </a:r>
            <a:r>
              <a:rPr lang="en-US" dirty="0" err="1"/>
              <a:t>Kejia</a:t>
            </a:r>
            <a:r>
              <a:rPr lang="en-US" dirty="0"/>
              <a:t>) </a:t>
            </a:r>
            <a:endParaRPr lang="en-GB" dirty="0"/>
          </a:p>
        </p:txBody>
      </p:sp>
      <p:sp>
        <p:nvSpPr>
          <p:cNvPr id="5" name="Content Placeholder 2"/>
          <p:cNvSpPr txBox="1">
            <a:spLocks/>
          </p:cNvSpPr>
          <p:nvPr/>
        </p:nvSpPr>
        <p:spPr>
          <a:xfrm>
            <a:off x="4594559" y="1325563"/>
            <a:ext cx="11346782"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(intermediate </a:t>
            </a:r>
          </a:p>
          <a:p>
            <a:pPr marL="0" indent="0">
              <a:buFont typeface="Arial" panose="020B0604020202020204" pitchFamily="34" charset="0"/>
              <a:buNone/>
            </a:pPr>
            <a:r>
              <a:rPr lang="en-US" dirty="0"/>
              <a:t>isogloss)</a:t>
            </a:r>
            <a:endParaRPr lang="en-GB" dirty="0"/>
          </a:p>
        </p:txBody>
      </p:sp>
      <p:sp>
        <p:nvSpPr>
          <p:cNvPr id="6" name="Content Placeholder 2"/>
          <p:cNvSpPr txBox="1">
            <a:spLocks/>
          </p:cNvSpPr>
          <p:nvPr/>
        </p:nvSpPr>
        <p:spPr>
          <a:xfrm>
            <a:off x="0" y="3097210"/>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Chinese nominalization (</a:t>
            </a:r>
            <a:r>
              <a:rPr lang="en-US" i="1" dirty="0"/>
              <a:t>de/</a:t>
            </a:r>
            <a:r>
              <a:rPr lang="en-US" i="1" dirty="0" err="1"/>
              <a:t>ge</a:t>
            </a:r>
            <a:r>
              <a:rPr lang="en-US" dirty="0"/>
              <a:t>): </a:t>
            </a:r>
            <a:endParaRPr lang="en-GB" dirty="0"/>
          </a:p>
        </p:txBody>
      </p:sp>
      <p:graphicFrame>
        <p:nvGraphicFramePr>
          <p:cNvPr id="7" name="Table 6"/>
          <p:cNvGraphicFramePr>
            <a:graphicFrameLocks noGrp="1"/>
          </p:cNvGraphicFramePr>
          <p:nvPr/>
        </p:nvGraphicFramePr>
        <p:xfrm>
          <a:off x="0" y="3830051"/>
          <a:ext cx="7395411" cy="2565400"/>
        </p:xfrm>
        <a:graphic>
          <a:graphicData uri="http://schemas.openxmlformats.org/drawingml/2006/table">
            <a:tbl>
              <a:tblPr firstRow="1" bandRow="1">
                <a:tableStyleId>{5C22544A-7EE6-4342-B048-85BDC9FD1C3A}</a:tableStyleId>
              </a:tblPr>
              <a:tblGrid>
                <a:gridCol w="2465137">
                  <a:extLst>
                    <a:ext uri="{9D8B030D-6E8A-4147-A177-3AD203B41FA5}">
                      <a16:colId xmlns:a16="http://schemas.microsoft.com/office/drawing/2014/main" val="97731798"/>
                    </a:ext>
                  </a:extLst>
                </a:gridCol>
                <a:gridCol w="2465137">
                  <a:extLst>
                    <a:ext uri="{9D8B030D-6E8A-4147-A177-3AD203B41FA5}">
                      <a16:colId xmlns:a16="http://schemas.microsoft.com/office/drawing/2014/main" val="253767007"/>
                    </a:ext>
                  </a:extLst>
                </a:gridCol>
                <a:gridCol w="2465137">
                  <a:extLst>
                    <a:ext uri="{9D8B030D-6E8A-4147-A177-3AD203B41FA5}">
                      <a16:colId xmlns:a16="http://schemas.microsoft.com/office/drawing/2014/main" val="535862314"/>
                    </a:ext>
                  </a:extLst>
                </a:gridCol>
              </a:tblGrid>
              <a:tr h="370840">
                <a:tc>
                  <a:txBody>
                    <a:bodyPr/>
                    <a:lstStyle/>
                    <a:p>
                      <a:r>
                        <a:rPr lang="en-US" dirty="0"/>
                        <a:t>Dialect</a:t>
                      </a:r>
                      <a:endParaRPr lang="en-GB" dirty="0"/>
                    </a:p>
                  </a:txBody>
                  <a:tcPr/>
                </a:tc>
                <a:tc>
                  <a:txBody>
                    <a:bodyPr/>
                    <a:lstStyle/>
                    <a:p>
                      <a:r>
                        <a:rPr lang="en-US" dirty="0"/>
                        <a:t>Past-time</a:t>
                      </a:r>
                      <a:r>
                        <a:rPr lang="en-US" baseline="0" dirty="0"/>
                        <a:t> clefts (</a:t>
                      </a:r>
                      <a:r>
                        <a:rPr lang="en-US" baseline="0" dirty="0" err="1"/>
                        <a:t>VdeO</a:t>
                      </a:r>
                      <a:r>
                        <a:rPr lang="en-US" baseline="0" dirty="0"/>
                        <a:t>)</a:t>
                      </a:r>
                      <a:endParaRPr lang="en-GB" dirty="0"/>
                    </a:p>
                  </a:txBody>
                  <a:tcPr/>
                </a:tc>
                <a:tc>
                  <a:txBody>
                    <a:bodyPr/>
                    <a:lstStyle/>
                    <a:p>
                      <a:r>
                        <a:rPr lang="en-US" dirty="0"/>
                        <a:t>Activity </a:t>
                      </a:r>
                      <a:r>
                        <a:rPr lang="en-US" dirty="0" err="1"/>
                        <a:t>nominals</a:t>
                      </a:r>
                      <a:r>
                        <a:rPr lang="en-US" dirty="0"/>
                        <a:t> (ta de </a:t>
                      </a:r>
                      <a:r>
                        <a:rPr lang="en-US" dirty="0" err="1"/>
                        <a:t>laoshi</a:t>
                      </a:r>
                      <a:r>
                        <a:rPr lang="en-US" dirty="0"/>
                        <a:t>)</a:t>
                      </a:r>
                      <a:endParaRPr lang="en-GB" dirty="0"/>
                    </a:p>
                  </a:txBody>
                  <a:tcPr/>
                </a:tc>
                <a:extLst>
                  <a:ext uri="{0D108BD9-81ED-4DB2-BD59-A6C34878D82A}">
                    <a16:rowId xmlns:a16="http://schemas.microsoft.com/office/drawing/2014/main" val="1082633439"/>
                  </a:ext>
                </a:extLst>
              </a:tr>
              <a:tr h="370840">
                <a:tc>
                  <a:txBody>
                    <a:bodyPr/>
                    <a:lstStyle/>
                    <a:p>
                      <a:r>
                        <a:rPr lang="en-US" dirty="0"/>
                        <a:t>North (</a:t>
                      </a:r>
                      <a:r>
                        <a:rPr lang="zh-CN" altLang="en-US" dirty="0"/>
                        <a:t>北方話</a:t>
                      </a:r>
                      <a:r>
                        <a:rPr lang="en-US" altLang="zh-CN" dirty="0"/>
                        <a:t>,</a:t>
                      </a:r>
                      <a:r>
                        <a:rPr lang="en-US" altLang="zh-CN" baseline="0" dirty="0"/>
                        <a:t> </a:t>
                      </a:r>
                      <a:r>
                        <a:rPr lang="zh-CN" altLang="en-US" baseline="0" dirty="0"/>
                        <a:t>東北話</a:t>
                      </a:r>
                      <a:r>
                        <a:rPr lang="en-US" altLang="zh-CN" dirty="0"/>
                        <a:t>) </a:t>
                      </a:r>
                      <a:endParaRPr lang="en-GB" dirty="0"/>
                    </a:p>
                  </a:txBody>
                  <a:tcPr/>
                </a:tc>
                <a:tc>
                  <a:txBody>
                    <a:bodyPr/>
                    <a:lstStyle/>
                    <a:p>
                      <a:r>
                        <a:rPr lang="en-US" i="1" dirty="0" err="1"/>
                        <a:t>VdeO</a:t>
                      </a:r>
                      <a:endParaRPr lang="en-GB" i="1" dirty="0"/>
                    </a:p>
                  </a:txBody>
                  <a:tcPr/>
                </a:tc>
                <a:tc>
                  <a:txBody>
                    <a:bodyPr/>
                    <a:lstStyle/>
                    <a:p>
                      <a:r>
                        <a:rPr lang="en-US" i="1" dirty="0"/>
                        <a:t>Ta de </a:t>
                      </a:r>
                      <a:r>
                        <a:rPr lang="en-US" i="1" dirty="0" err="1"/>
                        <a:t>laoshi</a:t>
                      </a:r>
                      <a:endParaRPr lang="en-GB" i="1" dirty="0"/>
                    </a:p>
                  </a:txBody>
                  <a:tcPr/>
                </a:tc>
                <a:extLst>
                  <a:ext uri="{0D108BD9-81ED-4DB2-BD59-A6C34878D82A}">
                    <a16:rowId xmlns:a16="http://schemas.microsoft.com/office/drawing/2014/main" val="3925026464"/>
                  </a:ext>
                </a:extLst>
              </a:tr>
              <a:tr h="370840">
                <a:tc>
                  <a:txBody>
                    <a:bodyPr/>
                    <a:lstStyle/>
                    <a:p>
                      <a:r>
                        <a:rPr lang="en-US" dirty="0"/>
                        <a:t>Central/intermediate</a:t>
                      </a:r>
                      <a:r>
                        <a:rPr lang="en-US" baseline="0" dirty="0"/>
                        <a:t> mainland dialects (Wu, Xiang, </a:t>
                      </a:r>
                      <a:r>
                        <a:rPr lang="en-US" baseline="0" dirty="0" err="1"/>
                        <a:t>Kejia</a:t>
                      </a:r>
                      <a:r>
                        <a:rPr lang="en-US" baseline="0" dirty="0"/>
                        <a:t>)</a:t>
                      </a:r>
                      <a:endParaRPr lang="en-GB" dirty="0"/>
                    </a:p>
                  </a:txBody>
                  <a:tcPr/>
                </a:tc>
                <a:tc>
                  <a:txBody>
                    <a:bodyPr/>
                    <a:lstStyle/>
                    <a:p>
                      <a:r>
                        <a:rPr lang="en-US" dirty="0"/>
                        <a:t>(?) </a:t>
                      </a:r>
                      <a:r>
                        <a:rPr lang="en-US" i="1" dirty="0" err="1"/>
                        <a:t>VgeO</a:t>
                      </a:r>
                      <a:endParaRPr lang="en-GB" i="1" dirty="0"/>
                    </a:p>
                  </a:txBody>
                  <a:tcPr/>
                </a:tc>
                <a:tc>
                  <a:txBody>
                    <a:bodyPr/>
                    <a:lstStyle/>
                    <a:p>
                      <a:r>
                        <a:rPr lang="en-US" dirty="0"/>
                        <a:t> *</a:t>
                      </a:r>
                      <a:r>
                        <a:rPr lang="en-US" i="1" dirty="0" err="1"/>
                        <a:t>keoi</a:t>
                      </a:r>
                      <a:r>
                        <a:rPr lang="en-US" i="1" dirty="0"/>
                        <a:t> </a:t>
                      </a:r>
                      <a:r>
                        <a:rPr lang="en-US" i="1" dirty="0" err="1"/>
                        <a:t>ge</a:t>
                      </a:r>
                      <a:r>
                        <a:rPr lang="en-US" i="1" dirty="0"/>
                        <a:t> </a:t>
                      </a:r>
                      <a:r>
                        <a:rPr lang="en-US" i="1" dirty="0" err="1"/>
                        <a:t>lousi</a:t>
                      </a:r>
                      <a:r>
                        <a:rPr lang="en-US" i="1" dirty="0"/>
                        <a:t> </a:t>
                      </a:r>
                      <a:endParaRPr lang="en-GB" i="1" dirty="0"/>
                    </a:p>
                  </a:txBody>
                  <a:tcPr/>
                </a:tc>
                <a:extLst>
                  <a:ext uri="{0D108BD9-81ED-4DB2-BD59-A6C34878D82A}">
                    <a16:rowId xmlns:a16="http://schemas.microsoft.com/office/drawing/2014/main" val="833627956"/>
                  </a:ext>
                </a:extLst>
              </a:tr>
              <a:tr h="370840">
                <a:tc>
                  <a:txBody>
                    <a:bodyPr/>
                    <a:lstStyle/>
                    <a:p>
                      <a:r>
                        <a:rPr lang="en-US" dirty="0"/>
                        <a:t>South</a:t>
                      </a:r>
                      <a:r>
                        <a:rPr lang="en-US" baseline="0" dirty="0"/>
                        <a:t> (Cantonese, Taiwanese Min) </a:t>
                      </a:r>
                      <a:endParaRPr lang="en-GB" dirty="0"/>
                    </a:p>
                  </a:txBody>
                  <a:tcPr/>
                </a:tc>
                <a:tc>
                  <a:txBody>
                    <a:bodyPr/>
                    <a:lstStyle/>
                    <a:p>
                      <a:r>
                        <a:rPr lang="en-US" dirty="0"/>
                        <a:t>*</a:t>
                      </a:r>
                      <a:r>
                        <a:rPr lang="en-US" i="1" dirty="0" err="1"/>
                        <a:t>VgeO</a:t>
                      </a:r>
                      <a:endParaRPr lang="en-GB" i="1" dirty="0"/>
                    </a:p>
                  </a:txBody>
                  <a:tcPr/>
                </a:tc>
                <a:tc>
                  <a:txBody>
                    <a:bodyPr/>
                    <a:lstStyle/>
                    <a:p>
                      <a:r>
                        <a:rPr lang="en-US" dirty="0"/>
                        <a:t>*</a:t>
                      </a:r>
                      <a:r>
                        <a:rPr lang="en-US" i="1" dirty="0" err="1"/>
                        <a:t>keoi</a:t>
                      </a:r>
                      <a:r>
                        <a:rPr lang="en-US" i="1" dirty="0"/>
                        <a:t> </a:t>
                      </a:r>
                      <a:r>
                        <a:rPr lang="en-US" i="1" dirty="0" err="1"/>
                        <a:t>ge</a:t>
                      </a:r>
                      <a:r>
                        <a:rPr lang="en-US" i="1" dirty="0"/>
                        <a:t> </a:t>
                      </a:r>
                      <a:r>
                        <a:rPr lang="en-US" i="1" dirty="0" err="1"/>
                        <a:t>lousi</a:t>
                      </a:r>
                      <a:endParaRPr lang="en-GB" i="1" dirty="0"/>
                    </a:p>
                  </a:txBody>
                  <a:tcPr/>
                </a:tc>
                <a:extLst>
                  <a:ext uri="{0D108BD9-81ED-4DB2-BD59-A6C34878D82A}">
                    <a16:rowId xmlns:a16="http://schemas.microsoft.com/office/drawing/2014/main" val="884014214"/>
                  </a:ext>
                </a:extLst>
              </a:tr>
            </a:tbl>
          </a:graphicData>
        </a:graphic>
      </p:graphicFrame>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95410" y="802104"/>
            <a:ext cx="4796590" cy="6055895"/>
          </a:xfrm>
          <a:prstGeom prst="rect">
            <a:avLst/>
          </a:prstGeom>
        </p:spPr>
      </p:pic>
    </p:spTree>
    <p:extLst>
      <p:ext uri="{BB962C8B-B14F-4D97-AF65-F5344CB8AC3E}">
        <p14:creationId xmlns:p14="http://schemas.microsoft.com/office/powerpoint/2010/main" val="90627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Nominal </a:t>
            </a:r>
            <a:r>
              <a:rPr lang="en-US" dirty="0" err="1"/>
              <a:t>microvariation</a:t>
            </a:r>
            <a:r>
              <a:rPr lang="en-US" dirty="0"/>
              <a:t> (</a:t>
            </a:r>
            <a:r>
              <a:rPr lang="zh-CN" altLang="en-US" dirty="0"/>
              <a:t>名詞參數</a:t>
            </a:r>
            <a:r>
              <a:rPr lang="en-US" altLang="zh-CN" dirty="0"/>
              <a:t>)</a:t>
            </a:r>
            <a:endParaRPr lang="en-GB" dirty="0"/>
          </a:p>
        </p:txBody>
      </p:sp>
      <p:sp>
        <p:nvSpPr>
          <p:cNvPr id="3" name="Content Placeholder 2"/>
          <p:cNvSpPr>
            <a:spLocks noGrp="1"/>
          </p:cNvSpPr>
          <p:nvPr>
            <p:ph idx="1"/>
          </p:nvPr>
        </p:nvSpPr>
        <p:spPr>
          <a:xfrm>
            <a:off x="838199" y="1005473"/>
            <a:ext cx="11349789" cy="4351338"/>
          </a:xfrm>
        </p:spPr>
        <p:txBody>
          <a:bodyPr/>
          <a:lstStyle/>
          <a:p>
            <a:pPr marL="0" indent="0">
              <a:buNone/>
            </a:pPr>
            <a:r>
              <a:rPr lang="en-US" dirty="0"/>
              <a:t>Chinese </a:t>
            </a:r>
            <a:r>
              <a:rPr lang="en-US" dirty="0" err="1"/>
              <a:t>adnominalisers</a:t>
            </a:r>
            <a:r>
              <a:rPr lang="en-US" dirty="0"/>
              <a:t> (</a:t>
            </a:r>
            <a:r>
              <a:rPr lang="en-US" i="1" dirty="0"/>
              <a:t>de/</a:t>
            </a:r>
            <a:r>
              <a:rPr lang="en-US" i="1" dirty="0" err="1"/>
              <a:t>ge</a:t>
            </a:r>
            <a:r>
              <a:rPr lang="en-US" dirty="0"/>
              <a:t>): possession/modification (Paul (2015, 2019))</a:t>
            </a:r>
            <a:endParaRPr lang="en-GB" dirty="0"/>
          </a:p>
        </p:txBody>
      </p:sp>
      <p:sp>
        <p:nvSpPr>
          <p:cNvPr id="7" name="Content Placeholder 2"/>
          <p:cNvSpPr txBox="1">
            <a:spLocks/>
          </p:cNvSpPr>
          <p:nvPr/>
        </p:nvSpPr>
        <p:spPr>
          <a:xfrm>
            <a:off x="838198" y="1438524"/>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Attributional/</a:t>
            </a:r>
            <a:r>
              <a:rPr lang="en-US" dirty="0" err="1"/>
              <a:t>modificational</a:t>
            </a:r>
            <a:r>
              <a:rPr lang="en-US" dirty="0"/>
              <a:t> markers are relatively low on nominal spine below all the referential elements (possessives, demonstratives, numerals, quantifiers, classifiers):</a:t>
            </a:r>
            <a:endParaRPr lang="en-GB" dirty="0"/>
          </a:p>
        </p:txBody>
      </p:sp>
      <p:sp>
        <p:nvSpPr>
          <p:cNvPr id="8" name="Content Placeholder 2"/>
          <p:cNvSpPr txBox="1">
            <a:spLocks/>
          </p:cNvSpPr>
          <p:nvPr/>
        </p:nvSpPr>
        <p:spPr>
          <a:xfrm>
            <a:off x="838198" y="2561718"/>
            <a:ext cx="10515600" cy="141371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POSS		DEM		NUM/Q	CL	MOD		NP </a:t>
            </a:r>
          </a:p>
          <a:p>
            <a:pPr marL="0" indent="0">
              <a:buNone/>
            </a:pPr>
            <a:r>
              <a:rPr lang="en-US" dirty="0"/>
              <a:t>(Cheng and </a:t>
            </a:r>
            <a:r>
              <a:rPr lang="en-US" dirty="0" err="1"/>
              <a:t>Sybesma</a:t>
            </a:r>
            <a:r>
              <a:rPr lang="en-US" dirty="0"/>
              <a:t> (1999, 2015:3); </a:t>
            </a:r>
            <a:r>
              <a:rPr lang="en-US" dirty="0" err="1"/>
              <a:t>Aoun</a:t>
            </a:r>
            <a:r>
              <a:rPr lang="en-US" dirty="0"/>
              <a:t> and Li (2003:267); del </a:t>
            </a:r>
            <a:r>
              <a:rPr lang="en-US" dirty="0" err="1"/>
              <a:t>Gobbo</a:t>
            </a:r>
            <a:r>
              <a:rPr lang="en-US" dirty="0"/>
              <a:t> (2003:25), </a:t>
            </a:r>
            <a:r>
              <a:rPr lang="en-US" dirty="0" err="1"/>
              <a:t>Sio</a:t>
            </a:r>
            <a:r>
              <a:rPr lang="en-US" dirty="0"/>
              <a:t> (2011:129)) </a:t>
            </a:r>
            <a:endParaRPr lang="en-GB" dirty="0"/>
          </a:p>
          <a:p>
            <a:pPr marL="0" indent="0">
              <a:buFont typeface="Arial" panose="020B0604020202020204" pitchFamily="34" charset="0"/>
              <a:buNone/>
            </a:pPr>
            <a:endParaRPr lang="en-GB" dirty="0"/>
          </a:p>
        </p:txBody>
      </p:sp>
      <p:sp>
        <p:nvSpPr>
          <p:cNvPr id="9" name="Content Placeholder 2"/>
          <p:cNvSpPr txBox="1">
            <a:spLocks/>
          </p:cNvSpPr>
          <p:nvPr/>
        </p:nvSpPr>
        <p:spPr>
          <a:xfrm>
            <a:off x="0" y="3913453"/>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dirty="0"/>
              <a:t>張三        </a:t>
            </a:r>
            <a:r>
              <a:rPr lang="en-US" altLang="zh-CN" dirty="0"/>
              <a:t>(</a:t>
            </a:r>
            <a:r>
              <a:rPr lang="zh-CN" altLang="en-US" dirty="0"/>
              <a:t>的</a:t>
            </a:r>
            <a:r>
              <a:rPr lang="en-US" altLang="zh-CN" dirty="0"/>
              <a:t>)</a:t>
            </a:r>
            <a:r>
              <a:rPr lang="zh-CN" altLang="en-US" dirty="0"/>
              <a:t>三   本   </a:t>
            </a:r>
            <a:r>
              <a:rPr lang="en-US" altLang="zh-CN" dirty="0"/>
              <a:t>Chomsky </a:t>
            </a:r>
            <a:r>
              <a:rPr lang="zh-CN" altLang="en-US" dirty="0"/>
              <a:t>的 書</a:t>
            </a:r>
            <a:endParaRPr lang="en-US" altLang="zh-CN" dirty="0"/>
          </a:p>
          <a:p>
            <a:pPr marL="0" indent="0">
              <a:buFont typeface="Arial" panose="020B0604020202020204" pitchFamily="34" charset="0"/>
              <a:buNone/>
            </a:pPr>
            <a:r>
              <a:rPr lang="en-US" dirty="0" err="1"/>
              <a:t>Zhangsan</a:t>
            </a:r>
            <a:r>
              <a:rPr lang="en-US" dirty="0"/>
              <a:t> de san ben Chomsky de </a:t>
            </a:r>
            <a:r>
              <a:rPr lang="en-US" dirty="0" err="1"/>
              <a:t>shu</a:t>
            </a:r>
            <a:endParaRPr lang="en-US" dirty="0"/>
          </a:p>
          <a:p>
            <a:pPr marL="0" indent="0">
              <a:buFont typeface="Arial" panose="020B0604020202020204" pitchFamily="34" charset="0"/>
              <a:buNone/>
            </a:pPr>
            <a:r>
              <a:rPr lang="en-US" dirty="0"/>
              <a:t>‘</a:t>
            </a:r>
            <a:r>
              <a:rPr lang="en-US" dirty="0" err="1"/>
              <a:t>Zhangsan’s</a:t>
            </a:r>
            <a:r>
              <a:rPr lang="en-US" dirty="0"/>
              <a:t> three Chomsky books’</a:t>
            </a:r>
          </a:p>
          <a:p>
            <a:pPr marL="0" indent="0">
              <a:buFont typeface="Arial" panose="020B0604020202020204" pitchFamily="34" charset="0"/>
              <a:buNone/>
            </a:pPr>
            <a:r>
              <a:rPr lang="en-US" dirty="0"/>
              <a:t>(Mandarin) (</a:t>
            </a:r>
            <a:r>
              <a:rPr lang="en-US" altLang="zh-CN" dirty="0"/>
              <a:t>modified from </a:t>
            </a:r>
            <a:r>
              <a:rPr lang="en-US" dirty="0"/>
              <a:t>Saito, Lin, </a:t>
            </a:r>
            <a:r>
              <a:rPr lang="en-US" dirty="0" err="1"/>
              <a:t>Murasugi</a:t>
            </a:r>
            <a:r>
              <a:rPr lang="en-US" dirty="0"/>
              <a:t> (2008:121-122)) </a:t>
            </a:r>
            <a:endParaRPr lang="en-GB" dirty="0"/>
          </a:p>
        </p:txBody>
      </p:sp>
      <p:sp>
        <p:nvSpPr>
          <p:cNvPr id="10" name="Content Placeholder 2"/>
          <p:cNvSpPr txBox="1">
            <a:spLocks/>
          </p:cNvSpPr>
          <p:nvPr/>
        </p:nvSpPr>
        <p:spPr>
          <a:xfrm>
            <a:off x="5867400" y="3927437"/>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t>張三           </a:t>
            </a:r>
            <a:r>
              <a:rPr lang="en-US" altLang="zh-CN" dirty="0"/>
              <a:t>(</a:t>
            </a:r>
            <a:r>
              <a:rPr lang="zh-CN" altLang="en-US" dirty="0"/>
              <a:t>嘅</a:t>
            </a:r>
            <a:r>
              <a:rPr lang="en-US" altLang="zh-CN" dirty="0"/>
              <a:t>) </a:t>
            </a:r>
            <a:r>
              <a:rPr lang="zh-CN" altLang="en-US" dirty="0"/>
              <a:t>三      本    </a:t>
            </a:r>
            <a:r>
              <a:rPr lang="en-US" altLang="zh-CN" dirty="0"/>
              <a:t>Chomsky </a:t>
            </a:r>
            <a:r>
              <a:rPr lang="zh-CN" altLang="en-US" dirty="0"/>
              <a:t>嘅 書</a:t>
            </a:r>
            <a:endParaRPr lang="en-US" altLang="zh-CN" dirty="0"/>
          </a:p>
          <a:p>
            <a:pPr marL="0" indent="0">
              <a:buFont typeface="Arial" panose="020B0604020202020204" pitchFamily="34" charset="0"/>
              <a:buNone/>
            </a:pPr>
            <a:r>
              <a:rPr lang="en-US" dirty="0" err="1"/>
              <a:t>zeongsaam</a:t>
            </a:r>
            <a:r>
              <a:rPr lang="en-US" dirty="0"/>
              <a:t> </a:t>
            </a:r>
            <a:r>
              <a:rPr lang="en-US" dirty="0" err="1"/>
              <a:t>ge</a:t>
            </a:r>
            <a:r>
              <a:rPr lang="en-US" dirty="0"/>
              <a:t>   </a:t>
            </a:r>
            <a:r>
              <a:rPr lang="en-US" dirty="0" err="1"/>
              <a:t>saam</a:t>
            </a:r>
            <a:r>
              <a:rPr lang="en-US" dirty="0"/>
              <a:t> bun Chomsky </a:t>
            </a:r>
            <a:r>
              <a:rPr lang="en-US" dirty="0" err="1"/>
              <a:t>ge</a:t>
            </a:r>
            <a:r>
              <a:rPr lang="en-US" dirty="0"/>
              <a:t> </a:t>
            </a:r>
            <a:r>
              <a:rPr lang="en-US" dirty="0" err="1"/>
              <a:t>shue</a:t>
            </a:r>
            <a:endParaRPr lang="en-US" dirty="0"/>
          </a:p>
          <a:p>
            <a:pPr marL="0" indent="0">
              <a:buFont typeface="Arial" panose="020B0604020202020204" pitchFamily="34" charset="0"/>
              <a:buNone/>
            </a:pPr>
            <a:r>
              <a:rPr lang="en-US" dirty="0"/>
              <a:t>‘</a:t>
            </a:r>
            <a:r>
              <a:rPr lang="en-US" dirty="0" err="1"/>
              <a:t>Zhangsan’s</a:t>
            </a:r>
            <a:r>
              <a:rPr lang="en-US" dirty="0"/>
              <a:t> three Chomsky books’ </a:t>
            </a:r>
          </a:p>
          <a:p>
            <a:pPr marL="0" indent="0">
              <a:buFont typeface="Arial" panose="020B0604020202020204" pitchFamily="34" charset="0"/>
              <a:buNone/>
            </a:pPr>
            <a:r>
              <a:rPr lang="en-US" dirty="0"/>
              <a:t>				        (Cantonese)  </a:t>
            </a:r>
            <a:endParaRPr lang="en-GB" dirty="0"/>
          </a:p>
        </p:txBody>
      </p:sp>
    </p:spTree>
    <p:extLst>
      <p:ext uri="{BB962C8B-B14F-4D97-AF65-F5344CB8AC3E}">
        <p14:creationId xmlns:p14="http://schemas.microsoft.com/office/powerpoint/2010/main" val="434942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p:bldP spid="8" grpId="0"/>
      <p:bldP spid="9" grpId="0"/>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dirty="0"/>
              <a:t>Chinese nominal domain (Paul (2005, 2012, 2019))</a:t>
            </a:r>
            <a:endParaRPr lang="en-GB" dirty="0"/>
          </a:p>
        </p:txBody>
      </p:sp>
      <p:sp>
        <p:nvSpPr>
          <p:cNvPr id="3" name="Content Placeholder 2"/>
          <p:cNvSpPr>
            <a:spLocks noGrp="1"/>
          </p:cNvSpPr>
          <p:nvPr>
            <p:ph idx="1"/>
          </p:nvPr>
        </p:nvSpPr>
        <p:spPr>
          <a:xfrm>
            <a:off x="0" y="946484"/>
            <a:ext cx="12192000" cy="5911515"/>
          </a:xfrm>
        </p:spPr>
        <p:txBody>
          <a:bodyPr>
            <a:noAutofit/>
          </a:bodyPr>
          <a:lstStyle/>
          <a:p>
            <a:pPr marL="0" indent="0">
              <a:buNone/>
            </a:pPr>
            <a:r>
              <a:rPr lang="en-US" sz="1800" dirty="0"/>
              <a:t>	DP</a:t>
            </a:r>
          </a:p>
          <a:p>
            <a:pPr marL="0" indent="0">
              <a:buNone/>
            </a:pPr>
            <a:r>
              <a:rPr lang="en-US" sz="1800" dirty="0" err="1"/>
              <a:t>SpecDP</a:t>
            </a:r>
            <a:r>
              <a:rPr lang="en-US" sz="1800" dirty="0"/>
              <a:t>		D’</a:t>
            </a:r>
          </a:p>
          <a:p>
            <a:pPr marL="0" indent="0">
              <a:buNone/>
            </a:pPr>
            <a:r>
              <a:rPr lang="en-US" sz="1800" dirty="0"/>
              <a:t>	D		</a:t>
            </a:r>
            <a:r>
              <a:rPr lang="en-US" sz="1800" dirty="0" err="1"/>
              <a:t>PossP</a:t>
            </a:r>
            <a:endParaRPr lang="en-US" sz="1800" dirty="0"/>
          </a:p>
          <a:p>
            <a:pPr marL="0" indent="0">
              <a:buNone/>
            </a:pPr>
            <a:r>
              <a:rPr lang="en-US" sz="1800" dirty="0"/>
              <a:t>		</a:t>
            </a:r>
            <a:r>
              <a:rPr lang="en-US" sz="1800" dirty="0" err="1"/>
              <a:t>SpecPossP</a:t>
            </a:r>
            <a:r>
              <a:rPr lang="en-US" sz="1800" dirty="0"/>
              <a:t>	</a:t>
            </a:r>
            <a:r>
              <a:rPr lang="en-US" sz="1800" dirty="0" err="1"/>
              <a:t>Poss’</a:t>
            </a:r>
            <a:endParaRPr lang="en-US" sz="1800" dirty="0"/>
          </a:p>
          <a:p>
            <a:pPr marL="0" indent="0">
              <a:buNone/>
            </a:pPr>
            <a:r>
              <a:rPr lang="en-US" sz="1800" dirty="0"/>
              <a:t>			</a:t>
            </a:r>
            <a:r>
              <a:rPr lang="en-US" sz="1800" dirty="0" err="1"/>
              <a:t>Poss</a:t>
            </a:r>
            <a:r>
              <a:rPr lang="en-US" sz="1800" dirty="0"/>
              <a:t>		</a:t>
            </a:r>
            <a:r>
              <a:rPr lang="en-US" sz="1800" dirty="0" err="1"/>
              <a:t>NumP</a:t>
            </a:r>
            <a:endParaRPr lang="en-US" sz="1800" dirty="0"/>
          </a:p>
          <a:p>
            <a:pPr marL="0" indent="0">
              <a:buNone/>
            </a:pPr>
            <a:r>
              <a:rPr lang="en-US" sz="1800" dirty="0"/>
              <a:t>				</a:t>
            </a:r>
            <a:r>
              <a:rPr lang="en-US" sz="1800" dirty="0" err="1"/>
              <a:t>SpecNumP</a:t>
            </a:r>
            <a:r>
              <a:rPr lang="en-US" sz="1800" dirty="0"/>
              <a:t>	</a:t>
            </a:r>
            <a:r>
              <a:rPr lang="en-US" sz="1800" dirty="0" err="1"/>
              <a:t>Num</a:t>
            </a:r>
            <a:r>
              <a:rPr lang="en-US" sz="1800" dirty="0"/>
              <a:t>’</a:t>
            </a:r>
          </a:p>
          <a:p>
            <a:pPr marL="0" indent="0">
              <a:buNone/>
            </a:pPr>
            <a:r>
              <a:rPr lang="en-US" sz="1800" dirty="0"/>
              <a:t>					</a:t>
            </a:r>
            <a:r>
              <a:rPr lang="en-US" sz="1800" dirty="0" err="1"/>
              <a:t>Num</a:t>
            </a:r>
            <a:r>
              <a:rPr lang="en-US" sz="1800" dirty="0"/>
              <a:t>		QP</a:t>
            </a:r>
          </a:p>
          <a:p>
            <a:pPr marL="0" indent="0">
              <a:buNone/>
            </a:pPr>
            <a:r>
              <a:rPr lang="en-US" sz="1800" dirty="0"/>
              <a:t>						</a:t>
            </a:r>
            <a:r>
              <a:rPr lang="en-US" sz="1800" dirty="0" err="1"/>
              <a:t>SpecQP</a:t>
            </a:r>
            <a:r>
              <a:rPr lang="en-US" sz="1800" dirty="0"/>
              <a:t>		Q’</a:t>
            </a:r>
          </a:p>
          <a:p>
            <a:pPr marL="0" indent="0">
              <a:buNone/>
            </a:pPr>
            <a:r>
              <a:rPr lang="en-US" sz="1800" dirty="0"/>
              <a:t>							Q		CLP</a:t>
            </a:r>
          </a:p>
          <a:p>
            <a:pPr marL="0" indent="0">
              <a:buNone/>
            </a:pPr>
            <a:r>
              <a:rPr lang="en-US" sz="1800" dirty="0"/>
              <a:t>								</a:t>
            </a:r>
            <a:r>
              <a:rPr lang="en-US" sz="1800" dirty="0" err="1"/>
              <a:t>SpecCLP</a:t>
            </a:r>
            <a:r>
              <a:rPr lang="en-US" sz="1800" dirty="0"/>
              <a:t>		CL’</a:t>
            </a:r>
          </a:p>
          <a:p>
            <a:pPr marL="0" indent="0">
              <a:buNone/>
            </a:pPr>
            <a:r>
              <a:rPr lang="en-US" sz="1800" dirty="0"/>
              <a:t>									CL		</a:t>
            </a:r>
            <a:r>
              <a:rPr lang="en-US" sz="1800" dirty="0" err="1"/>
              <a:t>ModP</a:t>
            </a:r>
            <a:endParaRPr lang="en-US" sz="1800" dirty="0"/>
          </a:p>
          <a:p>
            <a:pPr marL="0" indent="0">
              <a:buNone/>
            </a:pPr>
            <a:r>
              <a:rPr lang="en-US" sz="1800" dirty="0"/>
              <a:t>										</a:t>
            </a:r>
            <a:r>
              <a:rPr lang="en-US" sz="1800" dirty="0" err="1"/>
              <a:t>SpecModP</a:t>
            </a:r>
            <a:r>
              <a:rPr lang="en-US" sz="1800" dirty="0"/>
              <a:t>	Mod’</a:t>
            </a:r>
          </a:p>
          <a:p>
            <a:pPr marL="0" indent="0">
              <a:buNone/>
            </a:pPr>
            <a:r>
              <a:rPr lang="en-US" sz="1800" dirty="0"/>
              <a:t>											Mod	            </a:t>
            </a:r>
            <a:r>
              <a:rPr lang="en-US" sz="1800" dirty="0" err="1"/>
              <a:t>nP</a:t>
            </a:r>
            <a:endParaRPr lang="en-US" sz="1800" dirty="0"/>
          </a:p>
          <a:p>
            <a:pPr marL="0" indent="0">
              <a:buNone/>
            </a:pPr>
            <a:r>
              <a:rPr lang="en-US" sz="1800" dirty="0"/>
              <a:t>												            NP</a:t>
            </a:r>
          </a:p>
        </p:txBody>
      </p:sp>
      <p:sp>
        <p:nvSpPr>
          <p:cNvPr id="4" name="Rectangle 3"/>
          <p:cNvSpPr/>
          <p:nvPr/>
        </p:nvSpPr>
        <p:spPr>
          <a:xfrm>
            <a:off x="9877552" y="5695825"/>
            <a:ext cx="929613" cy="461665"/>
          </a:xfrm>
          <a:prstGeom prst="rect">
            <a:avLst/>
          </a:prstGeom>
        </p:spPr>
        <p:txBody>
          <a:bodyPr wrap="none">
            <a:spAutoFit/>
          </a:bodyPr>
          <a:lstStyle/>
          <a:p>
            <a:r>
              <a:rPr lang="en-GB" sz="2400" b="1" dirty="0"/>
              <a:t>de/</a:t>
            </a:r>
            <a:r>
              <a:rPr lang="en-GB" sz="2400" b="1" dirty="0" err="1"/>
              <a:t>ge</a:t>
            </a:r>
            <a:endParaRPr lang="en-GB" sz="2400" b="1" dirty="0"/>
          </a:p>
        </p:txBody>
      </p:sp>
      <p:sp>
        <p:nvSpPr>
          <p:cNvPr id="5" name="Rectangle 4"/>
          <p:cNvSpPr/>
          <p:nvPr/>
        </p:nvSpPr>
        <p:spPr>
          <a:xfrm>
            <a:off x="2586415" y="2752099"/>
            <a:ext cx="929613" cy="461665"/>
          </a:xfrm>
          <a:prstGeom prst="rect">
            <a:avLst/>
          </a:prstGeom>
        </p:spPr>
        <p:txBody>
          <a:bodyPr wrap="none">
            <a:spAutoFit/>
          </a:bodyPr>
          <a:lstStyle/>
          <a:p>
            <a:r>
              <a:rPr lang="en-GB" sz="2400" b="1" dirty="0"/>
              <a:t>de/</a:t>
            </a:r>
            <a:r>
              <a:rPr lang="en-GB" sz="2400" b="1" dirty="0" err="1"/>
              <a:t>ge</a:t>
            </a:r>
            <a:endParaRPr lang="en-GB" sz="2400" b="1" dirty="0"/>
          </a:p>
        </p:txBody>
      </p:sp>
      <p:sp>
        <p:nvSpPr>
          <p:cNvPr id="6" name="Rectangle 5"/>
          <p:cNvSpPr/>
          <p:nvPr/>
        </p:nvSpPr>
        <p:spPr>
          <a:xfrm>
            <a:off x="-1" y="3194355"/>
            <a:ext cx="4615544" cy="707886"/>
          </a:xfrm>
          <a:prstGeom prst="rect">
            <a:avLst/>
          </a:prstGeom>
        </p:spPr>
        <p:txBody>
          <a:bodyPr wrap="square">
            <a:spAutoFit/>
          </a:bodyPr>
          <a:lstStyle/>
          <a:p>
            <a:r>
              <a:rPr lang="en-GB" sz="2000" dirty="0" err="1"/>
              <a:t>Longobardi</a:t>
            </a:r>
            <a:r>
              <a:rPr lang="en-GB" sz="2000" dirty="0"/>
              <a:t> and </a:t>
            </a:r>
            <a:r>
              <a:rPr lang="en-GB" sz="2000" dirty="0" err="1"/>
              <a:t>Silvestri</a:t>
            </a:r>
            <a:r>
              <a:rPr lang="en-GB" sz="2000" dirty="0"/>
              <a:t> (2013):             POSS as a high nominal functional head</a:t>
            </a:r>
          </a:p>
        </p:txBody>
      </p:sp>
      <p:sp>
        <p:nvSpPr>
          <p:cNvPr id="7" name="Rectangle 6"/>
          <p:cNvSpPr/>
          <p:nvPr/>
        </p:nvSpPr>
        <p:spPr>
          <a:xfrm>
            <a:off x="440232" y="4236909"/>
            <a:ext cx="5385320" cy="461665"/>
          </a:xfrm>
          <a:prstGeom prst="rect">
            <a:avLst/>
          </a:prstGeom>
        </p:spPr>
        <p:txBody>
          <a:bodyPr wrap="none">
            <a:spAutoFit/>
          </a:bodyPr>
          <a:lstStyle/>
          <a:p>
            <a:r>
              <a:rPr lang="zh-CN" altLang="en-US" sz="2400" dirty="0"/>
              <a:t>張三</a:t>
            </a:r>
            <a:r>
              <a:rPr lang="zh-CN" altLang="en-US" sz="2400" b="1" dirty="0"/>
              <a:t>嘅</a:t>
            </a:r>
            <a:r>
              <a:rPr lang="zh-CN" altLang="en-US" sz="2400" dirty="0"/>
              <a:t>三本</a:t>
            </a:r>
            <a:r>
              <a:rPr lang="en-US" altLang="zh-CN" sz="2400" dirty="0"/>
              <a:t>Chomsky</a:t>
            </a:r>
            <a:r>
              <a:rPr lang="zh-CN" altLang="en-US" sz="2400" b="1" dirty="0"/>
              <a:t>嘅</a:t>
            </a:r>
            <a:r>
              <a:rPr lang="zh-CN" altLang="en-US" sz="2400" dirty="0"/>
              <a:t>書</a:t>
            </a:r>
            <a:r>
              <a:rPr lang="en-US" altLang="zh-CN" sz="2400" dirty="0"/>
              <a:t>	(Cantonese)</a:t>
            </a:r>
          </a:p>
        </p:txBody>
      </p:sp>
      <p:sp>
        <p:nvSpPr>
          <p:cNvPr id="8" name="Rectangle 7"/>
          <p:cNvSpPr/>
          <p:nvPr/>
        </p:nvSpPr>
        <p:spPr>
          <a:xfrm>
            <a:off x="440231" y="3854927"/>
            <a:ext cx="5237757" cy="461665"/>
          </a:xfrm>
          <a:prstGeom prst="rect">
            <a:avLst/>
          </a:prstGeom>
        </p:spPr>
        <p:txBody>
          <a:bodyPr wrap="square">
            <a:spAutoFit/>
          </a:bodyPr>
          <a:lstStyle/>
          <a:p>
            <a:r>
              <a:rPr lang="zh-CN" altLang="en-US" sz="2400" dirty="0"/>
              <a:t>張三</a:t>
            </a:r>
            <a:r>
              <a:rPr lang="zh-CN" altLang="en-US" sz="2400" b="1" dirty="0"/>
              <a:t>的三本</a:t>
            </a:r>
            <a:r>
              <a:rPr lang="en-US" altLang="zh-CN" sz="2400" dirty="0"/>
              <a:t>Chomsky</a:t>
            </a:r>
            <a:r>
              <a:rPr lang="zh-CN" altLang="en-US" sz="2400" b="1" dirty="0"/>
              <a:t>的</a:t>
            </a:r>
            <a:r>
              <a:rPr lang="zh-CN" altLang="en-US" sz="2400" dirty="0"/>
              <a:t>書 </a:t>
            </a:r>
            <a:r>
              <a:rPr lang="en-US" altLang="zh-CN" sz="2400" dirty="0"/>
              <a:t>	(Mandarin)</a:t>
            </a:r>
          </a:p>
        </p:txBody>
      </p:sp>
      <p:sp>
        <p:nvSpPr>
          <p:cNvPr id="9" name="Rectangle 8"/>
          <p:cNvSpPr/>
          <p:nvPr/>
        </p:nvSpPr>
        <p:spPr>
          <a:xfrm>
            <a:off x="1019768" y="4703807"/>
            <a:ext cx="3177763" cy="461665"/>
          </a:xfrm>
          <a:prstGeom prst="rect">
            <a:avLst/>
          </a:prstGeom>
        </p:spPr>
        <p:txBody>
          <a:bodyPr wrap="square">
            <a:spAutoFit/>
          </a:bodyPr>
          <a:lstStyle/>
          <a:p>
            <a:r>
              <a:rPr lang="en-US" altLang="zh-CN" sz="2400" dirty="0"/>
              <a:t>POSS	     	   Mod</a:t>
            </a:r>
          </a:p>
        </p:txBody>
      </p:sp>
      <p:sp>
        <p:nvSpPr>
          <p:cNvPr id="10" name="Rectangle 9"/>
          <p:cNvSpPr/>
          <p:nvPr/>
        </p:nvSpPr>
        <p:spPr>
          <a:xfrm>
            <a:off x="9877552" y="6157490"/>
            <a:ext cx="1622560" cy="400110"/>
          </a:xfrm>
          <a:prstGeom prst="rect">
            <a:avLst/>
          </a:prstGeom>
        </p:spPr>
        <p:txBody>
          <a:bodyPr wrap="none">
            <a:spAutoFit/>
          </a:bodyPr>
          <a:lstStyle/>
          <a:p>
            <a:r>
              <a:rPr lang="en-US" sz="2000" dirty="0" err="1"/>
              <a:t>Rubins</a:t>
            </a:r>
            <a:r>
              <a:rPr lang="en-US" sz="2000" dirty="0"/>
              <a:t> (</a:t>
            </a:r>
            <a:r>
              <a:rPr lang="en-US" altLang="zh-CN" sz="2000" dirty="0"/>
              <a:t>1994</a:t>
            </a:r>
            <a:r>
              <a:rPr lang="en-US" sz="2000" dirty="0"/>
              <a:t>)</a:t>
            </a:r>
            <a:endParaRPr lang="en-GB" sz="2000" dirty="0"/>
          </a:p>
        </p:txBody>
      </p:sp>
    </p:spTree>
    <p:extLst>
      <p:ext uri="{BB962C8B-B14F-4D97-AF65-F5344CB8AC3E}">
        <p14:creationId xmlns:p14="http://schemas.microsoft.com/office/powerpoint/2010/main" val="3918214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Chinese Activity constructions</a:t>
            </a:r>
            <a:endParaRPr lang="en-GB" dirty="0"/>
          </a:p>
        </p:txBody>
      </p:sp>
      <p:sp>
        <p:nvSpPr>
          <p:cNvPr id="3" name="Content Placeholder 2"/>
          <p:cNvSpPr>
            <a:spLocks noGrp="1"/>
          </p:cNvSpPr>
          <p:nvPr>
            <p:ph idx="1"/>
          </p:nvPr>
        </p:nvSpPr>
        <p:spPr>
          <a:xfrm>
            <a:off x="804226" y="1325563"/>
            <a:ext cx="10515600" cy="4351338"/>
          </a:xfrm>
        </p:spPr>
        <p:txBody>
          <a:bodyPr/>
          <a:lstStyle/>
          <a:p>
            <a:pPr marL="0" indent="0">
              <a:buNone/>
            </a:pPr>
            <a:r>
              <a:rPr lang="en-US" dirty="0"/>
              <a:t>Subject-Object Asymmetry (</a:t>
            </a:r>
            <a:r>
              <a:rPr lang="zh-CN" altLang="en-US" dirty="0"/>
              <a:t>黃 </a:t>
            </a:r>
            <a:r>
              <a:rPr lang="en-US" altLang="zh-CN" dirty="0"/>
              <a:t>2008; </a:t>
            </a:r>
            <a:r>
              <a:rPr lang="zh-CN" altLang="en-US" dirty="0"/>
              <a:t>鄧 </a:t>
            </a:r>
            <a:r>
              <a:rPr lang="en-US" altLang="zh-CN" dirty="0"/>
              <a:t>2009)</a:t>
            </a:r>
            <a:r>
              <a:rPr lang="en-US" dirty="0"/>
              <a:t>: </a:t>
            </a:r>
          </a:p>
        </p:txBody>
      </p:sp>
      <p:sp>
        <p:nvSpPr>
          <p:cNvPr id="4" name="Rectangle 3"/>
          <p:cNvSpPr/>
          <p:nvPr/>
        </p:nvSpPr>
        <p:spPr>
          <a:xfrm>
            <a:off x="6657474" y="1793941"/>
            <a:ext cx="10515600" cy="2246769"/>
          </a:xfrm>
          <a:prstGeom prst="rect">
            <a:avLst/>
          </a:prstGeom>
        </p:spPr>
        <p:txBody>
          <a:bodyPr wrap="square">
            <a:spAutoFit/>
          </a:bodyPr>
          <a:lstStyle/>
          <a:p>
            <a:r>
              <a:rPr lang="zh-TW" altLang="en-US" sz="2800" dirty="0">
                <a:latin typeface="等线" panose="02010600030101010101" pitchFamily="2" charset="-122"/>
                <a:ea typeface="等线" panose="02010600030101010101" pitchFamily="2" charset="-122"/>
                <a:cs typeface="Times New Roman" panose="02020603050405020304" pitchFamily="18" charset="0"/>
              </a:rPr>
              <a:t>佢做佢嘅老師 </a:t>
            </a:r>
            <a:r>
              <a:rPr lang="en-US" altLang="zh-TW" sz="2800" dirty="0">
                <a:latin typeface="等线" panose="02010600030101010101" pitchFamily="2" charset="-122"/>
                <a:ea typeface="等线" panose="02010600030101010101" pitchFamily="2" charset="-122"/>
                <a:cs typeface="Times New Roman" panose="02020603050405020304" pitchFamily="18" charset="0"/>
              </a:rPr>
              <a:t>(</a:t>
            </a:r>
            <a:r>
              <a:rPr lang="en-US" altLang="zh-TW" sz="2800" dirty="0">
                <a:ea typeface="等线" panose="02010600030101010101" pitchFamily="2" charset="-122"/>
                <a:cs typeface="Times New Roman" panose="02020603050405020304" pitchFamily="18" charset="0"/>
              </a:rPr>
              <a:t>Cantonese</a:t>
            </a:r>
            <a:r>
              <a:rPr lang="en-US" altLang="zh-TW" sz="2800" dirty="0">
                <a:latin typeface="等线" panose="02010600030101010101" pitchFamily="2" charset="-122"/>
                <a:ea typeface="等线" panose="02010600030101010101" pitchFamily="2" charset="-122"/>
                <a:cs typeface="Times New Roman" panose="02020603050405020304" pitchFamily="18" charset="0"/>
              </a:rPr>
              <a:t>)</a:t>
            </a:r>
          </a:p>
          <a:p>
            <a:r>
              <a:rPr lang="en-US" altLang="zh-TW" sz="2800" dirty="0" err="1">
                <a:ea typeface="等线" panose="02010600030101010101" pitchFamily="2" charset="-122"/>
                <a:cs typeface="Times New Roman" panose="02020603050405020304" pitchFamily="18" charset="0"/>
              </a:rPr>
              <a:t>keui</a:t>
            </a:r>
            <a:r>
              <a:rPr lang="en-US" altLang="zh-TW" sz="2800" dirty="0">
                <a:ea typeface="等线" panose="02010600030101010101" pitchFamily="2" charset="-122"/>
                <a:cs typeface="Times New Roman" panose="02020603050405020304" pitchFamily="18" charset="0"/>
              </a:rPr>
              <a:t> </a:t>
            </a:r>
            <a:r>
              <a:rPr lang="en-US" altLang="zh-TW" sz="2800" dirty="0" err="1">
                <a:ea typeface="等线" panose="02010600030101010101" pitchFamily="2" charset="-122"/>
                <a:cs typeface="Times New Roman" panose="02020603050405020304" pitchFamily="18" charset="0"/>
              </a:rPr>
              <a:t>zou</a:t>
            </a:r>
            <a:r>
              <a:rPr lang="en-US" altLang="zh-TW" sz="2800" dirty="0">
                <a:ea typeface="等线" panose="02010600030101010101" pitchFamily="2" charset="-122"/>
                <a:cs typeface="Times New Roman" panose="02020603050405020304" pitchFamily="18" charset="0"/>
              </a:rPr>
              <a:t> </a:t>
            </a:r>
            <a:r>
              <a:rPr lang="en-US" altLang="zh-TW" sz="2800" dirty="0" err="1">
                <a:ea typeface="等线" panose="02010600030101010101" pitchFamily="2" charset="-122"/>
                <a:cs typeface="Times New Roman" panose="02020603050405020304" pitchFamily="18" charset="0"/>
              </a:rPr>
              <a:t>keui</a:t>
            </a:r>
            <a:r>
              <a:rPr lang="en-US" altLang="zh-TW" sz="2800" dirty="0">
                <a:ea typeface="等线" panose="02010600030101010101" pitchFamily="2" charset="-122"/>
                <a:cs typeface="Times New Roman" panose="02020603050405020304" pitchFamily="18" charset="0"/>
              </a:rPr>
              <a:t> </a:t>
            </a:r>
            <a:r>
              <a:rPr lang="en-US" altLang="zh-TW" sz="2800" dirty="0" err="1">
                <a:ea typeface="等线" panose="02010600030101010101" pitchFamily="2" charset="-122"/>
                <a:cs typeface="Times New Roman" panose="02020603050405020304" pitchFamily="18" charset="0"/>
              </a:rPr>
              <a:t>ge</a:t>
            </a:r>
            <a:r>
              <a:rPr lang="en-US" altLang="zh-TW" sz="2800" dirty="0">
                <a:ea typeface="等线" panose="02010600030101010101" pitchFamily="2" charset="-122"/>
                <a:cs typeface="Times New Roman" panose="02020603050405020304" pitchFamily="18" charset="0"/>
              </a:rPr>
              <a:t> </a:t>
            </a:r>
            <a:r>
              <a:rPr lang="en-US" altLang="zh-TW" sz="2800" dirty="0" err="1">
                <a:ea typeface="等线" panose="02010600030101010101" pitchFamily="2" charset="-122"/>
                <a:cs typeface="Times New Roman" panose="02020603050405020304" pitchFamily="18" charset="0"/>
              </a:rPr>
              <a:t>lousi</a:t>
            </a:r>
            <a:endParaRPr lang="en-US" altLang="zh-TW" sz="2800" dirty="0">
              <a:ea typeface="等线" panose="02010600030101010101" pitchFamily="2" charset="-122"/>
              <a:cs typeface="Times New Roman" panose="02020603050405020304" pitchFamily="18" charset="0"/>
            </a:endParaRPr>
          </a:p>
          <a:p>
            <a:r>
              <a:rPr lang="en-US" altLang="zh-TW" sz="2800" dirty="0">
                <a:latin typeface="等线" panose="02010600030101010101" pitchFamily="2" charset="-122"/>
                <a:ea typeface="等线" panose="02010600030101010101" pitchFamily="2" charset="-122"/>
                <a:cs typeface="Times New Roman" panose="02020603050405020304" pitchFamily="18" charset="0"/>
              </a:rPr>
              <a:t> *</a:t>
            </a:r>
            <a:r>
              <a:rPr lang="zh-TW" altLang="en-US" sz="2800" dirty="0">
                <a:latin typeface="等线" panose="02010600030101010101" pitchFamily="2" charset="-122"/>
                <a:ea typeface="等线" panose="02010600030101010101" pitchFamily="2" charset="-122"/>
                <a:cs typeface="Times New Roman" panose="02020603050405020304" pitchFamily="18" charset="0"/>
              </a:rPr>
              <a:t>佢  嘅 老師 做   得   好</a:t>
            </a:r>
            <a:endParaRPr lang="en-US" altLang="zh-TW" sz="2800" dirty="0">
              <a:latin typeface="等线" panose="02010600030101010101" pitchFamily="2" charset="-122"/>
              <a:ea typeface="等线" panose="02010600030101010101" pitchFamily="2" charset="-122"/>
              <a:cs typeface="Times New Roman" panose="02020603050405020304" pitchFamily="18" charset="0"/>
            </a:endParaRPr>
          </a:p>
          <a:p>
            <a:r>
              <a:rPr lang="en-US" sz="2800" dirty="0" err="1">
                <a:ea typeface="等线" panose="02010600030101010101" pitchFamily="2" charset="-122"/>
                <a:cs typeface="Times New Roman" panose="02020603050405020304" pitchFamily="18" charset="0"/>
              </a:rPr>
              <a:t>keui</a:t>
            </a:r>
            <a:r>
              <a:rPr lang="en-US" sz="2800" dirty="0">
                <a:ea typeface="等线" panose="02010600030101010101" pitchFamily="2" charset="-122"/>
                <a:cs typeface="Times New Roman" panose="02020603050405020304" pitchFamily="18" charset="0"/>
              </a:rPr>
              <a:t> </a:t>
            </a:r>
            <a:r>
              <a:rPr lang="en-US" sz="2800" dirty="0" err="1">
                <a:ea typeface="等线" panose="02010600030101010101" pitchFamily="2" charset="-122"/>
                <a:cs typeface="Times New Roman" panose="02020603050405020304" pitchFamily="18" charset="0"/>
              </a:rPr>
              <a:t>ge</a:t>
            </a:r>
            <a:r>
              <a:rPr lang="en-US" sz="2800" dirty="0">
                <a:ea typeface="等线" panose="02010600030101010101" pitchFamily="2" charset="-122"/>
                <a:cs typeface="Times New Roman" panose="02020603050405020304" pitchFamily="18" charset="0"/>
              </a:rPr>
              <a:t> </a:t>
            </a:r>
            <a:r>
              <a:rPr lang="en-US" sz="2800" dirty="0" err="1">
                <a:ea typeface="等线" panose="02010600030101010101" pitchFamily="2" charset="-122"/>
                <a:cs typeface="Times New Roman" panose="02020603050405020304" pitchFamily="18" charset="0"/>
              </a:rPr>
              <a:t>lousi</a:t>
            </a:r>
            <a:r>
              <a:rPr lang="en-US" sz="2800" dirty="0">
                <a:ea typeface="等线" panose="02010600030101010101" pitchFamily="2" charset="-122"/>
                <a:cs typeface="Times New Roman" panose="02020603050405020304" pitchFamily="18" charset="0"/>
              </a:rPr>
              <a:t> </a:t>
            </a:r>
            <a:r>
              <a:rPr lang="en-US" sz="2800" dirty="0" err="1">
                <a:ea typeface="等线" panose="02010600030101010101" pitchFamily="2" charset="-122"/>
                <a:cs typeface="Times New Roman" panose="02020603050405020304" pitchFamily="18" charset="0"/>
              </a:rPr>
              <a:t>zou</a:t>
            </a:r>
            <a:r>
              <a:rPr lang="en-US" sz="2800" dirty="0">
                <a:ea typeface="等线" panose="02010600030101010101" pitchFamily="2" charset="-122"/>
                <a:cs typeface="Times New Roman" panose="02020603050405020304" pitchFamily="18" charset="0"/>
              </a:rPr>
              <a:t> </a:t>
            </a:r>
            <a:r>
              <a:rPr lang="en-US" sz="2800" dirty="0" err="1">
                <a:ea typeface="等线" panose="02010600030101010101" pitchFamily="2" charset="-122"/>
                <a:cs typeface="Times New Roman" panose="02020603050405020304" pitchFamily="18" charset="0"/>
              </a:rPr>
              <a:t>dak</a:t>
            </a:r>
            <a:r>
              <a:rPr lang="en-US" sz="2800" dirty="0">
                <a:ea typeface="等线" panose="02010600030101010101" pitchFamily="2" charset="-122"/>
                <a:cs typeface="Times New Roman" panose="02020603050405020304" pitchFamily="18" charset="0"/>
              </a:rPr>
              <a:t> </a:t>
            </a:r>
            <a:r>
              <a:rPr lang="en-US" sz="2800" dirty="0" err="1">
                <a:ea typeface="等线" panose="02010600030101010101" pitchFamily="2" charset="-122"/>
                <a:cs typeface="Times New Roman" panose="02020603050405020304" pitchFamily="18" charset="0"/>
              </a:rPr>
              <a:t>hou</a:t>
            </a:r>
            <a:endParaRPr lang="en-US" sz="2800" dirty="0">
              <a:ea typeface="等线" panose="02010600030101010101" pitchFamily="2" charset="-122"/>
              <a:cs typeface="Times New Roman" panose="02020603050405020304" pitchFamily="18" charset="0"/>
            </a:endParaRPr>
          </a:p>
          <a:p>
            <a:r>
              <a:rPr lang="en-US" sz="2800" dirty="0">
                <a:ea typeface="等线" panose="02010600030101010101" pitchFamily="2" charset="-122"/>
                <a:cs typeface="Times New Roman" panose="02020603050405020304" pitchFamily="18" charset="0"/>
              </a:rPr>
              <a:t>‘He is being a good teacher.’ </a:t>
            </a:r>
            <a:endParaRPr lang="en-GB" sz="2800" dirty="0">
              <a:ea typeface="等线" panose="02010600030101010101" pitchFamily="2" charset="-122"/>
              <a:cs typeface="Times New Roman" panose="02020603050405020304" pitchFamily="18" charset="0"/>
            </a:endParaRPr>
          </a:p>
        </p:txBody>
      </p:sp>
      <p:sp>
        <p:nvSpPr>
          <p:cNvPr id="5" name="Rectangle 4"/>
          <p:cNvSpPr/>
          <p:nvPr/>
        </p:nvSpPr>
        <p:spPr>
          <a:xfrm>
            <a:off x="838200" y="4040710"/>
            <a:ext cx="7263063" cy="523220"/>
          </a:xfrm>
          <a:prstGeom prst="rect">
            <a:avLst/>
          </a:prstGeom>
        </p:spPr>
        <p:txBody>
          <a:bodyPr wrap="square">
            <a:spAutoFit/>
          </a:bodyPr>
          <a:lstStyle/>
          <a:p>
            <a:r>
              <a:rPr lang="en-US" sz="2800" dirty="0"/>
              <a:t>Light Verb Analysis (</a:t>
            </a:r>
            <a:r>
              <a:rPr lang="zh-CN" altLang="en-US" sz="2800" dirty="0"/>
              <a:t>黃 </a:t>
            </a:r>
            <a:r>
              <a:rPr lang="en-US" altLang="zh-CN" sz="2800" dirty="0"/>
              <a:t>2008; </a:t>
            </a:r>
            <a:r>
              <a:rPr lang="zh-CN" altLang="en-US" sz="2800" dirty="0"/>
              <a:t>鄧 </a:t>
            </a:r>
            <a:r>
              <a:rPr lang="en-US" altLang="zh-CN" sz="2800" dirty="0"/>
              <a:t>2009; 2010): </a:t>
            </a:r>
            <a:endParaRPr lang="en-GB" sz="2800" dirty="0"/>
          </a:p>
        </p:txBody>
      </p:sp>
      <p:sp>
        <p:nvSpPr>
          <p:cNvPr id="6" name="Rectangle 5"/>
          <p:cNvSpPr/>
          <p:nvPr/>
        </p:nvSpPr>
        <p:spPr>
          <a:xfrm>
            <a:off x="5326398" y="4400210"/>
            <a:ext cx="1539204" cy="523220"/>
          </a:xfrm>
          <a:prstGeom prst="rect">
            <a:avLst/>
          </a:prstGeom>
        </p:spPr>
        <p:txBody>
          <a:bodyPr wrap="none">
            <a:spAutoFit/>
          </a:bodyPr>
          <a:lstStyle/>
          <a:p>
            <a:r>
              <a:rPr lang="en-GB" sz="2800" dirty="0"/>
              <a:t>DO + VP  </a:t>
            </a:r>
          </a:p>
        </p:txBody>
      </p:sp>
      <p:sp>
        <p:nvSpPr>
          <p:cNvPr id="7" name="Rectangle 6"/>
          <p:cNvSpPr/>
          <p:nvPr/>
        </p:nvSpPr>
        <p:spPr>
          <a:xfrm>
            <a:off x="821213" y="1793941"/>
            <a:ext cx="5819274" cy="2246769"/>
          </a:xfrm>
          <a:prstGeom prst="rect">
            <a:avLst/>
          </a:prstGeom>
        </p:spPr>
        <p:txBody>
          <a:bodyPr wrap="square">
            <a:spAutoFit/>
          </a:bodyPr>
          <a:lstStyle/>
          <a:p>
            <a:r>
              <a:rPr lang="zh-CN" altLang="en-US" sz="2800" dirty="0"/>
              <a:t>他 當    他 的 老師 </a:t>
            </a:r>
            <a:r>
              <a:rPr lang="en-US" altLang="zh-CN" sz="2800" dirty="0"/>
              <a:t>(Mandarin)</a:t>
            </a:r>
          </a:p>
          <a:p>
            <a:r>
              <a:rPr lang="en-US" altLang="zh-CN" sz="2800" dirty="0"/>
              <a:t>ta dang ta de </a:t>
            </a:r>
            <a:r>
              <a:rPr lang="en-US" altLang="zh-CN" sz="2800" dirty="0" err="1"/>
              <a:t>laoshi</a:t>
            </a:r>
            <a:endParaRPr lang="en-US" altLang="zh-CN" sz="2800" dirty="0"/>
          </a:p>
          <a:p>
            <a:r>
              <a:rPr lang="zh-CN" altLang="en-US" sz="2800" dirty="0"/>
              <a:t>他 的 老師  當      得 好</a:t>
            </a:r>
            <a:endParaRPr lang="en-US" altLang="zh-CN" sz="2800" dirty="0"/>
          </a:p>
          <a:p>
            <a:r>
              <a:rPr lang="en-US" sz="2800" dirty="0"/>
              <a:t>ta de </a:t>
            </a:r>
            <a:r>
              <a:rPr lang="en-US" sz="2800" dirty="0" err="1"/>
              <a:t>laoshi</a:t>
            </a:r>
            <a:r>
              <a:rPr lang="en-US" sz="2800" dirty="0"/>
              <a:t> dang de </a:t>
            </a:r>
            <a:r>
              <a:rPr lang="en-US" sz="2800" dirty="0" err="1"/>
              <a:t>hao</a:t>
            </a:r>
            <a:endParaRPr lang="en-US" sz="2800" dirty="0"/>
          </a:p>
          <a:p>
            <a:r>
              <a:rPr lang="en-US" sz="2800" dirty="0"/>
              <a:t>‘He is being a good teacher.’ </a:t>
            </a:r>
            <a:endParaRPr lang="en-GB" sz="2800" dirty="0"/>
          </a:p>
        </p:txBody>
      </p:sp>
      <p:sp>
        <p:nvSpPr>
          <p:cNvPr id="9" name="Content Placeholder 2"/>
          <p:cNvSpPr txBox="1">
            <a:spLocks/>
          </p:cNvSpPr>
          <p:nvPr/>
        </p:nvSpPr>
        <p:spPr>
          <a:xfrm>
            <a:off x="-190500" y="4799101"/>
            <a:ext cx="11353800" cy="20588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dirty="0"/>
              <a:t>			 	[DO [</a:t>
            </a:r>
            <a:r>
              <a:rPr lang="en-US" altLang="zh-CN" sz="1800" dirty="0"/>
              <a:t>GP</a:t>
            </a:r>
            <a:r>
              <a:rPr lang="en-US" altLang="zh-CN" dirty="0"/>
              <a:t> ta de dang </a:t>
            </a:r>
            <a:r>
              <a:rPr lang="en-US" altLang="zh-CN" dirty="0" err="1"/>
              <a:t>laoshi</a:t>
            </a:r>
            <a:r>
              <a:rPr lang="en-US" altLang="zh-CN" dirty="0"/>
              <a:t>]]</a:t>
            </a:r>
          </a:p>
          <a:p>
            <a:pPr marL="0" indent="0">
              <a:buFont typeface="Arial" panose="020B0604020202020204" pitchFamily="34" charset="0"/>
              <a:buNone/>
            </a:pPr>
            <a:r>
              <a:rPr lang="en-US" dirty="0"/>
              <a:t>			 	</a:t>
            </a:r>
            <a:r>
              <a:rPr lang="en-US" altLang="zh-CN" dirty="0"/>
              <a:t>[dang </a:t>
            </a:r>
            <a:r>
              <a:rPr lang="en-US" altLang="zh-CN" sz="1800" dirty="0" err="1"/>
              <a:t>i</a:t>
            </a:r>
            <a:r>
              <a:rPr lang="en-US" altLang="zh-CN" sz="1800" dirty="0"/>
              <a:t> </a:t>
            </a:r>
            <a:r>
              <a:rPr lang="en-US" altLang="zh-CN" dirty="0"/>
              <a:t>[</a:t>
            </a:r>
            <a:r>
              <a:rPr lang="en-US" altLang="zh-CN" sz="1800" dirty="0"/>
              <a:t>GP </a:t>
            </a:r>
            <a:r>
              <a:rPr lang="en-US" altLang="zh-CN" dirty="0"/>
              <a:t>ta de t </a:t>
            </a:r>
            <a:r>
              <a:rPr lang="en-US" altLang="zh-CN" sz="1800" dirty="0" err="1"/>
              <a:t>i</a:t>
            </a:r>
            <a:r>
              <a:rPr lang="en-US" altLang="zh-CN" dirty="0"/>
              <a:t> </a:t>
            </a:r>
            <a:r>
              <a:rPr lang="en-US" altLang="zh-CN" dirty="0" err="1"/>
              <a:t>laoshi</a:t>
            </a:r>
            <a:r>
              <a:rPr lang="en-US" altLang="zh-CN" dirty="0"/>
              <a:t>]]</a:t>
            </a:r>
          </a:p>
          <a:p>
            <a:pPr marL="0" indent="0">
              <a:buNone/>
            </a:pPr>
            <a:r>
              <a:rPr lang="en-US" altLang="zh-CN" dirty="0"/>
              <a:t>		          [</a:t>
            </a:r>
            <a:r>
              <a:rPr lang="en-US" altLang="zh-CN" sz="2000" dirty="0"/>
              <a:t>DO-P</a:t>
            </a:r>
            <a:r>
              <a:rPr lang="en-US" altLang="zh-CN" dirty="0"/>
              <a:t> ta dang </a:t>
            </a:r>
            <a:r>
              <a:rPr lang="en-US" altLang="zh-CN" sz="2000" dirty="0" err="1"/>
              <a:t>i</a:t>
            </a:r>
            <a:r>
              <a:rPr lang="en-US" altLang="zh-CN" dirty="0"/>
              <a:t> [</a:t>
            </a:r>
            <a:r>
              <a:rPr lang="en-US" altLang="zh-CN" sz="2000" dirty="0"/>
              <a:t>GP</a:t>
            </a:r>
            <a:r>
              <a:rPr lang="en-US" altLang="zh-CN" dirty="0"/>
              <a:t> ta de t </a:t>
            </a:r>
            <a:r>
              <a:rPr lang="en-US" altLang="zh-CN" sz="2000" dirty="0" err="1"/>
              <a:t>i</a:t>
            </a:r>
            <a:r>
              <a:rPr lang="en-US" altLang="zh-CN" dirty="0"/>
              <a:t> </a:t>
            </a:r>
            <a:r>
              <a:rPr lang="en-US" altLang="zh-CN" dirty="0" err="1"/>
              <a:t>laoshi</a:t>
            </a:r>
            <a:r>
              <a:rPr lang="en-US" altLang="zh-CN" dirty="0"/>
              <a:t>]]</a:t>
            </a:r>
          </a:p>
          <a:p>
            <a:pPr marL="0" indent="0">
              <a:buNone/>
            </a:pPr>
            <a:r>
              <a:rPr lang="en-US" altLang="zh-CN" dirty="0"/>
              <a:t>  [</a:t>
            </a:r>
            <a:r>
              <a:rPr lang="en-US" altLang="zh-CN" sz="2000" dirty="0"/>
              <a:t>DO-P</a:t>
            </a:r>
            <a:r>
              <a:rPr lang="en-US" altLang="zh-CN" dirty="0"/>
              <a:t> [</a:t>
            </a:r>
            <a:r>
              <a:rPr lang="en-US" altLang="zh-CN" sz="2000" dirty="0"/>
              <a:t>GP</a:t>
            </a:r>
            <a:r>
              <a:rPr lang="en-US" altLang="zh-CN" dirty="0"/>
              <a:t> ta de t </a:t>
            </a:r>
            <a:r>
              <a:rPr lang="en-US" altLang="zh-CN" sz="1800" dirty="0" err="1"/>
              <a:t>i</a:t>
            </a:r>
            <a:r>
              <a:rPr lang="en-US" altLang="zh-CN" dirty="0"/>
              <a:t> </a:t>
            </a:r>
            <a:r>
              <a:rPr lang="en-US" altLang="zh-CN" dirty="0" err="1"/>
              <a:t>laoshi</a:t>
            </a:r>
            <a:r>
              <a:rPr lang="en-US" altLang="zh-CN" dirty="0"/>
              <a:t>] </a:t>
            </a:r>
            <a:r>
              <a:rPr lang="en-US" altLang="zh-CN" sz="1800" dirty="0"/>
              <a:t>j </a:t>
            </a:r>
            <a:r>
              <a:rPr lang="en-US" altLang="zh-CN" dirty="0"/>
              <a:t>[dang </a:t>
            </a:r>
            <a:r>
              <a:rPr lang="en-US" altLang="zh-CN" sz="2000" dirty="0" err="1"/>
              <a:t>i</a:t>
            </a:r>
            <a:r>
              <a:rPr lang="en-US" altLang="zh-CN" sz="2400" dirty="0"/>
              <a:t> </a:t>
            </a:r>
            <a:r>
              <a:rPr lang="en-US" altLang="zh-CN" dirty="0"/>
              <a:t>t </a:t>
            </a:r>
            <a:r>
              <a:rPr lang="en-US" altLang="zh-CN" sz="1800" dirty="0"/>
              <a:t>j</a:t>
            </a:r>
            <a:r>
              <a:rPr lang="en-US" altLang="zh-CN" dirty="0"/>
              <a:t> [de </a:t>
            </a:r>
            <a:r>
              <a:rPr lang="en-US" altLang="zh-CN" dirty="0" err="1"/>
              <a:t>hao</a:t>
            </a:r>
            <a:r>
              <a:rPr lang="en-US" altLang="zh-CN" dirty="0"/>
              <a:t>]]		</a:t>
            </a:r>
            <a:endParaRPr lang="en-US" dirty="0"/>
          </a:p>
          <a:p>
            <a:pPr marL="0" indent="0">
              <a:buNone/>
            </a:pPr>
            <a:endParaRPr lang="en-US" dirty="0"/>
          </a:p>
          <a:p>
            <a:pPr marL="0" indent="0">
              <a:buNone/>
            </a:pPr>
            <a:endParaRPr lang="en-US" dirty="0"/>
          </a:p>
        </p:txBody>
      </p:sp>
      <p:sp>
        <p:nvSpPr>
          <p:cNvPr id="10" name="Rectangle 9"/>
          <p:cNvSpPr/>
          <p:nvPr/>
        </p:nvSpPr>
        <p:spPr>
          <a:xfrm>
            <a:off x="7395534" y="4036372"/>
            <a:ext cx="4919018" cy="2677656"/>
          </a:xfrm>
          <a:prstGeom prst="rect">
            <a:avLst/>
          </a:prstGeom>
        </p:spPr>
        <p:txBody>
          <a:bodyPr wrap="square">
            <a:spAutoFit/>
          </a:bodyPr>
          <a:lstStyle/>
          <a:p>
            <a:r>
              <a:rPr lang="en-US" sz="2800" dirty="0"/>
              <a:t>In object position, both </a:t>
            </a:r>
            <a:r>
              <a:rPr lang="en-US" sz="2800" i="1" dirty="0"/>
              <a:t>de</a:t>
            </a:r>
            <a:r>
              <a:rPr lang="en-US" sz="2800" dirty="0"/>
              <a:t> an </a:t>
            </a:r>
            <a:r>
              <a:rPr lang="en-US" sz="2800" i="1" dirty="0" err="1"/>
              <a:t>ge</a:t>
            </a:r>
            <a:r>
              <a:rPr lang="en-US" sz="2800" dirty="0"/>
              <a:t> can head Activity </a:t>
            </a:r>
            <a:r>
              <a:rPr lang="en-US" sz="2800" dirty="0" err="1"/>
              <a:t>nominals</a:t>
            </a:r>
            <a:r>
              <a:rPr lang="en-US" sz="2800" dirty="0"/>
              <a:t> (</a:t>
            </a:r>
            <a:r>
              <a:rPr lang="en-US" sz="2800" i="1" dirty="0"/>
              <a:t>ta de </a:t>
            </a:r>
            <a:r>
              <a:rPr lang="en-US" sz="2800" i="1" dirty="0" err="1"/>
              <a:t>laoshi</a:t>
            </a:r>
            <a:r>
              <a:rPr lang="en-US" sz="2800" i="1" dirty="0"/>
              <a:t>/</a:t>
            </a:r>
            <a:r>
              <a:rPr lang="en-US" sz="2800" i="1" dirty="0" err="1"/>
              <a:t>keoi</a:t>
            </a:r>
            <a:r>
              <a:rPr lang="en-US" sz="2800" i="1" dirty="0"/>
              <a:t> </a:t>
            </a:r>
            <a:r>
              <a:rPr lang="en-US" sz="2800" i="1" dirty="0" err="1"/>
              <a:t>ge</a:t>
            </a:r>
            <a:r>
              <a:rPr lang="en-US" sz="2800" i="1" dirty="0"/>
              <a:t> </a:t>
            </a:r>
            <a:r>
              <a:rPr lang="en-US" sz="2800" i="1" dirty="0" err="1"/>
              <a:t>lousi</a:t>
            </a:r>
            <a:r>
              <a:rPr lang="en-US" sz="2800" dirty="0"/>
              <a:t>);</a:t>
            </a:r>
          </a:p>
          <a:p>
            <a:r>
              <a:rPr lang="en-US" sz="2800" dirty="0"/>
              <a:t> in subject position, </a:t>
            </a:r>
            <a:r>
              <a:rPr lang="en-US" sz="2800" i="1" dirty="0"/>
              <a:t>de</a:t>
            </a:r>
            <a:r>
              <a:rPr lang="en-US" sz="2800" dirty="0"/>
              <a:t> but not *</a:t>
            </a:r>
            <a:r>
              <a:rPr lang="en-US" sz="2800" i="1" dirty="0" err="1"/>
              <a:t>ge</a:t>
            </a:r>
            <a:r>
              <a:rPr lang="en-US" sz="2800" i="1" dirty="0"/>
              <a:t> </a:t>
            </a:r>
            <a:r>
              <a:rPr lang="en-US" sz="2800" dirty="0"/>
              <a:t>is grammatical (</a:t>
            </a:r>
            <a:r>
              <a:rPr lang="en-US" sz="2800" i="1" dirty="0"/>
              <a:t>ta de </a:t>
            </a:r>
            <a:r>
              <a:rPr lang="en-US" sz="2800" i="1" dirty="0" err="1"/>
              <a:t>laoshi</a:t>
            </a:r>
            <a:r>
              <a:rPr lang="en-US" sz="2800" i="1" dirty="0"/>
              <a:t>/*</a:t>
            </a:r>
            <a:r>
              <a:rPr lang="en-US" sz="2800" i="1" dirty="0" err="1"/>
              <a:t>keoi</a:t>
            </a:r>
            <a:r>
              <a:rPr lang="en-US" sz="2800" i="1" dirty="0"/>
              <a:t> </a:t>
            </a:r>
            <a:r>
              <a:rPr lang="en-US" sz="2800" i="1" dirty="0" err="1"/>
              <a:t>ge</a:t>
            </a:r>
            <a:r>
              <a:rPr lang="en-US" sz="2800" i="1" dirty="0"/>
              <a:t> </a:t>
            </a:r>
            <a:r>
              <a:rPr lang="en-US" sz="2800" i="1" dirty="0" err="1"/>
              <a:t>lousi</a:t>
            </a:r>
            <a:r>
              <a:rPr lang="en-US" sz="2800" dirty="0"/>
              <a:t>)</a:t>
            </a:r>
          </a:p>
        </p:txBody>
      </p:sp>
    </p:spTree>
    <p:extLst>
      <p:ext uri="{BB962C8B-B14F-4D97-AF65-F5344CB8AC3E}">
        <p14:creationId xmlns:p14="http://schemas.microsoft.com/office/powerpoint/2010/main" val="1329728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7" grpId="0"/>
      <p:bldP spid="9" grpId="0"/>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3855"/>
            <a:ext cx="12191994" cy="1325563"/>
          </a:xfrm>
        </p:spPr>
        <p:txBody>
          <a:bodyPr/>
          <a:lstStyle/>
          <a:p>
            <a:r>
              <a:rPr lang="zh-CN" altLang="en-US" dirty="0"/>
              <a:t>黃</a:t>
            </a:r>
            <a:r>
              <a:rPr lang="en-US" dirty="0"/>
              <a:t> (2008): Light Verb DO for Activity Constructions</a:t>
            </a:r>
            <a:endParaRPr lang="en-GB" dirty="0"/>
          </a:p>
        </p:txBody>
      </p:sp>
      <p:sp>
        <p:nvSpPr>
          <p:cNvPr id="3" name="Content Placeholder 2"/>
          <p:cNvSpPr>
            <a:spLocks noGrp="1"/>
          </p:cNvSpPr>
          <p:nvPr>
            <p:ph idx="1"/>
          </p:nvPr>
        </p:nvSpPr>
        <p:spPr>
          <a:xfrm>
            <a:off x="838197" y="1048699"/>
            <a:ext cx="10515600" cy="4351338"/>
          </a:xfrm>
        </p:spPr>
        <p:txBody>
          <a:bodyPr/>
          <a:lstStyle/>
          <a:p>
            <a:pPr marL="0" indent="0">
              <a:buNone/>
            </a:pPr>
            <a:r>
              <a:rPr lang="en-US" dirty="0"/>
              <a:t>Influential proposal (</a:t>
            </a:r>
            <a:r>
              <a:rPr lang="zh-CN" altLang="en-US" dirty="0"/>
              <a:t>黃</a:t>
            </a:r>
            <a:r>
              <a:rPr lang="en-US" dirty="0"/>
              <a:t> (2008)): Light Verb DO (</a:t>
            </a:r>
            <a:r>
              <a:rPr lang="en-US" dirty="0" err="1"/>
              <a:t>cf</a:t>
            </a:r>
            <a:r>
              <a:rPr lang="en-US" dirty="0"/>
              <a:t> Huang (1997), Lin (2001), </a:t>
            </a:r>
            <a:r>
              <a:rPr lang="en-US" dirty="0" err="1"/>
              <a:t>cf</a:t>
            </a:r>
            <a:r>
              <a:rPr lang="en-US" dirty="0"/>
              <a:t> Larson (1989), </a:t>
            </a:r>
            <a:r>
              <a:rPr lang="en-US" dirty="0" err="1"/>
              <a:t>Dowty</a:t>
            </a:r>
            <a:r>
              <a:rPr lang="en-US" dirty="0"/>
              <a:t> (1991), Hale and Keyser (1993, 2002))</a:t>
            </a:r>
            <a:endParaRPr lang="en-GB" dirty="0"/>
          </a:p>
        </p:txBody>
      </p:sp>
      <p:sp>
        <p:nvSpPr>
          <p:cNvPr id="5" name="Content Placeholder 2"/>
          <p:cNvSpPr txBox="1">
            <a:spLocks/>
          </p:cNvSpPr>
          <p:nvPr/>
        </p:nvSpPr>
        <p:spPr>
          <a:xfrm>
            <a:off x="838200" y="1853154"/>
            <a:ext cx="10515600" cy="5049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DO + Gerund Phrase (GP) nominalized by </a:t>
            </a:r>
            <a:r>
              <a:rPr lang="en-US" i="1" dirty="0"/>
              <a:t>de</a:t>
            </a:r>
            <a:r>
              <a:rPr lang="en-US" dirty="0"/>
              <a:t> and, by extension, </a:t>
            </a:r>
            <a:r>
              <a:rPr lang="en-US" i="1" dirty="0" err="1"/>
              <a:t>ge</a:t>
            </a:r>
            <a:r>
              <a:rPr lang="en-US" dirty="0"/>
              <a:t> </a:t>
            </a:r>
          </a:p>
          <a:p>
            <a:pPr marL="0" indent="0">
              <a:buFont typeface="Arial" panose="020B0604020202020204" pitchFamily="34" charset="0"/>
              <a:buNone/>
            </a:pPr>
            <a:endParaRPr lang="en-GB" dirty="0"/>
          </a:p>
        </p:txBody>
      </p:sp>
      <p:sp>
        <p:nvSpPr>
          <p:cNvPr id="7" name="Content Placeholder 2"/>
          <p:cNvSpPr txBox="1">
            <a:spLocks/>
          </p:cNvSpPr>
          <p:nvPr/>
        </p:nvSpPr>
        <p:spPr>
          <a:xfrm>
            <a:off x="838199" y="2358054"/>
            <a:ext cx="10515600" cy="19763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dirty="0"/>
              <a:t>他當他的老師</a:t>
            </a:r>
            <a:r>
              <a:rPr lang="en-US" altLang="zh-CN" dirty="0"/>
              <a:t>/</a:t>
            </a:r>
            <a:r>
              <a:rPr lang="zh-CN" altLang="en-US" dirty="0"/>
              <a:t>他的老師當得好 </a:t>
            </a:r>
            <a:r>
              <a:rPr lang="en-US" altLang="zh-CN" dirty="0"/>
              <a:t>: </a:t>
            </a:r>
          </a:p>
          <a:p>
            <a:pPr marL="0" indent="0">
              <a:buFont typeface="Arial" panose="020B0604020202020204" pitchFamily="34" charset="0"/>
              <a:buNone/>
            </a:pPr>
            <a:r>
              <a:rPr lang="en-US" altLang="zh-CN" i="1" dirty="0"/>
              <a:t>ta dang ta de </a:t>
            </a:r>
            <a:r>
              <a:rPr lang="en-US" altLang="zh-CN" i="1" dirty="0" err="1"/>
              <a:t>laoshi</a:t>
            </a:r>
            <a:r>
              <a:rPr lang="en-US" altLang="zh-CN" dirty="0"/>
              <a:t>/</a:t>
            </a:r>
          </a:p>
          <a:p>
            <a:pPr marL="0" indent="0">
              <a:buFont typeface="Arial" panose="020B0604020202020204" pitchFamily="34" charset="0"/>
              <a:buNone/>
            </a:pPr>
            <a:r>
              <a:rPr lang="en-US" altLang="zh-CN" i="1" dirty="0"/>
              <a:t>ta de </a:t>
            </a:r>
            <a:r>
              <a:rPr lang="en-US" altLang="zh-CN" i="1" dirty="0" err="1"/>
              <a:t>laoshi</a:t>
            </a:r>
            <a:r>
              <a:rPr lang="en-US" altLang="zh-CN" i="1" dirty="0"/>
              <a:t> dang de </a:t>
            </a:r>
            <a:r>
              <a:rPr lang="en-US" altLang="zh-CN" i="1" dirty="0" err="1"/>
              <a:t>hao</a:t>
            </a:r>
            <a:endParaRPr lang="en-US" altLang="zh-CN" i="1" dirty="0"/>
          </a:p>
          <a:p>
            <a:pPr marL="0" indent="0">
              <a:buFont typeface="Arial" panose="020B0604020202020204" pitchFamily="34" charset="0"/>
              <a:buNone/>
            </a:pPr>
            <a:endParaRPr lang="en-US" dirty="0"/>
          </a:p>
        </p:txBody>
      </p:sp>
      <p:sp>
        <p:nvSpPr>
          <p:cNvPr id="9" name="Content Placeholder 2"/>
          <p:cNvSpPr txBox="1">
            <a:spLocks/>
          </p:cNvSpPr>
          <p:nvPr/>
        </p:nvSpPr>
        <p:spPr>
          <a:xfrm>
            <a:off x="419093" y="2364178"/>
            <a:ext cx="11353806" cy="207574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dirty="0"/>
              <a:t>			 			[DO [</a:t>
            </a:r>
            <a:r>
              <a:rPr lang="en-US" altLang="zh-CN" sz="1800" dirty="0"/>
              <a:t>GP</a:t>
            </a:r>
            <a:r>
              <a:rPr lang="en-US" altLang="zh-CN" dirty="0"/>
              <a:t> ta de dang </a:t>
            </a:r>
            <a:r>
              <a:rPr lang="en-US" altLang="zh-CN" dirty="0" err="1"/>
              <a:t>laoshi</a:t>
            </a:r>
            <a:r>
              <a:rPr lang="en-US" altLang="zh-CN" dirty="0"/>
              <a:t>]]</a:t>
            </a:r>
          </a:p>
          <a:p>
            <a:pPr marL="0" indent="0">
              <a:buFont typeface="Arial" panose="020B0604020202020204" pitchFamily="34" charset="0"/>
              <a:buNone/>
            </a:pPr>
            <a:r>
              <a:rPr lang="en-US" dirty="0"/>
              <a:t>						</a:t>
            </a:r>
            <a:r>
              <a:rPr lang="en-US" altLang="zh-CN" dirty="0"/>
              <a:t>[dang </a:t>
            </a:r>
            <a:r>
              <a:rPr lang="en-US" altLang="zh-CN" sz="1800" dirty="0" err="1"/>
              <a:t>i</a:t>
            </a:r>
            <a:r>
              <a:rPr lang="en-US" altLang="zh-CN" sz="1800" dirty="0"/>
              <a:t> </a:t>
            </a:r>
            <a:r>
              <a:rPr lang="en-US" altLang="zh-CN" dirty="0"/>
              <a:t>[</a:t>
            </a:r>
            <a:r>
              <a:rPr lang="en-US" altLang="zh-CN" sz="1800" dirty="0"/>
              <a:t>GP </a:t>
            </a:r>
            <a:r>
              <a:rPr lang="en-US" altLang="zh-CN" dirty="0"/>
              <a:t>ta de t </a:t>
            </a:r>
            <a:r>
              <a:rPr lang="en-US" altLang="zh-CN" sz="1800" dirty="0" err="1"/>
              <a:t>i</a:t>
            </a:r>
            <a:r>
              <a:rPr lang="en-US" altLang="zh-CN" dirty="0"/>
              <a:t> </a:t>
            </a:r>
            <a:r>
              <a:rPr lang="en-US" altLang="zh-CN" dirty="0" err="1"/>
              <a:t>laoshi</a:t>
            </a:r>
            <a:r>
              <a:rPr lang="en-US" altLang="zh-CN" dirty="0"/>
              <a:t>]]</a:t>
            </a:r>
          </a:p>
          <a:p>
            <a:pPr marL="0" indent="0">
              <a:buNone/>
            </a:pPr>
            <a:r>
              <a:rPr lang="en-US" altLang="zh-CN" dirty="0"/>
              <a:t>				          [</a:t>
            </a:r>
            <a:r>
              <a:rPr lang="en-US" altLang="zh-CN" sz="2000" dirty="0"/>
              <a:t>DO-P</a:t>
            </a:r>
            <a:r>
              <a:rPr lang="en-US" altLang="zh-CN" dirty="0"/>
              <a:t> ta dang </a:t>
            </a:r>
            <a:r>
              <a:rPr lang="en-US" altLang="zh-CN" sz="2000" dirty="0" err="1"/>
              <a:t>i</a:t>
            </a:r>
            <a:r>
              <a:rPr lang="en-US" altLang="zh-CN" dirty="0"/>
              <a:t> [</a:t>
            </a:r>
            <a:r>
              <a:rPr lang="en-US" altLang="zh-CN" sz="2000" dirty="0"/>
              <a:t>GP</a:t>
            </a:r>
            <a:r>
              <a:rPr lang="en-US" altLang="zh-CN" dirty="0"/>
              <a:t> ta de t </a:t>
            </a:r>
            <a:r>
              <a:rPr lang="en-US" altLang="zh-CN" sz="2000" dirty="0" err="1"/>
              <a:t>i</a:t>
            </a:r>
            <a:r>
              <a:rPr lang="en-US" altLang="zh-CN" dirty="0"/>
              <a:t> </a:t>
            </a:r>
            <a:r>
              <a:rPr lang="en-US" altLang="zh-CN" dirty="0" err="1"/>
              <a:t>laoshi</a:t>
            </a:r>
            <a:r>
              <a:rPr lang="en-US" altLang="zh-CN" dirty="0"/>
              <a:t>]]</a:t>
            </a:r>
          </a:p>
          <a:p>
            <a:pPr marL="0" indent="0">
              <a:buNone/>
            </a:pPr>
            <a:r>
              <a:rPr lang="en-US" altLang="zh-CN" dirty="0"/>
              <a:t>		  [</a:t>
            </a:r>
            <a:r>
              <a:rPr lang="en-US" altLang="zh-CN" sz="2000" dirty="0"/>
              <a:t>DO-P</a:t>
            </a:r>
            <a:r>
              <a:rPr lang="en-US" altLang="zh-CN" dirty="0"/>
              <a:t> [</a:t>
            </a:r>
            <a:r>
              <a:rPr lang="en-US" altLang="zh-CN" sz="2000" dirty="0"/>
              <a:t>GP</a:t>
            </a:r>
            <a:r>
              <a:rPr lang="en-US" altLang="zh-CN" dirty="0"/>
              <a:t> ta de t </a:t>
            </a:r>
            <a:r>
              <a:rPr lang="en-US" altLang="zh-CN" sz="1800" dirty="0" err="1"/>
              <a:t>i</a:t>
            </a:r>
            <a:r>
              <a:rPr lang="en-US" altLang="zh-CN" dirty="0"/>
              <a:t> </a:t>
            </a:r>
            <a:r>
              <a:rPr lang="en-US" altLang="zh-CN" dirty="0" err="1"/>
              <a:t>laoshi</a:t>
            </a:r>
            <a:r>
              <a:rPr lang="en-US" altLang="zh-CN" dirty="0"/>
              <a:t>] </a:t>
            </a:r>
            <a:r>
              <a:rPr lang="en-US" altLang="zh-CN" sz="1800" dirty="0"/>
              <a:t>j </a:t>
            </a:r>
            <a:r>
              <a:rPr lang="en-US" altLang="zh-CN" dirty="0"/>
              <a:t>[dang </a:t>
            </a:r>
            <a:r>
              <a:rPr lang="en-US" altLang="zh-CN" sz="2000" dirty="0" err="1"/>
              <a:t>i</a:t>
            </a:r>
            <a:r>
              <a:rPr lang="en-US" altLang="zh-CN" sz="2400" dirty="0"/>
              <a:t> </a:t>
            </a:r>
            <a:r>
              <a:rPr lang="en-US" altLang="zh-CN" dirty="0"/>
              <a:t>t </a:t>
            </a:r>
            <a:r>
              <a:rPr lang="en-US" altLang="zh-CN" sz="1800" dirty="0"/>
              <a:t>j</a:t>
            </a:r>
            <a:r>
              <a:rPr lang="en-US" altLang="zh-CN" dirty="0"/>
              <a:t> [de </a:t>
            </a:r>
            <a:r>
              <a:rPr lang="en-US" altLang="zh-CN" dirty="0" err="1"/>
              <a:t>hao</a:t>
            </a:r>
            <a:r>
              <a:rPr lang="en-US" altLang="zh-CN" dirty="0"/>
              <a:t>]]	(</a:t>
            </a:r>
            <a:r>
              <a:rPr lang="zh-CN" altLang="en-US" dirty="0"/>
              <a:t>黃</a:t>
            </a:r>
            <a:r>
              <a:rPr lang="en-US" altLang="zh-CN" dirty="0"/>
              <a:t> (2008:230-231))</a:t>
            </a:r>
            <a:endParaRPr lang="en-US" dirty="0"/>
          </a:p>
          <a:p>
            <a:pPr marL="0" indent="0">
              <a:buNone/>
            </a:pPr>
            <a:endParaRPr lang="en-US" dirty="0"/>
          </a:p>
          <a:p>
            <a:pPr marL="0" indent="0">
              <a:buNone/>
            </a:pPr>
            <a:endParaRPr lang="en-US" dirty="0"/>
          </a:p>
        </p:txBody>
      </p:sp>
      <p:sp>
        <p:nvSpPr>
          <p:cNvPr id="10" name="Content Placeholder 2"/>
          <p:cNvSpPr txBox="1">
            <a:spLocks/>
          </p:cNvSpPr>
          <p:nvPr/>
        </p:nvSpPr>
        <p:spPr>
          <a:xfrm>
            <a:off x="0" y="4350541"/>
            <a:ext cx="12191999" cy="53182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1) Activity selection (DO + GP denoting the Activity event (</a:t>
            </a:r>
            <a:r>
              <a:rPr lang="en-US" altLang="zh-CN" dirty="0"/>
              <a:t>e.g. </a:t>
            </a:r>
            <a:r>
              <a:rPr lang="zh-CN" altLang="en-US" dirty="0"/>
              <a:t>他的當老師</a:t>
            </a:r>
            <a:r>
              <a:rPr lang="en-US" altLang="zh-CN" dirty="0"/>
              <a:t>))</a:t>
            </a:r>
            <a:endParaRPr lang="en-US" dirty="0"/>
          </a:p>
        </p:txBody>
      </p:sp>
      <p:sp>
        <p:nvSpPr>
          <p:cNvPr id="11" name="Content Placeholder 2"/>
          <p:cNvSpPr txBox="1">
            <a:spLocks/>
          </p:cNvSpPr>
          <p:nvPr/>
        </p:nvSpPr>
        <p:spPr>
          <a:xfrm>
            <a:off x="0" y="4844811"/>
            <a:ext cx="11353797" cy="46584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2) Head movement of the verb (here </a:t>
            </a:r>
            <a:r>
              <a:rPr lang="zh-CN" altLang="en-US" dirty="0"/>
              <a:t>當 </a:t>
            </a:r>
            <a:r>
              <a:rPr lang="en-US" i="1" dirty="0"/>
              <a:t>dang</a:t>
            </a:r>
            <a:r>
              <a:rPr lang="en-US" dirty="0"/>
              <a:t>) from GP to DO</a:t>
            </a:r>
          </a:p>
        </p:txBody>
      </p:sp>
      <p:sp>
        <p:nvSpPr>
          <p:cNvPr id="12" name="Content Placeholder 2"/>
          <p:cNvSpPr txBox="1">
            <a:spLocks/>
          </p:cNvSpPr>
          <p:nvPr/>
        </p:nvSpPr>
        <p:spPr>
          <a:xfrm>
            <a:off x="0" y="5310652"/>
            <a:ext cx="11353797" cy="4942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3) Argument selection in </a:t>
            </a:r>
            <a:r>
              <a:rPr lang="en-US" dirty="0" err="1"/>
              <a:t>SpecDO</a:t>
            </a:r>
            <a:r>
              <a:rPr lang="en-US" dirty="0"/>
              <a:t> (here </a:t>
            </a:r>
            <a:r>
              <a:rPr lang="zh-CN" altLang="en-US" dirty="0"/>
              <a:t>他 </a:t>
            </a:r>
            <a:r>
              <a:rPr lang="en-US" i="1" dirty="0"/>
              <a:t>ta</a:t>
            </a:r>
            <a:r>
              <a:rPr lang="zh-CN" altLang="en-US" dirty="0"/>
              <a:t> </a:t>
            </a:r>
            <a:r>
              <a:rPr lang="en-US" altLang="zh-CN" dirty="0"/>
              <a:t>‘Actor’)</a:t>
            </a:r>
            <a:endParaRPr lang="en-US" dirty="0"/>
          </a:p>
        </p:txBody>
      </p:sp>
      <p:sp>
        <p:nvSpPr>
          <p:cNvPr id="13" name="Content Placeholder 2"/>
          <p:cNvSpPr txBox="1">
            <a:spLocks/>
          </p:cNvSpPr>
          <p:nvPr/>
        </p:nvSpPr>
        <p:spPr>
          <a:xfrm>
            <a:off x="0" y="5804922"/>
            <a:ext cx="12192000" cy="42828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4) Argument deletion and remnant movement of GP to </a:t>
            </a:r>
            <a:r>
              <a:rPr lang="en-US" dirty="0" err="1"/>
              <a:t>SpecDO</a:t>
            </a:r>
            <a:r>
              <a:rPr lang="en-US" dirty="0"/>
              <a:t> (</a:t>
            </a:r>
            <a:r>
              <a:rPr lang="zh-CN" altLang="en-US" dirty="0"/>
              <a:t>他的</a:t>
            </a:r>
            <a:r>
              <a:rPr lang="en-US" altLang="zh-CN" dirty="0"/>
              <a:t>t</a:t>
            </a:r>
            <a:r>
              <a:rPr lang="en-US" altLang="zh-CN" sz="2000" dirty="0"/>
              <a:t> </a:t>
            </a:r>
            <a:r>
              <a:rPr lang="en-US" altLang="zh-CN" sz="2000" dirty="0" err="1"/>
              <a:t>i</a:t>
            </a:r>
            <a:r>
              <a:rPr lang="en-US" altLang="zh-CN" sz="2000" dirty="0"/>
              <a:t> </a:t>
            </a:r>
            <a:r>
              <a:rPr lang="zh-CN" altLang="en-US" dirty="0"/>
              <a:t>老師）</a:t>
            </a:r>
            <a:endParaRPr lang="en-US" dirty="0"/>
          </a:p>
        </p:txBody>
      </p:sp>
      <p:sp>
        <p:nvSpPr>
          <p:cNvPr id="14" name="Content Placeholder 2"/>
          <p:cNvSpPr txBox="1">
            <a:spLocks/>
          </p:cNvSpPr>
          <p:nvPr/>
        </p:nvSpPr>
        <p:spPr>
          <a:xfrm>
            <a:off x="-3" y="6239333"/>
            <a:ext cx="12191999" cy="6291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5) New complement (e.g. </a:t>
            </a:r>
            <a:r>
              <a:rPr lang="zh-CN" altLang="en-US" dirty="0"/>
              <a:t>得好 </a:t>
            </a:r>
            <a:r>
              <a:rPr lang="en-GB" altLang="zh-CN" i="1" dirty="0" err="1"/>
              <a:t>dehao</a:t>
            </a:r>
            <a:r>
              <a:rPr lang="en-GB" altLang="zh-CN" dirty="0"/>
              <a:t> ‘well’)</a:t>
            </a:r>
            <a:r>
              <a:rPr lang="en-US" altLang="zh-CN" dirty="0"/>
              <a:t> added to matrix verb </a:t>
            </a:r>
            <a:r>
              <a:rPr lang="en-US" altLang="zh-CN" i="1" dirty="0"/>
              <a:t>dang</a:t>
            </a:r>
            <a:r>
              <a:rPr lang="en-US" altLang="zh-CN" dirty="0"/>
              <a:t> </a:t>
            </a:r>
            <a:r>
              <a:rPr lang="zh-CN" altLang="en-US" dirty="0"/>
              <a:t>當</a:t>
            </a:r>
            <a:endParaRPr lang="en-US" dirty="0"/>
          </a:p>
        </p:txBody>
      </p:sp>
    </p:spTree>
    <p:extLst>
      <p:ext uri="{BB962C8B-B14F-4D97-AF65-F5344CB8AC3E}">
        <p14:creationId xmlns:p14="http://schemas.microsoft.com/office/powerpoint/2010/main" val="164037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7" grpId="0"/>
      <p:bldP spid="9" grpId="0"/>
      <p:bldP spid="10" grpId="0"/>
      <p:bldP spid="11" grpId="0"/>
      <p:bldP spid="12" grpId="0"/>
      <p:bldP spid="13" grpId="0"/>
      <p:bldP spid="1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12192001" cy="1325563"/>
          </a:xfrm>
        </p:spPr>
        <p:txBody>
          <a:bodyPr/>
          <a:lstStyle/>
          <a:p>
            <a:r>
              <a:rPr lang="zh-CN" altLang="en-US" dirty="0"/>
              <a:t>鄧</a:t>
            </a:r>
            <a:r>
              <a:rPr lang="en-US" altLang="zh-CN" dirty="0"/>
              <a:t>/Tang</a:t>
            </a:r>
            <a:r>
              <a:rPr lang="en-US" dirty="0"/>
              <a:t> (2009, 2011): nominalization parameter</a:t>
            </a:r>
            <a:endParaRPr lang="en-GB" dirty="0"/>
          </a:p>
        </p:txBody>
      </p:sp>
      <p:sp>
        <p:nvSpPr>
          <p:cNvPr id="3" name="Content Placeholder 2"/>
          <p:cNvSpPr>
            <a:spLocks noGrp="1"/>
          </p:cNvSpPr>
          <p:nvPr>
            <p:ph idx="1"/>
          </p:nvPr>
        </p:nvSpPr>
        <p:spPr>
          <a:xfrm>
            <a:off x="838200" y="1267169"/>
            <a:ext cx="11353800" cy="4351338"/>
          </a:xfrm>
        </p:spPr>
        <p:txBody>
          <a:bodyPr/>
          <a:lstStyle/>
          <a:p>
            <a:pPr marL="0" indent="0">
              <a:buNone/>
            </a:pPr>
            <a:r>
              <a:rPr lang="zh-CN" altLang="en-US" dirty="0"/>
              <a:t>鄧</a:t>
            </a:r>
            <a:r>
              <a:rPr lang="en-US" altLang="zh-CN" dirty="0"/>
              <a:t>/</a:t>
            </a:r>
            <a:r>
              <a:rPr lang="en-US" dirty="0"/>
              <a:t>Tang (2009, 2010) applies Huang’s Light Verb DO analysis to Cantonese:</a:t>
            </a:r>
            <a:endParaRPr lang="en-GB" dirty="0"/>
          </a:p>
        </p:txBody>
      </p:sp>
      <p:sp>
        <p:nvSpPr>
          <p:cNvPr id="4" name="Content Placeholder 2"/>
          <p:cNvSpPr txBox="1">
            <a:spLocks/>
          </p:cNvSpPr>
          <p:nvPr/>
        </p:nvSpPr>
        <p:spPr>
          <a:xfrm>
            <a:off x="838200" y="1680159"/>
            <a:ext cx="10515600" cy="5049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DO + Gerund Phrase (GP) </a:t>
            </a:r>
            <a:endParaRPr lang="en-GB" dirty="0"/>
          </a:p>
        </p:txBody>
      </p:sp>
      <p:sp>
        <p:nvSpPr>
          <p:cNvPr id="5" name="Content Placeholder 2"/>
          <p:cNvSpPr txBox="1">
            <a:spLocks/>
          </p:cNvSpPr>
          <p:nvPr/>
        </p:nvSpPr>
        <p:spPr>
          <a:xfrm>
            <a:off x="838200" y="2185060"/>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TW" altLang="en-US" dirty="0"/>
              <a:t>佢</a:t>
            </a:r>
            <a:r>
              <a:rPr lang="zh-CN" altLang="en-US" dirty="0"/>
              <a:t>做</a:t>
            </a:r>
            <a:r>
              <a:rPr lang="zh-TW" altLang="en-US" dirty="0"/>
              <a:t>佢嘅老師</a:t>
            </a:r>
            <a:r>
              <a:rPr lang="en-US" altLang="zh-TW" dirty="0"/>
              <a:t>/</a:t>
            </a:r>
            <a:r>
              <a:rPr lang="zh-TW" altLang="en-US" dirty="0"/>
              <a:t>佢嘅老師做得好</a:t>
            </a:r>
            <a:r>
              <a:rPr lang="en-US" altLang="zh-TW" dirty="0"/>
              <a:t>:</a:t>
            </a:r>
          </a:p>
          <a:p>
            <a:pPr marL="0" indent="0">
              <a:buNone/>
            </a:pPr>
            <a:r>
              <a:rPr lang="en-US" i="1" dirty="0" err="1"/>
              <a:t>keoi</a:t>
            </a:r>
            <a:r>
              <a:rPr lang="en-US" i="1" dirty="0"/>
              <a:t> </a:t>
            </a:r>
            <a:r>
              <a:rPr lang="en-US" i="1" dirty="0" err="1"/>
              <a:t>zou</a:t>
            </a:r>
            <a:r>
              <a:rPr lang="en-US" i="1" dirty="0"/>
              <a:t> </a:t>
            </a:r>
            <a:r>
              <a:rPr lang="en-US" i="1" dirty="0" err="1"/>
              <a:t>keoi</a:t>
            </a:r>
            <a:r>
              <a:rPr lang="en-US" i="1" dirty="0"/>
              <a:t> </a:t>
            </a:r>
            <a:r>
              <a:rPr lang="en-US" i="1" dirty="0" err="1"/>
              <a:t>ge</a:t>
            </a:r>
            <a:r>
              <a:rPr lang="en-US" i="1" dirty="0"/>
              <a:t> </a:t>
            </a:r>
            <a:r>
              <a:rPr lang="en-US" i="1" dirty="0" err="1"/>
              <a:t>lousi</a:t>
            </a:r>
            <a:r>
              <a:rPr lang="en-US" dirty="0"/>
              <a:t>/</a:t>
            </a:r>
          </a:p>
          <a:p>
            <a:pPr marL="0" indent="0">
              <a:buNone/>
            </a:pPr>
            <a:r>
              <a:rPr lang="en-US" i="1" dirty="0" err="1"/>
              <a:t>keoi</a:t>
            </a:r>
            <a:r>
              <a:rPr lang="en-US" i="1" dirty="0"/>
              <a:t> </a:t>
            </a:r>
            <a:r>
              <a:rPr lang="en-US" i="1" dirty="0" err="1"/>
              <a:t>ge</a:t>
            </a:r>
            <a:r>
              <a:rPr lang="en-US" i="1" dirty="0"/>
              <a:t> </a:t>
            </a:r>
            <a:r>
              <a:rPr lang="en-US" i="1" dirty="0" err="1"/>
              <a:t>lousi</a:t>
            </a:r>
            <a:r>
              <a:rPr lang="en-US" i="1" dirty="0"/>
              <a:t> </a:t>
            </a:r>
            <a:r>
              <a:rPr lang="en-US" i="1" dirty="0" err="1"/>
              <a:t>zou</a:t>
            </a:r>
            <a:r>
              <a:rPr lang="en-US" i="1" dirty="0"/>
              <a:t> </a:t>
            </a:r>
            <a:r>
              <a:rPr lang="en-US" i="1" dirty="0" err="1"/>
              <a:t>dak</a:t>
            </a:r>
            <a:r>
              <a:rPr lang="en-US" i="1" dirty="0"/>
              <a:t> </a:t>
            </a:r>
            <a:r>
              <a:rPr lang="en-US" i="1" dirty="0" err="1"/>
              <a:t>hou</a:t>
            </a:r>
            <a:endParaRPr lang="en-US" i="1" dirty="0"/>
          </a:p>
        </p:txBody>
      </p:sp>
      <p:sp>
        <p:nvSpPr>
          <p:cNvPr id="7" name="Content Placeholder 2"/>
          <p:cNvSpPr txBox="1">
            <a:spLocks/>
          </p:cNvSpPr>
          <p:nvPr/>
        </p:nvSpPr>
        <p:spPr>
          <a:xfrm>
            <a:off x="2095497" y="2180536"/>
            <a:ext cx="10515601" cy="21664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dirty="0"/>
              <a:t>			 	[DO [</a:t>
            </a:r>
            <a:r>
              <a:rPr lang="en-US" altLang="zh-CN" sz="1800" dirty="0"/>
              <a:t>GP</a:t>
            </a:r>
            <a:r>
              <a:rPr lang="en-US" altLang="zh-CN" dirty="0"/>
              <a:t> </a:t>
            </a:r>
            <a:r>
              <a:rPr lang="en-US" altLang="zh-CN" dirty="0" err="1"/>
              <a:t>keoi</a:t>
            </a:r>
            <a:r>
              <a:rPr lang="en-US" altLang="zh-CN" dirty="0"/>
              <a:t> </a:t>
            </a:r>
            <a:r>
              <a:rPr lang="en-US" altLang="zh-CN" dirty="0" err="1"/>
              <a:t>ge</a:t>
            </a:r>
            <a:r>
              <a:rPr lang="en-US" altLang="zh-CN" dirty="0"/>
              <a:t> </a:t>
            </a:r>
            <a:r>
              <a:rPr lang="en-US" altLang="zh-CN" dirty="0" err="1"/>
              <a:t>zou</a:t>
            </a:r>
            <a:r>
              <a:rPr lang="en-US" altLang="zh-CN" dirty="0"/>
              <a:t> </a:t>
            </a:r>
            <a:r>
              <a:rPr lang="en-US" altLang="zh-CN" dirty="0" err="1"/>
              <a:t>lousi</a:t>
            </a:r>
            <a:r>
              <a:rPr lang="en-US" altLang="zh-CN" dirty="0"/>
              <a:t>]]</a:t>
            </a:r>
          </a:p>
          <a:p>
            <a:pPr marL="0" indent="0">
              <a:buFont typeface="Arial" panose="020B0604020202020204" pitchFamily="34" charset="0"/>
              <a:buNone/>
            </a:pPr>
            <a:r>
              <a:rPr lang="en-US" dirty="0"/>
              <a:t>				</a:t>
            </a:r>
            <a:r>
              <a:rPr lang="en-US" altLang="zh-CN" dirty="0"/>
              <a:t>[</a:t>
            </a:r>
            <a:r>
              <a:rPr lang="en-US" altLang="zh-CN" dirty="0" err="1"/>
              <a:t>zou</a:t>
            </a:r>
            <a:r>
              <a:rPr lang="en-US" altLang="zh-CN" dirty="0"/>
              <a:t> </a:t>
            </a:r>
            <a:r>
              <a:rPr lang="en-US" altLang="zh-CN" sz="1800" dirty="0" err="1"/>
              <a:t>i</a:t>
            </a:r>
            <a:r>
              <a:rPr lang="en-US" altLang="zh-CN" sz="1800" dirty="0"/>
              <a:t> </a:t>
            </a:r>
            <a:r>
              <a:rPr lang="en-US" altLang="zh-CN" dirty="0"/>
              <a:t>[</a:t>
            </a:r>
            <a:r>
              <a:rPr lang="en-US" altLang="zh-CN" sz="1800" dirty="0"/>
              <a:t>GP </a:t>
            </a:r>
            <a:r>
              <a:rPr lang="en-US" altLang="zh-CN" dirty="0" err="1"/>
              <a:t>keoi</a:t>
            </a:r>
            <a:r>
              <a:rPr lang="en-US" altLang="zh-CN" dirty="0"/>
              <a:t> de t </a:t>
            </a:r>
            <a:r>
              <a:rPr lang="en-US" altLang="zh-CN" sz="1800" dirty="0" err="1"/>
              <a:t>i</a:t>
            </a:r>
            <a:r>
              <a:rPr lang="en-US" altLang="zh-CN" dirty="0"/>
              <a:t> </a:t>
            </a:r>
            <a:r>
              <a:rPr lang="en-US" altLang="zh-CN" dirty="0" err="1"/>
              <a:t>lousi</a:t>
            </a:r>
            <a:r>
              <a:rPr lang="en-US" altLang="zh-CN" dirty="0"/>
              <a:t>]]</a:t>
            </a:r>
          </a:p>
          <a:p>
            <a:pPr marL="0" indent="0">
              <a:buNone/>
            </a:pPr>
            <a:r>
              <a:rPr lang="en-US" altLang="zh-CN" dirty="0"/>
              <a:t>		       [</a:t>
            </a:r>
            <a:r>
              <a:rPr lang="en-US" altLang="zh-CN" sz="2000" dirty="0"/>
              <a:t>DO-P</a:t>
            </a:r>
            <a:r>
              <a:rPr lang="en-US" altLang="zh-CN" dirty="0"/>
              <a:t> </a:t>
            </a:r>
            <a:r>
              <a:rPr lang="en-US" altLang="zh-CN" dirty="0" err="1"/>
              <a:t>keoi</a:t>
            </a:r>
            <a:r>
              <a:rPr lang="en-US" altLang="zh-CN" dirty="0"/>
              <a:t> </a:t>
            </a:r>
            <a:r>
              <a:rPr lang="en-US" altLang="zh-CN" dirty="0" err="1"/>
              <a:t>zou</a:t>
            </a:r>
            <a:r>
              <a:rPr lang="en-US" altLang="zh-CN" dirty="0"/>
              <a:t> </a:t>
            </a:r>
            <a:r>
              <a:rPr lang="en-US" altLang="zh-CN" sz="2000" dirty="0" err="1"/>
              <a:t>i</a:t>
            </a:r>
            <a:r>
              <a:rPr lang="en-US" altLang="zh-CN" dirty="0"/>
              <a:t> [</a:t>
            </a:r>
            <a:r>
              <a:rPr lang="en-US" altLang="zh-CN" sz="2000" dirty="0"/>
              <a:t>GP</a:t>
            </a:r>
            <a:r>
              <a:rPr lang="en-US" altLang="zh-CN" dirty="0"/>
              <a:t> </a:t>
            </a:r>
            <a:r>
              <a:rPr lang="en-US" altLang="zh-CN" dirty="0" err="1"/>
              <a:t>keoi</a:t>
            </a:r>
            <a:r>
              <a:rPr lang="en-US" altLang="zh-CN" dirty="0"/>
              <a:t> </a:t>
            </a:r>
            <a:r>
              <a:rPr lang="en-US" altLang="zh-CN" dirty="0" err="1"/>
              <a:t>ge</a:t>
            </a:r>
            <a:r>
              <a:rPr lang="en-US" altLang="zh-CN" dirty="0"/>
              <a:t> t </a:t>
            </a:r>
            <a:r>
              <a:rPr lang="en-US" altLang="zh-CN" sz="2000" dirty="0" err="1"/>
              <a:t>i</a:t>
            </a:r>
            <a:r>
              <a:rPr lang="en-US" altLang="zh-CN" dirty="0"/>
              <a:t> </a:t>
            </a:r>
            <a:r>
              <a:rPr lang="en-US" altLang="zh-CN" dirty="0" err="1"/>
              <a:t>lousi</a:t>
            </a:r>
            <a:r>
              <a:rPr lang="en-US" altLang="zh-CN" dirty="0"/>
              <a:t>]]</a:t>
            </a:r>
          </a:p>
          <a:p>
            <a:pPr marL="0" indent="0">
              <a:buNone/>
            </a:pPr>
            <a:r>
              <a:rPr lang="en-US" altLang="zh-CN" dirty="0"/>
              <a:t> [</a:t>
            </a:r>
            <a:r>
              <a:rPr lang="en-US" altLang="zh-CN" sz="2000" dirty="0"/>
              <a:t>DO-P</a:t>
            </a:r>
            <a:r>
              <a:rPr lang="en-US" altLang="zh-CN" dirty="0"/>
              <a:t> [</a:t>
            </a:r>
            <a:r>
              <a:rPr lang="en-US" altLang="zh-CN" sz="2000" dirty="0"/>
              <a:t>GP</a:t>
            </a:r>
            <a:r>
              <a:rPr lang="en-US" altLang="zh-CN" dirty="0"/>
              <a:t> </a:t>
            </a:r>
            <a:r>
              <a:rPr lang="en-US" altLang="zh-CN" dirty="0" err="1"/>
              <a:t>keoi</a:t>
            </a:r>
            <a:r>
              <a:rPr lang="en-US" altLang="zh-CN" dirty="0"/>
              <a:t> </a:t>
            </a:r>
            <a:r>
              <a:rPr lang="en-US" altLang="zh-CN" dirty="0" err="1"/>
              <a:t>ge</a:t>
            </a:r>
            <a:r>
              <a:rPr lang="en-US" altLang="zh-CN" dirty="0"/>
              <a:t> t </a:t>
            </a:r>
            <a:r>
              <a:rPr lang="en-US" altLang="zh-CN" sz="1800" dirty="0" err="1"/>
              <a:t>i</a:t>
            </a:r>
            <a:r>
              <a:rPr lang="en-US" altLang="zh-CN" dirty="0"/>
              <a:t> </a:t>
            </a:r>
            <a:r>
              <a:rPr lang="en-US" altLang="zh-CN" dirty="0" err="1"/>
              <a:t>lousi</a:t>
            </a:r>
            <a:r>
              <a:rPr lang="en-US" altLang="zh-CN" dirty="0"/>
              <a:t>] </a:t>
            </a:r>
            <a:r>
              <a:rPr lang="en-US" altLang="zh-CN" sz="1800" dirty="0"/>
              <a:t>j </a:t>
            </a:r>
            <a:r>
              <a:rPr lang="en-US" altLang="zh-CN" dirty="0"/>
              <a:t>[</a:t>
            </a:r>
            <a:r>
              <a:rPr lang="en-US" altLang="zh-CN" dirty="0" err="1"/>
              <a:t>zou</a:t>
            </a:r>
            <a:r>
              <a:rPr lang="en-US" altLang="zh-CN" dirty="0"/>
              <a:t> </a:t>
            </a:r>
            <a:r>
              <a:rPr lang="en-US" altLang="zh-CN" sz="2000" dirty="0" err="1"/>
              <a:t>i</a:t>
            </a:r>
            <a:r>
              <a:rPr lang="en-US" altLang="zh-CN" sz="2400" dirty="0"/>
              <a:t> </a:t>
            </a:r>
            <a:r>
              <a:rPr lang="en-US" altLang="zh-CN" dirty="0"/>
              <a:t>t </a:t>
            </a:r>
            <a:r>
              <a:rPr lang="en-US" altLang="zh-CN" sz="1800" dirty="0"/>
              <a:t>j</a:t>
            </a:r>
            <a:r>
              <a:rPr lang="en-US" altLang="zh-CN" dirty="0"/>
              <a:t> [</a:t>
            </a:r>
            <a:r>
              <a:rPr lang="en-US" altLang="zh-CN" dirty="0" err="1"/>
              <a:t>dak</a:t>
            </a:r>
            <a:r>
              <a:rPr lang="en-US" altLang="zh-CN" dirty="0"/>
              <a:t> </a:t>
            </a:r>
            <a:r>
              <a:rPr lang="en-US" altLang="zh-CN" dirty="0" err="1"/>
              <a:t>hou</a:t>
            </a:r>
            <a:r>
              <a:rPr lang="en-US" altLang="zh-CN" dirty="0"/>
              <a:t>]]		</a:t>
            </a:r>
            <a:endParaRPr lang="en-US" dirty="0"/>
          </a:p>
          <a:p>
            <a:pPr marL="0" indent="0">
              <a:buNone/>
            </a:pPr>
            <a:endParaRPr lang="en-US" dirty="0"/>
          </a:p>
          <a:p>
            <a:pPr marL="0" indent="0">
              <a:buNone/>
            </a:pPr>
            <a:endParaRPr lang="en-US" dirty="0"/>
          </a:p>
        </p:txBody>
      </p:sp>
      <p:sp>
        <p:nvSpPr>
          <p:cNvPr id="8" name="Content Placeholder 2"/>
          <p:cNvSpPr txBox="1">
            <a:spLocks/>
          </p:cNvSpPr>
          <p:nvPr/>
        </p:nvSpPr>
        <p:spPr>
          <a:xfrm>
            <a:off x="-2" y="4096285"/>
            <a:ext cx="12192000" cy="9487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t>鄧</a:t>
            </a:r>
            <a:r>
              <a:rPr lang="en-US" dirty="0"/>
              <a:t> (2008): Cantonese </a:t>
            </a:r>
            <a:r>
              <a:rPr lang="en-US" i="1" dirty="0" err="1"/>
              <a:t>ge</a:t>
            </a:r>
            <a:r>
              <a:rPr lang="en-US" dirty="0"/>
              <a:t> cannot </a:t>
            </a:r>
            <a:r>
              <a:rPr lang="en-US" dirty="0" err="1"/>
              <a:t>nominalise</a:t>
            </a:r>
            <a:r>
              <a:rPr lang="en-US" dirty="0"/>
              <a:t> a clause (*</a:t>
            </a:r>
            <a:r>
              <a:rPr lang="zh-TW" altLang="en-US" dirty="0"/>
              <a:t>佢嘅</a:t>
            </a:r>
            <a:r>
              <a:rPr lang="zh-CN" altLang="en-US" dirty="0"/>
              <a:t>做</a:t>
            </a:r>
            <a:r>
              <a:rPr lang="zh-TW" altLang="en-US" dirty="0"/>
              <a:t>老師</a:t>
            </a:r>
            <a:r>
              <a:rPr lang="en-US" altLang="zh-TW" dirty="0"/>
              <a:t> </a:t>
            </a:r>
            <a:r>
              <a:rPr lang="en-US" altLang="zh-CN" i="1" dirty="0" err="1"/>
              <a:t>keoi</a:t>
            </a:r>
            <a:r>
              <a:rPr lang="en-US" altLang="zh-CN" i="1" dirty="0"/>
              <a:t> </a:t>
            </a:r>
            <a:r>
              <a:rPr lang="en-US" altLang="zh-CN" i="1" dirty="0" err="1"/>
              <a:t>ge</a:t>
            </a:r>
            <a:r>
              <a:rPr lang="en-US" altLang="zh-CN" i="1" dirty="0"/>
              <a:t> </a:t>
            </a:r>
            <a:r>
              <a:rPr lang="en-US" altLang="zh-CN" i="1" dirty="0" err="1"/>
              <a:t>zou</a:t>
            </a:r>
            <a:r>
              <a:rPr lang="en-US" altLang="zh-CN" i="1" dirty="0"/>
              <a:t> </a:t>
            </a:r>
            <a:r>
              <a:rPr lang="en-US" altLang="zh-CN" i="1" dirty="0" err="1"/>
              <a:t>lousi</a:t>
            </a:r>
            <a:r>
              <a:rPr lang="en-US" altLang="zh-CN" dirty="0"/>
              <a:t>), which is a contrast to Mandarin </a:t>
            </a:r>
            <a:r>
              <a:rPr lang="zh-CN" altLang="en-US" dirty="0"/>
              <a:t>他的當老師 </a:t>
            </a:r>
            <a:r>
              <a:rPr lang="en-US" altLang="zh-CN" i="1" dirty="0"/>
              <a:t>ta de dang </a:t>
            </a:r>
            <a:r>
              <a:rPr lang="en-US" altLang="zh-CN" i="1" dirty="0" err="1"/>
              <a:t>laoshi</a:t>
            </a:r>
            <a:r>
              <a:rPr lang="en-US" altLang="zh-CN" i="1" dirty="0"/>
              <a:t> </a:t>
            </a:r>
            <a:r>
              <a:rPr lang="en-US" altLang="zh-CN" dirty="0"/>
              <a:t>(</a:t>
            </a:r>
            <a:r>
              <a:rPr lang="en-US" altLang="zh-CN" dirty="0" err="1"/>
              <a:t>cf</a:t>
            </a:r>
            <a:r>
              <a:rPr lang="en-US" altLang="zh-CN" dirty="0"/>
              <a:t> </a:t>
            </a:r>
            <a:r>
              <a:rPr lang="zh-CN" altLang="en-US" dirty="0"/>
              <a:t>司 </a:t>
            </a:r>
            <a:r>
              <a:rPr lang="en-US" altLang="zh-CN" dirty="0"/>
              <a:t>(2002))</a:t>
            </a:r>
          </a:p>
          <a:p>
            <a:pPr marL="0" indent="0">
              <a:buNone/>
            </a:pPr>
            <a:endParaRPr lang="en-US" dirty="0"/>
          </a:p>
        </p:txBody>
      </p:sp>
      <p:sp>
        <p:nvSpPr>
          <p:cNvPr id="6" name="Rectangle 5"/>
          <p:cNvSpPr/>
          <p:nvPr/>
        </p:nvSpPr>
        <p:spPr>
          <a:xfrm>
            <a:off x="0" y="5519373"/>
            <a:ext cx="12192000" cy="954107"/>
          </a:xfrm>
          <a:prstGeom prst="rect">
            <a:avLst/>
          </a:prstGeom>
        </p:spPr>
        <p:txBody>
          <a:bodyPr wrap="square">
            <a:spAutoFit/>
          </a:bodyPr>
          <a:lstStyle/>
          <a:p>
            <a:r>
              <a:rPr lang="en-US" sz="2800" dirty="0"/>
              <a:t>Tang (2011): Cantonese </a:t>
            </a:r>
            <a:r>
              <a:rPr lang="en-US" sz="2800" i="1" dirty="0" err="1"/>
              <a:t>ge</a:t>
            </a:r>
            <a:r>
              <a:rPr lang="en-US" sz="2800" i="1" dirty="0"/>
              <a:t> </a:t>
            </a:r>
            <a:r>
              <a:rPr lang="en-US" sz="2800" dirty="0"/>
              <a:t>is less </a:t>
            </a:r>
            <a:r>
              <a:rPr lang="en-US" sz="2800" dirty="0" err="1"/>
              <a:t>grammaticalized</a:t>
            </a:r>
            <a:r>
              <a:rPr lang="en-US" sz="2800" dirty="0"/>
              <a:t> as Mandarin </a:t>
            </a:r>
            <a:r>
              <a:rPr lang="en-US" sz="2800" i="1" dirty="0"/>
              <a:t>de -&gt; </a:t>
            </a:r>
          </a:p>
          <a:p>
            <a:r>
              <a:rPr lang="en-US" sz="2800" i="1" dirty="0" err="1"/>
              <a:t>ge</a:t>
            </a:r>
            <a:r>
              <a:rPr lang="en-US" sz="2800" dirty="0"/>
              <a:t> retains more nominal properties than </a:t>
            </a:r>
            <a:r>
              <a:rPr lang="en-US" sz="2800" i="1" dirty="0"/>
              <a:t>de </a:t>
            </a:r>
            <a:r>
              <a:rPr lang="en-US" sz="2800" dirty="0"/>
              <a:t>-&gt;</a:t>
            </a:r>
            <a:r>
              <a:rPr lang="en-US" sz="2800" i="1" dirty="0"/>
              <a:t> </a:t>
            </a:r>
            <a:r>
              <a:rPr lang="en-US" sz="2800" i="1" dirty="0" err="1"/>
              <a:t>ge</a:t>
            </a:r>
            <a:r>
              <a:rPr lang="en-US" sz="2800" i="1" dirty="0"/>
              <a:t> </a:t>
            </a:r>
            <a:r>
              <a:rPr lang="en-US" sz="2800" dirty="0"/>
              <a:t>cannot form Activity </a:t>
            </a:r>
            <a:r>
              <a:rPr lang="en-US" sz="2800" dirty="0" err="1"/>
              <a:t>nominals</a:t>
            </a:r>
            <a:r>
              <a:rPr lang="en-US" sz="2800" dirty="0"/>
              <a:t>. </a:t>
            </a:r>
          </a:p>
        </p:txBody>
      </p:sp>
      <p:sp>
        <p:nvSpPr>
          <p:cNvPr id="9" name="Content Placeholder 2"/>
          <p:cNvSpPr txBox="1">
            <a:spLocks/>
          </p:cNvSpPr>
          <p:nvPr/>
        </p:nvSpPr>
        <p:spPr>
          <a:xfrm>
            <a:off x="-4" y="5007551"/>
            <a:ext cx="12192000" cy="5055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t>鄧 </a:t>
            </a:r>
            <a:r>
              <a:rPr lang="en-US" altLang="zh-CN" dirty="0"/>
              <a:t>(2009): Cantonese/dialectal </a:t>
            </a:r>
            <a:r>
              <a:rPr lang="en-US" altLang="zh-CN" i="1" dirty="0" err="1"/>
              <a:t>ge</a:t>
            </a:r>
            <a:r>
              <a:rPr lang="en-US" altLang="zh-CN" dirty="0"/>
              <a:t> blocks G-</a:t>
            </a:r>
            <a:r>
              <a:rPr lang="en-US" altLang="zh-CN" dirty="0" err="1"/>
              <a:t>to-DO</a:t>
            </a:r>
            <a:r>
              <a:rPr lang="en-US" altLang="zh-CN" dirty="0"/>
              <a:t> head movement </a:t>
            </a:r>
            <a:endParaRPr lang="en-US" dirty="0"/>
          </a:p>
        </p:txBody>
      </p:sp>
    </p:spTree>
    <p:extLst>
      <p:ext uri="{BB962C8B-B14F-4D97-AF65-F5344CB8AC3E}">
        <p14:creationId xmlns:p14="http://schemas.microsoft.com/office/powerpoint/2010/main" val="3090584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7" grpId="0"/>
      <p:bldP spid="8" grpId="0"/>
      <p:bldP spid="6" grpId="0"/>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pPr algn="ctr"/>
            <a:r>
              <a:rPr lang="zh-CN" altLang="en-US" dirty="0"/>
              <a:t>鄧</a:t>
            </a:r>
            <a:r>
              <a:rPr lang="en-US" dirty="0"/>
              <a:t> (2009)/Tang(2011): dialectal nominalization parameter</a:t>
            </a:r>
            <a:endParaRPr lang="en-GB" dirty="0"/>
          </a:p>
        </p:txBody>
      </p:sp>
      <p:sp>
        <p:nvSpPr>
          <p:cNvPr id="3" name="Content Placeholder 2"/>
          <p:cNvSpPr>
            <a:spLocks noGrp="1"/>
          </p:cNvSpPr>
          <p:nvPr>
            <p:ph idx="1"/>
          </p:nvPr>
        </p:nvSpPr>
        <p:spPr>
          <a:xfrm>
            <a:off x="838200" y="1267169"/>
            <a:ext cx="10515600" cy="4351338"/>
          </a:xfrm>
        </p:spPr>
        <p:txBody>
          <a:bodyPr/>
          <a:lstStyle/>
          <a:p>
            <a:pPr marL="0" indent="0">
              <a:buNone/>
            </a:pPr>
            <a:r>
              <a:rPr lang="zh-CN" altLang="en-US" dirty="0"/>
              <a:t>鄧</a:t>
            </a:r>
            <a:r>
              <a:rPr lang="en-US" dirty="0"/>
              <a:t> (2009, 2010) applies Huang’s Light Verb DO analysis to Cantonese:</a:t>
            </a:r>
            <a:endParaRPr lang="en-GB" dirty="0"/>
          </a:p>
        </p:txBody>
      </p:sp>
      <p:sp>
        <p:nvSpPr>
          <p:cNvPr id="4" name="Content Placeholder 2"/>
          <p:cNvSpPr txBox="1">
            <a:spLocks/>
          </p:cNvSpPr>
          <p:nvPr/>
        </p:nvSpPr>
        <p:spPr>
          <a:xfrm>
            <a:off x="838200" y="1680159"/>
            <a:ext cx="10515600" cy="5049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DO + Gerund Phrase (GP) </a:t>
            </a:r>
            <a:endParaRPr lang="en-GB" dirty="0"/>
          </a:p>
        </p:txBody>
      </p:sp>
      <p:sp>
        <p:nvSpPr>
          <p:cNvPr id="5" name="Content Placeholder 2"/>
          <p:cNvSpPr txBox="1">
            <a:spLocks/>
          </p:cNvSpPr>
          <p:nvPr/>
        </p:nvSpPr>
        <p:spPr>
          <a:xfrm>
            <a:off x="838200" y="2185060"/>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TW" altLang="en-US" dirty="0"/>
              <a:t>佢嘅老師做得好</a:t>
            </a:r>
            <a:r>
              <a:rPr lang="en-US" altLang="zh-TW" dirty="0"/>
              <a:t>:</a:t>
            </a:r>
            <a:endParaRPr lang="en-US" dirty="0"/>
          </a:p>
        </p:txBody>
      </p:sp>
      <p:sp>
        <p:nvSpPr>
          <p:cNvPr id="7" name="Content Placeholder 2"/>
          <p:cNvSpPr txBox="1">
            <a:spLocks/>
          </p:cNvSpPr>
          <p:nvPr/>
        </p:nvSpPr>
        <p:spPr>
          <a:xfrm>
            <a:off x="838199" y="2194286"/>
            <a:ext cx="11353801" cy="21664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dirty="0"/>
              <a:t>			 	[DO [</a:t>
            </a:r>
            <a:r>
              <a:rPr lang="en-US" altLang="zh-CN" sz="1800" dirty="0"/>
              <a:t>GP</a:t>
            </a:r>
            <a:r>
              <a:rPr lang="en-US" altLang="zh-CN" dirty="0"/>
              <a:t> </a:t>
            </a:r>
            <a:r>
              <a:rPr lang="en-US" altLang="zh-CN" dirty="0" err="1"/>
              <a:t>keoi</a:t>
            </a:r>
            <a:r>
              <a:rPr lang="en-US" altLang="zh-CN" dirty="0"/>
              <a:t> </a:t>
            </a:r>
            <a:r>
              <a:rPr lang="en-US" altLang="zh-CN" dirty="0" err="1"/>
              <a:t>ge</a:t>
            </a:r>
            <a:r>
              <a:rPr lang="en-US" altLang="zh-CN" dirty="0"/>
              <a:t> </a:t>
            </a:r>
            <a:r>
              <a:rPr lang="en-US" altLang="zh-CN" dirty="0" err="1"/>
              <a:t>zou</a:t>
            </a:r>
            <a:r>
              <a:rPr lang="en-US" altLang="zh-CN" dirty="0"/>
              <a:t> </a:t>
            </a:r>
            <a:r>
              <a:rPr lang="en-US" altLang="zh-CN" dirty="0" err="1"/>
              <a:t>lousi</a:t>
            </a:r>
            <a:r>
              <a:rPr lang="en-US" altLang="zh-CN" dirty="0"/>
              <a:t>]]</a:t>
            </a:r>
          </a:p>
          <a:p>
            <a:pPr marL="0" indent="0">
              <a:buFont typeface="Arial" panose="020B0604020202020204" pitchFamily="34" charset="0"/>
              <a:buNone/>
            </a:pPr>
            <a:r>
              <a:rPr lang="en-US" altLang="zh-CN" dirty="0"/>
              <a:t>				[</a:t>
            </a:r>
            <a:r>
              <a:rPr lang="en-US" altLang="zh-CN" dirty="0" err="1"/>
              <a:t>zou</a:t>
            </a:r>
            <a:r>
              <a:rPr lang="en-US" altLang="zh-CN" dirty="0"/>
              <a:t> </a:t>
            </a:r>
            <a:r>
              <a:rPr lang="en-US" altLang="zh-CN" sz="1800" dirty="0" err="1"/>
              <a:t>i</a:t>
            </a:r>
            <a:r>
              <a:rPr lang="en-US" altLang="zh-CN" sz="1800" dirty="0"/>
              <a:t> </a:t>
            </a:r>
            <a:r>
              <a:rPr lang="en-US" altLang="zh-CN" dirty="0"/>
              <a:t>[</a:t>
            </a:r>
            <a:r>
              <a:rPr lang="en-US" altLang="zh-CN" sz="1800" dirty="0"/>
              <a:t>GP </a:t>
            </a:r>
            <a:r>
              <a:rPr lang="en-US" altLang="zh-CN" dirty="0" err="1"/>
              <a:t>keoi</a:t>
            </a:r>
            <a:r>
              <a:rPr lang="en-US" altLang="zh-CN" dirty="0"/>
              <a:t> de t </a:t>
            </a:r>
            <a:r>
              <a:rPr lang="en-US" altLang="zh-CN" sz="1800" dirty="0" err="1"/>
              <a:t>i</a:t>
            </a:r>
            <a:r>
              <a:rPr lang="en-US" altLang="zh-CN" dirty="0"/>
              <a:t> </a:t>
            </a:r>
            <a:r>
              <a:rPr lang="en-US" altLang="zh-CN" dirty="0" err="1"/>
              <a:t>lousi</a:t>
            </a:r>
            <a:r>
              <a:rPr lang="en-US" altLang="zh-CN" dirty="0"/>
              <a:t>]]</a:t>
            </a:r>
          </a:p>
          <a:p>
            <a:pPr marL="0" indent="0">
              <a:buNone/>
            </a:pPr>
            <a:r>
              <a:rPr lang="en-US" altLang="zh-CN" dirty="0"/>
              <a:t>		       [</a:t>
            </a:r>
            <a:r>
              <a:rPr lang="en-US" altLang="zh-CN" sz="2000" dirty="0"/>
              <a:t>DO-P</a:t>
            </a:r>
            <a:r>
              <a:rPr lang="en-US" altLang="zh-CN" dirty="0"/>
              <a:t> </a:t>
            </a:r>
            <a:r>
              <a:rPr lang="en-US" altLang="zh-CN" dirty="0" err="1"/>
              <a:t>keoi</a:t>
            </a:r>
            <a:r>
              <a:rPr lang="en-US" altLang="zh-CN" dirty="0"/>
              <a:t> </a:t>
            </a:r>
            <a:r>
              <a:rPr lang="en-US" altLang="zh-CN" dirty="0" err="1"/>
              <a:t>zou</a:t>
            </a:r>
            <a:r>
              <a:rPr lang="en-US" altLang="zh-CN" dirty="0"/>
              <a:t> </a:t>
            </a:r>
            <a:r>
              <a:rPr lang="en-US" altLang="zh-CN" sz="2000" dirty="0" err="1"/>
              <a:t>i</a:t>
            </a:r>
            <a:r>
              <a:rPr lang="en-US" altLang="zh-CN" dirty="0"/>
              <a:t> [</a:t>
            </a:r>
            <a:r>
              <a:rPr lang="en-US" altLang="zh-CN" sz="2000" dirty="0"/>
              <a:t>GP</a:t>
            </a:r>
            <a:r>
              <a:rPr lang="en-US" altLang="zh-CN" dirty="0"/>
              <a:t> </a:t>
            </a:r>
            <a:r>
              <a:rPr lang="en-US" altLang="zh-CN" dirty="0" err="1"/>
              <a:t>keoi</a:t>
            </a:r>
            <a:r>
              <a:rPr lang="en-US" altLang="zh-CN" dirty="0"/>
              <a:t> </a:t>
            </a:r>
            <a:r>
              <a:rPr lang="en-US" altLang="zh-CN" dirty="0" err="1"/>
              <a:t>ge</a:t>
            </a:r>
            <a:r>
              <a:rPr lang="en-US" altLang="zh-CN" dirty="0"/>
              <a:t> t </a:t>
            </a:r>
            <a:r>
              <a:rPr lang="en-US" altLang="zh-CN" sz="2000" dirty="0" err="1"/>
              <a:t>i</a:t>
            </a:r>
            <a:r>
              <a:rPr lang="en-US" altLang="zh-CN" dirty="0"/>
              <a:t> </a:t>
            </a:r>
            <a:r>
              <a:rPr lang="en-US" altLang="zh-CN" dirty="0" err="1"/>
              <a:t>lousi</a:t>
            </a:r>
            <a:r>
              <a:rPr lang="en-US" altLang="zh-CN" dirty="0"/>
              <a:t>]]  	(</a:t>
            </a:r>
            <a:r>
              <a:rPr lang="zh-TW" altLang="en-US" dirty="0"/>
              <a:t>佢</a:t>
            </a:r>
            <a:r>
              <a:rPr lang="zh-CN" altLang="en-US" dirty="0"/>
              <a:t>做</a:t>
            </a:r>
            <a:r>
              <a:rPr lang="zh-TW" altLang="en-US" dirty="0"/>
              <a:t>佢嘅</a:t>
            </a:r>
            <a:r>
              <a:rPr lang="zh-CN" altLang="en-US" dirty="0"/>
              <a:t>老師</a:t>
            </a:r>
            <a:r>
              <a:rPr lang="en-US" altLang="zh-CN" dirty="0"/>
              <a:t>)</a:t>
            </a:r>
            <a:r>
              <a:rPr lang="zh-TW" altLang="en-US" dirty="0"/>
              <a:t> </a:t>
            </a:r>
            <a:endParaRPr lang="en-US" altLang="zh-CN" dirty="0"/>
          </a:p>
          <a:p>
            <a:pPr marL="0" indent="0">
              <a:buNone/>
            </a:pPr>
            <a:r>
              <a:rPr lang="en-US" altLang="zh-CN" dirty="0"/>
              <a:t> [</a:t>
            </a:r>
            <a:r>
              <a:rPr lang="en-US" altLang="zh-CN" sz="2000" dirty="0"/>
              <a:t>DO-P</a:t>
            </a:r>
            <a:r>
              <a:rPr lang="en-US" altLang="zh-CN" dirty="0"/>
              <a:t> [</a:t>
            </a:r>
            <a:r>
              <a:rPr lang="en-US" altLang="zh-CN" sz="2000" dirty="0"/>
              <a:t>GP</a:t>
            </a:r>
            <a:r>
              <a:rPr lang="en-US" altLang="zh-CN" dirty="0"/>
              <a:t> </a:t>
            </a:r>
            <a:r>
              <a:rPr lang="en-US" altLang="zh-CN" dirty="0" err="1"/>
              <a:t>keoi</a:t>
            </a:r>
            <a:r>
              <a:rPr lang="en-US" altLang="zh-CN" dirty="0"/>
              <a:t> </a:t>
            </a:r>
            <a:r>
              <a:rPr lang="en-US" altLang="zh-CN" dirty="0" err="1"/>
              <a:t>ge</a:t>
            </a:r>
            <a:r>
              <a:rPr lang="en-US" altLang="zh-CN" dirty="0"/>
              <a:t> t </a:t>
            </a:r>
            <a:r>
              <a:rPr lang="en-US" altLang="zh-CN" sz="1800" dirty="0" err="1"/>
              <a:t>i</a:t>
            </a:r>
            <a:r>
              <a:rPr lang="en-US" altLang="zh-CN" dirty="0"/>
              <a:t> </a:t>
            </a:r>
            <a:r>
              <a:rPr lang="en-US" altLang="zh-CN" dirty="0" err="1"/>
              <a:t>lousi</a:t>
            </a:r>
            <a:r>
              <a:rPr lang="en-US" altLang="zh-CN" dirty="0"/>
              <a:t>] </a:t>
            </a:r>
            <a:r>
              <a:rPr lang="en-US" altLang="zh-CN" sz="1800" dirty="0"/>
              <a:t>j </a:t>
            </a:r>
            <a:r>
              <a:rPr lang="en-US" altLang="zh-CN" dirty="0"/>
              <a:t>[</a:t>
            </a:r>
            <a:r>
              <a:rPr lang="en-US" altLang="zh-CN" dirty="0" err="1"/>
              <a:t>zou</a:t>
            </a:r>
            <a:r>
              <a:rPr lang="en-US" altLang="zh-CN" dirty="0"/>
              <a:t> </a:t>
            </a:r>
            <a:r>
              <a:rPr lang="en-US" altLang="zh-CN" sz="2000" dirty="0" err="1"/>
              <a:t>i</a:t>
            </a:r>
            <a:r>
              <a:rPr lang="en-US" altLang="zh-CN" sz="2400" dirty="0"/>
              <a:t> </a:t>
            </a:r>
            <a:r>
              <a:rPr lang="en-US" altLang="zh-CN" dirty="0"/>
              <a:t>t </a:t>
            </a:r>
            <a:r>
              <a:rPr lang="en-US" altLang="zh-CN" sz="1800" dirty="0"/>
              <a:t>j</a:t>
            </a:r>
            <a:r>
              <a:rPr lang="en-US" altLang="zh-CN" dirty="0"/>
              <a:t> [</a:t>
            </a:r>
            <a:r>
              <a:rPr lang="en-US" altLang="zh-CN" dirty="0" err="1"/>
              <a:t>dak</a:t>
            </a:r>
            <a:r>
              <a:rPr lang="en-US" altLang="zh-CN" dirty="0"/>
              <a:t> </a:t>
            </a:r>
            <a:r>
              <a:rPr lang="en-US" altLang="zh-CN" dirty="0" err="1"/>
              <a:t>hou</a:t>
            </a:r>
            <a:r>
              <a:rPr lang="en-US" altLang="zh-CN" dirty="0"/>
              <a:t>]]			(</a:t>
            </a:r>
            <a:r>
              <a:rPr lang="zh-TW" altLang="en-US" dirty="0"/>
              <a:t>佢嘅</a:t>
            </a:r>
            <a:r>
              <a:rPr lang="zh-CN" altLang="en-US" dirty="0"/>
              <a:t>老師做得好</a:t>
            </a:r>
            <a:r>
              <a:rPr lang="en-US" altLang="zh-CN" dirty="0"/>
              <a:t>)</a:t>
            </a:r>
            <a:r>
              <a:rPr lang="zh-TW" altLang="en-US" dirty="0"/>
              <a:t> </a:t>
            </a:r>
            <a:endParaRPr lang="en-US" dirty="0"/>
          </a:p>
          <a:p>
            <a:pPr marL="0" indent="0">
              <a:buNone/>
            </a:pPr>
            <a:endParaRPr lang="en-US" dirty="0"/>
          </a:p>
          <a:p>
            <a:pPr marL="0" indent="0">
              <a:buNone/>
            </a:pPr>
            <a:endParaRPr lang="en-US" dirty="0"/>
          </a:p>
        </p:txBody>
      </p:sp>
      <p:sp>
        <p:nvSpPr>
          <p:cNvPr id="8" name="Content Placeholder 2"/>
          <p:cNvSpPr txBox="1">
            <a:spLocks/>
          </p:cNvSpPr>
          <p:nvPr/>
        </p:nvSpPr>
        <p:spPr>
          <a:xfrm>
            <a:off x="-1" y="4311561"/>
            <a:ext cx="12192000" cy="25464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t>鄧</a:t>
            </a:r>
            <a:r>
              <a:rPr lang="en-US" dirty="0"/>
              <a:t> (2008): Cantonese </a:t>
            </a:r>
            <a:r>
              <a:rPr lang="en-US" i="1" dirty="0" err="1"/>
              <a:t>ge</a:t>
            </a:r>
            <a:r>
              <a:rPr lang="en-US" dirty="0"/>
              <a:t> cannot </a:t>
            </a:r>
            <a:r>
              <a:rPr lang="en-US" dirty="0" err="1"/>
              <a:t>nominalise</a:t>
            </a:r>
            <a:r>
              <a:rPr lang="en-US" dirty="0"/>
              <a:t> a clause (</a:t>
            </a:r>
            <a:r>
              <a:rPr lang="en-US" altLang="zh-CN" i="1" dirty="0" err="1"/>
              <a:t>keoi</a:t>
            </a:r>
            <a:r>
              <a:rPr lang="en-US" altLang="zh-CN" i="1" dirty="0"/>
              <a:t> *</a:t>
            </a:r>
            <a:r>
              <a:rPr lang="en-US" altLang="zh-CN" i="1" dirty="0" err="1"/>
              <a:t>ge</a:t>
            </a:r>
            <a:r>
              <a:rPr lang="en-US" altLang="zh-CN" i="1" dirty="0"/>
              <a:t> </a:t>
            </a:r>
            <a:r>
              <a:rPr lang="en-US" altLang="zh-CN" i="1" dirty="0" err="1"/>
              <a:t>zou</a:t>
            </a:r>
            <a:r>
              <a:rPr lang="en-US" altLang="zh-CN" i="1" dirty="0"/>
              <a:t> </a:t>
            </a:r>
            <a:r>
              <a:rPr lang="en-US" altLang="zh-CN" i="1" dirty="0" err="1"/>
              <a:t>lousi</a:t>
            </a:r>
            <a:r>
              <a:rPr lang="en-US" altLang="zh-CN" dirty="0"/>
              <a:t>)</a:t>
            </a:r>
            <a:endParaRPr lang="en-US" dirty="0"/>
          </a:p>
          <a:p>
            <a:pPr marL="0" indent="0">
              <a:buNone/>
            </a:pPr>
            <a:r>
              <a:rPr lang="en-US" dirty="0"/>
              <a:t>Tang (2011): Cantonese </a:t>
            </a:r>
            <a:r>
              <a:rPr lang="en-US" i="1" dirty="0" err="1"/>
              <a:t>ge</a:t>
            </a:r>
            <a:r>
              <a:rPr lang="en-US" i="1" dirty="0"/>
              <a:t> </a:t>
            </a:r>
            <a:r>
              <a:rPr lang="en-US" dirty="0"/>
              <a:t>is less </a:t>
            </a:r>
            <a:r>
              <a:rPr lang="en-US" dirty="0" err="1"/>
              <a:t>grammaticalized</a:t>
            </a:r>
            <a:r>
              <a:rPr lang="en-US" dirty="0"/>
              <a:t> as Mandarin </a:t>
            </a:r>
            <a:r>
              <a:rPr lang="en-US" i="1" dirty="0"/>
              <a:t>de </a:t>
            </a:r>
            <a:r>
              <a:rPr lang="en-US" dirty="0"/>
              <a:t>i.e. it still retains some of its nominal properties whereas </a:t>
            </a:r>
            <a:r>
              <a:rPr lang="en-US" i="1" dirty="0"/>
              <a:t>de</a:t>
            </a:r>
            <a:r>
              <a:rPr lang="en-US" dirty="0"/>
              <a:t> is more bleached </a:t>
            </a:r>
          </a:p>
          <a:p>
            <a:pPr marL="0" indent="0">
              <a:buNone/>
            </a:pPr>
            <a:r>
              <a:rPr lang="en-US" dirty="0"/>
              <a:t>&gt; Tang’s </a:t>
            </a:r>
            <a:r>
              <a:rPr lang="en-US" dirty="0" err="1"/>
              <a:t>nominal</a:t>
            </a:r>
            <a:r>
              <a:rPr lang="en-US" altLang="zh-CN" dirty="0" err="1"/>
              <a:t>isation</a:t>
            </a:r>
            <a:r>
              <a:rPr lang="en-US" dirty="0"/>
              <a:t> parameter (</a:t>
            </a:r>
            <a:r>
              <a:rPr lang="zh-CN" altLang="en-US" dirty="0"/>
              <a:t>鄧 </a:t>
            </a:r>
            <a:r>
              <a:rPr lang="en-US" altLang="zh-CN" dirty="0"/>
              <a:t>(2009))</a:t>
            </a:r>
            <a:endParaRPr lang="en-US" dirty="0"/>
          </a:p>
        </p:txBody>
      </p:sp>
    </p:spTree>
    <p:extLst>
      <p:ext uri="{BB962C8B-B14F-4D97-AF65-F5344CB8AC3E}">
        <p14:creationId xmlns:p14="http://schemas.microsoft.com/office/powerpoint/2010/main" val="1418876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Chinese Activity constructions </a:t>
            </a:r>
            <a:br>
              <a:rPr lang="en-US" dirty="0"/>
            </a:br>
            <a:r>
              <a:rPr lang="en-US" dirty="0"/>
              <a:t>(summary of formal analyses):</a:t>
            </a:r>
            <a:endParaRPr lang="en-GB" dirty="0"/>
          </a:p>
        </p:txBody>
      </p:sp>
      <p:sp>
        <p:nvSpPr>
          <p:cNvPr id="3" name="Content Placeholder 2"/>
          <p:cNvSpPr>
            <a:spLocks noGrp="1"/>
          </p:cNvSpPr>
          <p:nvPr>
            <p:ph idx="1"/>
          </p:nvPr>
        </p:nvSpPr>
        <p:spPr>
          <a:xfrm>
            <a:off x="804226" y="1325563"/>
            <a:ext cx="10515600" cy="4351338"/>
          </a:xfrm>
        </p:spPr>
        <p:txBody>
          <a:bodyPr/>
          <a:lstStyle/>
          <a:p>
            <a:pPr marL="0" indent="0">
              <a:buNone/>
            </a:pPr>
            <a:r>
              <a:rPr lang="en-US" dirty="0"/>
              <a:t>Subject-Object Asymmetry (</a:t>
            </a:r>
            <a:r>
              <a:rPr lang="zh-CN" altLang="en-US" dirty="0"/>
              <a:t>黃 </a:t>
            </a:r>
            <a:r>
              <a:rPr lang="en-US" altLang="zh-CN" dirty="0"/>
              <a:t>Huang</a:t>
            </a:r>
            <a:r>
              <a:rPr lang="zh-CN" altLang="en-US" dirty="0"/>
              <a:t> </a:t>
            </a:r>
            <a:r>
              <a:rPr lang="en-US" altLang="zh-CN" dirty="0"/>
              <a:t>(2008); </a:t>
            </a:r>
            <a:r>
              <a:rPr lang="zh-CN" altLang="en-US" dirty="0"/>
              <a:t>鄧 </a:t>
            </a:r>
            <a:r>
              <a:rPr lang="en-US" altLang="zh-CN" dirty="0"/>
              <a:t>Tang (2009))</a:t>
            </a:r>
            <a:r>
              <a:rPr lang="en-US" dirty="0"/>
              <a:t>: </a:t>
            </a:r>
          </a:p>
        </p:txBody>
      </p:sp>
      <p:sp>
        <p:nvSpPr>
          <p:cNvPr id="4" name="Rectangle 3"/>
          <p:cNvSpPr/>
          <p:nvPr/>
        </p:nvSpPr>
        <p:spPr>
          <a:xfrm>
            <a:off x="6657474" y="1793941"/>
            <a:ext cx="10515600" cy="2246769"/>
          </a:xfrm>
          <a:prstGeom prst="rect">
            <a:avLst/>
          </a:prstGeom>
        </p:spPr>
        <p:txBody>
          <a:bodyPr wrap="square">
            <a:spAutoFit/>
          </a:bodyPr>
          <a:lstStyle/>
          <a:p>
            <a:r>
              <a:rPr lang="zh-TW" altLang="en-US" sz="2800" dirty="0">
                <a:latin typeface="等线" panose="02010600030101010101" pitchFamily="2" charset="-122"/>
                <a:ea typeface="等线" panose="02010600030101010101" pitchFamily="2" charset="-122"/>
                <a:cs typeface="Times New Roman" panose="02020603050405020304" pitchFamily="18" charset="0"/>
              </a:rPr>
              <a:t>佢做佢嘅老師 </a:t>
            </a:r>
            <a:r>
              <a:rPr lang="en-US" altLang="zh-TW" sz="2800" dirty="0">
                <a:latin typeface="Calibri" panose="020F0502020204030204" pitchFamily="34" charset="0"/>
                <a:ea typeface="等线" panose="02010600030101010101" pitchFamily="2" charset="-122"/>
                <a:cs typeface="Calibri" panose="020F0502020204030204" pitchFamily="34" charset="0"/>
              </a:rPr>
              <a:t>(Cantonese)</a:t>
            </a:r>
          </a:p>
          <a:p>
            <a:r>
              <a:rPr lang="en-US" altLang="zh-TW" sz="2800" dirty="0" err="1">
                <a:ea typeface="等线" panose="02010600030101010101" pitchFamily="2" charset="-122"/>
                <a:cs typeface="Times New Roman" panose="02020603050405020304" pitchFamily="18" charset="0"/>
              </a:rPr>
              <a:t>keui</a:t>
            </a:r>
            <a:r>
              <a:rPr lang="en-US" altLang="zh-TW" sz="2800" dirty="0">
                <a:ea typeface="等线" panose="02010600030101010101" pitchFamily="2" charset="-122"/>
                <a:cs typeface="Times New Roman" panose="02020603050405020304" pitchFamily="18" charset="0"/>
              </a:rPr>
              <a:t> </a:t>
            </a:r>
            <a:r>
              <a:rPr lang="en-US" altLang="zh-TW" sz="2800" dirty="0" err="1">
                <a:ea typeface="等线" panose="02010600030101010101" pitchFamily="2" charset="-122"/>
                <a:cs typeface="Times New Roman" panose="02020603050405020304" pitchFamily="18" charset="0"/>
              </a:rPr>
              <a:t>zou</a:t>
            </a:r>
            <a:r>
              <a:rPr lang="en-US" altLang="zh-TW" sz="2800" dirty="0">
                <a:ea typeface="等线" panose="02010600030101010101" pitchFamily="2" charset="-122"/>
                <a:cs typeface="Times New Roman" panose="02020603050405020304" pitchFamily="18" charset="0"/>
              </a:rPr>
              <a:t> </a:t>
            </a:r>
            <a:r>
              <a:rPr lang="en-US" altLang="zh-TW" sz="2800" dirty="0" err="1">
                <a:ea typeface="等线" panose="02010600030101010101" pitchFamily="2" charset="-122"/>
                <a:cs typeface="Times New Roman" panose="02020603050405020304" pitchFamily="18" charset="0"/>
              </a:rPr>
              <a:t>keui</a:t>
            </a:r>
            <a:r>
              <a:rPr lang="en-US" altLang="zh-TW" sz="2800" dirty="0">
                <a:ea typeface="等线" panose="02010600030101010101" pitchFamily="2" charset="-122"/>
                <a:cs typeface="Times New Roman" panose="02020603050405020304" pitchFamily="18" charset="0"/>
              </a:rPr>
              <a:t> </a:t>
            </a:r>
            <a:r>
              <a:rPr lang="en-US" altLang="zh-TW" sz="2800" dirty="0" err="1">
                <a:ea typeface="等线" panose="02010600030101010101" pitchFamily="2" charset="-122"/>
                <a:cs typeface="Times New Roman" panose="02020603050405020304" pitchFamily="18" charset="0"/>
              </a:rPr>
              <a:t>ge</a:t>
            </a:r>
            <a:r>
              <a:rPr lang="en-US" altLang="zh-TW" sz="2800" dirty="0">
                <a:ea typeface="等线" panose="02010600030101010101" pitchFamily="2" charset="-122"/>
                <a:cs typeface="Times New Roman" panose="02020603050405020304" pitchFamily="18" charset="0"/>
              </a:rPr>
              <a:t> </a:t>
            </a:r>
            <a:r>
              <a:rPr lang="en-US" altLang="zh-TW" sz="2800" dirty="0" err="1">
                <a:ea typeface="等线" panose="02010600030101010101" pitchFamily="2" charset="-122"/>
                <a:cs typeface="Times New Roman" panose="02020603050405020304" pitchFamily="18" charset="0"/>
              </a:rPr>
              <a:t>lousi</a:t>
            </a:r>
            <a:endParaRPr lang="en-US" altLang="zh-TW" sz="2800" dirty="0">
              <a:ea typeface="等线" panose="02010600030101010101" pitchFamily="2" charset="-122"/>
              <a:cs typeface="Times New Roman" panose="02020603050405020304" pitchFamily="18" charset="0"/>
            </a:endParaRPr>
          </a:p>
          <a:p>
            <a:r>
              <a:rPr lang="en-US" altLang="zh-TW" sz="2800" dirty="0">
                <a:latin typeface="等线" panose="02010600030101010101" pitchFamily="2" charset="-122"/>
                <a:ea typeface="等线" panose="02010600030101010101" pitchFamily="2" charset="-122"/>
                <a:cs typeface="Times New Roman" panose="02020603050405020304" pitchFamily="18" charset="0"/>
              </a:rPr>
              <a:t> *</a:t>
            </a:r>
            <a:r>
              <a:rPr lang="zh-TW" altLang="en-US" sz="2800" b="1" dirty="0">
                <a:latin typeface="等线" panose="02010600030101010101" pitchFamily="2" charset="-122"/>
                <a:ea typeface="等线" panose="02010600030101010101" pitchFamily="2" charset="-122"/>
                <a:cs typeface="Times New Roman" panose="02020603050405020304" pitchFamily="18" charset="0"/>
              </a:rPr>
              <a:t>佢  嘅 老師 做   得   好</a:t>
            </a:r>
            <a:endParaRPr lang="en-US" altLang="zh-TW" sz="2800" b="1" dirty="0">
              <a:latin typeface="等线" panose="02010600030101010101" pitchFamily="2" charset="-122"/>
              <a:ea typeface="等线" panose="02010600030101010101" pitchFamily="2" charset="-122"/>
              <a:cs typeface="Times New Roman" panose="02020603050405020304" pitchFamily="18" charset="0"/>
            </a:endParaRPr>
          </a:p>
          <a:p>
            <a:r>
              <a:rPr lang="en-US" sz="2800" dirty="0" err="1">
                <a:ea typeface="等线" panose="02010600030101010101" pitchFamily="2" charset="-122"/>
                <a:cs typeface="Times New Roman" panose="02020603050405020304" pitchFamily="18" charset="0"/>
              </a:rPr>
              <a:t>keui</a:t>
            </a:r>
            <a:r>
              <a:rPr lang="en-US" sz="2800" dirty="0">
                <a:ea typeface="等线" panose="02010600030101010101" pitchFamily="2" charset="-122"/>
                <a:cs typeface="Times New Roman" panose="02020603050405020304" pitchFamily="18" charset="0"/>
              </a:rPr>
              <a:t> </a:t>
            </a:r>
            <a:r>
              <a:rPr lang="en-US" sz="2800" dirty="0" err="1">
                <a:ea typeface="等线" panose="02010600030101010101" pitchFamily="2" charset="-122"/>
                <a:cs typeface="Times New Roman" panose="02020603050405020304" pitchFamily="18" charset="0"/>
              </a:rPr>
              <a:t>ge</a:t>
            </a:r>
            <a:r>
              <a:rPr lang="en-US" sz="2800" dirty="0">
                <a:ea typeface="等线" panose="02010600030101010101" pitchFamily="2" charset="-122"/>
                <a:cs typeface="Times New Roman" panose="02020603050405020304" pitchFamily="18" charset="0"/>
              </a:rPr>
              <a:t> </a:t>
            </a:r>
            <a:r>
              <a:rPr lang="en-US" sz="2800" dirty="0" err="1">
                <a:ea typeface="等线" panose="02010600030101010101" pitchFamily="2" charset="-122"/>
                <a:cs typeface="Times New Roman" panose="02020603050405020304" pitchFamily="18" charset="0"/>
              </a:rPr>
              <a:t>lousi</a:t>
            </a:r>
            <a:r>
              <a:rPr lang="en-US" sz="2800" dirty="0">
                <a:ea typeface="等线" panose="02010600030101010101" pitchFamily="2" charset="-122"/>
                <a:cs typeface="Times New Roman" panose="02020603050405020304" pitchFamily="18" charset="0"/>
              </a:rPr>
              <a:t> </a:t>
            </a:r>
            <a:r>
              <a:rPr lang="en-US" sz="2800" dirty="0" err="1">
                <a:ea typeface="等线" panose="02010600030101010101" pitchFamily="2" charset="-122"/>
                <a:cs typeface="Times New Roman" panose="02020603050405020304" pitchFamily="18" charset="0"/>
              </a:rPr>
              <a:t>zou</a:t>
            </a:r>
            <a:r>
              <a:rPr lang="en-US" sz="2800" dirty="0">
                <a:ea typeface="等线" panose="02010600030101010101" pitchFamily="2" charset="-122"/>
                <a:cs typeface="Times New Roman" panose="02020603050405020304" pitchFamily="18" charset="0"/>
              </a:rPr>
              <a:t> </a:t>
            </a:r>
            <a:r>
              <a:rPr lang="en-US" sz="2800" dirty="0" err="1">
                <a:ea typeface="等线" panose="02010600030101010101" pitchFamily="2" charset="-122"/>
                <a:cs typeface="Times New Roman" panose="02020603050405020304" pitchFamily="18" charset="0"/>
              </a:rPr>
              <a:t>dak</a:t>
            </a:r>
            <a:r>
              <a:rPr lang="en-US" sz="2800" dirty="0">
                <a:ea typeface="等线" panose="02010600030101010101" pitchFamily="2" charset="-122"/>
                <a:cs typeface="Times New Roman" panose="02020603050405020304" pitchFamily="18" charset="0"/>
              </a:rPr>
              <a:t> </a:t>
            </a:r>
            <a:r>
              <a:rPr lang="en-US" sz="2800" dirty="0" err="1">
                <a:ea typeface="等线" panose="02010600030101010101" pitchFamily="2" charset="-122"/>
                <a:cs typeface="Times New Roman" panose="02020603050405020304" pitchFamily="18" charset="0"/>
              </a:rPr>
              <a:t>hou</a:t>
            </a:r>
            <a:endParaRPr lang="en-US" sz="2800" dirty="0">
              <a:ea typeface="等线" panose="02010600030101010101" pitchFamily="2" charset="-122"/>
              <a:cs typeface="Times New Roman" panose="02020603050405020304" pitchFamily="18" charset="0"/>
            </a:endParaRPr>
          </a:p>
          <a:p>
            <a:r>
              <a:rPr lang="en-US" sz="2800" dirty="0">
                <a:ea typeface="等线" panose="02010600030101010101" pitchFamily="2" charset="-122"/>
                <a:cs typeface="Times New Roman" panose="02020603050405020304" pitchFamily="18" charset="0"/>
              </a:rPr>
              <a:t>‘He is being a good teacher.’ </a:t>
            </a:r>
            <a:endParaRPr lang="en-GB" sz="2800" dirty="0">
              <a:ea typeface="等线" panose="02010600030101010101" pitchFamily="2" charset="-122"/>
              <a:cs typeface="Times New Roman" panose="02020603050405020304" pitchFamily="18" charset="0"/>
            </a:endParaRPr>
          </a:p>
        </p:txBody>
      </p:sp>
      <p:sp>
        <p:nvSpPr>
          <p:cNvPr id="5" name="Rectangle 4"/>
          <p:cNvSpPr/>
          <p:nvPr/>
        </p:nvSpPr>
        <p:spPr>
          <a:xfrm>
            <a:off x="838200" y="4040710"/>
            <a:ext cx="10481626" cy="523220"/>
          </a:xfrm>
          <a:prstGeom prst="rect">
            <a:avLst/>
          </a:prstGeom>
        </p:spPr>
        <p:txBody>
          <a:bodyPr wrap="square">
            <a:spAutoFit/>
          </a:bodyPr>
          <a:lstStyle/>
          <a:p>
            <a:r>
              <a:rPr lang="en-US" sz="2800" dirty="0"/>
              <a:t>Light Verb Analysis (</a:t>
            </a:r>
            <a:r>
              <a:rPr lang="zh-CN" altLang="en-US" sz="2800" dirty="0"/>
              <a:t>黃 </a:t>
            </a:r>
            <a:r>
              <a:rPr lang="en-US" altLang="zh-CN" sz="2800" dirty="0"/>
              <a:t>Huang 2008; </a:t>
            </a:r>
            <a:r>
              <a:rPr lang="zh-CN" altLang="en-US" sz="2800" dirty="0"/>
              <a:t>鄧</a:t>
            </a:r>
            <a:r>
              <a:rPr lang="en-US" altLang="zh-CN" sz="2800" dirty="0"/>
              <a:t>/Tang 2009; 2010): </a:t>
            </a:r>
            <a:endParaRPr lang="en-GB" sz="2800" dirty="0"/>
          </a:p>
        </p:txBody>
      </p:sp>
      <p:sp>
        <p:nvSpPr>
          <p:cNvPr id="6" name="Rectangle 5"/>
          <p:cNvSpPr/>
          <p:nvPr/>
        </p:nvSpPr>
        <p:spPr>
          <a:xfrm>
            <a:off x="4588043" y="4400210"/>
            <a:ext cx="2277560" cy="523220"/>
          </a:xfrm>
          <a:prstGeom prst="rect">
            <a:avLst/>
          </a:prstGeom>
        </p:spPr>
        <p:txBody>
          <a:bodyPr wrap="square">
            <a:spAutoFit/>
          </a:bodyPr>
          <a:lstStyle/>
          <a:p>
            <a:r>
              <a:rPr lang="en-GB" sz="2800" b="1" dirty="0"/>
              <a:t>DO + GP  </a:t>
            </a:r>
          </a:p>
        </p:txBody>
      </p:sp>
      <p:sp>
        <p:nvSpPr>
          <p:cNvPr id="7" name="Rectangle 6"/>
          <p:cNvSpPr/>
          <p:nvPr/>
        </p:nvSpPr>
        <p:spPr>
          <a:xfrm>
            <a:off x="821213" y="1793941"/>
            <a:ext cx="5819274" cy="2246769"/>
          </a:xfrm>
          <a:prstGeom prst="rect">
            <a:avLst/>
          </a:prstGeom>
        </p:spPr>
        <p:txBody>
          <a:bodyPr wrap="square">
            <a:spAutoFit/>
          </a:bodyPr>
          <a:lstStyle/>
          <a:p>
            <a:r>
              <a:rPr lang="zh-CN" altLang="en-US" sz="2800" dirty="0"/>
              <a:t>他 當    他 的 老師 </a:t>
            </a:r>
            <a:r>
              <a:rPr lang="en-US" altLang="zh-CN" sz="2800" dirty="0"/>
              <a:t>(Mandarin)</a:t>
            </a:r>
          </a:p>
          <a:p>
            <a:r>
              <a:rPr lang="en-US" altLang="zh-CN" sz="2800" dirty="0"/>
              <a:t>ta dang ta de </a:t>
            </a:r>
            <a:r>
              <a:rPr lang="en-US" altLang="zh-CN" sz="2800" dirty="0" err="1"/>
              <a:t>laoshi</a:t>
            </a:r>
            <a:endParaRPr lang="en-US" altLang="zh-CN" sz="2800" dirty="0"/>
          </a:p>
          <a:p>
            <a:r>
              <a:rPr lang="zh-CN" altLang="en-US" sz="2800" dirty="0"/>
              <a:t>他 的 老師  當      得 好</a:t>
            </a:r>
            <a:endParaRPr lang="en-US" altLang="zh-CN" sz="2800" dirty="0"/>
          </a:p>
          <a:p>
            <a:r>
              <a:rPr lang="en-US" sz="2800" dirty="0"/>
              <a:t>ta de </a:t>
            </a:r>
            <a:r>
              <a:rPr lang="en-US" sz="2800" dirty="0" err="1"/>
              <a:t>laoshi</a:t>
            </a:r>
            <a:r>
              <a:rPr lang="en-US" sz="2800" dirty="0"/>
              <a:t> dang de </a:t>
            </a:r>
            <a:r>
              <a:rPr lang="en-US" sz="2800" dirty="0" err="1"/>
              <a:t>hao</a:t>
            </a:r>
            <a:endParaRPr lang="en-US" sz="2800" dirty="0"/>
          </a:p>
          <a:p>
            <a:r>
              <a:rPr lang="en-US" sz="2800" dirty="0"/>
              <a:t>‘He is being a good teacher.’ </a:t>
            </a:r>
            <a:endParaRPr lang="en-GB" sz="2800" dirty="0"/>
          </a:p>
        </p:txBody>
      </p:sp>
      <p:sp>
        <p:nvSpPr>
          <p:cNvPr id="9" name="Content Placeholder 2"/>
          <p:cNvSpPr txBox="1">
            <a:spLocks/>
          </p:cNvSpPr>
          <p:nvPr/>
        </p:nvSpPr>
        <p:spPr>
          <a:xfrm>
            <a:off x="838200" y="4821264"/>
            <a:ext cx="11353800" cy="20588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dirty="0"/>
              <a:t>			 	[DO [</a:t>
            </a:r>
            <a:r>
              <a:rPr lang="en-US" altLang="zh-CN" sz="1800" dirty="0"/>
              <a:t>GP</a:t>
            </a:r>
            <a:r>
              <a:rPr lang="en-US" altLang="zh-CN" dirty="0"/>
              <a:t> ta de dang </a:t>
            </a:r>
            <a:r>
              <a:rPr lang="en-US" altLang="zh-CN" dirty="0" err="1"/>
              <a:t>laoshi</a:t>
            </a:r>
            <a:r>
              <a:rPr lang="en-US" altLang="zh-CN" dirty="0"/>
              <a:t>]]</a:t>
            </a:r>
          </a:p>
          <a:p>
            <a:pPr marL="0" indent="0">
              <a:buFont typeface="Arial" panose="020B0604020202020204" pitchFamily="34" charset="0"/>
              <a:buNone/>
            </a:pPr>
            <a:r>
              <a:rPr lang="en-US" dirty="0"/>
              <a:t>			 	</a:t>
            </a:r>
            <a:r>
              <a:rPr lang="en-US" altLang="zh-CN" dirty="0"/>
              <a:t>[dang </a:t>
            </a:r>
            <a:r>
              <a:rPr lang="en-US" altLang="zh-CN" sz="1800" dirty="0" err="1"/>
              <a:t>i</a:t>
            </a:r>
            <a:r>
              <a:rPr lang="en-US" altLang="zh-CN" sz="1800" dirty="0"/>
              <a:t> </a:t>
            </a:r>
            <a:r>
              <a:rPr lang="en-US" altLang="zh-CN" dirty="0"/>
              <a:t>[</a:t>
            </a:r>
            <a:r>
              <a:rPr lang="en-US" altLang="zh-CN" sz="1800" dirty="0"/>
              <a:t>GP </a:t>
            </a:r>
            <a:r>
              <a:rPr lang="en-US" altLang="zh-CN" dirty="0"/>
              <a:t>ta de t </a:t>
            </a:r>
            <a:r>
              <a:rPr lang="en-US" altLang="zh-CN" sz="1800" dirty="0" err="1"/>
              <a:t>i</a:t>
            </a:r>
            <a:r>
              <a:rPr lang="en-US" altLang="zh-CN" dirty="0"/>
              <a:t> </a:t>
            </a:r>
            <a:r>
              <a:rPr lang="en-US" altLang="zh-CN" dirty="0" err="1"/>
              <a:t>laoshi</a:t>
            </a:r>
            <a:r>
              <a:rPr lang="en-US" altLang="zh-CN" dirty="0"/>
              <a:t>]]</a:t>
            </a:r>
          </a:p>
          <a:p>
            <a:pPr marL="0" indent="0">
              <a:buNone/>
            </a:pPr>
            <a:r>
              <a:rPr lang="en-US" altLang="zh-CN" dirty="0"/>
              <a:t>		          [</a:t>
            </a:r>
            <a:r>
              <a:rPr lang="en-US" altLang="zh-CN" sz="2000" dirty="0"/>
              <a:t>DO-P</a:t>
            </a:r>
            <a:r>
              <a:rPr lang="en-US" altLang="zh-CN" dirty="0"/>
              <a:t> ta dang </a:t>
            </a:r>
            <a:r>
              <a:rPr lang="en-US" altLang="zh-CN" sz="2000" dirty="0" err="1"/>
              <a:t>i</a:t>
            </a:r>
            <a:r>
              <a:rPr lang="en-US" altLang="zh-CN" dirty="0"/>
              <a:t> [</a:t>
            </a:r>
            <a:r>
              <a:rPr lang="en-US" altLang="zh-CN" sz="2000" dirty="0"/>
              <a:t>GP</a:t>
            </a:r>
            <a:r>
              <a:rPr lang="en-US" altLang="zh-CN" dirty="0"/>
              <a:t> ta de t </a:t>
            </a:r>
            <a:r>
              <a:rPr lang="en-US" altLang="zh-CN" sz="2000" dirty="0" err="1"/>
              <a:t>i</a:t>
            </a:r>
            <a:r>
              <a:rPr lang="en-US" altLang="zh-CN" dirty="0"/>
              <a:t> </a:t>
            </a:r>
            <a:r>
              <a:rPr lang="en-US" altLang="zh-CN" dirty="0" err="1"/>
              <a:t>laoshi</a:t>
            </a:r>
            <a:r>
              <a:rPr lang="en-US" altLang="zh-CN" dirty="0"/>
              <a:t>]]</a:t>
            </a:r>
          </a:p>
          <a:p>
            <a:pPr marL="0" indent="0">
              <a:buNone/>
            </a:pPr>
            <a:r>
              <a:rPr lang="en-US" altLang="zh-CN" dirty="0"/>
              <a:t>  [</a:t>
            </a:r>
            <a:r>
              <a:rPr lang="en-US" altLang="zh-CN" sz="2000" dirty="0"/>
              <a:t>DO-P</a:t>
            </a:r>
            <a:r>
              <a:rPr lang="en-US" altLang="zh-CN" dirty="0"/>
              <a:t> [</a:t>
            </a:r>
            <a:r>
              <a:rPr lang="en-US" altLang="zh-CN" sz="2000" dirty="0"/>
              <a:t>GP</a:t>
            </a:r>
            <a:r>
              <a:rPr lang="en-US" altLang="zh-CN" dirty="0"/>
              <a:t> ta de t </a:t>
            </a:r>
            <a:r>
              <a:rPr lang="en-US" altLang="zh-CN" sz="1800" dirty="0" err="1"/>
              <a:t>i</a:t>
            </a:r>
            <a:r>
              <a:rPr lang="en-US" altLang="zh-CN" dirty="0"/>
              <a:t> </a:t>
            </a:r>
            <a:r>
              <a:rPr lang="en-US" altLang="zh-CN" dirty="0" err="1"/>
              <a:t>laoshi</a:t>
            </a:r>
            <a:r>
              <a:rPr lang="en-US" altLang="zh-CN" dirty="0"/>
              <a:t>] </a:t>
            </a:r>
            <a:r>
              <a:rPr lang="en-US" altLang="zh-CN" sz="1800" dirty="0"/>
              <a:t>j </a:t>
            </a:r>
            <a:r>
              <a:rPr lang="en-US" altLang="zh-CN" dirty="0"/>
              <a:t>[dang </a:t>
            </a:r>
            <a:r>
              <a:rPr lang="en-US" altLang="zh-CN" sz="2000" dirty="0" err="1"/>
              <a:t>i</a:t>
            </a:r>
            <a:r>
              <a:rPr lang="en-US" altLang="zh-CN" sz="2400" dirty="0"/>
              <a:t> </a:t>
            </a:r>
            <a:r>
              <a:rPr lang="en-US" altLang="zh-CN" dirty="0"/>
              <a:t>t </a:t>
            </a:r>
            <a:r>
              <a:rPr lang="en-US" altLang="zh-CN" sz="1800" dirty="0"/>
              <a:t>j</a:t>
            </a:r>
            <a:r>
              <a:rPr lang="en-US" altLang="zh-CN" dirty="0"/>
              <a:t> [de </a:t>
            </a:r>
            <a:r>
              <a:rPr lang="en-US" altLang="zh-CN" dirty="0" err="1"/>
              <a:t>hao</a:t>
            </a:r>
            <a:r>
              <a:rPr lang="en-US" altLang="zh-CN" dirty="0"/>
              <a:t>]]		</a:t>
            </a: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671645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7" grpId="0"/>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dirty="0"/>
              <a:t>Critical appraisal (</a:t>
            </a:r>
            <a:r>
              <a:rPr lang="zh-CN" altLang="en-US" dirty="0"/>
              <a:t>黃</a:t>
            </a:r>
            <a:r>
              <a:rPr lang="en-US" dirty="0"/>
              <a:t> (2008), </a:t>
            </a:r>
            <a:r>
              <a:rPr lang="zh-CN" altLang="en-US" dirty="0"/>
              <a:t>鄧</a:t>
            </a:r>
            <a:r>
              <a:rPr lang="en-US" altLang="zh-CN" dirty="0"/>
              <a:t>/Tang (2008 </a:t>
            </a:r>
            <a:r>
              <a:rPr lang="en-US" altLang="zh-CN" i="1" dirty="0"/>
              <a:t>et </a:t>
            </a:r>
            <a:r>
              <a:rPr lang="en-US" altLang="zh-CN" i="1" dirty="0" err="1"/>
              <a:t>seq</a:t>
            </a:r>
            <a:r>
              <a:rPr lang="en-US" dirty="0"/>
              <a:t>)):</a:t>
            </a:r>
          </a:p>
        </p:txBody>
      </p:sp>
      <p:sp>
        <p:nvSpPr>
          <p:cNvPr id="3" name="Content Placeholder 2"/>
          <p:cNvSpPr>
            <a:spLocks noGrp="1"/>
          </p:cNvSpPr>
          <p:nvPr>
            <p:ph idx="1"/>
          </p:nvPr>
        </p:nvSpPr>
        <p:spPr>
          <a:xfrm>
            <a:off x="838200" y="1069662"/>
            <a:ext cx="10515600" cy="580586"/>
          </a:xfrm>
        </p:spPr>
        <p:txBody>
          <a:bodyPr/>
          <a:lstStyle/>
          <a:p>
            <a:pPr marL="0" indent="0">
              <a:buNone/>
            </a:pPr>
            <a:r>
              <a:rPr lang="zh-CN" altLang="en-US" dirty="0"/>
              <a:t>黃</a:t>
            </a:r>
            <a:r>
              <a:rPr lang="en-US" dirty="0"/>
              <a:t>’s DO-</a:t>
            </a:r>
            <a:r>
              <a:rPr lang="en-US" altLang="zh-CN" dirty="0"/>
              <a:t>P</a:t>
            </a:r>
            <a:r>
              <a:rPr lang="en-US" dirty="0"/>
              <a:t>: </a:t>
            </a:r>
          </a:p>
        </p:txBody>
      </p:sp>
      <p:sp>
        <p:nvSpPr>
          <p:cNvPr id="4" name="Content Placeholder 2"/>
          <p:cNvSpPr txBox="1">
            <a:spLocks/>
          </p:cNvSpPr>
          <p:nvPr/>
        </p:nvSpPr>
        <p:spPr>
          <a:xfrm>
            <a:off x="838198" y="3816691"/>
            <a:ext cx="11353801" cy="111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1) GP: </a:t>
            </a:r>
            <a:r>
              <a:rPr lang="en-US" dirty="0" err="1"/>
              <a:t>clitic</a:t>
            </a:r>
            <a:r>
              <a:rPr lang="en-US" dirty="0"/>
              <a:t> position of </a:t>
            </a:r>
            <a:r>
              <a:rPr lang="en-US" i="1" dirty="0"/>
              <a:t>de</a:t>
            </a:r>
            <a:r>
              <a:rPr lang="en-US" dirty="0"/>
              <a:t> (</a:t>
            </a:r>
            <a:r>
              <a:rPr lang="en-US" i="1" dirty="0"/>
              <a:t>ta-de </a:t>
            </a:r>
            <a:r>
              <a:rPr lang="en-US" dirty="0"/>
              <a:t>(</a:t>
            </a:r>
            <a:r>
              <a:rPr lang="en-US" dirty="0" err="1"/>
              <a:t>SpecGP</a:t>
            </a:r>
            <a:r>
              <a:rPr lang="en-US" dirty="0"/>
              <a:t>)) (</a:t>
            </a:r>
            <a:r>
              <a:rPr lang="zh-CN" altLang="en-US" dirty="0"/>
              <a:t>黃 </a:t>
            </a:r>
            <a:r>
              <a:rPr lang="en-US" altLang="zh-CN" dirty="0"/>
              <a:t>(2008:230)) </a:t>
            </a:r>
            <a:r>
              <a:rPr lang="en-US" dirty="0"/>
              <a:t>- why not  </a:t>
            </a:r>
            <a:r>
              <a:rPr lang="en-US" i="1" dirty="0"/>
              <a:t>de</a:t>
            </a:r>
            <a:r>
              <a:rPr lang="en-US" dirty="0"/>
              <a:t> head of GP (G) (nominal functional head)? If </a:t>
            </a:r>
            <a:r>
              <a:rPr lang="en-US" i="1" dirty="0"/>
              <a:t>de</a:t>
            </a:r>
            <a:r>
              <a:rPr lang="en-US" dirty="0"/>
              <a:t> is nominal head (G), would it not block head movement of Activity verb (here </a:t>
            </a:r>
            <a:r>
              <a:rPr lang="zh-CN" altLang="en-US" dirty="0"/>
              <a:t>當 </a:t>
            </a:r>
            <a:r>
              <a:rPr lang="en-US" i="1" dirty="0"/>
              <a:t>dang</a:t>
            </a:r>
            <a:r>
              <a:rPr lang="en-US" dirty="0"/>
              <a:t>) to DO? </a:t>
            </a:r>
          </a:p>
        </p:txBody>
      </p:sp>
      <p:sp>
        <p:nvSpPr>
          <p:cNvPr id="7" name="Rectangle 6"/>
          <p:cNvSpPr/>
          <p:nvPr/>
        </p:nvSpPr>
        <p:spPr>
          <a:xfrm>
            <a:off x="838200" y="4932691"/>
            <a:ext cx="10515600" cy="1815882"/>
          </a:xfrm>
          <a:prstGeom prst="rect">
            <a:avLst/>
          </a:prstGeom>
        </p:spPr>
        <p:txBody>
          <a:bodyPr wrap="square">
            <a:spAutoFit/>
          </a:bodyPr>
          <a:lstStyle/>
          <a:p>
            <a:r>
              <a:rPr lang="en-US" sz="2800" dirty="0"/>
              <a:t>2) </a:t>
            </a:r>
            <a:r>
              <a:rPr lang="en-US" sz="2800" i="1" dirty="0"/>
              <a:t>ad-hoc</a:t>
            </a:r>
            <a:r>
              <a:rPr lang="en-US" sz="2800" dirty="0"/>
              <a:t>/no explanation for deletion of Actor and remnant movement of Activity GP to </a:t>
            </a:r>
            <a:r>
              <a:rPr lang="en-US" sz="2800" dirty="0" err="1"/>
              <a:t>SpecDO</a:t>
            </a:r>
            <a:r>
              <a:rPr lang="en-US" sz="2800" dirty="0"/>
              <a:t>: </a:t>
            </a:r>
          </a:p>
          <a:p>
            <a:r>
              <a:rPr lang="en-US" sz="2800" dirty="0"/>
              <a:t>Theta-criterion/Projection Principles (</a:t>
            </a:r>
            <a:r>
              <a:rPr lang="zh-CN" altLang="en-US" sz="2800" dirty="0"/>
              <a:t>胡 </a:t>
            </a:r>
            <a:r>
              <a:rPr lang="en-US" altLang="zh-CN" sz="2800" dirty="0"/>
              <a:t>(2012, 2016)): remnant movement of Activity GP to </a:t>
            </a:r>
            <a:r>
              <a:rPr lang="en-US" altLang="zh-CN" sz="2800" dirty="0" err="1"/>
              <a:t>SpecDO</a:t>
            </a:r>
            <a:r>
              <a:rPr lang="en-US" altLang="zh-CN" sz="2800" dirty="0"/>
              <a:t> (A-Move/</a:t>
            </a:r>
            <a:r>
              <a:rPr lang="en-US" altLang="zh-CN" sz="2800" dirty="0" err="1"/>
              <a:t>passivisation</a:t>
            </a:r>
            <a:r>
              <a:rPr lang="en-US" altLang="zh-CN" sz="2800" dirty="0"/>
              <a:t>))- why? </a:t>
            </a:r>
            <a:endParaRPr lang="en-US" sz="2800" dirty="0"/>
          </a:p>
        </p:txBody>
      </p:sp>
      <p:sp>
        <p:nvSpPr>
          <p:cNvPr id="8" name="Content Placeholder 2"/>
          <p:cNvSpPr txBox="1">
            <a:spLocks/>
          </p:cNvSpPr>
          <p:nvPr/>
        </p:nvSpPr>
        <p:spPr>
          <a:xfrm>
            <a:off x="838197" y="1487905"/>
            <a:ext cx="11353801" cy="216644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dirty="0"/>
              <a:t>他的老師當得好</a:t>
            </a:r>
            <a:r>
              <a:rPr lang="en-US" altLang="zh-CN" dirty="0"/>
              <a:t>/</a:t>
            </a:r>
            <a:r>
              <a:rPr lang="zh-CN" altLang="en-US" dirty="0"/>
              <a:t>他的老師當得好</a:t>
            </a:r>
            <a:r>
              <a:rPr lang="en-US" altLang="zh-CN" dirty="0"/>
              <a:t>:	[DO [GP ta de dang </a:t>
            </a:r>
            <a:r>
              <a:rPr lang="en-US" altLang="zh-CN" dirty="0" err="1"/>
              <a:t>laoshi</a:t>
            </a:r>
            <a:r>
              <a:rPr lang="en-US" altLang="zh-CN" dirty="0"/>
              <a:t>]]</a:t>
            </a:r>
          </a:p>
          <a:p>
            <a:pPr marL="0" indent="0">
              <a:buFont typeface="Arial" panose="020B0604020202020204" pitchFamily="34" charset="0"/>
              <a:buNone/>
            </a:pPr>
            <a:r>
              <a:rPr lang="en-US" dirty="0"/>
              <a:t>		ta de </a:t>
            </a:r>
            <a:r>
              <a:rPr lang="en-US" dirty="0" err="1"/>
              <a:t>laoshi</a:t>
            </a:r>
            <a:r>
              <a:rPr lang="en-US" dirty="0"/>
              <a:t> dang de </a:t>
            </a:r>
            <a:r>
              <a:rPr lang="en-US" dirty="0" err="1"/>
              <a:t>hao</a:t>
            </a:r>
            <a:r>
              <a:rPr lang="en-US" dirty="0"/>
              <a:t> 	</a:t>
            </a:r>
            <a:r>
              <a:rPr lang="en-US" altLang="zh-CN" dirty="0"/>
              <a:t>[dang </a:t>
            </a:r>
            <a:r>
              <a:rPr lang="en-US" altLang="zh-CN" dirty="0" err="1"/>
              <a:t>i</a:t>
            </a:r>
            <a:r>
              <a:rPr lang="en-US" altLang="zh-CN" dirty="0"/>
              <a:t> [GP ta de t </a:t>
            </a:r>
            <a:r>
              <a:rPr lang="en-US" altLang="zh-CN" dirty="0" err="1"/>
              <a:t>i</a:t>
            </a:r>
            <a:r>
              <a:rPr lang="en-US" altLang="zh-CN" dirty="0"/>
              <a:t> </a:t>
            </a:r>
            <a:r>
              <a:rPr lang="en-US" altLang="zh-CN" dirty="0" err="1"/>
              <a:t>laoshi</a:t>
            </a:r>
            <a:r>
              <a:rPr lang="en-US" altLang="zh-CN" dirty="0"/>
              <a:t>]]</a:t>
            </a:r>
          </a:p>
          <a:p>
            <a:pPr marL="0" indent="0">
              <a:buNone/>
            </a:pPr>
            <a:r>
              <a:rPr lang="en-US" altLang="zh-CN" dirty="0"/>
              <a:t>				        [DO-P ta dang </a:t>
            </a:r>
            <a:r>
              <a:rPr lang="en-US" altLang="zh-CN" dirty="0" err="1"/>
              <a:t>i</a:t>
            </a:r>
            <a:r>
              <a:rPr lang="en-US" altLang="zh-CN" dirty="0"/>
              <a:t> [GP ta de t </a:t>
            </a:r>
            <a:r>
              <a:rPr lang="en-US" altLang="zh-CN" dirty="0" err="1"/>
              <a:t>i</a:t>
            </a:r>
            <a:r>
              <a:rPr lang="en-US" altLang="zh-CN" dirty="0"/>
              <a:t> </a:t>
            </a:r>
            <a:r>
              <a:rPr lang="en-US" altLang="zh-CN" dirty="0" err="1"/>
              <a:t>laoshi</a:t>
            </a:r>
            <a:r>
              <a:rPr lang="en-US" altLang="zh-CN" dirty="0"/>
              <a:t>]]</a:t>
            </a:r>
          </a:p>
          <a:p>
            <a:pPr marL="0" indent="0">
              <a:buNone/>
            </a:pPr>
            <a:r>
              <a:rPr lang="en-US" altLang="zh-CN" dirty="0"/>
              <a:t>	         [DO-P [GP ta de t </a:t>
            </a:r>
            <a:r>
              <a:rPr lang="en-US" altLang="zh-CN" dirty="0" err="1"/>
              <a:t>i</a:t>
            </a:r>
            <a:r>
              <a:rPr lang="en-US" altLang="zh-CN" dirty="0"/>
              <a:t> </a:t>
            </a:r>
            <a:r>
              <a:rPr lang="en-US" altLang="zh-CN" dirty="0" err="1"/>
              <a:t>laoshi</a:t>
            </a:r>
            <a:r>
              <a:rPr lang="en-US" altLang="zh-CN" dirty="0"/>
              <a:t>] j [dang </a:t>
            </a:r>
            <a:r>
              <a:rPr lang="en-US" altLang="zh-CN" dirty="0" err="1"/>
              <a:t>i</a:t>
            </a:r>
            <a:r>
              <a:rPr lang="en-US" altLang="zh-CN" dirty="0"/>
              <a:t> t j [de </a:t>
            </a:r>
            <a:r>
              <a:rPr lang="en-US" altLang="zh-CN" dirty="0" err="1"/>
              <a:t>hao</a:t>
            </a:r>
            <a:r>
              <a:rPr lang="en-US" altLang="zh-CN" dirty="0"/>
              <a:t>]]	      (</a:t>
            </a:r>
            <a:r>
              <a:rPr lang="zh-CN" altLang="en-US" dirty="0"/>
              <a:t>黃</a:t>
            </a:r>
            <a:r>
              <a:rPr lang="en-US" altLang="zh-CN" dirty="0"/>
              <a:t>(2008))</a:t>
            </a: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2654798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57"/>
            <a:ext cx="10515600" cy="1325563"/>
          </a:xfrm>
        </p:spPr>
        <p:txBody>
          <a:bodyPr/>
          <a:lstStyle/>
          <a:p>
            <a:r>
              <a:rPr lang="en-US" dirty="0"/>
              <a:t>New formal proposal: alternative solutions</a:t>
            </a:r>
          </a:p>
        </p:txBody>
      </p:sp>
      <p:sp>
        <p:nvSpPr>
          <p:cNvPr id="3" name="Content Placeholder 2"/>
          <p:cNvSpPr>
            <a:spLocks noGrp="1"/>
          </p:cNvSpPr>
          <p:nvPr>
            <p:ph idx="1"/>
          </p:nvPr>
        </p:nvSpPr>
        <p:spPr>
          <a:xfrm>
            <a:off x="0" y="1003029"/>
            <a:ext cx="12192000" cy="4351338"/>
          </a:xfrm>
        </p:spPr>
        <p:txBody>
          <a:bodyPr/>
          <a:lstStyle/>
          <a:p>
            <a:pPr marL="0" indent="0">
              <a:buNone/>
            </a:pPr>
            <a:r>
              <a:rPr lang="en-US" i="1" dirty="0"/>
              <a:t>Pace</a:t>
            </a:r>
            <a:r>
              <a:rPr lang="en-US" dirty="0"/>
              <a:t> </a:t>
            </a:r>
            <a:r>
              <a:rPr lang="zh-CN" altLang="en-US" dirty="0"/>
              <a:t>黃</a:t>
            </a:r>
            <a:r>
              <a:rPr lang="en-US" dirty="0"/>
              <a:t>/</a:t>
            </a:r>
            <a:r>
              <a:rPr lang="zh-CN" altLang="en-US" dirty="0"/>
              <a:t>鄧</a:t>
            </a:r>
            <a:r>
              <a:rPr lang="en-US" dirty="0"/>
              <a:t>, Actor and Activity seem to be merged in different A-positions (i.e. Actor and Activity phrases can co-occur in the same utterance): </a:t>
            </a:r>
          </a:p>
        </p:txBody>
      </p:sp>
      <p:sp>
        <p:nvSpPr>
          <p:cNvPr id="5" name="Content Placeholder 2"/>
          <p:cNvSpPr txBox="1">
            <a:spLocks/>
          </p:cNvSpPr>
          <p:nvPr/>
        </p:nvSpPr>
        <p:spPr>
          <a:xfrm>
            <a:off x="838200" y="1895975"/>
            <a:ext cx="11353800" cy="2565446"/>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t>他</a:t>
            </a:r>
            <a:r>
              <a:rPr lang="en-US" altLang="zh-CN" dirty="0"/>
              <a:t>	</a:t>
            </a:r>
            <a:r>
              <a:rPr lang="zh-CN" altLang="en-US" dirty="0"/>
              <a:t>當</a:t>
            </a:r>
            <a:r>
              <a:rPr lang="en-US" altLang="zh-CN" dirty="0"/>
              <a:t>	</a:t>
            </a:r>
            <a:r>
              <a:rPr lang="zh-CN" altLang="en-US" dirty="0"/>
              <a:t>他</a:t>
            </a:r>
            <a:r>
              <a:rPr lang="en-US" altLang="zh-CN" dirty="0"/>
              <a:t>	</a:t>
            </a:r>
            <a:r>
              <a:rPr lang="zh-CN" altLang="en-US" dirty="0"/>
              <a:t>的</a:t>
            </a:r>
            <a:r>
              <a:rPr lang="en-US" altLang="zh-CN" dirty="0"/>
              <a:t>	</a:t>
            </a:r>
            <a:r>
              <a:rPr lang="zh-CN" altLang="en-US" dirty="0"/>
              <a:t>老師</a:t>
            </a:r>
            <a:r>
              <a:rPr lang="en-US" altLang="zh-CN" dirty="0"/>
              <a:t>		</a:t>
            </a:r>
            <a:r>
              <a:rPr lang="zh-CN" altLang="en-US" dirty="0"/>
              <a:t>當</a:t>
            </a:r>
            <a:r>
              <a:rPr lang="en-US" altLang="zh-CN" dirty="0"/>
              <a:t>	</a:t>
            </a:r>
            <a:r>
              <a:rPr lang="zh-CN" altLang="en-US" dirty="0"/>
              <a:t>得</a:t>
            </a:r>
            <a:r>
              <a:rPr lang="en-US" altLang="zh-CN" dirty="0"/>
              <a:t>	</a:t>
            </a:r>
            <a:r>
              <a:rPr lang="zh-CN" altLang="en-US" dirty="0"/>
              <a:t>好</a:t>
            </a:r>
            <a:r>
              <a:rPr lang="en-US" altLang="zh-CN" dirty="0"/>
              <a:t> </a:t>
            </a:r>
          </a:p>
          <a:p>
            <a:pPr marL="0" indent="0">
              <a:buNone/>
            </a:pPr>
            <a:r>
              <a:rPr lang="en-US" altLang="zh-CN" dirty="0"/>
              <a:t>ta	dang	ta	de	</a:t>
            </a:r>
            <a:r>
              <a:rPr lang="en-US" altLang="zh-CN" dirty="0" err="1"/>
              <a:t>laoshi</a:t>
            </a:r>
            <a:r>
              <a:rPr lang="en-US" altLang="zh-CN" dirty="0"/>
              <a:t>		dang	de	</a:t>
            </a:r>
            <a:r>
              <a:rPr lang="en-US" altLang="zh-CN" dirty="0" err="1"/>
              <a:t>hao</a:t>
            </a:r>
            <a:endParaRPr lang="en-US" altLang="zh-CN" dirty="0"/>
          </a:p>
          <a:p>
            <a:pPr marL="0" indent="0">
              <a:buNone/>
            </a:pPr>
            <a:r>
              <a:rPr lang="zh-TW" altLang="en-US" dirty="0"/>
              <a:t>佢</a:t>
            </a:r>
            <a:r>
              <a:rPr lang="en-US" altLang="zh-TW" dirty="0"/>
              <a:t>	</a:t>
            </a:r>
            <a:r>
              <a:rPr lang="zh-TW" altLang="en-US" dirty="0"/>
              <a:t>做</a:t>
            </a:r>
            <a:r>
              <a:rPr lang="en-US" altLang="zh-TW" dirty="0"/>
              <a:t>	</a:t>
            </a:r>
            <a:r>
              <a:rPr lang="zh-TW" altLang="en-US" dirty="0"/>
              <a:t>佢</a:t>
            </a:r>
            <a:r>
              <a:rPr lang="en-US" altLang="zh-TW" dirty="0"/>
              <a:t>	</a:t>
            </a:r>
            <a:r>
              <a:rPr lang="zh-TW" altLang="en-US" dirty="0"/>
              <a:t>嘅</a:t>
            </a:r>
            <a:r>
              <a:rPr lang="en-US" altLang="zh-TW" dirty="0"/>
              <a:t>	</a:t>
            </a:r>
            <a:r>
              <a:rPr lang="zh-TW" altLang="en-US" dirty="0"/>
              <a:t>老師</a:t>
            </a:r>
            <a:r>
              <a:rPr lang="en-US" altLang="zh-TW" dirty="0"/>
              <a:t>		</a:t>
            </a:r>
            <a:r>
              <a:rPr lang="zh-TW" altLang="en-US" dirty="0"/>
              <a:t>做</a:t>
            </a:r>
            <a:r>
              <a:rPr lang="en-US" altLang="zh-TW" dirty="0"/>
              <a:t>	</a:t>
            </a:r>
            <a:r>
              <a:rPr lang="zh-TW" altLang="en-US" dirty="0"/>
              <a:t>得</a:t>
            </a:r>
            <a:r>
              <a:rPr lang="en-US" altLang="zh-TW" dirty="0"/>
              <a:t>	</a:t>
            </a:r>
            <a:r>
              <a:rPr lang="zh-TW" altLang="en-US" dirty="0"/>
              <a:t>好 </a:t>
            </a:r>
            <a:endParaRPr lang="en-US" altLang="zh-TW" dirty="0"/>
          </a:p>
          <a:p>
            <a:pPr marL="0" indent="0">
              <a:buNone/>
            </a:pPr>
            <a:r>
              <a:rPr lang="en-US" altLang="zh-CN" dirty="0" err="1"/>
              <a:t>keoi</a:t>
            </a:r>
            <a:r>
              <a:rPr lang="en-US" altLang="zh-CN" dirty="0"/>
              <a:t>	</a:t>
            </a:r>
            <a:r>
              <a:rPr lang="en-US" altLang="zh-CN" dirty="0" err="1"/>
              <a:t>zou</a:t>
            </a:r>
            <a:r>
              <a:rPr lang="en-US" altLang="zh-CN" dirty="0"/>
              <a:t>	</a:t>
            </a:r>
            <a:r>
              <a:rPr lang="en-US" altLang="zh-CN" dirty="0" err="1"/>
              <a:t>keui</a:t>
            </a:r>
            <a:r>
              <a:rPr lang="en-US" altLang="zh-CN" dirty="0"/>
              <a:t>	</a:t>
            </a:r>
            <a:r>
              <a:rPr lang="en-US" altLang="zh-CN" dirty="0" err="1"/>
              <a:t>ge</a:t>
            </a:r>
            <a:r>
              <a:rPr lang="en-US" altLang="zh-CN" dirty="0"/>
              <a:t>	</a:t>
            </a:r>
            <a:r>
              <a:rPr lang="en-US" altLang="zh-CN" dirty="0" err="1"/>
              <a:t>lousi</a:t>
            </a:r>
            <a:r>
              <a:rPr lang="en-US" altLang="zh-CN" dirty="0"/>
              <a:t>		</a:t>
            </a:r>
            <a:r>
              <a:rPr lang="en-US" altLang="zh-CN" dirty="0" err="1"/>
              <a:t>zou</a:t>
            </a:r>
            <a:r>
              <a:rPr lang="en-US" altLang="zh-CN" dirty="0"/>
              <a:t>	</a:t>
            </a:r>
            <a:r>
              <a:rPr lang="en-US" altLang="zh-CN" dirty="0" err="1"/>
              <a:t>dak</a:t>
            </a:r>
            <a:r>
              <a:rPr lang="en-US" altLang="zh-CN" dirty="0"/>
              <a:t>	</a:t>
            </a:r>
            <a:r>
              <a:rPr lang="en-US" altLang="zh-CN" dirty="0" err="1"/>
              <a:t>hou</a:t>
            </a:r>
            <a:endParaRPr lang="en-US" altLang="zh-CN" dirty="0"/>
          </a:p>
          <a:p>
            <a:pPr marL="0" indent="0">
              <a:buNone/>
            </a:pPr>
            <a:r>
              <a:rPr lang="en-US" altLang="zh-CN" dirty="0"/>
              <a:t>he	does	he	NOM	teacher	does	COMP	good</a:t>
            </a:r>
          </a:p>
          <a:p>
            <a:pPr marL="0" indent="0">
              <a:buNone/>
            </a:pPr>
            <a:r>
              <a:rPr lang="en-US" altLang="zh-CN" dirty="0"/>
              <a:t>‘He does his role as a teacher well.’ i.e. ‘he is being a good teacher.’ (Mandarin/Cantonese)</a:t>
            </a:r>
          </a:p>
          <a:p>
            <a:pPr marL="0" indent="0">
              <a:buNone/>
            </a:pPr>
            <a:endParaRPr lang="en-US" altLang="zh-CN" dirty="0"/>
          </a:p>
        </p:txBody>
      </p:sp>
      <p:sp>
        <p:nvSpPr>
          <p:cNvPr id="7" name="Content Placeholder 2"/>
          <p:cNvSpPr txBox="1">
            <a:spLocks/>
          </p:cNvSpPr>
          <p:nvPr/>
        </p:nvSpPr>
        <p:spPr>
          <a:xfrm>
            <a:off x="838200" y="5492440"/>
            <a:ext cx="10515600" cy="122118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There seem to be two distinct Light Verb projections here: </a:t>
            </a:r>
          </a:p>
          <a:p>
            <a:pPr marL="0" indent="0">
              <a:buFont typeface="Arial" panose="020B0604020202020204" pitchFamily="34" charset="0"/>
              <a:buNone/>
            </a:pPr>
            <a:r>
              <a:rPr lang="en-US" dirty="0"/>
              <a:t>DO: Actor (</a:t>
            </a:r>
            <a:r>
              <a:rPr lang="en-US" dirty="0" err="1"/>
              <a:t>SpecDO</a:t>
            </a:r>
            <a:r>
              <a:rPr lang="en-US" dirty="0"/>
              <a:t>) , DONE : Activity (</a:t>
            </a:r>
            <a:r>
              <a:rPr lang="en-US" dirty="0" err="1"/>
              <a:t>SpecDONE</a:t>
            </a:r>
            <a:r>
              <a:rPr lang="en-US" dirty="0"/>
              <a:t>)</a:t>
            </a:r>
          </a:p>
        </p:txBody>
      </p:sp>
      <p:sp>
        <p:nvSpPr>
          <p:cNvPr id="8" name="Content Placeholder 2"/>
          <p:cNvSpPr txBox="1">
            <a:spLocks/>
          </p:cNvSpPr>
          <p:nvPr/>
        </p:nvSpPr>
        <p:spPr>
          <a:xfrm>
            <a:off x="838200" y="4317042"/>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dirty="0"/>
              <a:t>Light verbs: following Baker’s UTAH (Projection Principles), arguments are merged in the specifiers of argument-introducing Light Verb heads (</a:t>
            </a:r>
            <a:r>
              <a:rPr lang="en-US" altLang="zh-CN" dirty="0" err="1"/>
              <a:t>cf</a:t>
            </a:r>
            <a:r>
              <a:rPr lang="en-US" altLang="zh-CN" dirty="0"/>
              <a:t> Lin’s (2001) ‘one Light Verb per argument/thematic role’). </a:t>
            </a:r>
            <a:endParaRPr lang="en-US" dirty="0"/>
          </a:p>
        </p:txBody>
      </p:sp>
      <p:sp>
        <p:nvSpPr>
          <p:cNvPr id="4" name="Rectangle 3"/>
          <p:cNvSpPr/>
          <p:nvPr/>
        </p:nvSpPr>
        <p:spPr>
          <a:xfrm>
            <a:off x="838200" y="6359268"/>
            <a:ext cx="11353800" cy="523220"/>
          </a:xfrm>
          <a:prstGeom prst="rect">
            <a:avLst/>
          </a:prstGeom>
        </p:spPr>
        <p:txBody>
          <a:bodyPr wrap="square">
            <a:spAutoFit/>
          </a:bodyPr>
          <a:lstStyle/>
          <a:p>
            <a:r>
              <a:rPr lang="en-US" sz="2800" dirty="0"/>
              <a:t>-&gt; no need for </a:t>
            </a:r>
            <a:r>
              <a:rPr lang="en-US" sz="2800" i="1" dirty="0"/>
              <a:t>ad-hoc</a:t>
            </a:r>
            <a:r>
              <a:rPr lang="en-US" sz="2800" dirty="0"/>
              <a:t> A-deletion and remnant movement of GP</a:t>
            </a:r>
          </a:p>
        </p:txBody>
      </p:sp>
    </p:spTree>
    <p:extLst>
      <p:ext uri="{BB962C8B-B14F-4D97-AF65-F5344CB8AC3E}">
        <p14:creationId xmlns:p14="http://schemas.microsoft.com/office/powerpoint/2010/main" val="2546697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7" grpId="0"/>
      <p:bldP spid="8" grpId="0" build="p"/>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dirty="0"/>
              <a:t>DO-DONE Light Verb Complex (</a:t>
            </a:r>
            <a:r>
              <a:rPr lang="en-US" dirty="0" err="1"/>
              <a:t>cf</a:t>
            </a:r>
            <a:r>
              <a:rPr lang="en-US" dirty="0"/>
              <a:t> </a:t>
            </a:r>
            <a:r>
              <a:rPr lang="en-US" dirty="0" err="1"/>
              <a:t>Ramchand</a:t>
            </a:r>
            <a:r>
              <a:rPr lang="en-US" dirty="0"/>
              <a:t> (2007))</a:t>
            </a:r>
            <a:endParaRPr lang="en-GB" dirty="0"/>
          </a:p>
        </p:txBody>
      </p:sp>
      <p:sp>
        <p:nvSpPr>
          <p:cNvPr id="3" name="Content Placeholder 2"/>
          <p:cNvSpPr>
            <a:spLocks noGrp="1"/>
          </p:cNvSpPr>
          <p:nvPr>
            <p:ph idx="1"/>
          </p:nvPr>
        </p:nvSpPr>
        <p:spPr>
          <a:xfrm>
            <a:off x="0" y="931653"/>
            <a:ext cx="12192000" cy="4558811"/>
          </a:xfrm>
        </p:spPr>
        <p:txBody>
          <a:bodyPr>
            <a:normAutofit/>
          </a:bodyPr>
          <a:lstStyle/>
          <a:p>
            <a:pPr marL="0" indent="0">
              <a:buNone/>
            </a:pPr>
            <a:r>
              <a:rPr lang="en-US" sz="2600" dirty="0"/>
              <a:t>Assuming two distinct Light Verb projections (DO/Initiate + DONE/Process + VP </a:t>
            </a:r>
          </a:p>
          <a:p>
            <a:pPr marL="0" indent="0">
              <a:buNone/>
            </a:pPr>
            <a:r>
              <a:rPr lang="en-US" sz="2600" dirty="0"/>
              <a:t>						    &gt;   Actor           + Activity             +  V  ): </a:t>
            </a:r>
            <a:endParaRPr lang="en-GB" sz="2600" dirty="0"/>
          </a:p>
        </p:txBody>
      </p:sp>
      <p:sp>
        <p:nvSpPr>
          <p:cNvPr id="4" name="Content Placeholder 2"/>
          <p:cNvSpPr txBox="1">
            <a:spLocks/>
          </p:cNvSpPr>
          <p:nvPr/>
        </p:nvSpPr>
        <p:spPr>
          <a:xfrm>
            <a:off x="0" y="1797877"/>
            <a:ext cx="12192000" cy="213157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t>他</a:t>
            </a:r>
            <a:r>
              <a:rPr lang="en-US" altLang="zh-CN" dirty="0"/>
              <a:t>	</a:t>
            </a:r>
            <a:r>
              <a:rPr lang="zh-CN" altLang="en-US" dirty="0"/>
              <a:t>當</a:t>
            </a:r>
            <a:r>
              <a:rPr lang="en-US" altLang="zh-CN" dirty="0"/>
              <a:t>	</a:t>
            </a:r>
            <a:r>
              <a:rPr lang="zh-CN" altLang="en-US" dirty="0"/>
              <a:t>他</a:t>
            </a:r>
            <a:r>
              <a:rPr lang="en-US" altLang="zh-CN" dirty="0"/>
              <a:t>	</a:t>
            </a:r>
            <a:r>
              <a:rPr lang="zh-CN" altLang="en-US" dirty="0"/>
              <a:t>的</a:t>
            </a:r>
            <a:r>
              <a:rPr lang="en-US" altLang="zh-CN" dirty="0"/>
              <a:t>	</a:t>
            </a:r>
            <a:r>
              <a:rPr lang="zh-CN" altLang="en-US" dirty="0"/>
              <a:t>老師，我</a:t>
            </a:r>
            <a:r>
              <a:rPr lang="en-US" altLang="zh-CN" dirty="0"/>
              <a:t>	</a:t>
            </a:r>
            <a:r>
              <a:rPr lang="zh-CN" altLang="en-US" dirty="0"/>
              <a:t>當</a:t>
            </a:r>
            <a:r>
              <a:rPr lang="en-US" altLang="zh-CN" dirty="0"/>
              <a:t>	</a:t>
            </a:r>
            <a:r>
              <a:rPr lang="zh-CN" altLang="en-US" dirty="0"/>
              <a:t>我</a:t>
            </a:r>
            <a:r>
              <a:rPr lang="en-US" altLang="zh-CN" dirty="0"/>
              <a:t>	</a:t>
            </a:r>
            <a:r>
              <a:rPr lang="zh-CN" altLang="en-US" dirty="0"/>
              <a:t>的</a:t>
            </a:r>
            <a:r>
              <a:rPr lang="en-US" altLang="zh-CN" dirty="0"/>
              <a:t>	</a:t>
            </a:r>
            <a:r>
              <a:rPr lang="zh-CN" altLang="en-US" dirty="0"/>
              <a:t>學生 </a:t>
            </a:r>
            <a:endParaRPr lang="en-US" altLang="zh-CN" dirty="0"/>
          </a:p>
          <a:p>
            <a:pPr marL="0" indent="0">
              <a:buNone/>
            </a:pPr>
            <a:r>
              <a:rPr lang="en-US" altLang="zh-CN" dirty="0"/>
              <a:t>Ta 	dang 	ta 	de 	</a:t>
            </a:r>
            <a:r>
              <a:rPr lang="en-US" altLang="zh-CN" dirty="0" err="1"/>
              <a:t>laoshi</a:t>
            </a:r>
            <a:r>
              <a:rPr lang="en-US" altLang="zh-CN" dirty="0"/>
              <a:t>, wo 	dang 	wo 	de 	</a:t>
            </a:r>
            <a:r>
              <a:rPr lang="en-US" altLang="zh-CN" dirty="0" err="1"/>
              <a:t>xuesheng</a:t>
            </a:r>
            <a:endParaRPr lang="en-US" altLang="zh-CN" dirty="0"/>
          </a:p>
          <a:p>
            <a:pPr marL="0" indent="0">
              <a:buNone/>
            </a:pPr>
            <a:r>
              <a:rPr lang="zh-TW" altLang="en-US" dirty="0"/>
              <a:t>佢</a:t>
            </a:r>
            <a:r>
              <a:rPr lang="en-US" altLang="zh-TW" dirty="0"/>
              <a:t>	</a:t>
            </a:r>
            <a:r>
              <a:rPr lang="zh-TW" altLang="en-US" dirty="0"/>
              <a:t>做</a:t>
            </a:r>
            <a:r>
              <a:rPr lang="en-US" altLang="zh-TW" dirty="0"/>
              <a:t>	</a:t>
            </a:r>
            <a:r>
              <a:rPr lang="zh-TW" altLang="en-US" dirty="0"/>
              <a:t>佢</a:t>
            </a:r>
            <a:r>
              <a:rPr lang="en-US" altLang="zh-TW" dirty="0"/>
              <a:t>	</a:t>
            </a:r>
            <a:r>
              <a:rPr lang="zh-TW" altLang="en-US" dirty="0"/>
              <a:t>嘅</a:t>
            </a:r>
            <a:r>
              <a:rPr lang="en-US" altLang="zh-TW" dirty="0"/>
              <a:t>	</a:t>
            </a:r>
            <a:r>
              <a:rPr lang="zh-TW" altLang="en-US" dirty="0"/>
              <a:t>老師</a:t>
            </a:r>
            <a:r>
              <a:rPr lang="zh-CN" altLang="en-US" dirty="0"/>
              <a:t>，</a:t>
            </a:r>
            <a:r>
              <a:rPr lang="zh-TW" altLang="en-US" dirty="0"/>
              <a:t>我</a:t>
            </a:r>
            <a:r>
              <a:rPr lang="en-US" altLang="zh-TW" dirty="0"/>
              <a:t>	</a:t>
            </a:r>
            <a:r>
              <a:rPr lang="zh-TW" altLang="en-US" dirty="0"/>
              <a:t>做</a:t>
            </a:r>
            <a:r>
              <a:rPr lang="en-US" altLang="zh-TW" dirty="0"/>
              <a:t>	</a:t>
            </a:r>
            <a:r>
              <a:rPr lang="zh-TW" altLang="en-US" dirty="0"/>
              <a:t>我</a:t>
            </a:r>
            <a:r>
              <a:rPr lang="en-US" altLang="zh-TW" dirty="0"/>
              <a:t>	</a:t>
            </a:r>
            <a:r>
              <a:rPr lang="zh-TW" altLang="en-US" dirty="0"/>
              <a:t>嘅</a:t>
            </a:r>
            <a:r>
              <a:rPr lang="en-US" altLang="zh-TW" dirty="0"/>
              <a:t>	</a:t>
            </a:r>
            <a:r>
              <a:rPr lang="zh-TW" altLang="en-US" dirty="0"/>
              <a:t>學生</a:t>
            </a:r>
            <a:endParaRPr lang="en-US" altLang="zh-TW" dirty="0"/>
          </a:p>
          <a:p>
            <a:pPr marL="0" indent="0">
              <a:buNone/>
            </a:pPr>
            <a:r>
              <a:rPr lang="en-US" altLang="zh-TW" dirty="0" err="1"/>
              <a:t>Keoi</a:t>
            </a:r>
            <a:r>
              <a:rPr lang="en-US" altLang="zh-TW" dirty="0"/>
              <a:t> 	</a:t>
            </a:r>
            <a:r>
              <a:rPr lang="en-US" altLang="zh-TW" dirty="0" err="1"/>
              <a:t>zou</a:t>
            </a:r>
            <a:r>
              <a:rPr lang="en-US" altLang="zh-TW" dirty="0"/>
              <a:t> 	</a:t>
            </a:r>
            <a:r>
              <a:rPr lang="en-US" altLang="zh-TW" dirty="0" err="1"/>
              <a:t>keoi</a:t>
            </a:r>
            <a:r>
              <a:rPr lang="en-US" altLang="zh-TW" dirty="0"/>
              <a:t> 	</a:t>
            </a:r>
            <a:r>
              <a:rPr lang="en-US" altLang="zh-TW" dirty="0" err="1"/>
              <a:t>ge</a:t>
            </a:r>
            <a:r>
              <a:rPr lang="en-US" altLang="zh-TW" dirty="0"/>
              <a:t> 	</a:t>
            </a:r>
            <a:r>
              <a:rPr lang="en-US" altLang="zh-TW" dirty="0" err="1"/>
              <a:t>lousi</a:t>
            </a:r>
            <a:r>
              <a:rPr lang="en-US" altLang="zh-TW" dirty="0"/>
              <a:t>, 	</a:t>
            </a:r>
            <a:r>
              <a:rPr lang="en-US" altLang="zh-TW" dirty="0" err="1"/>
              <a:t>ngo</a:t>
            </a:r>
            <a:r>
              <a:rPr lang="en-US" altLang="zh-TW" dirty="0"/>
              <a:t> 	</a:t>
            </a:r>
            <a:r>
              <a:rPr lang="en-US" altLang="zh-TW" dirty="0" err="1"/>
              <a:t>zou</a:t>
            </a:r>
            <a:r>
              <a:rPr lang="en-US" altLang="zh-TW" dirty="0"/>
              <a:t> 	</a:t>
            </a:r>
            <a:r>
              <a:rPr lang="en-US" altLang="zh-TW" dirty="0" err="1"/>
              <a:t>ngo</a:t>
            </a:r>
            <a:r>
              <a:rPr lang="en-US" altLang="zh-TW" dirty="0"/>
              <a:t> 	</a:t>
            </a:r>
            <a:r>
              <a:rPr lang="en-US" altLang="zh-TW" dirty="0" err="1"/>
              <a:t>ge</a:t>
            </a:r>
            <a:r>
              <a:rPr lang="en-US" altLang="zh-TW" dirty="0"/>
              <a:t> 	</a:t>
            </a:r>
            <a:r>
              <a:rPr lang="en-US" altLang="zh-TW" dirty="0" err="1"/>
              <a:t>hoksaang</a:t>
            </a:r>
            <a:endParaRPr lang="en-US" altLang="zh-TW" dirty="0"/>
          </a:p>
          <a:p>
            <a:pPr marL="0" indent="0">
              <a:buNone/>
            </a:pPr>
            <a:r>
              <a:rPr lang="en-US" altLang="zh-TW" dirty="0"/>
              <a:t>‘He does his job in being a teacher, I do mine in being a student.’ (Mandarin/Cantonese)</a:t>
            </a:r>
            <a:endParaRPr lang="en-US" dirty="0"/>
          </a:p>
          <a:p>
            <a:pPr marL="0" indent="0">
              <a:buNone/>
            </a:pPr>
            <a:endParaRPr lang="en-US" dirty="0"/>
          </a:p>
        </p:txBody>
      </p:sp>
      <p:sp>
        <p:nvSpPr>
          <p:cNvPr id="5" name="Content Placeholder 2"/>
          <p:cNvSpPr txBox="1">
            <a:spLocks/>
          </p:cNvSpPr>
          <p:nvPr/>
        </p:nvSpPr>
        <p:spPr>
          <a:xfrm>
            <a:off x="0" y="3929449"/>
            <a:ext cx="12192000" cy="15322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t>他</a:t>
            </a:r>
            <a:r>
              <a:rPr lang="en-US" altLang="zh-CN" dirty="0"/>
              <a:t>	</a:t>
            </a:r>
            <a:r>
              <a:rPr lang="zh-CN" altLang="en-US" dirty="0"/>
              <a:t>的</a:t>
            </a:r>
            <a:r>
              <a:rPr lang="en-US" altLang="zh-CN" dirty="0"/>
              <a:t>	</a:t>
            </a:r>
            <a:r>
              <a:rPr lang="zh-CN" altLang="en-US" dirty="0"/>
              <a:t>老師</a:t>
            </a:r>
            <a:r>
              <a:rPr lang="en-US" altLang="zh-CN" dirty="0"/>
              <a:t>	</a:t>
            </a:r>
            <a:r>
              <a:rPr lang="zh-CN" altLang="en-US" dirty="0"/>
              <a:t>當</a:t>
            </a:r>
            <a:r>
              <a:rPr lang="en-US" altLang="zh-CN" dirty="0"/>
              <a:t>	</a:t>
            </a:r>
            <a:r>
              <a:rPr lang="zh-CN" altLang="en-US" dirty="0"/>
              <a:t>得</a:t>
            </a:r>
            <a:r>
              <a:rPr lang="en-US" altLang="zh-CN" dirty="0"/>
              <a:t>	</a:t>
            </a:r>
            <a:r>
              <a:rPr lang="zh-CN" altLang="en-US" dirty="0"/>
              <a:t>好 </a:t>
            </a:r>
            <a:r>
              <a:rPr lang="en-US" altLang="zh-CN" dirty="0"/>
              <a:t>/	*</a:t>
            </a:r>
            <a:r>
              <a:rPr lang="zh-TW" altLang="en-US" dirty="0"/>
              <a:t>佢</a:t>
            </a:r>
            <a:r>
              <a:rPr lang="en-US" altLang="zh-TW" dirty="0"/>
              <a:t>	</a:t>
            </a:r>
            <a:r>
              <a:rPr lang="zh-TW" altLang="en-US" dirty="0"/>
              <a:t>嘅</a:t>
            </a:r>
            <a:r>
              <a:rPr lang="en-US" altLang="zh-TW" dirty="0"/>
              <a:t>	</a:t>
            </a:r>
            <a:r>
              <a:rPr lang="zh-TW" altLang="en-US" dirty="0"/>
              <a:t>老師</a:t>
            </a:r>
            <a:r>
              <a:rPr lang="en-US" altLang="zh-TW" dirty="0"/>
              <a:t>	</a:t>
            </a:r>
            <a:r>
              <a:rPr lang="zh-TW" altLang="en-US" dirty="0"/>
              <a:t>做</a:t>
            </a:r>
            <a:r>
              <a:rPr lang="en-US" altLang="zh-TW" dirty="0"/>
              <a:t>	</a:t>
            </a:r>
            <a:r>
              <a:rPr lang="zh-TW" altLang="en-US" dirty="0"/>
              <a:t>得</a:t>
            </a:r>
            <a:r>
              <a:rPr lang="en-US" altLang="zh-TW" dirty="0"/>
              <a:t>	</a:t>
            </a:r>
            <a:r>
              <a:rPr lang="zh-TW" altLang="en-US" dirty="0"/>
              <a:t>好</a:t>
            </a:r>
            <a:endParaRPr lang="en-US" altLang="zh-CN" dirty="0"/>
          </a:p>
          <a:p>
            <a:pPr marL="0" indent="0">
              <a:buNone/>
            </a:pPr>
            <a:r>
              <a:rPr lang="en-US" altLang="zh-CN" dirty="0"/>
              <a:t>Ta 	de 	</a:t>
            </a:r>
            <a:r>
              <a:rPr lang="en-US" altLang="zh-CN" dirty="0" err="1"/>
              <a:t>laoshi</a:t>
            </a:r>
            <a:r>
              <a:rPr lang="en-US" altLang="zh-CN" dirty="0"/>
              <a:t> dang 	de 	</a:t>
            </a:r>
            <a:r>
              <a:rPr lang="en-US" altLang="zh-CN" dirty="0" err="1"/>
              <a:t>hao</a:t>
            </a:r>
            <a:r>
              <a:rPr lang="en-US" altLang="zh-CN" dirty="0"/>
              <a:t> /	</a:t>
            </a:r>
            <a:r>
              <a:rPr lang="en-US" altLang="zh-TW" dirty="0" err="1"/>
              <a:t>Keoi</a:t>
            </a:r>
            <a:r>
              <a:rPr lang="en-US" altLang="zh-TW" dirty="0"/>
              <a:t> 	</a:t>
            </a:r>
            <a:r>
              <a:rPr lang="en-US" altLang="zh-TW" dirty="0" err="1"/>
              <a:t>ge</a:t>
            </a:r>
            <a:r>
              <a:rPr lang="en-US" altLang="zh-TW" dirty="0"/>
              <a:t> 	</a:t>
            </a:r>
            <a:r>
              <a:rPr lang="en-US" altLang="zh-TW" dirty="0" err="1"/>
              <a:t>lousi</a:t>
            </a:r>
            <a:r>
              <a:rPr lang="en-US" altLang="zh-TW" dirty="0"/>
              <a:t> 	</a:t>
            </a:r>
            <a:r>
              <a:rPr lang="en-US" altLang="zh-TW" dirty="0" err="1"/>
              <a:t>zou</a:t>
            </a:r>
            <a:r>
              <a:rPr lang="en-US" altLang="zh-TW" dirty="0"/>
              <a:t> 	</a:t>
            </a:r>
            <a:r>
              <a:rPr lang="en-US" altLang="zh-TW" dirty="0" err="1"/>
              <a:t>dak</a:t>
            </a:r>
            <a:r>
              <a:rPr lang="en-US" altLang="zh-TW" dirty="0"/>
              <a:t> 	ho</a:t>
            </a:r>
          </a:p>
          <a:p>
            <a:pPr marL="0" indent="0">
              <a:buNone/>
            </a:pPr>
            <a:r>
              <a:rPr lang="en-US" altLang="zh-TW" dirty="0"/>
              <a:t>‘He acts well in being a teacher.’ (Mandarin/Cantonese)</a:t>
            </a:r>
            <a:endParaRPr lang="en-US" altLang="zh-CN" dirty="0"/>
          </a:p>
        </p:txBody>
      </p:sp>
      <p:sp>
        <p:nvSpPr>
          <p:cNvPr id="6" name="Rectangle 5"/>
          <p:cNvSpPr/>
          <p:nvPr/>
        </p:nvSpPr>
        <p:spPr>
          <a:xfrm>
            <a:off x="0" y="5415291"/>
            <a:ext cx="10515600" cy="523220"/>
          </a:xfrm>
          <a:prstGeom prst="rect">
            <a:avLst/>
          </a:prstGeom>
        </p:spPr>
        <p:txBody>
          <a:bodyPr wrap="square">
            <a:spAutoFit/>
          </a:bodyPr>
          <a:lstStyle/>
          <a:p>
            <a:r>
              <a:rPr lang="en-US" sz="2800" b="1" dirty="0"/>
              <a:t>In subject position, southern *</a:t>
            </a:r>
            <a:r>
              <a:rPr lang="en-US" sz="2800" b="1" i="1" dirty="0" err="1"/>
              <a:t>ge</a:t>
            </a:r>
            <a:r>
              <a:rPr lang="en-US" sz="2800" b="1" dirty="0"/>
              <a:t> is ungrammatical</a:t>
            </a:r>
          </a:p>
        </p:txBody>
      </p:sp>
      <p:sp>
        <p:nvSpPr>
          <p:cNvPr id="7" name="Rectangle 6"/>
          <p:cNvSpPr/>
          <p:nvPr/>
        </p:nvSpPr>
        <p:spPr>
          <a:xfrm>
            <a:off x="0" y="5919799"/>
            <a:ext cx="10515600" cy="523220"/>
          </a:xfrm>
          <a:prstGeom prst="rect">
            <a:avLst/>
          </a:prstGeom>
        </p:spPr>
        <p:txBody>
          <a:bodyPr wrap="square">
            <a:spAutoFit/>
          </a:bodyPr>
          <a:lstStyle/>
          <a:p>
            <a:r>
              <a:rPr lang="en-US" sz="2800" dirty="0"/>
              <a:t>Modified: </a:t>
            </a:r>
            <a:r>
              <a:rPr lang="en-US" sz="2800" b="1" i="1" dirty="0" err="1"/>
              <a:t>ge</a:t>
            </a:r>
            <a:r>
              <a:rPr lang="en-US" sz="2800" b="1" dirty="0"/>
              <a:t> in </a:t>
            </a:r>
            <a:r>
              <a:rPr lang="en-US" sz="2800" b="1" dirty="0" err="1"/>
              <a:t>SpecDONE</a:t>
            </a:r>
            <a:r>
              <a:rPr lang="en-US" sz="2800" b="1" dirty="0"/>
              <a:t> is ungrammatical only in the absence of DO</a:t>
            </a:r>
          </a:p>
        </p:txBody>
      </p:sp>
    </p:spTree>
    <p:extLst>
      <p:ext uri="{BB962C8B-B14F-4D97-AF65-F5344CB8AC3E}">
        <p14:creationId xmlns:p14="http://schemas.microsoft.com/office/powerpoint/2010/main" val="2990879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p:bldP spid="6" grpId="0"/>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New formal derivation: DO + DONE + VP (1)</a:t>
            </a:r>
            <a:endParaRPr lang="en-GB" dirty="0"/>
          </a:p>
        </p:txBody>
      </p:sp>
      <p:sp>
        <p:nvSpPr>
          <p:cNvPr id="3" name="Content Placeholder 2"/>
          <p:cNvSpPr>
            <a:spLocks noGrp="1"/>
          </p:cNvSpPr>
          <p:nvPr>
            <p:ph idx="1"/>
          </p:nvPr>
        </p:nvSpPr>
        <p:spPr>
          <a:xfrm>
            <a:off x="838200" y="948907"/>
            <a:ext cx="10515600" cy="1017916"/>
          </a:xfrm>
        </p:spPr>
        <p:txBody>
          <a:bodyPr>
            <a:normAutofit/>
          </a:bodyPr>
          <a:lstStyle/>
          <a:p>
            <a:pPr marL="0" indent="0">
              <a:buNone/>
            </a:pPr>
            <a:r>
              <a:rPr lang="en-US" dirty="0"/>
              <a:t>DO (Actor) + DONE (Activity) + VP (Mandarin) (</a:t>
            </a:r>
            <a:r>
              <a:rPr lang="en-US" dirty="0" err="1"/>
              <a:t>cf</a:t>
            </a:r>
            <a:r>
              <a:rPr lang="en-US" dirty="0"/>
              <a:t> </a:t>
            </a:r>
            <a:r>
              <a:rPr lang="en-US" dirty="0" err="1"/>
              <a:t>Ramchand</a:t>
            </a:r>
            <a:r>
              <a:rPr lang="en-US" dirty="0"/>
              <a:t> (2007)):</a:t>
            </a:r>
          </a:p>
          <a:p>
            <a:pPr marL="0" indent="0">
              <a:buNone/>
            </a:pPr>
            <a:r>
              <a:rPr lang="en-US" dirty="0"/>
              <a:t>Initiate	  Process</a:t>
            </a:r>
            <a:endParaRPr lang="en-GB" dirty="0"/>
          </a:p>
        </p:txBody>
      </p:sp>
      <p:sp>
        <p:nvSpPr>
          <p:cNvPr id="4" name="Content Placeholder 2"/>
          <p:cNvSpPr txBox="1">
            <a:spLocks/>
          </p:cNvSpPr>
          <p:nvPr/>
        </p:nvSpPr>
        <p:spPr>
          <a:xfrm>
            <a:off x="0" y="1927654"/>
            <a:ext cx="12191999" cy="27589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dirty="0"/>
              <a:t>				        [DO [[Specifier] DONE] VP]]</a:t>
            </a:r>
          </a:p>
          <a:p>
            <a:pPr marL="0" indent="0">
              <a:buNone/>
            </a:pPr>
            <a:r>
              <a:rPr lang="zh-CN" altLang="en-US" dirty="0"/>
              <a:t>他的老師當得好</a:t>
            </a:r>
            <a:r>
              <a:rPr lang="en-US" altLang="zh-CN" dirty="0"/>
              <a:t>:</a:t>
            </a:r>
            <a:r>
              <a:rPr lang="en-US" dirty="0"/>
              <a:t>		        </a:t>
            </a:r>
            <a:r>
              <a:rPr lang="en-US" altLang="zh-CN" dirty="0"/>
              <a:t>[DO [[</a:t>
            </a:r>
            <a:r>
              <a:rPr lang="en-US" altLang="zh-CN" sz="1800" dirty="0"/>
              <a:t>GP </a:t>
            </a:r>
            <a:r>
              <a:rPr lang="en-US" altLang="zh-CN" dirty="0"/>
              <a:t>ta de </a:t>
            </a:r>
            <a:r>
              <a:rPr lang="en-US" altLang="zh-CN" dirty="0" err="1"/>
              <a:t>laoshi</a:t>
            </a:r>
            <a:r>
              <a:rPr lang="en-US" altLang="zh-CN" dirty="0"/>
              <a:t>] dang </a:t>
            </a:r>
            <a:r>
              <a:rPr lang="en-US" altLang="zh-CN" sz="2000" dirty="0" err="1"/>
              <a:t>i</a:t>
            </a:r>
            <a:r>
              <a:rPr lang="en-US" altLang="zh-CN" sz="2000" dirty="0"/>
              <a:t> </a:t>
            </a:r>
            <a:r>
              <a:rPr lang="en-US" altLang="zh-CN" dirty="0"/>
              <a:t>] t</a:t>
            </a:r>
            <a:r>
              <a:rPr lang="en-US" altLang="zh-CN" sz="2000" dirty="0"/>
              <a:t> </a:t>
            </a:r>
            <a:r>
              <a:rPr lang="en-US" altLang="zh-CN" sz="2000" dirty="0" err="1"/>
              <a:t>i</a:t>
            </a:r>
            <a:r>
              <a:rPr lang="en-US" altLang="zh-CN" sz="2000" dirty="0"/>
              <a:t> </a:t>
            </a:r>
            <a:r>
              <a:rPr lang="en-US" altLang="zh-CN" dirty="0"/>
              <a:t>[de </a:t>
            </a:r>
            <a:r>
              <a:rPr lang="en-US" altLang="zh-CN" dirty="0" err="1"/>
              <a:t>hao</a:t>
            </a:r>
            <a:r>
              <a:rPr lang="en-US" altLang="zh-CN" dirty="0"/>
              <a:t>]]] (Activity)</a:t>
            </a:r>
          </a:p>
          <a:p>
            <a:pPr marL="0" indent="0">
              <a:buNone/>
            </a:pPr>
            <a:r>
              <a:rPr lang="zh-CN" altLang="en-US" dirty="0"/>
              <a:t>他當他的老師當得好</a:t>
            </a:r>
            <a:r>
              <a:rPr lang="en-US" altLang="zh-CN" dirty="0"/>
              <a:t>:	[ta </a:t>
            </a:r>
            <a:r>
              <a:rPr lang="en-US" altLang="zh-CN" sz="2000" dirty="0"/>
              <a:t>j</a:t>
            </a:r>
            <a:r>
              <a:rPr lang="en-US" altLang="zh-CN" dirty="0"/>
              <a:t> [dang </a:t>
            </a:r>
            <a:r>
              <a:rPr lang="en-US" altLang="zh-CN" sz="2000" dirty="0" err="1"/>
              <a:t>i</a:t>
            </a:r>
            <a:r>
              <a:rPr lang="en-US" altLang="zh-CN" dirty="0"/>
              <a:t> [[</a:t>
            </a:r>
            <a:r>
              <a:rPr lang="en-US" altLang="zh-CN" sz="2000" dirty="0"/>
              <a:t>GP</a:t>
            </a:r>
            <a:r>
              <a:rPr lang="en-US" altLang="zh-CN" dirty="0"/>
              <a:t> ta </a:t>
            </a:r>
            <a:r>
              <a:rPr lang="en-US" altLang="zh-CN" sz="2000" dirty="0"/>
              <a:t>j</a:t>
            </a:r>
            <a:r>
              <a:rPr lang="en-US" altLang="zh-CN" dirty="0"/>
              <a:t> de </a:t>
            </a:r>
            <a:r>
              <a:rPr lang="en-US" altLang="zh-CN" dirty="0" err="1"/>
              <a:t>laoshi</a:t>
            </a:r>
            <a:r>
              <a:rPr lang="en-US" altLang="zh-CN" dirty="0"/>
              <a:t>] dang </a:t>
            </a:r>
            <a:r>
              <a:rPr lang="en-US" altLang="zh-CN" sz="2000" dirty="0" err="1"/>
              <a:t>i</a:t>
            </a:r>
            <a:r>
              <a:rPr lang="en-US" altLang="zh-CN" dirty="0"/>
              <a:t> ] t </a:t>
            </a:r>
            <a:r>
              <a:rPr lang="en-US" altLang="zh-CN" sz="2000" dirty="0" err="1"/>
              <a:t>i</a:t>
            </a:r>
            <a:r>
              <a:rPr lang="en-US" altLang="zh-CN" dirty="0"/>
              <a:t> [de </a:t>
            </a:r>
            <a:r>
              <a:rPr lang="en-US" altLang="zh-CN" dirty="0" err="1"/>
              <a:t>hao</a:t>
            </a:r>
            <a:r>
              <a:rPr lang="en-US" altLang="zh-CN" dirty="0"/>
              <a:t>]]] (Actor)</a:t>
            </a:r>
          </a:p>
          <a:p>
            <a:pPr marL="0" indent="0">
              <a:buNone/>
            </a:pPr>
            <a:r>
              <a:rPr lang="en-US" altLang="zh-CN" dirty="0"/>
              <a:t>  </a:t>
            </a:r>
            <a:endParaRPr lang="en-US" dirty="0"/>
          </a:p>
        </p:txBody>
      </p:sp>
      <p:sp>
        <p:nvSpPr>
          <p:cNvPr id="5" name="Content Placeholder 2"/>
          <p:cNvSpPr txBox="1">
            <a:spLocks/>
          </p:cNvSpPr>
          <p:nvPr/>
        </p:nvSpPr>
        <p:spPr>
          <a:xfrm>
            <a:off x="-1" y="3603379"/>
            <a:ext cx="12192000" cy="21664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600" dirty="0"/>
              <a:t>Projection Principles and Scale of </a:t>
            </a:r>
            <a:r>
              <a:rPr lang="en-US" sz="2600" dirty="0" err="1"/>
              <a:t>Animacy</a:t>
            </a:r>
            <a:r>
              <a:rPr lang="en-US" sz="2600" dirty="0"/>
              <a:t> (</a:t>
            </a:r>
            <a:r>
              <a:rPr lang="en-US" sz="2600" dirty="0" err="1"/>
              <a:t>Perlmutter</a:t>
            </a:r>
            <a:r>
              <a:rPr lang="en-US" sz="2600" dirty="0"/>
              <a:t> (1977), Baker (1988)):                  DO (Actor) is merged higher than DONE (Activity)  (Event Structure of Activity). </a:t>
            </a:r>
          </a:p>
        </p:txBody>
      </p:sp>
      <p:sp>
        <p:nvSpPr>
          <p:cNvPr id="6" name="Content Placeholder 2"/>
          <p:cNvSpPr txBox="1">
            <a:spLocks/>
          </p:cNvSpPr>
          <p:nvPr/>
        </p:nvSpPr>
        <p:spPr>
          <a:xfrm>
            <a:off x="0" y="5441031"/>
            <a:ext cx="11353800" cy="95370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600" dirty="0"/>
              <a:t>他的老師 </a:t>
            </a:r>
            <a:r>
              <a:rPr lang="en-US" altLang="zh-CN" sz="2600" i="1" dirty="0"/>
              <a:t>t</a:t>
            </a:r>
            <a:r>
              <a:rPr lang="en-US" sz="2600" i="1" dirty="0"/>
              <a:t>a de </a:t>
            </a:r>
            <a:r>
              <a:rPr lang="en-US" sz="2600" i="1" dirty="0" err="1"/>
              <a:t>laoshi</a:t>
            </a:r>
            <a:r>
              <a:rPr lang="en-US" sz="2600" i="1" dirty="0"/>
              <a:t> </a:t>
            </a:r>
            <a:r>
              <a:rPr lang="en-US" sz="2600" dirty="0"/>
              <a:t>‘</a:t>
            </a:r>
            <a:r>
              <a:rPr lang="en-US" altLang="zh-CN" sz="2600" dirty="0"/>
              <a:t>He being a teacher’ </a:t>
            </a:r>
            <a:r>
              <a:rPr lang="en-US" sz="2600" dirty="0"/>
              <a:t>(Activity) is first merged in </a:t>
            </a:r>
            <a:r>
              <a:rPr lang="en-US" sz="2600" dirty="0" err="1"/>
              <a:t>SpecDONE</a:t>
            </a:r>
            <a:r>
              <a:rPr lang="en-US" sz="2600" dirty="0"/>
              <a:t> and </a:t>
            </a:r>
            <a:r>
              <a:rPr lang="zh-CN" altLang="en-US" sz="2600" dirty="0"/>
              <a:t>他 </a:t>
            </a:r>
            <a:r>
              <a:rPr lang="en-US" sz="2600" i="1" dirty="0"/>
              <a:t>ta</a:t>
            </a:r>
            <a:r>
              <a:rPr lang="en-US" sz="2600" dirty="0"/>
              <a:t> ‘he’ (Actor) is remerged in </a:t>
            </a:r>
            <a:r>
              <a:rPr lang="en-US" sz="2600" dirty="0" err="1"/>
              <a:t>SpecDO</a:t>
            </a:r>
            <a:r>
              <a:rPr lang="en-US" sz="2600" dirty="0"/>
              <a:t>. </a:t>
            </a:r>
          </a:p>
        </p:txBody>
      </p:sp>
      <p:sp>
        <p:nvSpPr>
          <p:cNvPr id="8" name="Rectangle 7"/>
          <p:cNvSpPr/>
          <p:nvPr/>
        </p:nvSpPr>
        <p:spPr>
          <a:xfrm>
            <a:off x="-2" y="6077976"/>
            <a:ext cx="12192000" cy="892552"/>
          </a:xfrm>
          <a:prstGeom prst="rect">
            <a:avLst/>
          </a:prstGeom>
        </p:spPr>
        <p:txBody>
          <a:bodyPr wrap="square">
            <a:spAutoFit/>
          </a:bodyPr>
          <a:lstStyle/>
          <a:p>
            <a:r>
              <a:rPr lang="en-US" sz="2600" dirty="0"/>
              <a:t>Actor (here </a:t>
            </a:r>
            <a:r>
              <a:rPr lang="zh-CN" altLang="en-US" sz="2600" dirty="0"/>
              <a:t>他 </a:t>
            </a:r>
            <a:r>
              <a:rPr lang="en-US" sz="2600" i="1" dirty="0"/>
              <a:t>ta</a:t>
            </a:r>
            <a:r>
              <a:rPr lang="en-US" sz="2600" dirty="0"/>
              <a:t> ‘he’) is raised from Activity Phrase (here </a:t>
            </a:r>
            <a:r>
              <a:rPr lang="zh-CN" altLang="en-US" sz="2600" dirty="0"/>
              <a:t>他的老師 </a:t>
            </a:r>
            <a:r>
              <a:rPr lang="en-US" altLang="zh-CN" sz="2600" i="1" dirty="0"/>
              <a:t>ta de </a:t>
            </a:r>
            <a:r>
              <a:rPr lang="en-US" altLang="zh-CN" sz="2600" i="1" dirty="0" err="1"/>
              <a:t>laoshi</a:t>
            </a:r>
            <a:r>
              <a:rPr lang="en-US" altLang="zh-CN" sz="2600" i="1" dirty="0"/>
              <a:t> </a:t>
            </a:r>
            <a:r>
              <a:rPr lang="en-US" altLang="zh-CN" sz="2600" dirty="0"/>
              <a:t>‘he being a teacher’), DO like raising verb </a:t>
            </a:r>
            <a:r>
              <a:rPr lang="en-US" altLang="zh-CN" sz="2600" dirty="0" err="1"/>
              <a:t>cf</a:t>
            </a:r>
            <a:r>
              <a:rPr lang="en-US" altLang="zh-CN" sz="2600" dirty="0"/>
              <a:t> Possessor-Raising from DP to </a:t>
            </a:r>
            <a:r>
              <a:rPr lang="en-US" altLang="zh-CN" sz="2600" dirty="0" err="1"/>
              <a:t>SpecApplP</a:t>
            </a:r>
            <a:r>
              <a:rPr lang="en-US" altLang="zh-CN" sz="2600" dirty="0"/>
              <a:t> (Deal (2013)). </a:t>
            </a:r>
            <a:endParaRPr lang="en-US" sz="2600" dirty="0"/>
          </a:p>
        </p:txBody>
      </p:sp>
      <p:sp>
        <p:nvSpPr>
          <p:cNvPr id="9" name="Rectangle 8"/>
          <p:cNvSpPr/>
          <p:nvPr/>
        </p:nvSpPr>
        <p:spPr>
          <a:xfrm>
            <a:off x="-1" y="4277082"/>
            <a:ext cx="12191999" cy="1292662"/>
          </a:xfrm>
          <a:prstGeom prst="rect">
            <a:avLst/>
          </a:prstGeom>
        </p:spPr>
        <p:txBody>
          <a:bodyPr wrap="square">
            <a:spAutoFit/>
          </a:bodyPr>
          <a:lstStyle/>
          <a:p>
            <a:r>
              <a:rPr lang="en-US" sz="2600" dirty="0"/>
              <a:t>Verb head movement (here </a:t>
            </a:r>
            <a:r>
              <a:rPr lang="zh-CN" altLang="en-US" sz="2600" dirty="0"/>
              <a:t>當 </a:t>
            </a:r>
            <a:r>
              <a:rPr lang="en-US" altLang="zh-CN" sz="2600" i="1" dirty="0"/>
              <a:t>dang</a:t>
            </a:r>
            <a:r>
              <a:rPr lang="en-US" altLang="zh-CN" sz="2600" dirty="0"/>
              <a:t>): V to DONE to DO (bottom-up derivation and    Spec-Head A(</a:t>
            </a:r>
            <a:r>
              <a:rPr lang="en-US" altLang="zh-CN" sz="2600" dirty="0" err="1"/>
              <a:t>rgument</a:t>
            </a:r>
            <a:r>
              <a:rPr lang="en-US" altLang="zh-CN" sz="2600" dirty="0"/>
              <a:t>)-licensing for Activity (</a:t>
            </a:r>
            <a:r>
              <a:rPr lang="en-US" altLang="zh-CN" sz="2600" dirty="0" err="1"/>
              <a:t>SpecDONE</a:t>
            </a:r>
            <a:r>
              <a:rPr lang="en-US" altLang="zh-CN" sz="2600" dirty="0"/>
              <a:t>) and then Actor (</a:t>
            </a:r>
            <a:r>
              <a:rPr lang="en-US" altLang="zh-CN" sz="2600" dirty="0" err="1"/>
              <a:t>SpecDO</a:t>
            </a:r>
            <a:r>
              <a:rPr lang="en-US" altLang="zh-CN" sz="2600" dirty="0"/>
              <a:t>))         (</a:t>
            </a:r>
            <a:r>
              <a:rPr lang="en-US" altLang="zh-CN" sz="2600" dirty="0" err="1"/>
              <a:t>cf</a:t>
            </a:r>
            <a:r>
              <a:rPr lang="en-US" altLang="zh-CN" sz="2600" dirty="0"/>
              <a:t> Larson (1989’s </a:t>
            </a:r>
            <a:r>
              <a:rPr lang="en-US" altLang="zh-CN" sz="2600" dirty="0" err="1"/>
              <a:t>vP</a:t>
            </a:r>
            <a:r>
              <a:rPr lang="en-US" altLang="zh-CN" sz="2600" dirty="0"/>
              <a:t>-shell)) </a:t>
            </a:r>
            <a:endParaRPr lang="en-US" sz="2600" dirty="0"/>
          </a:p>
        </p:txBody>
      </p:sp>
    </p:spTree>
    <p:extLst>
      <p:ext uri="{BB962C8B-B14F-4D97-AF65-F5344CB8AC3E}">
        <p14:creationId xmlns:p14="http://schemas.microsoft.com/office/powerpoint/2010/main" val="3496361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8" grpId="0"/>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New formal derivation: DO + DONE + VP (2)</a:t>
            </a:r>
            <a:endParaRPr lang="en-GB" dirty="0"/>
          </a:p>
        </p:txBody>
      </p:sp>
      <p:sp>
        <p:nvSpPr>
          <p:cNvPr id="4" name="Content Placeholder 2"/>
          <p:cNvSpPr txBox="1">
            <a:spLocks/>
          </p:cNvSpPr>
          <p:nvPr/>
        </p:nvSpPr>
        <p:spPr>
          <a:xfrm>
            <a:off x="0" y="1927654"/>
            <a:ext cx="12191999" cy="27589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dirty="0"/>
              <a:t>				        [DO [[Specifier] DONE] VP]]</a:t>
            </a:r>
          </a:p>
          <a:p>
            <a:pPr marL="0" indent="0">
              <a:buNone/>
            </a:pPr>
            <a:r>
              <a:rPr lang="zh-TW" altLang="en-US" dirty="0"/>
              <a:t>佢嘅老師做得好</a:t>
            </a:r>
            <a:r>
              <a:rPr lang="zh-CN" altLang="en-US" dirty="0"/>
              <a:t> </a:t>
            </a:r>
            <a:r>
              <a:rPr lang="en-US" altLang="zh-CN" dirty="0"/>
              <a:t>:</a:t>
            </a:r>
            <a:r>
              <a:rPr lang="en-US" dirty="0"/>
              <a:t>		        </a:t>
            </a:r>
            <a:r>
              <a:rPr lang="en-US" altLang="zh-CN" dirty="0"/>
              <a:t>[DO [[</a:t>
            </a:r>
            <a:r>
              <a:rPr lang="en-US" altLang="zh-CN" sz="1800" dirty="0"/>
              <a:t>GP </a:t>
            </a:r>
            <a:r>
              <a:rPr lang="en-US" altLang="zh-CN" dirty="0"/>
              <a:t>*</a:t>
            </a:r>
            <a:r>
              <a:rPr lang="en-US" altLang="zh-CN" dirty="0" err="1"/>
              <a:t>keoi</a:t>
            </a:r>
            <a:r>
              <a:rPr lang="en-US" altLang="zh-CN" dirty="0"/>
              <a:t> </a:t>
            </a:r>
            <a:r>
              <a:rPr lang="en-US" altLang="zh-CN" dirty="0" err="1"/>
              <a:t>ge</a:t>
            </a:r>
            <a:r>
              <a:rPr lang="en-US" altLang="zh-CN" dirty="0"/>
              <a:t> </a:t>
            </a:r>
            <a:r>
              <a:rPr lang="en-US" altLang="zh-CN" dirty="0" err="1"/>
              <a:t>lousi</a:t>
            </a:r>
            <a:r>
              <a:rPr lang="en-US" altLang="zh-CN" dirty="0"/>
              <a:t>] </a:t>
            </a:r>
            <a:r>
              <a:rPr lang="en-US" altLang="zh-CN" dirty="0" err="1"/>
              <a:t>zou</a:t>
            </a:r>
            <a:r>
              <a:rPr lang="en-US" altLang="zh-CN" dirty="0"/>
              <a:t> </a:t>
            </a:r>
            <a:r>
              <a:rPr lang="en-US" altLang="zh-CN" sz="2000" dirty="0" err="1"/>
              <a:t>i</a:t>
            </a:r>
            <a:r>
              <a:rPr lang="en-US" altLang="zh-CN" sz="2000" dirty="0"/>
              <a:t> </a:t>
            </a:r>
            <a:r>
              <a:rPr lang="en-US" altLang="zh-CN" dirty="0"/>
              <a:t>] t</a:t>
            </a:r>
            <a:r>
              <a:rPr lang="en-US" altLang="zh-CN" sz="2000" dirty="0"/>
              <a:t> </a:t>
            </a:r>
            <a:r>
              <a:rPr lang="en-US" altLang="zh-CN" sz="2000" dirty="0" err="1"/>
              <a:t>i</a:t>
            </a:r>
            <a:r>
              <a:rPr lang="en-US" altLang="zh-CN" sz="2000" dirty="0"/>
              <a:t> </a:t>
            </a:r>
            <a:r>
              <a:rPr lang="en-US" altLang="zh-CN" dirty="0"/>
              <a:t>[</a:t>
            </a:r>
            <a:r>
              <a:rPr lang="en-US" altLang="zh-CN" dirty="0" err="1"/>
              <a:t>dak</a:t>
            </a:r>
            <a:r>
              <a:rPr lang="en-US" altLang="zh-CN" dirty="0"/>
              <a:t> </a:t>
            </a:r>
            <a:r>
              <a:rPr lang="en-US" altLang="zh-CN" dirty="0" err="1"/>
              <a:t>hou</a:t>
            </a:r>
            <a:r>
              <a:rPr lang="en-US" altLang="zh-CN" dirty="0"/>
              <a:t>]]] (Activity)</a:t>
            </a:r>
          </a:p>
          <a:p>
            <a:pPr marL="0" indent="0">
              <a:buNone/>
            </a:pPr>
            <a:r>
              <a:rPr lang="zh-TW" altLang="en-US" dirty="0"/>
              <a:t>佢</a:t>
            </a:r>
            <a:r>
              <a:rPr lang="zh-CN" altLang="en-US" dirty="0"/>
              <a:t>做</a:t>
            </a:r>
            <a:r>
              <a:rPr lang="zh-TW" altLang="en-US" dirty="0"/>
              <a:t>佢嘅老師做得好</a:t>
            </a:r>
            <a:r>
              <a:rPr lang="zh-CN" altLang="en-US" dirty="0"/>
              <a:t> </a:t>
            </a:r>
            <a:r>
              <a:rPr lang="en-US" altLang="zh-CN" dirty="0"/>
              <a:t>:[</a:t>
            </a:r>
            <a:r>
              <a:rPr lang="en-US" altLang="zh-CN" dirty="0" err="1"/>
              <a:t>keoi</a:t>
            </a:r>
            <a:r>
              <a:rPr lang="en-US" altLang="zh-CN" dirty="0"/>
              <a:t> </a:t>
            </a:r>
            <a:r>
              <a:rPr lang="en-US" altLang="zh-CN" sz="2000" dirty="0"/>
              <a:t>j</a:t>
            </a:r>
            <a:r>
              <a:rPr lang="en-US" altLang="zh-CN" dirty="0"/>
              <a:t> [</a:t>
            </a:r>
            <a:r>
              <a:rPr lang="en-US" altLang="zh-CN" dirty="0" err="1"/>
              <a:t>zou</a:t>
            </a:r>
            <a:r>
              <a:rPr lang="en-US" altLang="zh-CN" dirty="0"/>
              <a:t> </a:t>
            </a:r>
            <a:r>
              <a:rPr lang="en-US" altLang="zh-CN" sz="2000" dirty="0" err="1"/>
              <a:t>i</a:t>
            </a:r>
            <a:r>
              <a:rPr lang="en-US" altLang="zh-CN" dirty="0"/>
              <a:t> [[</a:t>
            </a:r>
            <a:r>
              <a:rPr lang="en-US" altLang="zh-CN" sz="2000" dirty="0"/>
              <a:t>GP</a:t>
            </a:r>
            <a:r>
              <a:rPr lang="en-US" altLang="zh-CN" dirty="0"/>
              <a:t> </a:t>
            </a:r>
            <a:r>
              <a:rPr lang="en-US" altLang="zh-CN" dirty="0" err="1"/>
              <a:t>keoi</a:t>
            </a:r>
            <a:r>
              <a:rPr lang="en-US" altLang="zh-CN" dirty="0"/>
              <a:t> </a:t>
            </a:r>
            <a:r>
              <a:rPr lang="en-US" altLang="zh-CN" sz="2000" dirty="0"/>
              <a:t>j</a:t>
            </a:r>
            <a:r>
              <a:rPr lang="en-US" altLang="zh-CN" dirty="0"/>
              <a:t> de </a:t>
            </a:r>
            <a:r>
              <a:rPr lang="en-US" altLang="zh-CN" dirty="0" err="1"/>
              <a:t>lousi</a:t>
            </a:r>
            <a:r>
              <a:rPr lang="en-US" altLang="zh-CN" dirty="0"/>
              <a:t>] </a:t>
            </a:r>
            <a:r>
              <a:rPr lang="en-US" altLang="zh-CN" dirty="0" err="1"/>
              <a:t>zou</a:t>
            </a:r>
            <a:r>
              <a:rPr lang="en-US" altLang="zh-CN" dirty="0"/>
              <a:t> </a:t>
            </a:r>
            <a:r>
              <a:rPr lang="en-US" altLang="zh-CN" sz="2000" dirty="0" err="1"/>
              <a:t>i</a:t>
            </a:r>
            <a:r>
              <a:rPr lang="en-US" altLang="zh-CN" dirty="0"/>
              <a:t> ] t </a:t>
            </a:r>
            <a:r>
              <a:rPr lang="en-US" altLang="zh-CN" sz="2000" dirty="0" err="1"/>
              <a:t>i</a:t>
            </a:r>
            <a:r>
              <a:rPr lang="en-US" altLang="zh-CN" dirty="0"/>
              <a:t> [</a:t>
            </a:r>
            <a:r>
              <a:rPr lang="en-US" altLang="zh-CN" dirty="0" err="1"/>
              <a:t>dak</a:t>
            </a:r>
            <a:r>
              <a:rPr lang="en-US" altLang="zh-CN" dirty="0"/>
              <a:t> </a:t>
            </a:r>
            <a:r>
              <a:rPr lang="en-US" altLang="zh-CN" dirty="0" err="1"/>
              <a:t>hou</a:t>
            </a:r>
            <a:r>
              <a:rPr lang="en-US" altLang="zh-CN" dirty="0"/>
              <a:t>]]] (Actor)</a:t>
            </a:r>
          </a:p>
          <a:p>
            <a:pPr marL="0" indent="0">
              <a:buNone/>
            </a:pPr>
            <a:r>
              <a:rPr lang="en-US" altLang="zh-CN" dirty="0"/>
              <a:t>  </a:t>
            </a:r>
            <a:endParaRPr lang="en-US" dirty="0"/>
          </a:p>
        </p:txBody>
      </p:sp>
      <p:sp>
        <p:nvSpPr>
          <p:cNvPr id="5" name="Content Placeholder 2"/>
          <p:cNvSpPr txBox="1">
            <a:spLocks/>
          </p:cNvSpPr>
          <p:nvPr/>
        </p:nvSpPr>
        <p:spPr>
          <a:xfrm>
            <a:off x="-11" y="3350651"/>
            <a:ext cx="12192000" cy="21664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Key difference from Mandarin: </a:t>
            </a:r>
          </a:p>
        </p:txBody>
      </p:sp>
      <p:sp>
        <p:nvSpPr>
          <p:cNvPr id="6" name="Content Placeholder 2"/>
          <p:cNvSpPr txBox="1">
            <a:spLocks/>
          </p:cNvSpPr>
          <p:nvPr/>
        </p:nvSpPr>
        <p:spPr>
          <a:xfrm>
            <a:off x="1" y="4889263"/>
            <a:ext cx="12191999" cy="174230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TW" altLang="en-US" sz="2400" dirty="0"/>
              <a:t>佢</a:t>
            </a:r>
            <a:r>
              <a:rPr lang="zh-CN" altLang="en-US" sz="2400" dirty="0"/>
              <a:t>做</a:t>
            </a:r>
            <a:r>
              <a:rPr lang="zh-TW" altLang="en-US" sz="2400" dirty="0"/>
              <a:t>佢嘅老師 </a:t>
            </a:r>
            <a:r>
              <a:rPr lang="en-US" altLang="zh-TW" sz="2400" i="1" dirty="0" err="1"/>
              <a:t>keoi</a:t>
            </a:r>
            <a:r>
              <a:rPr lang="en-US" altLang="zh-TW" sz="2400" i="1" dirty="0"/>
              <a:t> </a:t>
            </a:r>
            <a:r>
              <a:rPr lang="en-US" altLang="zh-TW" sz="2400" i="1" dirty="0" err="1"/>
              <a:t>zou</a:t>
            </a:r>
            <a:r>
              <a:rPr lang="en-US" altLang="zh-TW" sz="2400" i="1" dirty="0"/>
              <a:t> </a:t>
            </a:r>
            <a:r>
              <a:rPr lang="en-US" altLang="zh-TW" sz="2400" i="1" dirty="0" err="1"/>
              <a:t>keoi</a:t>
            </a:r>
            <a:r>
              <a:rPr lang="en-US" altLang="zh-TW" sz="2400" i="1" dirty="0"/>
              <a:t> </a:t>
            </a:r>
            <a:r>
              <a:rPr lang="en-US" altLang="zh-TW" sz="2400" i="1" dirty="0" err="1"/>
              <a:t>ge</a:t>
            </a:r>
            <a:r>
              <a:rPr lang="en-US" altLang="zh-TW" sz="2400" i="1" dirty="0"/>
              <a:t> </a:t>
            </a:r>
            <a:r>
              <a:rPr lang="en-US" altLang="zh-TW" sz="2400" i="1" dirty="0" err="1"/>
              <a:t>lousi</a:t>
            </a:r>
            <a:r>
              <a:rPr lang="en-US" altLang="zh-TW" sz="2400" i="1" dirty="0"/>
              <a:t> </a:t>
            </a:r>
            <a:r>
              <a:rPr lang="en-US" altLang="zh-TW" sz="2400" dirty="0"/>
              <a:t>(Actor + Activity) (Cantonese) is grammatical,                             like </a:t>
            </a:r>
            <a:r>
              <a:rPr lang="zh-CN" altLang="en-US" sz="2400" dirty="0"/>
              <a:t>他當他的老師 </a:t>
            </a:r>
            <a:r>
              <a:rPr lang="en-US" altLang="zh-TW" sz="2400" i="1" dirty="0"/>
              <a:t>ta dang ta de </a:t>
            </a:r>
            <a:r>
              <a:rPr lang="en-US" altLang="zh-TW" sz="2400" i="1" dirty="0" err="1"/>
              <a:t>laoshi</a:t>
            </a:r>
            <a:r>
              <a:rPr lang="en-US" altLang="zh-TW" sz="2400" i="1" dirty="0"/>
              <a:t> </a:t>
            </a:r>
            <a:r>
              <a:rPr lang="en-US" altLang="zh-TW" sz="2400" dirty="0"/>
              <a:t>(Mandarin)</a:t>
            </a:r>
            <a:endParaRPr lang="en-US" sz="2400" dirty="0"/>
          </a:p>
        </p:txBody>
      </p:sp>
      <p:sp>
        <p:nvSpPr>
          <p:cNvPr id="7" name="Content Placeholder 2"/>
          <p:cNvSpPr txBox="1">
            <a:spLocks/>
          </p:cNvSpPr>
          <p:nvPr/>
        </p:nvSpPr>
        <p:spPr>
          <a:xfrm>
            <a:off x="0" y="5576200"/>
            <a:ext cx="12192000" cy="9962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i="1" dirty="0"/>
              <a:t>*</a:t>
            </a:r>
            <a:r>
              <a:rPr lang="zh-TW" altLang="en-US" sz="2400" dirty="0"/>
              <a:t>佢嘅老師 </a:t>
            </a:r>
            <a:r>
              <a:rPr lang="en-US" sz="2400" i="1" dirty="0" err="1"/>
              <a:t>keoi</a:t>
            </a:r>
            <a:r>
              <a:rPr lang="en-US" sz="2400" i="1" dirty="0"/>
              <a:t> </a:t>
            </a:r>
            <a:r>
              <a:rPr lang="en-US" sz="2400" i="1" dirty="0" err="1"/>
              <a:t>ge</a:t>
            </a:r>
            <a:r>
              <a:rPr lang="en-US" sz="2400" i="1" dirty="0"/>
              <a:t> </a:t>
            </a:r>
            <a:r>
              <a:rPr lang="en-US" sz="2400" i="1" dirty="0" err="1"/>
              <a:t>lousi</a:t>
            </a:r>
            <a:r>
              <a:rPr lang="en-US" sz="2400" i="1" dirty="0"/>
              <a:t> </a:t>
            </a:r>
            <a:r>
              <a:rPr lang="en-US" sz="2400" dirty="0"/>
              <a:t>‘He being a teacher’ (Activity) is ungrammatical in </a:t>
            </a:r>
            <a:r>
              <a:rPr lang="en-US" sz="2400" dirty="0" err="1"/>
              <a:t>SpecDONE</a:t>
            </a:r>
            <a:r>
              <a:rPr lang="en-US" sz="2400" dirty="0"/>
              <a:t> unless there is a DO projection which raises the Actor argument (here </a:t>
            </a:r>
            <a:r>
              <a:rPr lang="zh-TW" altLang="en-US" sz="2400" dirty="0"/>
              <a:t>佢 </a:t>
            </a:r>
            <a:r>
              <a:rPr lang="en-GB" altLang="zh-TW" sz="2400" i="1" dirty="0" err="1"/>
              <a:t>keoi</a:t>
            </a:r>
            <a:r>
              <a:rPr lang="en-GB" altLang="zh-TW" sz="2400" dirty="0"/>
              <a:t> ‘</a:t>
            </a:r>
            <a:r>
              <a:rPr lang="en-US" altLang="zh-TW" sz="2400" dirty="0"/>
              <a:t>he</a:t>
            </a:r>
            <a:r>
              <a:rPr lang="en-US" altLang="zh-TW" sz="2400" i="1" dirty="0"/>
              <a:t>’</a:t>
            </a:r>
            <a:r>
              <a:rPr lang="en-US" altLang="zh-TW" sz="2400" dirty="0"/>
              <a:t>) to </a:t>
            </a:r>
            <a:r>
              <a:rPr lang="en-US" altLang="zh-TW" sz="2400" dirty="0" err="1"/>
              <a:t>SpecDO</a:t>
            </a:r>
            <a:endParaRPr lang="en-US" sz="2400" i="1" dirty="0"/>
          </a:p>
        </p:txBody>
      </p:sp>
      <p:sp>
        <p:nvSpPr>
          <p:cNvPr id="8" name="Rectangle 7"/>
          <p:cNvSpPr/>
          <p:nvPr/>
        </p:nvSpPr>
        <p:spPr>
          <a:xfrm>
            <a:off x="-21" y="3673916"/>
            <a:ext cx="12191999" cy="830997"/>
          </a:xfrm>
          <a:prstGeom prst="rect">
            <a:avLst/>
          </a:prstGeom>
        </p:spPr>
        <p:txBody>
          <a:bodyPr wrap="square">
            <a:spAutoFit/>
          </a:bodyPr>
          <a:lstStyle/>
          <a:p>
            <a:r>
              <a:rPr lang="en-US" altLang="zh-TW" sz="2400" dirty="0"/>
              <a:t>*</a:t>
            </a:r>
            <a:r>
              <a:rPr lang="zh-TW" altLang="en-US" sz="2400" dirty="0"/>
              <a:t>佢嘅老師 </a:t>
            </a:r>
            <a:r>
              <a:rPr lang="en-US" sz="2400" i="1" dirty="0" err="1"/>
              <a:t>keoi</a:t>
            </a:r>
            <a:r>
              <a:rPr lang="en-US" sz="2400" i="1" dirty="0"/>
              <a:t> </a:t>
            </a:r>
            <a:r>
              <a:rPr lang="en-US" sz="2400" i="1" dirty="0" err="1"/>
              <a:t>ge</a:t>
            </a:r>
            <a:r>
              <a:rPr lang="en-US" sz="2400" i="1" dirty="0"/>
              <a:t> </a:t>
            </a:r>
            <a:r>
              <a:rPr lang="en-US" sz="2400" i="1" dirty="0" err="1"/>
              <a:t>lousi</a:t>
            </a:r>
            <a:r>
              <a:rPr lang="en-US" sz="2400" i="1" dirty="0"/>
              <a:t> </a:t>
            </a:r>
            <a:r>
              <a:rPr lang="en-US" sz="2400" dirty="0"/>
              <a:t>(Activity headed by </a:t>
            </a:r>
            <a:r>
              <a:rPr lang="en-US" sz="2400" i="1" dirty="0" err="1"/>
              <a:t>ge</a:t>
            </a:r>
            <a:r>
              <a:rPr lang="en-US" sz="2400" dirty="0"/>
              <a:t>) (Cantonese) is ungrammatical (</a:t>
            </a:r>
            <a:r>
              <a:rPr lang="en-US" sz="2400" dirty="0" err="1"/>
              <a:t>SpecDONE</a:t>
            </a:r>
            <a:r>
              <a:rPr lang="en-US" sz="2400" dirty="0"/>
              <a:t>)</a:t>
            </a:r>
          </a:p>
          <a:p>
            <a:r>
              <a:rPr lang="zh-CN" altLang="en-US" sz="2400" dirty="0"/>
              <a:t>他的老師 </a:t>
            </a:r>
            <a:r>
              <a:rPr lang="en-US" altLang="zh-CN" sz="2400" i="1" dirty="0"/>
              <a:t>ta de </a:t>
            </a:r>
            <a:r>
              <a:rPr lang="en-US" altLang="zh-CN" sz="2400" i="1" dirty="0" err="1"/>
              <a:t>laoshi</a:t>
            </a:r>
            <a:r>
              <a:rPr lang="en-US" altLang="zh-CN" sz="2400" i="1" dirty="0"/>
              <a:t> </a:t>
            </a:r>
            <a:r>
              <a:rPr lang="en-US" altLang="zh-CN" sz="2400" dirty="0"/>
              <a:t>(Activity headed by </a:t>
            </a:r>
            <a:r>
              <a:rPr lang="en-US" altLang="zh-CN" sz="2400" i="1" dirty="0"/>
              <a:t>de</a:t>
            </a:r>
            <a:r>
              <a:rPr lang="en-US" altLang="zh-CN" sz="2400" dirty="0"/>
              <a:t>) (Mandarin) is grammatical (</a:t>
            </a:r>
            <a:r>
              <a:rPr lang="en-US" altLang="zh-CN" sz="2400" dirty="0" err="1"/>
              <a:t>SpecDONE</a:t>
            </a:r>
            <a:r>
              <a:rPr lang="en-US" altLang="zh-CN" sz="2400" dirty="0"/>
              <a:t>)</a:t>
            </a:r>
            <a:endParaRPr lang="en-US" sz="2400" dirty="0"/>
          </a:p>
        </p:txBody>
      </p:sp>
      <p:sp>
        <p:nvSpPr>
          <p:cNvPr id="9" name="Rectangle 8"/>
          <p:cNvSpPr/>
          <p:nvPr/>
        </p:nvSpPr>
        <p:spPr>
          <a:xfrm>
            <a:off x="3373766" y="6222896"/>
            <a:ext cx="6588840" cy="492443"/>
          </a:xfrm>
          <a:prstGeom prst="rect">
            <a:avLst/>
          </a:prstGeom>
        </p:spPr>
        <p:txBody>
          <a:bodyPr wrap="square">
            <a:spAutoFit/>
          </a:bodyPr>
          <a:lstStyle/>
          <a:p>
            <a:r>
              <a:rPr lang="en-US" altLang="zh-TW" sz="2600" dirty="0"/>
              <a:t>DO (Actor) -&gt; </a:t>
            </a:r>
            <a:r>
              <a:rPr lang="zh-TW" altLang="en-US" sz="2600" dirty="0"/>
              <a:t>佢嘅老師 </a:t>
            </a:r>
            <a:r>
              <a:rPr lang="en-US" altLang="zh-TW" sz="2600" i="1" dirty="0" err="1"/>
              <a:t>keoi</a:t>
            </a:r>
            <a:r>
              <a:rPr lang="en-US" altLang="zh-TW" sz="2600" i="1" dirty="0"/>
              <a:t> </a:t>
            </a:r>
            <a:r>
              <a:rPr lang="en-US" altLang="zh-TW" sz="2600" i="1" dirty="0" err="1"/>
              <a:t>ge</a:t>
            </a:r>
            <a:r>
              <a:rPr lang="en-US" altLang="zh-TW" sz="2600" i="1" dirty="0"/>
              <a:t> </a:t>
            </a:r>
            <a:r>
              <a:rPr lang="en-US" altLang="zh-TW" sz="2600" i="1" dirty="0" err="1"/>
              <a:t>lousi</a:t>
            </a:r>
            <a:r>
              <a:rPr lang="en-US" altLang="zh-TW" sz="2600" i="1" dirty="0"/>
              <a:t> </a:t>
            </a:r>
            <a:r>
              <a:rPr lang="en-US" altLang="zh-TW" sz="2600" dirty="0"/>
              <a:t>(Activity) </a:t>
            </a:r>
            <a:endParaRPr lang="en-GB" sz="2600" dirty="0"/>
          </a:p>
        </p:txBody>
      </p:sp>
      <p:sp>
        <p:nvSpPr>
          <p:cNvPr id="10" name="Rectangle 9"/>
          <p:cNvSpPr/>
          <p:nvPr/>
        </p:nvSpPr>
        <p:spPr>
          <a:xfrm>
            <a:off x="-32" y="4441524"/>
            <a:ext cx="12192000" cy="461665"/>
          </a:xfrm>
          <a:prstGeom prst="rect">
            <a:avLst/>
          </a:prstGeom>
        </p:spPr>
        <p:txBody>
          <a:bodyPr wrap="square">
            <a:spAutoFit/>
          </a:bodyPr>
          <a:lstStyle/>
          <a:p>
            <a:r>
              <a:rPr lang="en-US" altLang="zh-TW" sz="2400" dirty="0"/>
              <a:t>In subject position (</a:t>
            </a:r>
            <a:r>
              <a:rPr lang="en-US" altLang="zh-TW" sz="2400" dirty="0" err="1"/>
              <a:t>SpecDONE</a:t>
            </a:r>
            <a:r>
              <a:rPr lang="en-US" altLang="zh-TW" sz="2400" dirty="0"/>
              <a:t> &gt; </a:t>
            </a:r>
            <a:r>
              <a:rPr lang="en-US" altLang="zh-TW" sz="2400" dirty="0" err="1"/>
              <a:t>SpecT</a:t>
            </a:r>
            <a:r>
              <a:rPr lang="en-US" altLang="zh-TW" sz="2400" dirty="0"/>
              <a:t> (EPP)), Activity nominal headed by </a:t>
            </a:r>
            <a:r>
              <a:rPr lang="en-US" altLang="zh-TW" sz="2400" i="1" dirty="0"/>
              <a:t>de/*</a:t>
            </a:r>
            <a:r>
              <a:rPr lang="en-US" altLang="zh-TW" sz="2400" i="1" dirty="0" err="1"/>
              <a:t>ge</a:t>
            </a:r>
            <a:r>
              <a:rPr lang="en-US" altLang="zh-TW" sz="2400" dirty="0"/>
              <a:t> </a:t>
            </a:r>
            <a:endParaRPr lang="en-GB" sz="2400" dirty="0"/>
          </a:p>
        </p:txBody>
      </p:sp>
      <p:sp>
        <p:nvSpPr>
          <p:cNvPr id="12" name="Content Placeholder 2"/>
          <p:cNvSpPr>
            <a:spLocks noGrp="1"/>
          </p:cNvSpPr>
          <p:nvPr>
            <p:ph idx="1"/>
          </p:nvPr>
        </p:nvSpPr>
        <p:spPr>
          <a:xfrm>
            <a:off x="838200" y="948907"/>
            <a:ext cx="10515600" cy="1017916"/>
          </a:xfrm>
        </p:spPr>
        <p:txBody>
          <a:bodyPr>
            <a:normAutofit/>
          </a:bodyPr>
          <a:lstStyle/>
          <a:p>
            <a:pPr marL="0" indent="0">
              <a:buNone/>
            </a:pPr>
            <a:r>
              <a:rPr lang="en-US" dirty="0"/>
              <a:t>DO (Actor) + DONE (Activity) + VP (Mandarin) (</a:t>
            </a:r>
            <a:r>
              <a:rPr lang="en-US" dirty="0" err="1"/>
              <a:t>cf</a:t>
            </a:r>
            <a:r>
              <a:rPr lang="en-US" dirty="0"/>
              <a:t> </a:t>
            </a:r>
            <a:r>
              <a:rPr lang="en-US" dirty="0" err="1"/>
              <a:t>Ramchand</a:t>
            </a:r>
            <a:r>
              <a:rPr lang="en-US" dirty="0"/>
              <a:t> (2007)):</a:t>
            </a:r>
          </a:p>
          <a:p>
            <a:pPr marL="0" indent="0">
              <a:buNone/>
            </a:pPr>
            <a:r>
              <a:rPr lang="en-US" dirty="0"/>
              <a:t>Initiate	  Process</a:t>
            </a:r>
            <a:endParaRPr lang="en-GB" dirty="0"/>
          </a:p>
        </p:txBody>
      </p:sp>
    </p:spTree>
    <p:extLst>
      <p:ext uri="{BB962C8B-B14F-4D97-AF65-F5344CB8AC3E}">
        <p14:creationId xmlns:p14="http://schemas.microsoft.com/office/powerpoint/2010/main" val="3778265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2"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Chinese Activity (Light Verbs) </a:t>
            </a:r>
            <a:endParaRPr lang="en-GB" dirty="0"/>
          </a:p>
        </p:txBody>
      </p:sp>
      <p:sp>
        <p:nvSpPr>
          <p:cNvPr id="4" name="Rectangle 3"/>
          <p:cNvSpPr/>
          <p:nvPr/>
        </p:nvSpPr>
        <p:spPr>
          <a:xfrm>
            <a:off x="4722066" y="3022963"/>
            <a:ext cx="2747868" cy="523220"/>
          </a:xfrm>
          <a:prstGeom prst="rect">
            <a:avLst/>
          </a:prstGeom>
        </p:spPr>
        <p:txBody>
          <a:bodyPr wrap="none">
            <a:spAutoFit/>
          </a:bodyPr>
          <a:lstStyle/>
          <a:p>
            <a:r>
              <a:rPr lang="en-GB" sz="2800" dirty="0"/>
              <a:t>DO + DONE + VP  </a:t>
            </a:r>
          </a:p>
        </p:txBody>
      </p:sp>
      <p:sp>
        <p:nvSpPr>
          <p:cNvPr id="5" name="Content Placeholder 2"/>
          <p:cNvSpPr txBox="1">
            <a:spLocks/>
          </p:cNvSpPr>
          <p:nvPr/>
        </p:nvSpPr>
        <p:spPr>
          <a:xfrm>
            <a:off x="6261178" y="1071832"/>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TW" altLang="en-US" dirty="0"/>
              <a:t>佢    做  佢    嘅 老師 做  得   好 </a:t>
            </a:r>
            <a:r>
              <a:rPr lang="en-US" altLang="zh-TW" dirty="0"/>
              <a:t>(Cantonese)</a:t>
            </a:r>
          </a:p>
          <a:p>
            <a:pPr marL="0" indent="0">
              <a:buNone/>
            </a:pPr>
            <a:r>
              <a:rPr lang="en-US" dirty="0" err="1"/>
              <a:t>keoi</a:t>
            </a:r>
            <a:r>
              <a:rPr lang="en-US" dirty="0"/>
              <a:t> </a:t>
            </a:r>
            <a:r>
              <a:rPr lang="en-US" dirty="0" err="1"/>
              <a:t>zou</a:t>
            </a:r>
            <a:r>
              <a:rPr lang="en-US" dirty="0"/>
              <a:t> </a:t>
            </a:r>
            <a:r>
              <a:rPr lang="en-US" dirty="0" err="1"/>
              <a:t>keoi</a:t>
            </a:r>
            <a:r>
              <a:rPr lang="en-US" dirty="0"/>
              <a:t> </a:t>
            </a:r>
            <a:r>
              <a:rPr lang="en-US" dirty="0" err="1"/>
              <a:t>ge</a:t>
            </a:r>
            <a:r>
              <a:rPr lang="en-US" dirty="0"/>
              <a:t> </a:t>
            </a:r>
            <a:r>
              <a:rPr lang="en-US" dirty="0" err="1"/>
              <a:t>lousi</a:t>
            </a:r>
            <a:r>
              <a:rPr lang="en-US" dirty="0"/>
              <a:t> </a:t>
            </a:r>
            <a:r>
              <a:rPr lang="en-US" dirty="0" err="1"/>
              <a:t>zou</a:t>
            </a:r>
            <a:r>
              <a:rPr lang="en-US" dirty="0"/>
              <a:t> </a:t>
            </a:r>
            <a:r>
              <a:rPr lang="en-US" dirty="0" err="1"/>
              <a:t>dak</a:t>
            </a:r>
            <a:r>
              <a:rPr lang="en-US" dirty="0"/>
              <a:t> </a:t>
            </a:r>
            <a:r>
              <a:rPr lang="en-US" dirty="0" err="1"/>
              <a:t>hou</a:t>
            </a:r>
            <a:endParaRPr lang="en-US" dirty="0"/>
          </a:p>
          <a:p>
            <a:pPr marL="0" indent="0">
              <a:buNone/>
            </a:pPr>
            <a:endParaRPr lang="en-GB" dirty="0"/>
          </a:p>
        </p:txBody>
      </p:sp>
      <p:sp>
        <p:nvSpPr>
          <p:cNvPr id="6" name="Rectangle 5"/>
          <p:cNvSpPr/>
          <p:nvPr/>
        </p:nvSpPr>
        <p:spPr>
          <a:xfrm>
            <a:off x="2235868" y="4156964"/>
            <a:ext cx="7720264" cy="954107"/>
          </a:xfrm>
          <a:prstGeom prst="rect">
            <a:avLst/>
          </a:prstGeom>
        </p:spPr>
        <p:txBody>
          <a:bodyPr wrap="square">
            <a:spAutoFit/>
          </a:bodyPr>
          <a:lstStyle/>
          <a:p>
            <a:r>
              <a:rPr lang="en-US" altLang="zh-CN" sz="2800" dirty="0"/>
              <a:t>[DO-P ta dang </a:t>
            </a:r>
            <a:r>
              <a:rPr lang="en-US" altLang="zh-CN" sz="2000" dirty="0" err="1"/>
              <a:t>i</a:t>
            </a:r>
            <a:r>
              <a:rPr lang="en-US" altLang="zh-CN" sz="2800" dirty="0"/>
              <a:t> [DONE-P ta de </a:t>
            </a:r>
            <a:r>
              <a:rPr lang="en-US" altLang="zh-CN" sz="2800" dirty="0" err="1"/>
              <a:t>laoshi</a:t>
            </a:r>
            <a:r>
              <a:rPr lang="en-US" altLang="zh-CN" sz="2800" dirty="0"/>
              <a:t> dang </a:t>
            </a:r>
            <a:r>
              <a:rPr lang="en-US" altLang="zh-CN" sz="2000" dirty="0" err="1"/>
              <a:t>i</a:t>
            </a:r>
            <a:r>
              <a:rPr lang="en-US" altLang="zh-CN" sz="2800" dirty="0"/>
              <a:t> [VP t </a:t>
            </a:r>
            <a:r>
              <a:rPr lang="en-US" altLang="zh-CN" sz="2000" dirty="0" err="1"/>
              <a:t>i</a:t>
            </a:r>
            <a:r>
              <a:rPr lang="en-US" altLang="zh-CN" sz="2800" dirty="0"/>
              <a:t> ]]</a:t>
            </a:r>
          </a:p>
          <a:p>
            <a:r>
              <a:rPr lang="en-US" altLang="zh-CN" sz="2800" dirty="0"/>
              <a:t>[DO-P </a:t>
            </a:r>
            <a:r>
              <a:rPr lang="en-US" altLang="zh-CN" sz="2800" dirty="0" err="1"/>
              <a:t>keui</a:t>
            </a:r>
            <a:r>
              <a:rPr lang="en-US" altLang="zh-CN" sz="2800" dirty="0"/>
              <a:t> </a:t>
            </a:r>
            <a:r>
              <a:rPr lang="en-US" altLang="zh-CN" sz="2800" dirty="0" err="1"/>
              <a:t>zou</a:t>
            </a:r>
            <a:r>
              <a:rPr lang="en-US" altLang="zh-CN" sz="2800" dirty="0"/>
              <a:t> </a:t>
            </a:r>
            <a:r>
              <a:rPr lang="en-US" altLang="zh-CN" sz="2000" dirty="0" err="1"/>
              <a:t>i</a:t>
            </a:r>
            <a:r>
              <a:rPr lang="en-US" altLang="zh-CN" sz="2800" dirty="0"/>
              <a:t> [DONE-P </a:t>
            </a:r>
            <a:r>
              <a:rPr lang="en-US" altLang="zh-CN" sz="2800" dirty="0" err="1"/>
              <a:t>keui</a:t>
            </a:r>
            <a:r>
              <a:rPr lang="en-US" altLang="zh-CN" sz="2800" dirty="0"/>
              <a:t> </a:t>
            </a:r>
            <a:r>
              <a:rPr lang="en-US" altLang="zh-CN" sz="2800" dirty="0" err="1"/>
              <a:t>ge</a:t>
            </a:r>
            <a:r>
              <a:rPr lang="en-US" altLang="zh-CN" sz="2800" dirty="0"/>
              <a:t> </a:t>
            </a:r>
            <a:r>
              <a:rPr lang="en-US" altLang="zh-CN" sz="2800" dirty="0" err="1"/>
              <a:t>lousi</a:t>
            </a:r>
            <a:r>
              <a:rPr lang="en-US" altLang="zh-CN" sz="2800" dirty="0"/>
              <a:t> </a:t>
            </a:r>
            <a:r>
              <a:rPr lang="en-US" altLang="zh-CN" sz="2800" dirty="0" err="1"/>
              <a:t>zou</a:t>
            </a:r>
            <a:r>
              <a:rPr lang="en-US" altLang="zh-CN" sz="2800" dirty="0"/>
              <a:t> </a:t>
            </a:r>
            <a:r>
              <a:rPr lang="en-US" altLang="zh-CN" sz="2000" dirty="0" err="1"/>
              <a:t>i</a:t>
            </a:r>
            <a:r>
              <a:rPr lang="en-US" altLang="zh-CN" sz="2800" dirty="0"/>
              <a:t> [VP t </a:t>
            </a:r>
            <a:r>
              <a:rPr lang="en-US" altLang="zh-CN" sz="2000" dirty="0" err="1"/>
              <a:t>i</a:t>
            </a:r>
            <a:r>
              <a:rPr lang="en-US" altLang="zh-CN" sz="2800" dirty="0"/>
              <a:t> ]]</a:t>
            </a:r>
          </a:p>
        </p:txBody>
      </p:sp>
      <p:sp>
        <p:nvSpPr>
          <p:cNvPr id="7" name="Content Placeholder 2"/>
          <p:cNvSpPr txBox="1">
            <a:spLocks/>
          </p:cNvSpPr>
          <p:nvPr/>
        </p:nvSpPr>
        <p:spPr>
          <a:xfrm>
            <a:off x="4201951" y="2143664"/>
            <a:ext cx="799004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Theta-criterion: one theta-role per argument (</a:t>
            </a:r>
            <a:r>
              <a:rPr lang="zh-CN" altLang="en-US" dirty="0"/>
              <a:t>胡 </a:t>
            </a:r>
            <a:r>
              <a:rPr lang="en-US" altLang="zh-CN" dirty="0"/>
              <a:t>2016, </a:t>
            </a:r>
            <a:r>
              <a:rPr lang="en-US" altLang="zh-CN" dirty="0" err="1"/>
              <a:t>cf</a:t>
            </a:r>
            <a:r>
              <a:rPr lang="en-US" altLang="zh-CN" dirty="0"/>
              <a:t> </a:t>
            </a:r>
            <a:r>
              <a:rPr lang="en-US" dirty="0"/>
              <a:t>Chomsky (1981))</a:t>
            </a:r>
            <a:endParaRPr lang="en-GB" dirty="0"/>
          </a:p>
        </p:txBody>
      </p:sp>
      <p:sp>
        <p:nvSpPr>
          <p:cNvPr id="8" name="Rectangle 7"/>
          <p:cNvSpPr/>
          <p:nvPr/>
        </p:nvSpPr>
        <p:spPr>
          <a:xfrm>
            <a:off x="4551574" y="3546183"/>
            <a:ext cx="1139736" cy="523220"/>
          </a:xfrm>
          <a:prstGeom prst="rect">
            <a:avLst/>
          </a:prstGeom>
        </p:spPr>
        <p:txBody>
          <a:bodyPr wrap="none">
            <a:spAutoFit/>
          </a:bodyPr>
          <a:lstStyle/>
          <a:p>
            <a:r>
              <a:rPr lang="en-GB" sz="2800" dirty="0"/>
              <a:t>Actor  </a:t>
            </a:r>
          </a:p>
        </p:txBody>
      </p:sp>
      <p:sp>
        <p:nvSpPr>
          <p:cNvPr id="9" name="Rectangle 8"/>
          <p:cNvSpPr/>
          <p:nvPr/>
        </p:nvSpPr>
        <p:spPr>
          <a:xfrm>
            <a:off x="5528271" y="3548242"/>
            <a:ext cx="1273105" cy="523220"/>
          </a:xfrm>
          <a:prstGeom prst="rect">
            <a:avLst/>
          </a:prstGeom>
        </p:spPr>
        <p:txBody>
          <a:bodyPr wrap="none">
            <a:spAutoFit/>
          </a:bodyPr>
          <a:lstStyle/>
          <a:p>
            <a:r>
              <a:rPr lang="en-GB" sz="2800" dirty="0"/>
              <a:t>Activity</a:t>
            </a:r>
          </a:p>
        </p:txBody>
      </p:sp>
      <p:sp>
        <p:nvSpPr>
          <p:cNvPr id="10" name="Rectangle 9"/>
          <p:cNvSpPr/>
          <p:nvPr/>
        </p:nvSpPr>
        <p:spPr>
          <a:xfrm>
            <a:off x="5955258" y="5111071"/>
            <a:ext cx="6236742" cy="1815882"/>
          </a:xfrm>
          <a:prstGeom prst="rect">
            <a:avLst/>
          </a:prstGeom>
        </p:spPr>
        <p:txBody>
          <a:bodyPr wrap="square">
            <a:spAutoFit/>
          </a:bodyPr>
          <a:lstStyle/>
          <a:p>
            <a:r>
              <a:rPr lang="en-US" sz="2800" dirty="0"/>
              <a:t>Ta de </a:t>
            </a:r>
            <a:r>
              <a:rPr lang="en-US" sz="2800" dirty="0" err="1"/>
              <a:t>laoshi</a:t>
            </a:r>
            <a:r>
              <a:rPr lang="en-US" sz="2800" dirty="0"/>
              <a:t> (Mandarin)/</a:t>
            </a:r>
          </a:p>
          <a:p>
            <a:r>
              <a:rPr lang="en-US" sz="2800" b="1" dirty="0"/>
              <a:t>*</a:t>
            </a:r>
            <a:r>
              <a:rPr lang="en-US" sz="2800" b="1" dirty="0" err="1"/>
              <a:t>keoi</a:t>
            </a:r>
            <a:r>
              <a:rPr lang="en-US" sz="2800" b="1" dirty="0"/>
              <a:t> </a:t>
            </a:r>
            <a:r>
              <a:rPr lang="en-US" sz="2800" b="1" dirty="0" err="1"/>
              <a:t>ge</a:t>
            </a:r>
            <a:r>
              <a:rPr lang="en-US" sz="2800" b="1" dirty="0"/>
              <a:t> </a:t>
            </a:r>
            <a:r>
              <a:rPr lang="en-US" sz="2800" b="1" dirty="0" err="1"/>
              <a:t>lousi</a:t>
            </a:r>
            <a:r>
              <a:rPr lang="en-US" sz="2800" b="1" dirty="0"/>
              <a:t> </a:t>
            </a:r>
            <a:r>
              <a:rPr lang="en-US" sz="2800" dirty="0"/>
              <a:t>(Cantonese) </a:t>
            </a:r>
          </a:p>
          <a:p>
            <a:r>
              <a:rPr lang="en-US" sz="2800" dirty="0"/>
              <a:t>in </a:t>
            </a:r>
            <a:r>
              <a:rPr lang="en-US" sz="2800" dirty="0" err="1"/>
              <a:t>SpecDONE</a:t>
            </a:r>
            <a:r>
              <a:rPr lang="en-US" sz="2800" dirty="0"/>
              <a:t> (Activity) if no Actor is projected in </a:t>
            </a:r>
            <a:r>
              <a:rPr lang="en-US" sz="2800" dirty="0" err="1"/>
              <a:t>SpecDO</a:t>
            </a:r>
            <a:endParaRPr lang="en-GB" sz="2800" dirty="0"/>
          </a:p>
        </p:txBody>
      </p:sp>
      <p:sp>
        <p:nvSpPr>
          <p:cNvPr id="13" name="Content Placeholder 2"/>
          <p:cNvSpPr txBox="1">
            <a:spLocks/>
          </p:cNvSpPr>
          <p:nvPr/>
        </p:nvSpPr>
        <p:spPr>
          <a:xfrm>
            <a:off x="9112" y="1071832"/>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t>他</a:t>
            </a:r>
            <a:r>
              <a:rPr lang="zh-TW" altLang="en-US" dirty="0"/>
              <a:t> </a:t>
            </a:r>
            <a:r>
              <a:rPr lang="zh-CN" altLang="en-US" dirty="0"/>
              <a:t>當     他的 老師</a:t>
            </a:r>
            <a:r>
              <a:rPr lang="zh-TW" altLang="en-US" dirty="0"/>
              <a:t>   </a:t>
            </a:r>
            <a:r>
              <a:rPr lang="zh-CN" altLang="en-US" dirty="0"/>
              <a:t>當    得</a:t>
            </a:r>
            <a:r>
              <a:rPr lang="zh-TW" altLang="en-US" dirty="0"/>
              <a:t>  好 </a:t>
            </a:r>
            <a:r>
              <a:rPr lang="en-US" altLang="zh-TW" dirty="0"/>
              <a:t>(</a:t>
            </a:r>
            <a:r>
              <a:rPr lang="en-US" altLang="zh-CN" dirty="0"/>
              <a:t>Mandarin</a:t>
            </a:r>
            <a:r>
              <a:rPr lang="en-US" altLang="zh-TW" dirty="0"/>
              <a:t>)</a:t>
            </a:r>
          </a:p>
          <a:p>
            <a:pPr marL="0" indent="0">
              <a:buNone/>
            </a:pPr>
            <a:r>
              <a:rPr lang="en-US" dirty="0"/>
              <a:t>Ta dang ta de </a:t>
            </a:r>
            <a:r>
              <a:rPr lang="en-US" dirty="0" err="1"/>
              <a:t>laoshi</a:t>
            </a:r>
            <a:r>
              <a:rPr lang="en-US" dirty="0"/>
              <a:t> dang de </a:t>
            </a:r>
            <a:r>
              <a:rPr lang="en-US" dirty="0" err="1"/>
              <a:t>hao</a:t>
            </a:r>
            <a:endParaRPr lang="en-US" dirty="0"/>
          </a:p>
          <a:p>
            <a:pPr marL="0" indent="0">
              <a:buNone/>
            </a:pPr>
            <a:r>
              <a:rPr lang="en-US" dirty="0"/>
              <a:t>‘He is being a good teacher.’</a:t>
            </a:r>
          </a:p>
          <a:p>
            <a:pPr marL="0" indent="0">
              <a:buNone/>
            </a:pPr>
            <a:endParaRPr lang="en-GB" dirty="0"/>
          </a:p>
        </p:txBody>
      </p:sp>
    </p:spTree>
    <p:extLst>
      <p:ext uri="{BB962C8B-B14F-4D97-AF65-F5344CB8AC3E}">
        <p14:creationId xmlns:p14="http://schemas.microsoft.com/office/powerpoint/2010/main" val="4242701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pPr algn="ctr"/>
            <a:r>
              <a:rPr lang="en-US" dirty="0"/>
              <a:t>Chinese Activity nouns </a:t>
            </a:r>
            <a:br>
              <a:rPr lang="en-US" dirty="0"/>
            </a:br>
            <a:r>
              <a:rPr lang="en-US" dirty="0"/>
              <a:t>(</a:t>
            </a:r>
            <a:r>
              <a:rPr lang="zh-CN" altLang="en-US" dirty="0"/>
              <a:t>他的老師 </a:t>
            </a:r>
            <a:r>
              <a:rPr lang="en-US" i="1" dirty="0"/>
              <a:t>ta de </a:t>
            </a:r>
            <a:r>
              <a:rPr lang="en-US" i="1" dirty="0" err="1"/>
              <a:t>laoshi</a:t>
            </a:r>
            <a:r>
              <a:rPr lang="en-US" i="1" dirty="0"/>
              <a:t> </a:t>
            </a:r>
            <a:r>
              <a:rPr lang="en-US" dirty="0"/>
              <a:t>vs *</a:t>
            </a:r>
            <a:r>
              <a:rPr lang="zh-TW" altLang="en-US" dirty="0"/>
              <a:t>佢嘅老師 </a:t>
            </a:r>
            <a:r>
              <a:rPr lang="en-US" i="1" dirty="0" err="1"/>
              <a:t>keoi</a:t>
            </a:r>
            <a:r>
              <a:rPr lang="en-US" i="1" dirty="0"/>
              <a:t> </a:t>
            </a:r>
            <a:r>
              <a:rPr lang="en-US" i="1" dirty="0" err="1"/>
              <a:t>ge</a:t>
            </a:r>
            <a:r>
              <a:rPr lang="en-US" i="1" dirty="0"/>
              <a:t> </a:t>
            </a:r>
            <a:r>
              <a:rPr lang="en-US" i="1" dirty="0" err="1"/>
              <a:t>lousi</a:t>
            </a:r>
            <a:r>
              <a:rPr lang="en-US" dirty="0"/>
              <a:t>)</a:t>
            </a:r>
            <a:endParaRPr lang="en-GB" dirty="0"/>
          </a:p>
        </p:txBody>
      </p:sp>
      <p:sp>
        <p:nvSpPr>
          <p:cNvPr id="3" name="Content Placeholder 2"/>
          <p:cNvSpPr>
            <a:spLocks noGrp="1"/>
          </p:cNvSpPr>
          <p:nvPr>
            <p:ph idx="1"/>
          </p:nvPr>
        </p:nvSpPr>
        <p:spPr>
          <a:xfrm>
            <a:off x="838200" y="1325563"/>
            <a:ext cx="10515600" cy="4351338"/>
          </a:xfrm>
        </p:spPr>
        <p:txBody>
          <a:bodyPr/>
          <a:lstStyle/>
          <a:p>
            <a:pPr marL="0" indent="0">
              <a:buNone/>
            </a:pPr>
            <a:r>
              <a:rPr lang="en-US" i="1" dirty="0"/>
              <a:t>de</a:t>
            </a:r>
            <a:r>
              <a:rPr lang="en-US" dirty="0"/>
              <a:t> (</a:t>
            </a:r>
            <a:r>
              <a:rPr lang="zh-CN" altLang="en-US" dirty="0"/>
              <a:t>的</a:t>
            </a:r>
            <a:r>
              <a:rPr lang="en-US" altLang="zh-CN" dirty="0"/>
              <a:t>) vs</a:t>
            </a:r>
            <a:r>
              <a:rPr lang="en-US" altLang="zh-CN" i="1" dirty="0"/>
              <a:t> </a:t>
            </a:r>
            <a:r>
              <a:rPr lang="en-US" altLang="zh-CN" i="1" dirty="0" err="1"/>
              <a:t>ge</a:t>
            </a:r>
            <a:r>
              <a:rPr lang="en-US" altLang="zh-CN" i="1" dirty="0"/>
              <a:t> </a:t>
            </a:r>
            <a:r>
              <a:rPr lang="en-US" altLang="zh-CN" dirty="0"/>
              <a:t>(</a:t>
            </a:r>
            <a:r>
              <a:rPr lang="zh-CN" altLang="en-US" dirty="0"/>
              <a:t>個</a:t>
            </a:r>
            <a:r>
              <a:rPr lang="en-US" altLang="zh-CN" dirty="0"/>
              <a:t>): </a:t>
            </a:r>
            <a:endParaRPr lang="en-GB" dirty="0"/>
          </a:p>
        </p:txBody>
      </p:sp>
      <p:sp>
        <p:nvSpPr>
          <p:cNvPr id="4" name="Content Placeholder 2"/>
          <p:cNvSpPr txBox="1">
            <a:spLocks/>
          </p:cNvSpPr>
          <p:nvPr/>
        </p:nvSpPr>
        <p:spPr>
          <a:xfrm>
            <a:off x="838200" y="6304003"/>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2000" i="1" dirty="0" err="1"/>
              <a:t>ge</a:t>
            </a:r>
            <a:r>
              <a:rPr lang="en-US" altLang="zh-CN" sz="2000" i="1" dirty="0"/>
              <a:t> </a:t>
            </a:r>
            <a:r>
              <a:rPr lang="en-US" altLang="zh-CN" sz="2000" dirty="0"/>
              <a:t>(</a:t>
            </a:r>
            <a:r>
              <a:rPr lang="zh-CN" altLang="en-US" sz="2000" dirty="0"/>
              <a:t>個</a:t>
            </a:r>
            <a:r>
              <a:rPr lang="en-US" altLang="zh-CN" sz="2000" dirty="0"/>
              <a:t>) as classifier has count and individualizing function -&gt;  </a:t>
            </a:r>
            <a:endParaRPr lang="en-GB" sz="2000" dirty="0"/>
          </a:p>
        </p:txBody>
      </p:sp>
      <p:sp>
        <p:nvSpPr>
          <p:cNvPr id="5" name="Rectangle 4"/>
          <p:cNvSpPr/>
          <p:nvPr/>
        </p:nvSpPr>
        <p:spPr>
          <a:xfrm>
            <a:off x="838200" y="1784503"/>
            <a:ext cx="10515600" cy="3416320"/>
          </a:xfrm>
          <a:prstGeom prst="rect">
            <a:avLst/>
          </a:prstGeom>
        </p:spPr>
        <p:txBody>
          <a:bodyPr wrap="square">
            <a:spAutoFit/>
          </a:bodyPr>
          <a:lstStyle/>
          <a:p>
            <a:r>
              <a:rPr lang="zh-CN" altLang="en-US" dirty="0"/>
              <a:t>只    道   自己 的  鐧     與   槍             舞      得       好</a:t>
            </a:r>
            <a:endParaRPr lang="en-US" altLang="zh-CN" dirty="0"/>
          </a:p>
          <a:p>
            <a:r>
              <a:rPr lang="en-US" altLang="zh-CN" dirty="0" err="1"/>
              <a:t>zhi</a:t>
            </a:r>
            <a:r>
              <a:rPr lang="en-US" altLang="zh-CN" dirty="0"/>
              <a:t>   </a:t>
            </a:r>
            <a:r>
              <a:rPr lang="en-US" altLang="zh-CN" dirty="0" err="1"/>
              <a:t>dao</a:t>
            </a:r>
            <a:r>
              <a:rPr lang="en-US" altLang="zh-CN" dirty="0"/>
              <a:t>  </a:t>
            </a:r>
            <a:r>
              <a:rPr lang="en-US" altLang="zh-CN" dirty="0" err="1"/>
              <a:t>ziji</a:t>
            </a:r>
            <a:r>
              <a:rPr lang="en-US" altLang="zh-CN" dirty="0"/>
              <a:t>    de  </a:t>
            </a:r>
            <a:r>
              <a:rPr lang="en-US" altLang="zh-CN" dirty="0" err="1"/>
              <a:t>jian</a:t>
            </a:r>
            <a:r>
              <a:rPr lang="en-US" altLang="zh-CN" dirty="0"/>
              <a:t>   </a:t>
            </a:r>
            <a:r>
              <a:rPr lang="en-US" altLang="zh-CN" dirty="0" err="1"/>
              <a:t>yu</a:t>
            </a:r>
            <a:r>
              <a:rPr lang="en-US" altLang="zh-CN" dirty="0"/>
              <a:t>   </a:t>
            </a:r>
            <a:r>
              <a:rPr lang="en-US" altLang="zh-CN" dirty="0" err="1"/>
              <a:t>jiang</a:t>
            </a:r>
            <a:r>
              <a:rPr lang="en-US" altLang="zh-CN" dirty="0"/>
              <a:t>         </a:t>
            </a:r>
            <a:r>
              <a:rPr lang="en-US" altLang="zh-CN" dirty="0" err="1"/>
              <a:t>wu</a:t>
            </a:r>
            <a:r>
              <a:rPr lang="en-US" altLang="zh-CN" dirty="0"/>
              <a:t>     de        </a:t>
            </a:r>
            <a:r>
              <a:rPr lang="en-US" altLang="zh-CN" dirty="0" err="1"/>
              <a:t>hao</a:t>
            </a:r>
            <a:endParaRPr lang="en-US" altLang="zh-CN" dirty="0"/>
          </a:p>
          <a:p>
            <a:r>
              <a:rPr lang="en-US" altLang="zh-CN" dirty="0"/>
              <a:t>only say  self   DE arms and weapons wield COMP well</a:t>
            </a:r>
          </a:p>
          <a:p>
            <a:r>
              <a:rPr lang="en-US" dirty="0"/>
              <a:t>‘thinking that he wields his arms and weapons well.’ (</a:t>
            </a:r>
            <a:r>
              <a:rPr lang="zh-CN" altLang="en-US" dirty="0"/>
              <a:t>隋唐演義</a:t>
            </a:r>
            <a:r>
              <a:rPr lang="en-US" altLang="zh-CN" dirty="0"/>
              <a:t>)</a:t>
            </a:r>
          </a:p>
          <a:p>
            <a:r>
              <a:rPr lang="zh-CN" altLang="en-US" dirty="0"/>
              <a:t>他  的 棋子  雖然        下    得        極              高</a:t>
            </a:r>
            <a:endParaRPr lang="en-US" altLang="zh-CN" dirty="0"/>
          </a:p>
          <a:p>
            <a:r>
              <a:rPr lang="en-US" altLang="zh-CN" dirty="0"/>
              <a:t>ta   de </a:t>
            </a:r>
            <a:r>
              <a:rPr lang="en-US" altLang="zh-CN" dirty="0" err="1"/>
              <a:t>qizi</a:t>
            </a:r>
            <a:r>
              <a:rPr lang="en-US" altLang="zh-CN" dirty="0"/>
              <a:t>     </a:t>
            </a:r>
            <a:r>
              <a:rPr lang="en-US" altLang="zh-CN" dirty="0" err="1"/>
              <a:t>suiran</a:t>
            </a:r>
            <a:r>
              <a:rPr lang="en-US" altLang="zh-CN" dirty="0"/>
              <a:t>      </a:t>
            </a:r>
            <a:r>
              <a:rPr lang="en-US" altLang="zh-CN" dirty="0" err="1"/>
              <a:t>xia</a:t>
            </a:r>
            <a:r>
              <a:rPr lang="en-US" altLang="zh-CN" dirty="0"/>
              <a:t>   de        </a:t>
            </a:r>
            <a:r>
              <a:rPr lang="en-US" altLang="zh-CN" dirty="0" err="1"/>
              <a:t>ji</a:t>
            </a:r>
            <a:r>
              <a:rPr lang="en-US" altLang="zh-CN" dirty="0"/>
              <a:t>                </a:t>
            </a:r>
            <a:r>
              <a:rPr lang="en-US" altLang="zh-CN" dirty="0" err="1"/>
              <a:t>gao</a:t>
            </a:r>
            <a:endParaRPr lang="en-US" altLang="zh-CN" dirty="0"/>
          </a:p>
          <a:p>
            <a:r>
              <a:rPr lang="en-US" altLang="zh-CN" dirty="0"/>
              <a:t>his DE chess although play COMP extremely well</a:t>
            </a:r>
          </a:p>
          <a:p>
            <a:r>
              <a:rPr lang="en-US" dirty="0"/>
              <a:t>‘Although he plays well extremely well…’ (</a:t>
            </a:r>
            <a:r>
              <a:rPr lang="zh-CN" altLang="en-US" dirty="0"/>
              <a:t>二十年目睹之怪現狀</a:t>
            </a:r>
            <a:r>
              <a:rPr lang="en-US" altLang="zh-CN" dirty="0"/>
              <a:t>)</a:t>
            </a:r>
          </a:p>
          <a:p>
            <a:r>
              <a:rPr lang="zh-CN" altLang="en-US" dirty="0"/>
              <a:t>貴     教師      的  中國          話             說      得        很     好</a:t>
            </a:r>
            <a:endParaRPr lang="en-US" altLang="zh-CN" dirty="0"/>
          </a:p>
          <a:p>
            <a:r>
              <a:rPr lang="en-US" altLang="zh-CN" dirty="0" err="1"/>
              <a:t>gui</a:t>
            </a:r>
            <a:r>
              <a:rPr lang="en-US" altLang="zh-CN" dirty="0"/>
              <a:t>    </a:t>
            </a:r>
            <a:r>
              <a:rPr lang="en-US" altLang="zh-CN" dirty="0" err="1"/>
              <a:t>jiaoshi</a:t>
            </a:r>
            <a:r>
              <a:rPr lang="en-US" altLang="zh-CN" dirty="0"/>
              <a:t>   de  </a:t>
            </a:r>
            <a:r>
              <a:rPr lang="en-US" altLang="zh-CN" dirty="0" err="1"/>
              <a:t>zhongguo</a:t>
            </a:r>
            <a:r>
              <a:rPr lang="en-US" altLang="zh-CN" dirty="0"/>
              <a:t>  </a:t>
            </a:r>
            <a:r>
              <a:rPr lang="en-US" altLang="zh-CN" dirty="0" err="1"/>
              <a:t>hua</a:t>
            </a:r>
            <a:r>
              <a:rPr lang="en-US" altLang="zh-CN" dirty="0"/>
              <a:t>          </a:t>
            </a:r>
            <a:r>
              <a:rPr lang="en-US" altLang="zh-CN" dirty="0" err="1"/>
              <a:t>shuo</a:t>
            </a:r>
            <a:r>
              <a:rPr lang="en-US" altLang="zh-CN" dirty="0"/>
              <a:t>   de       hen  </a:t>
            </a:r>
            <a:r>
              <a:rPr lang="en-US" altLang="zh-CN" dirty="0" err="1"/>
              <a:t>hao</a:t>
            </a:r>
            <a:endParaRPr lang="en-US" altLang="zh-CN" dirty="0"/>
          </a:p>
          <a:p>
            <a:r>
              <a:rPr lang="en-US" altLang="zh-CN" dirty="0"/>
              <a:t>your teacher DE  China         language speak COMP very well</a:t>
            </a:r>
          </a:p>
          <a:p>
            <a:r>
              <a:rPr lang="en-US" dirty="0"/>
              <a:t>‘You teacher speaks Chinese very well’ (</a:t>
            </a:r>
            <a:r>
              <a:rPr lang="zh-CN" altLang="en-US" dirty="0"/>
              <a:t>文明小史，第十三囘</a:t>
            </a:r>
            <a:r>
              <a:rPr lang="en-US" altLang="zh-CN" dirty="0"/>
              <a:t>)</a:t>
            </a:r>
            <a:endParaRPr lang="en-GB" dirty="0"/>
          </a:p>
        </p:txBody>
      </p:sp>
      <p:sp>
        <p:nvSpPr>
          <p:cNvPr id="6" name="Rectangle 5"/>
          <p:cNvSpPr/>
          <p:nvPr/>
        </p:nvSpPr>
        <p:spPr>
          <a:xfrm>
            <a:off x="838200" y="5103674"/>
            <a:ext cx="11353800" cy="1200329"/>
          </a:xfrm>
          <a:prstGeom prst="rect">
            <a:avLst/>
          </a:prstGeom>
        </p:spPr>
        <p:txBody>
          <a:bodyPr wrap="square">
            <a:spAutoFit/>
          </a:bodyPr>
          <a:lstStyle/>
          <a:p>
            <a:r>
              <a:rPr lang="zh-CN" altLang="en-US" dirty="0"/>
              <a:t>後面        個 僧       祗    對        看</a:t>
            </a:r>
            <a:r>
              <a:rPr lang="en-US" altLang="zh-CN" dirty="0"/>
              <a:t>			    </a:t>
            </a:r>
            <a:r>
              <a:rPr lang="zh-CN" altLang="en-US" dirty="0"/>
              <a:t>但   只     硬    把     定    中間         個  心</a:t>
            </a:r>
            <a:endParaRPr lang="en-US" altLang="zh-CN" dirty="0"/>
          </a:p>
          <a:p>
            <a:r>
              <a:rPr lang="en-US" altLang="zh-CN" dirty="0" err="1"/>
              <a:t>houmian</a:t>
            </a:r>
            <a:r>
              <a:rPr lang="en-US" altLang="zh-CN" dirty="0"/>
              <a:t> </a:t>
            </a:r>
            <a:r>
              <a:rPr lang="en-US" altLang="zh-CN" dirty="0" err="1"/>
              <a:t>ge</a:t>
            </a:r>
            <a:r>
              <a:rPr lang="en-US" altLang="zh-CN" dirty="0"/>
              <a:t> </a:t>
            </a:r>
            <a:r>
              <a:rPr lang="en-US" altLang="zh-CN" dirty="0" err="1"/>
              <a:t>seng</a:t>
            </a:r>
            <a:r>
              <a:rPr lang="en-US" altLang="zh-CN" dirty="0"/>
              <a:t>   </a:t>
            </a:r>
            <a:r>
              <a:rPr lang="en-US" altLang="zh-CN" dirty="0" err="1"/>
              <a:t>zhi</a:t>
            </a:r>
            <a:r>
              <a:rPr lang="en-US" altLang="zh-CN" dirty="0"/>
              <a:t>    dui      </a:t>
            </a:r>
            <a:r>
              <a:rPr lang="en-US" altLang="zh-CN" dirty="0" err="1"/>
              <a:t>kan</a:t>
            </a:r>
            <a:r>
              <a:rPr lang="en-US" altLang="zh-CN" dirty="0"/>
              <a:t>			    </a:t>
            </a:r>
            <a:r>
              <a:rPr lang="en-US" altLang="zh-CN" dirty="0" err="1"/>
              <a:t>dan</a:t>
            </a:r>
            <a:r>
              <a:rPr lang="en-US" altLang="zh-CN" dirty="0"/>
              <a:t> </a:t>
            </a:r>
            <a:r>
              <a:rPr lang="en-US" altLang="zh-CN" dirty="0" err="1"/>
              <a:t>zhi</a:t>
            </a:r>
            <a:r>
              <a:rPr lang="en-US" altLang="zh-CN" dirty="0"/>
              <a:t>    </a:t>
            </a:r>
            <a:r>
              <a:rPr lang="en-US" altLang="zh-CN" dirty="0" err="1"/>
              <a:t>ying</a:t>
            </a:r>
            <a:r>
              <a:rPr lang="en-US" altLang="zh-CN" dirty="0"/>
              <a:t>  </a:t>
            </a:r>
            <a:r>
              <a:rPr lang="en-US" altLang="zh-CN" dirty="0" err="1"/>
              <a:t>ba</a:t>
            </a:r>
            <a:r>
              <a:rPr lang="en-US" altLang="zh-CN" dirty="0"/>
              <a:t>    ding </a:t>
            </a:r>
            <a:r>
              <a:rPr lang="en-US" altLang="zh-CN" dirty="0" err="1"/>
              <a:t>zhongjian</a:t>
            </a:r>
            <a:r>
              <a:rPr lang="en-US" altLang="zh-CN" dirty="0"/>
              <a:t> </a:t>
            </a:r>
            <a:r>
              <a:rPr lang="en-US" altLang="zh-CN" dirty="0" err="1"/>
              <a:t>ge</a:t>
            </a:r>
            <a:r>
              <a:rPr lang="en-US" altLang="zh-CN" dirty="0"/>
              <a:t>  </a:t>
            </a:r>
            <a:r>
              <a:rPr lang="en-US" altLang="zh-CN" dirty="0" err="1"/>
              <a:t>xin</a:t>
            </a:r>
            <a:endParaRPr lang="en-US" altLang="zh-CN" dirty="0"/>
          </a:p>
          <a:p>
            <a:r>
              <a:rPr lang="en-US" altLang="zh-CN" dirty="0"/>
              <a:t>behind    GE monk only facing watch			    but  only hard hold firm middle      GE heart</a:t>
            </a:r>
          </a:p>
          <a:p>
            <a:r>
              <a:rPr lang="en-US" dirty="0"/>
              <a:t>‘The monk behind you can only stare.’ (</a:t>
            </a:r>
            <a:r>
              <a:rPr lang="zh-CN" altLang="en-US" dirty="0"/>
              <a:t>景德傳燈錄，卷八</a:t>
            </a:r>
            <a:r>
              <a:rPr lang="en-US" altLang="zh-CN" dirty="0"/>
              <a:t>)  </a:t>
            </a:r>
            <a:r>
              <a:rPr lang="en-US" dirty="0"/>
              <a:t>‘</a:t>
            </a:r>
            <a:r>
              <a:rPr lang="en-US" altLang="zh-CN" dirty="0"/>
              <a:t>But holding the heart in the middle tight…’ (</a:t>
            </a:r>
            <a:r>
              <a:rPr lang="zh-CN" altLang="en-US" dirty="0"/>
              <a:t>朱子語類）</a:t>
            </a:r>
            <a:endParaRPr lang="en-GB" dirty="0"/>
          </a:p>
        </p:txBody>
      </p:sp>
      <p:sp>
        <p:nvSpPr>
          <p:cNvPr id="7" name="Rectangle 6"/>
          <p:cNvSpPr/>
          <p:nvPr/>
        </p:nvSpPr>
        <p:spPr>
          <a:xfrm>
            <a:off x="7103704" y="6178823"/>
            <a:ext cx="5434263" cy="707886"/>
          </a:xfrm>
          <a:prstGeom prst="rect">
            <a:avLst/>
          </a:prstGeom>
        </p:spPr>
        <p:txBody>
          <a:bodyPr wrap="square">
            <a:spAutoFit/>
          </a:bodyPr>
          <a:lstStyle/>
          <a:p>
            <a:r>
              <a:rPr lang="en-US" altLang="zh-CN" sz="2000" i="1" dirty="0" err="1"/>
              <a:t>ge</a:t>
            </a:r>
            <a:r>
              <a:rPr lang="en-US" altLang="zh-CN" sz="2000" dirty="0"/>
              <a:t> cannot select Activity NP </a:t>
            </a:r>
          </a:p>
          <a:p>
            <a:r>
              <a:rPr lang="en-US" altLang="zh-CN" sz="2000" dirty="0"/>
              <a:t>(abstract, non-delimited)</a:t>
            </a:r>
            <a:endParaRPr lang="en-GB" sz="2000" dirty="0"/>
          </a:p>
        </p:txBody>
      </p:sp>
      <p:sp>
        <p:nvSpPr>
          <p:cNvPr id="8" name="Content Placeholder 2"/>
          <p:cNvSpPr txBox="1">
            <a:spLocks/>
          </p:cNvSpPr>
          <p:nvPr/>
        </p:nvSpPr>
        <p:spPr>
          <a:xfrm>
            <a:off x="7802598" y="482679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800" dirty="0"/>
              <a:t>個 </a:t>
            </a:r>
            <a:r>
              <a:rPr lang="en-US" altLang="zh-CN" sz="1800" dirty="0"/>
              <a:t>(general classifier) (CL) (</a:t>
            </a:r>
            <a:r>
              <a:rPr lang="zh-CN" altLang="en-US" sz="1800" dirty="0"/>
              <a:t>曹 </a:t>
            </a:r>
            <a:r>
              <a:rPr lang="en-US" altLang="zh-CN" sz="1800" dirty="0"/>
              <a:t>1995; </a:t>
            </a:r>
            <a:r>
              <a:rPr lang="zh-CN" altLang="en-US" sz="1800" dirty="0"/>
              <a:t>李 </a:t>
            </a:r>
            <a:r>
              <a:rPr lang="en-US" altLang="zh-CN" sz="1800" dirty="0"/>
              <a:t>2016) </a:t>
            </a:r>
            <a:endParaRPr lang="en-GB" sz="1800" dirty="0"/>
          </a:p>
        </p:txBody>
      </p:sp>
      <p:sp>
        <p:nvSpPr>
          <p:cNvPr id="9" name="Content Placeholder 2"/>
          <p:cNvSpPr txBox="1">
            <a:spLocks/>
          </p:cNvSpPr>
          <p:nvPr/>
        </p:nvSpPr>
        <p:spPr>
          <a:xfrm>
            <a:off x="6768353" y="1784503"/>
            <a:ext cx="542364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800" dirty="0"/>
              <a:t>的 </a:t>
            </a:r>
            <a:r>
              <a:rPr lang="en-US" altLang="zh-CN" sz="1800" i="1" dirty="0"/>
              <a:t>de</a:t>
            </a:r>
            <a:r>
              <a:rPr lang="en-US" altLang="zh-CN" sz="1800" dirty="0"/>
              <a:t> &lt; </a:t>
            </a:r>
            <a:r>
              <a:rPr lang="zh-CN" altLang="en-US" sz="1800" dirty="0"/>
              <a:t>底 </a:t>
            </a:r>
            <a:r>
              <a:rPr lang="en-US" altLang="zh-CN" sz="1800" i="1" dirty="0"/>
              <a:t>di</a:t>
            </a:r>
            <a:r>
              <a:rPr lang="en-US" altLang="zh-CN" sz="1800" dirty="0"/>
              <a:t> &lt; </a:t>
            </a:r>
            <a:r>
              <a:rPr lang="zh-CN" altLang="en-US" sz="1800" dirty="0"/>
              <a:t>者 </a:t>
            </a:r>
            <a:r>
              <a:rPr lang="en-US" altLang="zh-CN" sz="1800" dirty="0"/>
              <a:t>(d-: </a:t>
            </a:r>
            <a:r>
              <a:rPr lang="zh-CN" altLang="en-US" sz="1800" dirty="0"/>
              <a:t>堵</a:t>
            </a:r>
            <a:r>
              <a:rPr lang="en-US" altLang="zh-CN" sz="1800" dirty="0"/>
              <a:t>/</a:t>
            </a:r>
            <a:r>
              <a:rPr lang="zh-CN" altLang="en-US" sz="1800" dirty="0"/>
              <a:t>賭</a:t>
            </a:r>
            <a:r>
              <a:rPr lang="en-US" altLang="zh-CN" sz="1800" dirty="0"/>
              <a:t>/</a:t>
            </a:r>
            <a:r>
              <a:rPr lang="zh-CN" altLang="en-US" sz="1800" dirty="0"/>
              <a:t>睹 </a:t>
            </a:r>
            <a:r>
              <a:rPr lang="en-US" altLang="zh-CN" sz="1800" i="1" dirty="0"/>
              <a:t>du</a:t>
            </a:r>
            <a:r>
              <a:rPr lang="en-US" altLang="zh-CN" sz="1800" dirty="0"/>
              <a:t>) </a:t>
            </a:r>
          </a:p>
          <a:p>
            <a:pPr marL="0" indent="0">
              <a:buFont typeface="Arial" panose="020B0604020202020204" pitchFamily="34" charset="0"/>
              <a:buNone/>
            </a:pPr>
            <a:r>
              <a:rPr lang="en-US" altLang="zh-CN" sz="1800" dirty="0"/>
              <a:t>(phrase-final </a:t>
            </a:r>
            <a:r>
              <a:rPr lang="en-US" altLang="zh-CN" sz="1800" dirty="0" err="1"/>
              <a:t>nominaliser</a:t>
            </a:r>
            <a:r>
              <a:rPr lang="en-US" altLang="zh-CN" sz="1800" dirty="0"/>
              <a:t>: XP-n &gt; phrase-medial marker </a:t>
            </a:r>
          </a:p>
          <a:p>
            <a:pPr marL="0" indent="0">
              <a:buFont typeface="Arial" panose="020B0604020202020204" pitchFamily="34" charset="0"/>
              <a:buNone/>
            </a:pPr>
            <a:r>
              <a:rPr lang="en-US" altLang="zh-CN" sz="1800" dirty="0"/>
              <a:t>				    (POSS/MOD))      </a:t>
            </a:r>
          </a:p>
          <a:p>
            <a:pPr marL="0" indent="0">
              <a:buFont typeface="Arial" panose="020B0604020202020204" pitchFamily="34" charset="0"/>
              <a:buNone/>
            </a:pPr>
            <a:r>
              <a:rPr lang="en-US" altLang="zh-CN" sz="1800" dirty="0"/>
              <a:t>			(</a:t>
            </a:r>
            <a:r>
              <a:rPr lang="zh-CN" altLang="en-US" sz="1800" dirty="0"/>
              <a:t>劉 </a:t>
            </a:r>
            <a:r>
              <a:rPr lang="en-US" altLang="zh-CN" sz="1800" dirty="0"/>
              <a:t>2008; Aldridge 2009) </a:t>
            </a:r>
            <a:endParaRPr lang="en-GB" sz="1800" dirty="0"/>
          </a:p>
        </p:txBody>
      </p:sp>
    </p:spTree>
    <p:extLst>
      <p:ext uri="{BB962C8B-B14F-4D97-AF65-F5344CB8AC3E}">
        <p14:creationId xmlns:p14="http://schemas.microsoft.com/office/powerpoint/2010/main" val="1946103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7" grpId="0"/>
      <p:bldP spid="8" grpId="0"/>
      <p:bldP spid="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Chinese Activity Constructions (Light Verbs) </a:t>
            </a:r>
            <a:endParaRPr lang="en-GB" dirty="0"/>
          </a:p>
        </p:txBody>
      </p:sp>
      <p:sp>
        <p:nvSpPr>
          <p:cNvPr id="4" name="Rectangle 3"/>
          <p:cNvSpPr/>
          <p:nvPr/>
        </p:nvSpPr>
        <p:spPr>
          <a:xfrm>
            <a:off x="6828778" y="3024316"/>
            <a:ext cx="2747868" cy="523220"/>
          </a:xfrm>
          <a:prstGeom prst="rect">
            <a:avLst/>
          </a:prstGeom>
        </p:spPr>
        <p:txBody>
          <a:bodyPr wrap="none">
            <a:spAutoFit/>
          </a:bodyPr>
          <a:lstStyle/>
          <a:p>
            <a:r>
              <a:rPr lang="en-GB" sz="2800" dirty="0"/>
              <a:t>DO + DONE + VP  </a:t>
            </a:r>
          </a:p>
        </p:txBody>
      </p:sp>
      <p:sp>
        <p:nvSpPr>
          <p:cNvPr id="5" name="Content Placeholder 2"/>
          <p:cNvSpPr txBox="1">
            <a:spLocks/>
          </p:cNvSpPr>
          <p:nvPr/>
        </p:nvSpPr>
        <p:spPr>
          <a:xfrm>
            <a:off x="3897034" y="4980161"/>
            <a:ext cx="375733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300" dirty="0"/>
              <a:t>Actor (</a:t>
            </a:r>
            <a:r>
              <a:rPr lang="zh-CN" altLang="en-US" sz="2300" dirty="0"/>
              <a:t>他 </a:t>
            </a:r>
            <a:r>
              <a:rPr lang="en-US" altLang="zh-CN" sz="2300" i="1" dirty="0"/>
              <a:t>ta</a:t>
            </a:r>
            <a:r>
              <a:rPr lang="en-US" altLang="zh-CN" sz="2300" dirty="0"/>
              <a:t>/</a:t>
            </a:r>
            <a:r>
              <a:rPr lang="zh-TW" altLang="en-US" sz="2300" dirty="0"/>
              <a:t>佢 </a:t>
            </a:r>
            <a:r>
              <a:rPr lang="en-US" altLang="zh-TW" sz="2300" i="1" dirty="0" err="1"/>
              <a:t>keoi</a:t>
            </a:r>
            <a:r>
              <a:rPr lang="en-US" altLang="zh-TW" sz="2300" i="1" dirty="0"/>
              <a:t> </a:t>
            </a:r>
            <a:r>
              <a:rPr lang="en-US" altLang="zh-TW" sz="2300" dirty="0"/>
              <a:t>‘he’) raised to </a:t>
            </a:r>
            <a:r>
              <a:rPr lang="en-US" altLang="zh-TW" sz="2300" dirty="0" err="1"/>
              <a:t>SpecDO</a:t>
            </a:r>
            <a:r>
              <a:rPr lang="en-US" altLang="zh-TW" sz="2300" dirty="0"/>
              <a:t> from Activity </a:t>
            </a:r>
            <a:r>
              <a:rPr lang="en-US" altLang="zh-CN" sz="2300" dirty="0"/>
              <a:t>Phrase </a:t>
            </a:r>
            <a:r>
              <a:rPr lang="en-US" sz="2300" dirty="0"/>
              <a:t>(</a:t>
            </a:r>
            <a:r>
              <a:rPr lang="zh-CN" altLang="en-US" sz="2300" dirty="0"/>
              <a:t>他的老師  </a:t>
            </a:r>
            <a:r>
              <a:rPr lang="en-US" altLang="zh-CN" sz="2300" i="1" dirty="0"/>
              <a:t>ta de </a:t>
            </a:r>
            <a:r>
              <a:rPr lang="en-US" altLang="zh-CN" sz="2300" i="1" dirty="0" err="1"/>
              <a:t>laoshi</a:t>
            </a:r>
            <a:r>
              <a:rPr lang="en-US" altLang="zh-CN" sz="2300" dirty="0"/>
              <a:t>/</a:t>
            </a:r>
            <a:r>
              <a:rPr lang="zh-TW" altLang="en-US" sz="2300" dirty="0"/>
              <a:t>佢嘅老師 </a:t>
            </a:r>
            <a:r>
              <a:rPr lang="en-US" altLang="zh-TW" sz="2300" i="1" dirty="0" err="1"/>
              <a:t>keoi</a:t>
            </a:r>
            <a:r>
              <a:rPr lang="en-US" altLang="zh-TW" sz="2300" i="1" dirty="0"/>
              <a:t> </a:t>
            </a:r>
            <a:r>
              <a:rPr lang="en-US" altLang="zh-TW" sz="2300" i="1" dirty="0" err="1"/>
              <a:t>ge</a:t>
            </a:r>
            <a:r>
              <a:rPr lang="en-US" altLang="zh-TW" sz="2300" i="1" dirty="0"/>
              <a:t> </a:t>
            </a:r>
            <a:r>
              <a:rPr lang="en-US" altLang="zh-TW" sz="2300" i="1" dirty="0" err="1"/>
              <a:t>lousi</a:t>
            </a:r>
            <a:r>
              <a:rPr lang="en-US" altLang="zh-TW" sz="2300" i="1" dirty="0"/>
              <a:t> </a:t>
            </a:r>
            <a:r>
              <a:rPr lang="en-US" altLang="zh-TW" sz="2300" dirty="0"/>
              <a:t>‘he being a teacher’) in </a:t>
            </a:r>
            <a:r>
              <a:rPr lang="en-US" altLang="zh-TW" sz="2300" dirty="0" err="1"/>
              <a:t>SpecDONE</a:t>
            </a:r>
            <a:r>
              <a:rPr lang="en-US" altLang="zh-TW" sz="2300" dirty="0"/>
              <a:t> </a:t>
            </a:r>
          </a:p>
        </p:txBody>
      </p:sp>
      <p:sp>
        <p:nvSpPr>
          <p:cNvPr id="6" name="Rectangle 5"/>
          <p:cNvSpPr/>
          <p:nvPr/>
        </p:nvSpPr>
        <p:spPr>
          <a:xfrm>
            <a:off x="4058901" y="4126926"/>
            <a:ext cx="7720264" cy="954107"/>
          </a:xfrm>
          <a:prstGeom prst="rect">
            <a:avLst/>
          </a:prstGeom>
        </p:spPr>
        <p:txBody>
          <a:bodyPr wrap="square">
            <a:spAutoFit/>
          </a:bodyPr>
          <a:lstStyle/>
          <a:p>
            <a:r>
              <a:rPr lang="en-US" altLang="zh-CN" sz="2800" dirty="0"/>
              <a:t>[DO-P ta dang </a:t>
            </a:r>
            <a:r>
              <a:rPr lang="en-US" altLang="zh-CN" sz="2000" dirty="0" err="1"/>
              <a:t>i</a:t>
            </a:r>
            <a:r>
              <a:rPr lang="en-US" altLang="zh-CN" sz="2800" dirty="0"/>
              <a:t>  [DONE-P ta de </a:t>
            </a:r>
            <a:r>
              <a:rPr lang="en-US" altLang="zh-CN" sz="2800" dirty="0" err="1"/>
              <a:t>laoshi</a:t>
            </a:r>
            <a:r>
              <a:rPr lang="en-US" altLang="zh-CN" sz="2800" dirty="0"/>
              <a:t> dang </a:t>
            </a:r>
            <a:r>
              <a:rPr lang="en-US" altLang="zh-CN" sz="2000" dirty="0" err="1"/>
              <a:t>i</a:t>
            </a:r>
            <a:r>
              <a:rPr lang="en-US" altLang="zh-CN" sz="2800" dirty="0"/>
              <a:t> [VP t </a:t>
            </a:r>
            <a:r>
              <a:rPr lang="en-US" altLang="zh-CN" sz="2000" dirty="0" err="1"/>
              <a:t>i</a:t>
            </a:r>
            <a:r>
              <a:rPr lang="en-US" altLang="zh-CN" sz="2800" dirty="0"/>
              <a:t> ]]</a:t>
            </a:r>
          </a:p>
          <a:p>
            <a:r>
              <a:rPr lang="en-US" altLang="zh-CN" sz="2800" dirty="0"/>
              <a:t>[DO-P </a:t>
            </a:r>
            <a:r>
              <a:rPr lang="en-US" altLang="zh-CN" sz="2800" dirty="0" err="1"/>
              <a:t>keoi</a:t>
            </a:r>
            <a:r>
              <a:rPr lang="en-US" altLang="zh-CN" sz="2800" dirty="0"/>
              <a:t> </a:t>
            </a:r>
            <a:r>
              <a:rPr lang="en-US" altLang="zh-CN" sz="2800" dirty="0" err="1"/>
              <a:t>zou</a:t>
            </a:r>
            <a:r>
              <a:rPr lang="en-US" altLang="zh-CN" sz="2800" dirty="0"/>
              <a:t> </a:t>
            </a:r>
            <a:r>
              <a:rPr lang="en-US" altLang="zh-CN" sz="2000" dirty="0" err="1"/>
              <a:t>i</a:t>
            </a:r>
            <a:r>
              <a:rPr lang="en-US" altLang="zh-CN" sz="2800" dirty="0"/>
              <a:t> [DONE-P </a:t>
            </a:r>
            <a:r>
              <a:rPr lang="en-US" altLang="zh-CN" sz="2800" dirty="0" err="1"/>
              <a:t>keoi</a:t>
            </a:r>
            <a:r>
              <a:rPr lang="en-US" altLang="zh-CN" sz="2800" dirty="0"/>
              <a:t> </a:t>
            </a:r>
            <a:r>
              <a:rPr lang="en-US" altLang="zh-CN" sz="2800" dirty="0" err="1"/>
              <a:t>ge</a:t>
            </a:r>
            <a:r>
              <a:rPr lang="en-US" altLang="zh-CN" sz="2800" dirty="0"/>
              <a:t> </a:t>
            </a:r>
            <a:r>
              <a:rPr lang="en-US" altLang="zh-CN" sz="2800" dirty="0" err="1"/>
              <a:t>lousi</a:t>
            </a:r>
            <a:r>
              <a:rPr lang="en-US" altLang="zh-CN" sz="2800" dirty="0"/>
              <a:t> </a:t>
            </a:r>
            <a:r>
              <a:rPr lang="en-US" altLang="zh-CN" sz="2800" dirty="0" err="1"/>
              <a:t>zou</a:t>
            </a:r>
            <a:r>
              <a:rPr lang="en-US" altLang="zh-CN" sz="2800" dirty="0"/>
              <a:t> </a:t>
            </a:r>
            <a:r>
              <a:rPr lang="en-US" altLang="zh-CN" sz="2000" dirty="0" err="1"/>
              <a:t>i</a:t>
            </a:r>
            <a:r>
              <a:rPr lang="en-US" altLang="zh-CN" sz="2800" dirty="0"/>
              <a:t>  [VP t </a:t>
            </a:r>
            <a:r>
              <a:rPr lang="en-US" altLang="zh-CN" sz="2000" dirty="0" err="1"/>
              <a:t>i</a:t>
            </a:r>
            <a:r>
              <a:rPr lang="en-US" altLang="zh-CN" sz="2800" dirty="0"/>
              <a:t> ]]</a:t>
            </a:r>
          </a:p>
        </p:txBody>
      </p:sp>
      <p:sp>
        <p:nvSpPr>
          <p:cNvPr id="7" name="Content Placeholder 2"/>
          <p:cNvSpPr txBox="1">
            <a:spLocks/>
          </p:cNvSpPr>
          <p:nvPr/>
        </p:nvSpPr>
        <p:spPr>
          <a:xfrm>
            <a:off x="4706793" y="3442968"/>
            <a:ext cx="748763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Theta-criterion: one theta-role per argument          (</a:t>
            </a:r>
            <a:r>
              <a:rPr lang="zh-CN" altLang="en-US" dirty="0"/>
              <a:t>胡 </a:t>
            </a:r>
            <a:r>
              <a:rPr lang="en-US" altLang="zh-CN" dirty="0"/>
              <a:t>2016, </a:t>
            </a:r>
            <a:r>
              <a:rPr lang="en-US" altLang="zh-CN" dirty="0" err="1"/>
              <a:t>cf</a:t>
            </a:r>
            <a:r>
              <a:rPr lang="en-US" altLang="zh-CN" dirty="0"/>
              <a:t> </a:t>
            </a:r>
            <a:r>
              <a:rPr lang="en-US" dirty="0"/>
              <a:t>Chomsky (1981))</a:t>
            </a:r>
            <a:endParaRPr lang="en-GB" dirty="0"/>
          </a:p>
        </p:txBody>
      </p:sp>
      <p:sp>
        <p:nvSpPr>
          <p:cNvPr id="8" name="Rectangle 7"/>
          <p:cNvSpPr/>
          <p:nvPr/>
        </p:nvSpPr>
        <p:spPr>
          <a:xfrm>
            <a:off x="-11215" y="3442968"/>
            <a:ext cx="1598515" cy="892552"/>
          </a:xfrm>
          <a:prstGeom prst="rect">
            <a:avLst/>
          </a:prstGeom>
        </p:spPr>
        <p:txBody>
          <a:bodyPr wrap="none">
            <a:spAutoFit/>
          </a:bodyPr>
          <a:lstStyle/>
          <a:p>
            <a:r>
              <a:rPr lang="en-GB" sz="2600" dirty="0"/>
              <a:t>Actor </a:t>
            </a:r>
          </a:p>
          <a:p>
            <a:r>
              <a:rPr lang="en-GB" sz="2600" dirty="0"/>
              <a:t>(</a:t>
            </a:r>
            <a:r>
              <a:rPr lang="en-GB" sz="2600" dirty="0" err="1"/>
              <a:t>SpecDO</a:t>
            </a:r>
            <a:r>
              <a:rPr lang="en-GB" sz="2600" dirty="0"/>
              <a:t>)  </a:t>
            </a:r>
          </a:p>
        </p:txBody>
      </p:sp>
      <p:sp>
        <p:nvSpPr>
          <p:cNvPr id="9" name="Rectangle 8"/>
          <p:cNvSpPr/>
          <p:nvPr/>
        </p:nvSpPr>
        <p:spPr>
          <a:xfrm>
            <a:off x="2232760" y="3442968"/>
            <a:ext cx="1826141" cy="892552"/>
          </a:xfrm>
          <a:prstGeom prst="rect">
            <a:avLst/>
          </a:prstGeom>
        </p:spPr>
        <p:txBody>
          <a:bodyPr wrap="none">
            <a:spAutoFit/>
          </a:bodyPr>
          <a:lstStyle/>
          <a:p>
            <a:r>
              <a:rPr lang="en-GB" sz="2600" dirty="0"/>
              <a:t>Activity </a:t>
            </a:r>
          </a:p>
          <a:p>
            <a:r>
              <a:rPr lang="en-GB" sz="2600" dirty="0"/>
              <a:t>(</a:t>
            </a:r>
            <a:r>
              <a:rPr lang="en-GB" sz="2600" dirty="0" err="1"/>
              <a:t>SpecDONE</a:t>
            </a:r>
            <a:r>
              <a:rPr lang="en-GB" sz="2600" dirty="0"/>
              <a:t>)</a:t>
            </a:r>
          </a:p>
        </p:txBody>
      </p:sp>
      <p:sp>
        <p:nvSpPr>
          <p:cNvPr id="10" name="Rectangle 9"/>
          <p:cNvSpPr/>
          <p:nvPr/>
        </p:nvSpPr>
        <p:spPr>
          <a:xfrm>
            <a:off x="7427138" y="4980161"/>
            <a:ext cx="4999919" cy="1569660"/>
          </a:xfrm>
          <a:prstGeom prst="rect">
            <a:avLst/>
          </a:prstGeom>
        </p:spPr>
        <p:txBody>
          <a:bodyPr wrap="square">
            <a:spAutoFit/>
          </a:bodyPr>
          <a:lstStyle/>
          <a:p>
            <a:r>
              <a:rPr lang="zh-CN" altLang="en-US" sz="2400" dirty="0"/>
              <a:t>他的老師 </a:t>
            </a:r>
            <a:r>
              <a:rPr lang="en-US" sz="2400" i="1" dirty="0"/>
              <a:t>ta de </a:t>
            </a:r>
            <a:r>
              <a:rPr lang="en-US" sz="2400" i="1" dirty="0" err="1"/>
              <a:t>laoshi</a:t>
            </a:r>
            <a:r>
              <a:rPr lang="en-US" sz="2400" i="1" dirty="0"/>
              <a:t> </a:t>
            </a:r>
            <a:r>
              <a:rPr lang="en-US" sz="2400" dirty="0"/>
              <a:t>(Mandarin)</a:t>
            </a:r>
          </a:p>
          <a:p>
            <a:r>
              <a:rPr lang="zh-TW" altLang="en-US" sz="2400" dirty="0"/>
              <a:t>佢嘅老師 </a:t>
            </a:r>
            <a:r>
              <a:rPr lang="en-US" sz="2400" b="1" dirty="0"/>
              <a:t>*</a:t>
            </a:r>
            <a:r>
              <a:rPr lang="en-US" sz="2400" b="1" i="1" dirty="0" err="1"/>
              <a:t>keoi</a:t>
            </a:r>
            <a:r>
              <a:rPr lang="en-US" sz="2400" b="1" i="1" dirty="0"/>
              <a:t> </a:t>
            </a:r>
            <a:r>
              <a:rPr lang="en-US" sz="2400" b="1" i="1" dirty="0" err="1"/>
              <a:t>ge</a:t>
            </a:r>
            <a:r>
              <a:rPr lang="en-US" sz="2400" b="1" i="1" dirty="0"/>
              <a:t> </a:t>
            </a:r>
            <a:r>
              <a:rPr lang="en-US" sz="2400" b="1" i="1" dirty="0" err="1"/>
              <a:t>lousi</a:t>
            </a:r>
            <a:r>
              <a:rPr lang="en-US" sz="2400" b="1" i="1" dirty="0"/>
              <a:t> </a:t>
            </a:r>
            <a:r>
              <a:rPr lang="en-US" sz="2400" dirty="0"/>
              <a:t>(Cantonese) </a:t>
            </a:r>
          </a:p>
          <a:p>
            <a:r>
              <a:rPr lang="en-US" sz="2400" dirty="0"/>
              <a:t>in </a:t>
            </a:r>
            <a:r>
              <a:rPr lang="en-US" sz="2400" dirty="0" err="1"/>
              <a:t>SpecDONE</a:t>
            </a:r>
            <a:r>
              <a:rPr lang="en-US" sz="2400" dirty="0"/>
              <a:t> (Activity): </a:t>
            </a:r>
          </a:p>
          <a:p>
            <a:r>
              <a:rPr lang="en-US" sz="2400" i="1" dirty="0"/>
              <a:t>de/</a:t>
            </a:r>
            <a:r>
              <a:rPr lang="en-US" sz="2400" i="1" dirty="0" err="1"/>
              <a:t>ge</a:t>
            </a:r>
            <a:r>
              <a:rPr lang="en-US" sz="2400" dirty="0"/>
              <a:t> + NP (</a:t>
            </a:r>
            <a:r>
              <a:rPr lang="en-US" sz="2400" i="1" dirty="0" err="1"/>
              <a:t>ge</a:t>
            </a:r>
            <a:r>
              <a:rPr lang="en-US" sz="2400" dirty="0"/>
              <a:t>: + count/individual)</a:t>
            </a:r>
            <a:endParaRPr lang="en-GB" sz="2400" dirty="0"/>
          </a:p>
        </p:txBody>
      </p:sp>
      <p:sp>
        <p:nvSpPr>
          <p:cNvPr id="13" name="Content Placeholder 2"/>
          <p:cNvSpPr txBox="1">
            <a:spLocks/>
          </p:cNvSpPr>
          <p:nvPr/>
        </p:nvSpPr>
        <p:spPr>
          <a:xfrm>
            <a:off x="3343" y="1071832"/>
            <a:ext cx="10515600" cy="4163556"/>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t>他</a:t>
            </a:r>
            <a:r>
              <a:rPr lang="zh-TW" altLang="en-US" dirty="0"/>
              <a:t>    </a:t>
            </a:r>
            <a:r>
              <a:rPr lang="zh-CN" altLang="en-US" dirty="0"/>
              <a:t>當     他     的      老師</a:t>
            </a:r>
            <a:r>
              <a:rPr lang="zh-TW" altLang="en-US" dirty="0"/>
              <a:t>     </a:t>
            </a:r>
            <a:r>
              <a:rPr lang="zh-CN" altLang="en-US" dirty="0"/>
              <a:t>當       得</a:t>
            </a:r>
            <a:r>
              <a:rPr lang="zh-TW" altLang="en-US" dirty="0"/>
              <a:t>        好 </a:t>
            </a:r>
            <a:r>
              <a:rPr lang="en-US" altLang="zh-TW" dirty="0"/>
              <a:t>		(</a:t>
            </a:r>
            <a:r>
              <a:rPr lang="en-US" altLang="zh-CN" dirty="0"/>
              <a:t>Mandarin</a:t>
            </a:r>
            <a:r>
              <a:rPr lang="en-US" altLang="zh-TW" dirty="0"/>
              <a:t>)</a:t>
            </a:r>
          </a:p>
          <a:p>
            <a:pPr marL="0" indent="0">
              <a:buNone/>
            </a:pPr>
            <a:r>
              <a:rPr lang="en-US" dirty="0"/>
              <a:t> ta    dang ta     de      </a:t>
            </a:r>
            <a:r>
              <a:rPr lang="en-US" dirty="0" err="1"/>
              <a:t>laoshi</a:t>
            </a:r>
            <a:r>
              <a:rPr lang="en-US" dirty="0"/>
              <a:t>    dang  de        </a:t>
            </a:r>
            <a:r>
              <a:rPr lang="en-US" dirty="0" err="1"/>
              <a:t>hao</a:t>
            </a:r>
            <a:endParaRPr lang="en-US" altLang="zh-TW" dirty="0"/>
          </a:p>
          <a:p>
            <a:pPr marL="0" indent="0">
              <a:buNone/>
            </a:pPr>
            <a:r>
              <a:rPr lang="zh-TW" altLang="en-US" dirty="0"/>
              <a:t>佢    做     佢     嘅     老師      做       得        好 </a:t>
            </a:r>
            <a:r>
              <a:rPr lang="en-US" altLang="zh-TW" dirty="0"/>
              <a:t>		(Cantonese)</a:t>
            </a:r>
          </a:p>
          <a:p>
            <a:pPr marL="0" indent="0">
              <a:buNone/>
            </a:pPr>
            <a:r>
              <a:rPr lang="en-US" dirty="0" err="1"/>
              <a:t>keoi</a:t>
            </a:r>
            <a:r>
              <a:rPr lang="en-US" dirty="0"/>
              <a:t> </a:t>
            </a:r>
            <a:r>
              <a:rPr lang="en-US" dirty="0" err="1"/>
              <a:t>zou</a:t>
            </a:r>
            <a:r>
              <a:rPr lang="en-US" dirty="0"/>
              <a:t>    </a:t>
            </a:r>
            <a:r>
              <a:rPr lang="en-US" dirty="0" err="1"/>
              <a:t>keoi</a:t>
            </a:r>
            <a:r>
              <a:rPr lang="en-US" dirty="0"/>
              <a:t> </a:t>
            </a:r>
            <a:r>
              <a:rPr lang="en-US" dirty="0" err="1"/>
              <a:t>ge</a:t>
            </a:r>
            <a:r>
              <a:rPr lang="en-US" dirty="0"/>
              <a:t>      </a:t>
            </a:r>
            <a:r>
              <a:rPr lang="en-US" dirty="0" err="1"/>
              <a:t>lousi</a:t>
            </a:r>
            <a:r>
              <a:rPr lang="en-US" dirty="0"/>
              <a:t>      </a:t>
            </a:r>
            <a:r>
              <a:rPr lang="en-US" dirty="0" err="1"/>
              <a:t>zou</a:t>
            </a:r>
            <a:r>
              <a:rPr lang="en-US" dirty="0"/>
              <a:t>     </a:t>
            </a:r>
            <a:r>
              <a:rPr lang="en-US" dirty="0" err="1"/>
              <a:t>dak</a:t>
            </a:r>
            <a:r>
              <a:rPr lang="en-US" dirty="0"/>
              <a:t>      </a:t>
            </a:r>
            <a:r>
              <a:rPr lang="en-US" dirty="0" err="1"/>
              <a:t>hou</a:t>
            </a:r>
            <a:endParaRPr lang="en-US" dirty="0"/>
          </a:p>
          <a:p>
            <a:pPr marL="0" indent="0">
              <a:buNone/>
            </a:pPr>
            <a:r>
              <a:rPr lang="en-US" dirty="0"/>
              <a:t>he    DO    he    NOM teacher DONE COMP </a:t>
            </a:r>
            <a:r>
              <a:rPr lang="en-US" dirty="0" err="1"/>
              <a:t>Adv</a:t>
            </a: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‘He is being a good teacher.’</a:t>
            </a:r>
          </a:p>
          <a:p>
            <a:pPr marL="0" indent="0">
              <a:buNone/>
            </a:pPr>
            <a:endParaRPr lang="en-GB" dirty="0"/>
          </a:p>
        </p:txBody>
      </p:sp>
      <p:sp>
        <p:nvSpPr>
          <p:cNvPr id="11" name="Rectangle 10"/>
          <p:cNvSpPr/>
          <p:nvPr/>
        </p:nvSpPr>
        <p:spPr>
          <a:xfrm>
            <a:off x="4803032" y="3039705"/>
            <a:ext cx="2783541" cy="492443"/>
          </a:xfrm>
          <a:prstGeom prst="rect">
            <a:avLst/>
          </a:prstGeom>
        </p:spPr>
        <p:txBody>
          <a:bodyPr wrap="square">
            <a:spAutoFit/>
          </a:bodyPr>
          <a:lstStyle/>
          <a:p>
            <a:r>
              <a:rPr lang="en-GB" sz="2600" dirty="0"/>
              <a:t>VP (V + CP)  </a:t>
            </a:r>
          </a:p>
        </p:txBody>
      </p:sp>
      <p:sp>
        <p:nvSpPr>
          <p:cNvPr id="12" name="Rectangle 11"/>
          <p:cNvSpPr/>
          <p:nvPr/>
        </p:nvSpPr>
        <p:spPr>
          <a:xfrm>
            <a:off x="3897034" y="3044977"/>
            <a:ext cx="989373" cy="492443"/>
          </a:xfrm>
          <a:prstGeom prst="rect">
            <a:avLst/>
          </a:prstGeom>
        </p:spPr>
        <p:txBody>
          <a:bodyPr wrap="none">
            <a:spAutoFit/>
          </a:bodyPr>
          <a:lstStyle/>
          <a:p>
            <a:r>
              <a:rPr lang="en-GB" sz="2600" dirty="0"/>
              <a:t>DONE</a:t>
            </a:r>
          </a:p>
        </p:txBody>
      </p:sp>
      <p:sp>
        <p:nvSpPr>
          <p:cNvPr id="15" name="Rectangle 14"/>
          <p:cNvSpPr/>
          <p:nvPr/>
        </p:nvSpPr>
        <p:spPr>
          <a:xfrm>
            <a:off x="636408" y="3044977"/>
            <a:ext cx="611065" cy="492443"/>
          </a:xfrm>
          <a:prstGeom prst="rect">
            <a:avLst/>
          </a:prstGeom>
        </p:spPr>
        <p:txBody>
          <a:bodyPr wrap="none">
            <a:spAutoFit/>
          </a:bodyPr>
          <a:lstStyle/>
          <a:p>
            <a:r>
              <a:rPr lang="en-GB" sz="2600" dirty="0"/>
              <a:t>DO</a:t>
            </a:r>
          </a:p>
        </p:txBody>
      </p:sp>
      <p:sp>
        <p:nvSpPr>
          <p:cNvPr id="16" name="Content Placeholder 2"/>
          <p:cNvSpPr txBox="1">
            <a:spLocks/>
          </p:cNvSpPr>
          <p:nvPr/>
        </p:nvSpPr>
        <p:spPr>
          <a:xfrm>
            <a:off x="2147" y="5932732"/>
            <a:ext cx="400631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200" i="1" dirty="0"/>
              <a:t>-&gt; de/</a:t>
            </a:r>
            <a:r>
              <a:rPr lang="en-US" sz="2200" i="1" dirty="0" err="1"/>
              <a:t>ge</a:t>
            </a:r>
            <a:r>
              <a:rPr lang="en-US" sz="2200" dirty="0"/>
              <a:t> + clause (Spec DO (Actor) + VP) (</a:t>
            </a:r>
            <a:r>
              <a:rPr lang="en-US" sz="2200" i="1" dirty="0"/>
              <a:t>pace</a:t>
            </a:r>
            <a:r>
              <a:rPr lang="en-US" sz="2200" dirty="0"/>
              <a:t> </a:t>
            </a:r>
            <a:r>
              <a:rPr lang="zh-CN" altLang="en-US" sz="2200" dirty="0"/>
              <a:t>鄧 </a:t>
            </a:r>
            <a:r>
              <a:rPr lang="en-US" altLang="zh-CN" sz="2200" dirty="0"/>
              <a:t>2008, 2009)</a:t>
            </a:r>
            <a:r>
              <a:rPr lang="en-US" sz="2200" dirty="0"/>
              <a:t>  </a:t>
            </a:r>
          </a:p>
          <a:p>
            <a:pPr marL="0" indent="0">
              <a:buNone/>
            </a:pPr>
            <a:endParaRPr lang="en-GB" sz="2200" dirty="0"/>
          </a:p>
        </p:txBody>
      </p:sp>
      <p:sp>
        <p:nvSpPr>
          <p:cNvPr id="17" name="Content Placeholder 2"/>
          <p:cNvSpPr txBox="1">
            <a:spLocks/>
          </p:cNvSpPr>
          <p:nvPr/>
        </p:nvSpPr>
        <p:spPr>
          <a:xfrm>
            <a:off x="0" y="5032864"/>
            <a:ext cx="389703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Raising of Actor (</a:t>
            </a:r>
            <a:r>
              <a:rPr lang="zh-CN" altLang="en-US" sz="2000" dirty="0"/>
              <a:t>他 </a:t>
            </a:r>
            <a:r>
              <a:rPr lang="en-US" altLang="zh-CN" sz="2000" i="1" dirty="0"/>
              <a:t>ta</a:t>
            </a:r>
            <a:r>
              <a:rPr lang="en-US" altLang="zh-CN" sz="2000" dirty="0"/>
              <a:t>/</a:t>
            </a:r>
            <a:r>
              <a:rPr lang="zh-TW" altLang="en-US" sz="2000" dirty="0"/>
              <a:t>佢 </a:t>
            </a:r>
            <a:r>
              <a:rPr lang="en-US" altLang="zh-TW" sz="2000" i="1" dirty="0" err="1"/>
              <a:t>keoi</a:t>
            </a:r>
            <a:r>
              <a:rPr lang="en-US" altLang="zh-TW" sz="2000" i="1" dirty="0"/>
              <a:t> </a:t>
            </a:r>
            <a:r>
              <a:rPr lang="en-US" altLang="zh-TW" sz="2000" dirty="0"/>
              <a:t>‘he’) from Activity Phrase </a:t>
            </a:r>
            <a:r>
              <a:rPr lang="en-US" sz="2000" dirty="0"/>
              <a:t>(</a:t>
            </a:r>
            <a:r>
              <a:rPr lang="zh-CN" altLang="en-US" sz="2000" dirty="0"/>
              <a:t>他的老師 </a:t>
            </a:r>
            <a:r>
              <a:rPr lang="en-US" altLang="zh-CN" sz="2000" i="1" dirty="0"/>
              <a:t>ta de </a:t>
            </a:r>
            <a:r>
              <a:rPr lang="en-US" altLang="zh-CN" sz="2000" i="1" dirty="0" err="1"/>
              <a:t>laoshi</a:t>
            </a:r>
            <a:r>
              <a:rPr lang="en-US" altLang="zh-CN" sz="2000" dirty="0"/>
              <a:t>/</a:t>
            </a:r>
            <a:r>
              <a:rPr lang="zh-TW" altLang="en-US" sz="2000" dirty="0"/>
              <a:t>佢嘅老師 </a:t>
            </a:r>
            <a:r>
              <a:rPr lang="en-US" altLang="zh-TW" sz="2000" i="1" dirty="0" err="1"/>
              <a:t>keoi</a:t>
            </a:r>
            <a:r>
              <a:rPr lang="en-US" altLang="zh-TW" sz="2000" i="1" dirty="0"/>
              <a:t> </a:t>
            </a:r>
            <a:r>
              <a:rPr lang="en-US" altLang="zh-TW" sz="2000" i="1" dirty="0" err="1"/>
              <a:t>ge</a:t>
            </a:r>
            <a:r>
              <a:rPr lang="en-US" altLang="zh-TW" sz="2000" i="1" dirty="0"/>
              <a:t> </a:t>
            </a:r>
            <a:r>
              <a:rPr lang="en-US" altLang="zh-TW" sz="2000" i="1" dirty="0" err="1"/>
              <a:t>lousi</a:t>
            </a:r>
            <a:r>
              <a:rPr lang="en-US" altLang="zh-TW" sz="2000" dirty="0"/>
              <a:t>)</a:t>
            </a:r>
            <a:endParaRPr lang="en-GB" sz="2000" dirty="0"/>
          </a:p>
        </p:txBody>
      </p:sp>
    </p:spTree>
    <p:extLst>
      <p:ext uri="{BB962C8B-B14F-4D97-AF65-F5344CB8AC3E}">
        <p14:creationId xmlns:p14="http://schemas.microsoft.com/office/powerpoint/2010/main" val="397001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3" grpId="0"/>
      <p:bldP spid="11" grpId="0"/>
      <p:bldP spid="12" grpId="0"/>
      <p:bldP spid="15" grpId="0"/>
      <p:bldP spid="16" grpId="0"/>
      <p:bldP spid="1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dirty="0"/>
              <a:t>Chinese Activity Constructions (DO + DONE + V)</a:t>
            </a:r>
            <a:endParaRPr lang="en-GB" dirty="0"/>
          </a:p>
        </p:txBody>
      </p:sp>
      <p:sp>
        <p:nvSpPr>
          <p:cNvPr id="3" name="Content Placeholder 2"/>
          <p:cNvSpPr>
            <a:spLocks noGrp="1"/>
          </p:cNvSpPr>
          <p:nvPr>
            <p:ph idx="1"/>
          </p:nvPr>
        </p:nvSpPr>
        <p:spPr>
          <a:xfrm>
            <a:off x="0" y="1325563"/>
            <a:ext cx="12192000" cy="5532437"/>
          </a:xfrm>
        </p:spPr>
        <p:txBody>
          <a:bodyPr>
            <a:normAutofit/>
          </a:bodyPr>
          <a:lstStyle/>
          <a:p>
            <a:pPr marL="0" indent="0">
              <a:buNone/>
            </a:pPr>
            <a:r>
              <a:rPr lang="en-US" sz="1800" dirty="0"/>
              <a:t>		DO/Initiate-P</a:t>
            </a:r>
          </a:p>
          <a:p>
            <a:pPr marL="0" indent="0">
              <a:buNone/>
            </a:pPr>
            <a:endParaRPr lang="en-US" sz="1800" dirty="0"/>
          </a:p>
          <a:p>
            <a:pPr marL="0" indent="0">
              <a:buNone/>
            </a:pPr>
            <a:r>
              <a:rPr lang="en-US" sz="1800" dirty="0" err="1"/>
              <a:t>SpecDO</a:t>
            </a:r>
            <a:r>
              <a:rPr lang="en-US" sz="1800" dirty="0"/>
              <a:t>/Initiate				DO/Initiate’</a:t>
            </a:r>
          </a:p>
          <a:p>
            <a:pPr marL="0" indent="0">
              <a:buNone/>
            </a:pPr>
            <a:endParaRPr lang="en-US" sz="1800" dirty="0"/>
          </a:p>
          <a:p>
            <a:pPr marL="0" indent="0">
              <a:buNone/>
            </a:pPr>
            <a:r>
              <a:rPr lang="en-US" sz="1800" dirty="0"/>
              <a:t>			DO/Initiate			DONE/Proc-P</a:t>
            </a:r>
          </a:p>
          <a:p>
            <a:pPr marL="0" indent="0">
              <a:buNone/>
            </a:pPr>
            <a:r>
              <a:rPr lang="en-US" sz="1800" dirty="0"/>
              <a:t>			</a:t>
            </a:r>
          </a:p>
          <a:p>
            <a:pPr marL="0" indent="0">
              <a:buNone/>
            </a:pPr>
            <a:r>
              <a:rPr lang="en-US" sz="1800" dirty="0"/>
              <a:t>				</a:t>
            </a:r>
            <a:r>
              <a:rPr lang="en-US" sz="1800" dirty="0" err="1"/>
              <a:t>SpecDONE</a:t>
            </a:r>
            <a:r>
              <a:rPr lang="en-US" sz="1800" dirty="0"/>
              <a:t>/Proc					DONE/Proc’</a:t>
            </a:r>
          </a:p>
          <a:p>
            <a:pPr marL="0" indent="0">
              <a:buNone/>
            </a:pPr>
            <a:r>
              <a:rPr lang="en-US" sz="1800" dirty="0"/>
              <a:t>				</a:t>
            </a:r>
          </a:p>
          <a:p>
            <a:pPr marL="0" indent="0">
              <a:buNone/>
            </a:pPr>
            <a:r>
              <a:rPr lang="en-US" sz="1800" dirty="0"/>
              <a:t>						</a:t>
            </a:r>
          </a:p>
          <a:p>
            <a:pPr marL="0" indent="0">
              <a:buNone/>
            </a:pPr>
            <a:r>
              <a:rPr lang="en-US" sz="1800" dirty="0"/>
              <a:t>		  						DONE/Proc	…		VP</a:t>
            </a:r>
          </a:p>
          <a:p>
            <a:pPr marL="0" indent="0">
              <a:buNone/>
            </a:pPr>
            <a:r>
              <a:rPr lang="en-US" sz="1800" dirty="0"/>
              <a:t>																									V’				</a:t>
            </a:r>
          </a:p>
          <a:p>
            <a:pPr marL="0" indent="0">
              <a:buNone/>
            </a:pPr>
            <a:r>
              <a:rPr lang="en-US" sz="1800" dirty="0"/>
              <a:t>												V</a:t>
            </a:r>
          </a:p>
          <a:p>
            <a:pPr marL="0" indent="0">
              <a:buNone/>
            </a:pPr>
            <a:r>
              <a:rPr lang="en-US" sz="1800" dirty="0"/>
              <a:t>												t </a:t>
            </a:r>
            <a:r>
              <a:rPr lang="en-US" sz="1800" dirty="0" err="1"/>
              <a:t>i</a:t>
            </a:r>
            <a:endParaRPr lang="en-GB" sz="1800" dirty="0"/>
          </a:p>
        </p:txBody>
      </p:sp>
      <p:sp>
        <p:nvSpPr>
          <p:cNvPr id="4" name="Rectangle 3"/>
          <p:cNvSpPr/>
          <p:nvPr/>
        </p:nvSpPr>
        <p:spPr>
          <a:xfrm>
            <a:off x="3647540" y="3851454"/>
            <a:ext cx="5819274" cy="369332"/>
          </a:xfrm>
          <a:prstGeom prst="rect">
            <a:avLst/>
          </a:prstGeom>
        </p:spPr>
        <p:txBody>
          <a:bodyPr wrap="square">
            <a:spAutoFit/>
          </a:bodyPr>
          <a:lstStyle/>
          <a:p>
            <a:r>
              <a:rPr lang="en-US" altLang="zh-CN" dirty="0"/>
              <a:t>Activity (</a:t>
            </a:r>
            <a:r>
              <a:rPr lang="en-US" altLang="zh-CN" i="1" dirty="0"/>
              <a:t>de/</a:t>
            </a:r>
            <a:r>
              <a:rPr lang="en-US" altLang="zh-CN" i="1" dirty="0" err="1"/>
              <a:t>ge</a:t>
            </a:r>
            <a:r>
              <a:rPr lang="en-US" altLang="zh-CN" i="1" dirty="0"/>
              <a:t> </a:t>
            </a:r>
            <a:r>
              <a:rPr lang="en-US" altLang="zh-CN" dirty="0"/>
              <a:t>+ NP)</a:t>
            </a:r>
            <a:endParaRPr lang="en-GB" dirty="0"/>
          </a:p>
        </p:txBody>
      </p:sp>
      <p:sp>
        <p:nvSpPr>
          <p:cNvPr id="5" name="Rectangle 4"/>
          <p:cNvSpPr/>
          <p:nvPr/>
        </p:nvSpPr>
        <p:spPr>
          <a:xfrm>
            <a:off x="3647540" y="4128223"/>
            <a:ext cx="5819274" cy="646331"/>
          </a:xfrm>
          <a:prstGeom prst="rect">
            <a:avLst/>
          </a:prstGeom>
        </p:spPr>
        <p:txBody>
          <a:bodyPr wrap="square">
            <a:spAutoFit/>
          </a:bodyPr>
          <a:lstStyle/>
          <a:p>
            <a:r>
              <a:rPr lang="zh-CN" altLang="en-US" dirty="0"/>
              <a:t>他的老師 </a:t>
            </a:r>
            <a:r>
              <a:rPr lang="en-US" altLang="zh-CN" i="1" dirty="0"/>
              <a:t>ta de </a:t>
            </a:r>
            <a:r>
              <a:rPr lang="en-US" altLang="zh-CN" i="1" dirty="0" err="1"/>
              <a:t>laoshi</a:t>
            </a:r>
            <a:endParaRPr lang="en-US" altLang="zh-CN" i="1" dirty="0"/>
          </a:p>
          <a:p>
            <a:r>
              <a:rPr lang="en-US" altLang="zh-TW" dirty="0"/>
              <a:t>*</a:t>
            </a:r>
            <a:r>
              <a:rPr lang="zh-TW" altLang="en-US" dirty="0"/>
              <a:t>佢嘅老師 </a:t>
            </a:r>
            <a:r>
              <a:rPr lang="en-US" i="1" dirty="0" err="1"/>
              <a:t>keoi</a:t>
            </a:r>
            <a:r>
              <a:rPr lang="en-US" i="1" dirty="0"/>
              <a:t> </a:t>
            </a:r>
            <a:r>
              <a:rPr lang="en-US" i="1" dirty="0" err="1"/>
              <a:t>ge</a:t>
            </a:r>
            <a:r>
              <a:rPr lang="en-US" i="1" dirty="0"/>
              <a:t> </a:t>
            </a:r>
            <a:r>
              <a:rPr lang="en-US" i="1" dirty="0" err="1"/>
              <a:t>lousi</a:t>
            </a:r>
            <a:r>
              <a:rPr lang="en-US" i="1" dirty="0"/>
              <a:t> </a:t>
            </a:r>
            <a:r>
              <a:rPr lang="en-US" dirty="0"/>
              <a:t>(+count/individual)</a:t>
            </a:r>
            <a:endParaRPr lang="en-GB" dirty="0"/>
          </a:p>
        </p:txBody>
      </p:sp>
      <p:sp>
        <p:nvSpPr>
          <p:cNvPr id="6" name="Rectangle 5"/>
          <p:cNvSpPr/>
          <p:nvPr/>
        </p:nvSpPr>
        <p:spPr>
          <a:xfrm>
            <a:off x="0" y="2341225"/>
            <a:ext cx="5819274" cy="369332"/>
          </a:xfrm>
          <a:prstGeom prst="rect">
            <a:avLst/>
          </a:prstGeom>
        </p:spPr>
        <p:txBody>
          <a:bodyPr wrap="square">
            <a:spAutoFit/>
          </a:bodyPr>
          <a:lstStyle/>
          <a:p>
            <a:r>
              <a:rPr lang="en-US" altLang="zh-CN" dirty="0"/>
              <a:t>Actor</a:t>
            </a:r>
            <a:endParaRPr lang="en-GB" dirty="0"/>
          </a:p>
        </p:txBody>
      </p:sp>
      <p:sp>
        <p:nvSpPr>
          <p:cNvPr id="7" name="Rectangle 6"/>
          <p:cNvSpPr/>
          <p:nvPr/>
        </p:nvSpPr>
        <p:spPr>
          <a:xfrm>
            <a:off x="0" y="2628549"/>
            <a:ext cx="5819274" cy="646331"/>
          </a:xfrm>
          <a:prstGeom prst="rect">
            <a:avLst/>
          </a:prstGeom>
        </p:spPr>
        <p:txBody>
          <a:bodyPr wrap="square">
            <a:spAutoFit/>
          </a:bodyPr>
          <a:lstStyle/>
          <a:p>
            <a:r>
              <a:rPr lang="zh-CN" altLang="en-US" dirty="0"/>
              <a:t>他</a:t>
            </a:r>
            <a:r>
              <a:rPr lang="en-US" altLang="zh-CN" dirty="0"/>
              <a:t> </a:t>
            </a:r>
            <a:r>
              <a:rPr lang="en-US" altLang="zh-CN" i="1" dirty="0"/>
              <a:t>ta</a:t>
            </a:r>
            <a:r>
              <a:rPr lang="en-US" altLang="zh-CN" dirty="0"/>
              <a:t> / </a:t>
            </a:r>
            <a:r>
              <a:rPr lang="zh-TW" altLang="en-US" dirty="0"/>
              <a:t>佢 </a:t>
            </a:r>
            <a:r>
              <a:rPr lang="en-US" altLang="zh-CN" i="1" dirty="0" err="1"/>
              <a:t>keoi</a:t>
            </a:r>
            <a:r>
              <a:rPr lang="en-US" altLang="zh-CN" dirty="0"/>
              <a:t> ‘he’ </a:t>
            </a:r>
            <a:endParaRPr lang="en-GB" dirty="0"/>
          </a:p>
          <a:p>
            <a:endParaRPr lang="en-GB" dirty="0"/>
          </a:p>
        </p:txBody>
      </p:sp>
      <p:sp>
        <p:nvSpPr>
          <p:cNvPr id="8" name="Rectangle 7"/>
          <p:cNvSpPr/>
          <p:nvPr/>
        </p:nvSpPr>
        <p:spPr>
          <a:xfrm>
            <a:off x="0" y="2997881"/>
            <a:ext cx="2708366" cy="1477328"/>
          </a:xfrm>
          <a:prstGeom prst="rect">
            <a:avLst/>
          </a:prstGeom>
        </p:spPr>
        <p:txBody>
          <a:bodyPr wrap="square">
            <a:spAutoFit/>
          </a:bodyPr>
          <a:lstStyle/>
          <a:p>
            <a:r>
              <a:rPr lang="en-US" dirty="0"/>
              <a:t>Actor raised </a:t>
            </a:r>
          </a:p>
          <a:p>
            <a:r>
              <a:rPr lang="en-US" dirty="0"/>
              <a:t>from Activity </a:t>
            </a:r>
            <a:r>
              <a:rPr lang="en-US" altLang="zh-CN" dirty="0"/>
              <a:t>Phrase </a:t>
            </a:r>
            <a:r>
              <a:rPr lang="zh-CN" altLang="en-US" dirty="0"/>
              <a:t>他的老師 </a:t>
            </a:r>
            <a:r>
              <a:rPr lang="en-US" altLang="zh-CN" i="1" dirty="0"/>
              <a:t>ta de </a:t>
            </a:r>
            <a:r>
              <a:rPr lang="en-US" altLang="zh-CN" i="1" dirty="0" err="1"/>
              <a:t>laoshi</a:t>
            </a:r>
            <a:r>
              <a:rPr lang="en-US" altLang="zh-CN" dirty="0"/>
              <a:t>/</a:t>
            </a:r>
            <a:r>
              <a:rPr lang="zh-TW" altLang="en-US" dirty="0"/>
              <a:t>佢嘅老師 </a:t>
            </a:r>
            <a:r>
              <a:rPr lang="en-US" altLang="zh-TW" i="1" dirty="0" err="1"/>
              <a:t>keoi</a:t>
            </a:r>
            <a:r>
              <a:rPr lang="en-US" altLang="zh-TW" i="1" dirty="0"/>
              <a:t> </a:t>
            </a:r>
            <a:r>
              <a:rPr lang="en-US" altLang="zh-TW" i="1" dirty="0" err="1"/>
              <a:t>ge</a:t>
            </a:r>
            <a:r>
              <a:rPr lang="en-US" altLang="zh-TW" i="1" dirty="0"/>
              <a:t> </a:t>
            </a:r>
            <a:r>
              <a:rPr lang="en-US" altLang="zh-TW" i="1" dirty="0" err="1"/>
              <a:t>lousi</a:t>
            </a:r>
            <a:r>
              <a:rPr lang="en-US" altLang="zh-TW" dirty="0"/>
              <a:t>)</a:t>
            </a:r>
            <a:endParaRPr lang="en-GB" dirty="0"/>
          </a:p>
          <a:p>
            <a:endParaRPr lang="en-GB" dirty="0"/>
          </a:p>
        </p:txBody>
      </p:sp>
      <p:sp>
        <p:nvSpPr>
          <p:cNvPr id="9" name="Rectangle 8"/>
          <p:cNvSpPr/>
          <p:nvPr/>
        </p:nvSpPr>
        <p:spPr>
          <a:xfrm>
            <a:off x="3647540" y="4668017"/>
            <a:ext cx="2171734" cy="1200329"/>
          </a:xfrm>
          <a:prstGeom prst="rect">
            <a:avLst/>
          </a:prstGeom>
        </p:spPr>
        <p:txBody>
          <a:bodyPr wrap="square">
            <a:spAutoFit/>
          </a:bodyPr>
          <a:lstStyle/>
          <a:p>
            <a:r>
              <a:rPr lang="en-US" altLang="zh-CN" dirty="0"/>
              <a:t>Without DO</a:t>
            </a:r>
            <a:r>
              <a:rPr lang="en-US" altLang="zh-CN" i="1" dirty="0"/>
              <a:t>, de</a:t>
            </a:r>
            <a:r>
              <a:rPr lang="en-US" altLang="zh-CN" dirty="0"/>
              <a:t> but not </a:t>
            </a:r>
            <a:r>
              <a:rPr lang="en-US" altLang="zh-CN" i="1" dirty="0" err="1"/>
              <a:t>ge</a:t>
            </a:r>
            <a:r>
              <a:rPr lang="en-US" altLang="zh-CN" dirty="0"/>
              <a:t> can head an Activity nominal (</a:t>
            </a:r>
            <a:r>
              <a:rPr lang="en-US" altLang="zh-CN" i="1" dirty="0"/>
              <a:t>de/</a:t>
            </a:r>
            <a:r>
              <a:rPr lang="en-US" altLang="zh-CN" i="1" dirty="0" err="1"/>
              <a:t>ge</a:t>
            </a:r>
            <a:r>
              <a:rPr lang="en-US" altLang="zh-CN" dirty="0"/>
              <a:t> + NP)</a:t>
            </a:r>
            <a:endParaRPr lang="en-GB" dirty="0"/>
          </a:p>
        </p:txBody>
      </p:sp>
      <p:sp>
        <p:nvSpPr>
          <p:cNvPr id="10" name="Rectangle 9"/>
          <p:cNvSpPr/>
          <p:nvPr/>
        </p:nvSpPr>
        <p:spPr>
          <a:xfrm>
            <a:off x="0" y="4529518"/>
            <a:ext cx="2708366" cy="1754326"/>
          </a:xfrm>
          <a:prstGeom prst="rect">
            <a:avLst/>
          </a:prstGeom>
        </p:spPr>
        <p:txBody>
          <a:bodyPr wrap="square">
            <a:spAutoFit/>
          </a:bodyPr>
          <a:lstStyle/>
          <a:p>
            <a:r>
              <a:rPr lang="en-US" altLang="zh-CN" dirty="0"/>
              <a:t>With DO, Actor is raised from the Activity nominal (embedded clause     (</a:t>
            </a:r>
            <a:r>
              <a:rPr lang="en-US" altLang="zh-CN" i="1" dirty="0"/>
              <a:t>de/</a:t>
            </a:r>
            <a:r>
              <a:rPr lang="en-US" altLang="zh-CN" i="1" dirty="0" err="1"/>
              <a:t>ge</a:t>
            </a:r>
            <a:r>
              <a:rPr lang="en-US" altLang="zh-CN" dirty="0"/>
              <a:t> + DO-P) where Actor is base-generated (</a:t>
            </a:r>
            <a:r>
              <a:rPr lang="en-US" altLang="zh-CN" dirty="0" err="1"/>
              <a:t>SpecDO</a:t>
            </a:r>
            <a:r>
              <a:rPr lang="en-US" altLang="zh-CN" dirty="0"/>
              <a:t>))</a:t>
            </a:r>
            <a:endParaRPr lang="en-GB" dirty="0"/>
          </a:p>
        </p:txBody>
      </p:sp>
      <p:sp>
        <p:nvSpPr>
          <p:cNvPr id="11" name="Rectangle 10"/>
          <p:cNvSpPr/>
          <p:nvPr/>
        </p:nvSpPr>
        <p:spPr>
          <a:xfrm>
            <a:off x="-61603" y="4165073"/>
            <a:ext cx="2769969" cy="369332"/>
          </a:xfrm>
          <a:prstGeom prst="rect">
            <a:avLst/>
          </a:prstGeom>
        </p:spPr>
        <p:txBody>
          <a:bodyPr wrap="square">
            <a:spAutoFit/>
          </a:bodyPr>
          <a:lstStyle/>
          <a:p>
            <a:r>
              <a:rPr lang="en-US" dirty="0"/>
              <a:t>Activity (</a:t>
            </a:r>
            <a:r>
              <a:rPr lang="en-US" i="1" dirty="0"/>
              <a:t>de/</a:t>
            </a:r>
            <a:r>
              <a:rPr lang="en-US" i="1" dirty="0" err="1"/>
              <a:t>ge</a:t>
            </a:r>
            <a:r>
              <a:rPr lang="en-US" i="1" dirty="0"/>
              <a:t> </a:t>
            </a:r>
            <a:r>
              <a:rPr lang="en-US" dirty="0"/>
              <a:t>+ DO-P)</a:t>
            </a:r>
            <a:endParaRPr lang="en-GB" dirty="0"/>
          </a:p>
        </p:txBody>
      </p:sp>
      <p:cxnSp>
        <p:nvCxnSpPr>
          <p:cNvPr id="13" name="Straight Arrow Connector 12"/>
          <p:cNvCxnSpPr/>
          <p:nvPr/>
        </p:nvCxnSpPr>
        <p:spPr>
          <a:xfrm flipV="1">
            <a:off x="2220686" y="4040777"/>
            <a:ext cx="1497874" cy="313509"/>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4" name="Rectangle 13"/>
          <p:cNvSpPr/>
          <p:nvPr/>
        </p:nvSpPr>
        <p:spPr>
          <a:xfrm>
            <a:off x="7432089" y="5051323"/>
            <a:ext cx="421910" cy="369332"/>
          </a:xfrm>
          <a:prstGeom prst="rect">
            <a:avLst/>
          </a:prstGeom>
        </p:spPr>
        <p:txBody>
          <a:bodyPr wrap="none">
            <a:spAutoFit/>
          </a:bodyPr>
          <a:lstStyle/>
          <a:p>
            <a:r>
              <a:rPr lang="en-US" dirty="0"/>
              <a:t>V </a:t>
            </a:r>
            <a:r>
              <a:rPr lang="en-US" dirty="0" err="1"/>
              <a:t>i</a:t>
            </a:r>
            <a:endParaRPr lang="en-GB" dirty="0"/>
          </a:p>
        </p:txBody>
      </p:sp>
      <p:sp>
        <p:nvSpPr>
          <p:cNvPr id="15" name="Rectangle 14"/>
          <p:cNvSpPr/>
          <p:nvPr/>
        </p:nvSpPr>
        <p:spPr>
          <a:xfrm>
            <a:off x="2769969" y="3191957"/>
            <a:ext cx="421910" cy="369332"/>
          </a:xfrm>
          <a:prstGeom prst="rect">
            <a:avLst/>
          </a:prstGeom>
        </p:spPr>
        <p:txBody>
          <a:bodyPr wrap="none">
            <a:spAutoFit/>
          </a:bodyPr>
          <a:lstStyle/>
          <a:p>
            <a:r>
              <a:rPr lang="en-US" dirty="0"/>
              <a:t>V </a:t>
            </a:r>
            <a:r>
              <a:rPr lang="en-US" dirty="0" err="1"/>
              <a:t>i</a:t>
            </a:r>
            <a:endParaRPr lang="en-GB" dirty="0"/>
          </a:p>
        </p:txBody>
      </p:sp>
    </p:spTree>
    <p:extLst>
      <p:ext uri="{BB962C8B-B14F-4D97-AF65-F5344CB8AC3E}">
        <p14:creationId xmlns:p14="http://schemas.microsoft.com/office/powerpoint/2010/main" val="1478277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ppt_x"/>
                                          </p:val>
                                        </p:tav>
                                        <p:tav tm="100000">
                                          <p:val>
                                            <p:strVal val="#ppt_x"/>
                                          </p:val>
                                        </p:tav>
                                      </p:tavLst>
                                    </p:anim>
                                    <p:anim calcmode="lin" valueType="num">
                                      <p:cBhvr additive="base">
                                        <p:cTn id="2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4" grpId="0"/>
      <p:bldP spid="1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Chinese Activity Constructions </a:t>
            </a:r>
            <a:br>
              <a:rPr lang="en-US" dirty="0"/>
            </a:br>
            <a:r>
              <a:rPr lang="en-US" dirty="0"/>
              <a:t>(summary and conclusions)</a:t>
            </a:r>
            <a:endParaRPr lang="en-GB" dirty="0"/>
          </a:p>
        </p:txBody>
      </p:sp>
      <p:sp>
        <p:nvSpPr>
          <p:cNvPr id="3" name="Content Placeholder 2"/>
          <p:cNvSpPr>
            <a:spLocks noGrp="1"/>
          </p:cNvSpPr>
          <p:nvPr>
            <p:ph idx="1"/>
          </p:nvPr>
        </p:nvSpPr>
        <p:spPr>
          <a:xfrm>
            <a:off x="838200" y="1325563"/>
            <a:ext cx="10515600" cy="4351338"/>
          </a:xfrm>
        </p:spPr>
        <p:txBody>
          <a:bodyPr/>
          <a:lstStyle/>
          <a:p>
            <a:pPr marL="0" indent="0">
              <a:buNone/>
            </a:pPr>
            <a:r>
              <a:rPr lang="en-US" dirty="0"/>
              <a:t>Mandarin </a:t>
            </a:r>
            <a:r>
              <a:rPr lang="en-US" i="1" dirty="0"/>
              <a:t>de</a:t>
            </a:r>
            <a:r>
              <a:rPr lang="en-US" dirty="0"/>
              <a:t> vs Cantonese </a:t>
            </a:r>
            <a:r>
              <a:rPr lang="en-US" i="1" dirty="0" err="1"/>
              <a:t>ge</a:t>
            </a:r>
            <a:r>
              <a:rPr lang="en-US" dirty="0"/>
              <a:t> (North vs South)</a:t>
            </a:r>
            <a:endParaRPr lang="en-GB" dirty="0"/>
          </a:p>
        </p:txBody>
      </p:sp>
      <p:sp>
        <p:nvSpPr>
          <p:cNvPr id="4" name="Content Placeholder 2"/>
          <p:cNvSpPr txBox="1">
            <a:spLocks/>
          </p:cNvSpPr>
          <p:nvPr/>
        </p:nvSpPr>
        <p:spPr>
          <a:xfrm>
            <a:off x="838200" y="1820016"/>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t>的</a:t>
            </a:r>
            <a:r>
              <a:rPr lang="zh-CN" altLang="en-US" i="1" dirty="0"/>
              <a:t> </a:t>
            </a:r>
            <a:r>
              <a:rPr lang="en-US" i="1" dirty="0"/>
              <a:t>de</a:t>
            </a:r>
            <a:r>
              <a:rPr lang="en-US" dirty="0"/>
              <a:t> (-count/individual) / </a:t>
            </a:r>
            <a:r>
              <a:rPr lang="zh-TW" altLang="en-US" dirty="0"/>
              <a:t>嘅 </a:t>
            </a:r>
            <a:r>
              <a:rPr lang="en-US" i="1" dirty="0" err="1"/>
              <a:t>ge</a:t>
            </a:r>
            <a:r>
              <a:rPr lang="en-US" dirty="0"/>
              <a:t> (+count/individual)</a:t>
            </a:r>
            <a:endParaRPr lang="en-GB" dirty="0"/>
          </a:p>
        </p:txBody>
      </p:sp>
      <p:sp>
        <p:nvSpPr>
          <p:cNvPr id="5" name="Content Placeholder 2"/>
          <p:cNvSpPr txBox="1">
            <a:spLocks/>
          </p:cNvSpPr>
          <p:nvPr/>
        </p:nvSpPr>
        <p:spPr>
          <a:xfrm>
            <a:off x="838199" y="2242864"/>
            <a:ext cx="1135380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When DO is projected (</a:t>
            </a:r>
            <a:r>
              <a:rPr lang="zh-CN" altLang="en-US" dirty="0"/>
              <a:t>他當他的老師 </a:t>
            </a:r>
            <a:r>
              <a:rPr lang="en-US" altLang="zh-CN" i="1" dirty="0"/>
              <a:t>ta dang ta de </a:t>
            </a:r>
            <a:r>
              <a:rPr lang="en-US" altLang="zh-CN" i="1" dirty="0" err="1"/>
              <a:t>laoshi</a:t>
            </a:r>
            <a:r>
              <a:rPr lang="en-US" altLang="zh-CN" dirty="0"/>
              <a:t>/</a:t>
            </a:r>
            <a:r>
              <a:rPr lang="zh-TW" altLang="en-US" dirty="0"/>
              <a:t>佢</a:t>
            </a:r>
            <a:r>
              <a:rPr lang="zh-CN" altLang="en-US" dirty="0"/>
              <a:t>做</a:t>
            </a:r>
            <a:r>
              <a:rPr lang="zh-TW" altLang="en-US" dirty="0"/>
              <a:t>佢嘅老師</a:t>
            </a:r>
            <a:r>
              <a:rPr lang="en-US" altLang="zh-TW" i="1" dirty="0" err="1"/>
              <a:t>keoi</a:t>
            </a:r>
            <a:r>
              <a:rPr lang="en-US" altLang="zh-TW" i="1" dirty="0"/>
              <a:t> </a:t>
            </a:r>
            <a:r>
              <a:rPr lang="en-US" altLang="zh-TW" i="1" dirty="0" err="1"/>
              <a:t>zou</a:t>
            </a:r>
            <a:r>
              <a:rPr lang="en-US" altLang="zh-TW" i="1" dirty="0"/>
              <a:t> </a:t>
            </a:r>
            <a:r>
              <a:rPr lang="en-US" altLang="zh-TW" i="1" dirty="0" err="1"/>
              <a:t>keoi</a:t>
            </a:r>
            <a:r>
              <a:rPr lang="en-US" altLang="zh-TW" i="1" dirty="0"/>
              <a:t> </a:t>
            </a:r>
            <a:r>
              <a:rPr lang="en-US" altLang="zh-TW" i="1" dirty="0" err="1"/>
              <a:t>ge</a:t>
            </a:r>
            <a:r>
              <a:rPr lang="en-US" altLang="zh-TW" i="1" dirty="0"/>
              <a:t> </a:t>
            </a:r>
            <a:r>
              <a:rPr lang="en-US" altLang="zh-TW" i="1" dirty="0" err="1"/>
              <a:t>lousi</a:t>
            </a:r>
            <a:r>
              <a:rPr lang="en-US" altLang="zh-TW" dirty="0"/>
              <a:t>)</a:t>
            </a:r>
            <a:r>
              <a:rPr lang="en-US" dirty="0"/>
              <a:t>, the Actor argument is base-generated in the Activity nominal (</a:t>
            </a:r>
            <a:r>
              <a:rPr lang="en-US" dirty="0" err="1"/>
              <a:t>SpecDONE</a:t>
            </a:r>
            <a:r>
              <a:rPr lang="en-US" dirty="0"/>
              <a:t>) headed by </a:t>
            </a:r>
            <a:r>
              <a:rPr lang="en-US" i="1" dirty="0"/>
              <a:t>de</a:t>
            </a:r>
            <a:r>
              <a:rPr lang="en-US" dirty="0"/>
              <a:t>/</a:t>
            </a:r>
            <a:r>
              <a:rPr lang="en-US" i="1" dirty="0" err="1"/>
              <a:t>ge</a:t>
            </a:r>
            <a:r>
              <a:rPr lang="en-US" i="1" dirty="0"/>
              <a:t> </a:t>
            </a:r>
            <a:r>
              <a:rPr lang="en-US" dirty="0"/>
              <a:t>(</a:t>
            </a:r>
            <a:r>
              <a:rPr lang="zh-CN" altLang="en-US" dirty="0"/>
              <a:t>他的老師 </a:t>
            </a:r>
            <a:r>
              <a:rPr lang="en-US" altLang="zh-CN" i="1" dirty="0"/>
              <a:t>ta de </a:t>
            </a:r>
            <a:r>
              <a:rPr lang="en-US" altLang="zh-CN" i="1" dirty="0" err="1"/>
              <a:t>laoshi</a:t>
            </a:r>
            <a:r>
              <a:rPr lang="en-US" altLang="zh-CN" dirty="0"/>
              <a:t>/</a:t>
            </a:r>
            <a:r>
              <a:rPr lang="zh-TW" altLang="en-US" dirty="0"/>
              <a:t>佢嘅老師 </a:t>
            </a:r>
            <a:r>
              <a:rPr lang="en-US" altLang="zh-TW" i="1" dirty="0" err="1"/>
              <a:t>keoi</a:t>
            </a:r>
            <a:r>
              <a:rPr lang="en-US" altLang="zh-TW" i="1" dirty="0"/>
              <a:t> </a:t>
            </a:r>
            <a:r>
              <a:rPr lang="en-US" altLang="zh-TW" i="1" dirty="0" err="1"/>
              <a:t>ge</a:t>
            </a:r>
            <a:r>
              <a:rPr lang="en-US" altLang="zh-TW" i="1" dirty="0"/>
              <a:t> </a:t>
            </a:r>
            <a:r>
              <a:rPr lang="en-US" altLang="zh-TW" i="1" dirty="0" err="1"/>
              <a:t>lousi</a:t>
            </a:r>
            <a:r>
              <a:rPr lang="en-US" altLang="zh-TW" i="1" dirty="0"/>
              <a:t> </a:t>
            </a:r>
            <a:r>
              <a:rPr lang="en-US" altLang="zh-TW" dirty="0"/>
              <a:t>‘he being a teacher’: </a:t>
            </a:r>
            <a:r>
              <a:rPr lang="en-US" i="1" dirty="0"/>
              <a:t>de/</a:t>
            </a:r>
            <a:r>
              <a:rPr lang="en-US" i="1" dirty="0" err="1"/>
              <a:t>ge</a:t>
            </a:r>
            <a:r>
              <a:rPr lang="en-US" dirty="0"/>
              <a:t> + DO-P (clause))</a:t>
            </a:r>
            <a:r>
              <a:rPr lang="en-US" altLang="zh-TW" dirty="0"/>
              <a:t> </a:t>
            </a:r>
            <a:r>
              <a:rPr lang="en-US" dirty="0"/>
              <a:t>and raised to </a:t>
            </a:r>
            <a:r>
              <a:rPr lang="en-US" dirty="0" err="1"/>
              <a:t>SpecDO</a:t>
            </a:r>
            <a:endParaRPr lang="en-GB" dirty="0"/>
          </a:p>
        </p:txBody>
      </p:sp>
      <p:sp>
        <p:nvSpPr>
          <p:cNvPr id="6" name="Content Placeholder 2"/>
          <p:cNvSpPr txBox="1">
            <a:spLocks/>
          </p:cNvSpPr>
          <p:nvPr/>
        </p:nvSpPr>
        <p:spPr>
          <a:xfrm>
            <a:off x="838200" y="3748459"/>
            <a:ext cx="113538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When DO is not projected, the Activity nominal (</a:t>
            </a:r>
            <a:r>
              <a:rPr lang="en-US" dirty="0" err="1"/>
              <a:t>SpecDONE</a:t>
            </a:r>
            <a:r>
              <a:rPr lang="en-US" dirty="0"/>
              <a:t>) can only be headed by </a:t>
            </a:r>
            <a:r>
              <a:rPr lang="en-US" i="1" dirty="0"/>
              <a:t>de </a:t>
            </a:r>
            <a:r>
              <a:rPr lang="en-US" dirty="0"/>
              <a:t>and not by </a:t>
            </a:r>
            <a:r>
              <a:rPr lang="en-US" i="1" dirty="0" err="1"/>
              <a:t>ge</a:t>
            </a:r>
            <a:r>
              <a:rPr lang="en-US" dirty="0"/>
              <a:t> (</a:t>
            </a:r>
            <a:r>
              <a:rPr lang="zh-CN" altLang="en-US" dirty="0"/>
              <a:t>他的老師 </a:t>
            </a:r>
            <a:r>
              <a:rPr lang="en-US" altLang="zh-CN" i="1" dirty="0"/>
              <a:t>ta de </a:t>
            </a:r>
            <a:r>
              <a:rPr lang="en-US" altLang="zh-CN" i="1" dirty="0" err="1"/>
              <a:t>laoshi</a:t>
            </a:r>
            <a:r>
              <a:rPr lang="en-US" altLang="zh-CN" dirty="0"/>
              <a:t>/*</a:t>
            </a:r>
            <a:r>
              <a:rPr lang="zh-TW" altLang="en-US" dirty="0"/>
              <a:t>佢嘅老師 </a:t>
            </a:r>
            <a:r>
              <a:rPr lang="en-US" altLang="zh-TW" i="1" dirty="0" err="1"/>
              <a:t>keoi</a:t>
            </a:r>
            <a:r>
              <a:rPr lang="en-US" altLang="zh-TW" i="1" dirty="0"/>
              <a:t> </a:t>
            </a:r>
            <a:r>
              <a:rPr lang="en-US" altLang="zh-TW" i="1" dirty="0" err="1"/>
              <a:t>ge</a:t>
            </a:r>
            <a:r>
              <a:rPr lang="en-US" altLang="zh-TW" i="1" dirty="0"/>
              <a:t> </a:t>
            </a:r>
            <a:r>
              <a:rPr lang="en-US" altLang="zh-TW" i="1" dirty="0" err="1"/>
              <a:t>lousi</a:t>
            </a:r>
            <a:r>
              <a:rPr lang="en-US" altLang="zh-TW" i="1" dirty="0"/>
              <a:t> </a:t>
            </a:r>
            <a:r>
              <a:rPr lang="en-US" altLang="zh-TW" dirty="0"/>
              <a:t>‘he being a teacher’:</a:t>
            </a:r>
            <a:r>
              <a:rPr lang="en-US" dirty="0"/>
              <a:t> </a:t>
            </a:r>
            <a:r>
              <a:rPr lang="en-US" i="1" dirty="0"/>
              <a:t>de/</a:t>
            </a:r>
            <a:r>
              <a:rPr lang="en-US" i="1" dirty="0" err="1"/>
              <a:t>ge</a:t>
            </a:r>
            <a:r>
              <a:rPr lang="en-US" dirty="0"/>
              <a:t> + NP</a:t>
            </a:r>
            <a:r>
              <a:rPr lang="en-US" altLang="zh-TW" dirty="0"/>
              <a:t>) </a:t>
            </a:r>
            <a:r>
              <a:rPr lang="en-US" dirty="0"/>
              <a:t>due to their inherent differences in </a:t>
            </a:r>
            <a:r>
              <a:rPr lang="en-US" dirty="0" err="1"/>
              <a:t>countability</a:t>
            </a:r>
            <a:r>
              <a:rPr lang="en-US" dirty="0"/>
              <a:t> (*</a:t>
            </a:r>
            <a:r>
              <a:rPr lang="en-US" i="1" dirty="0" err="1"/>
              <a:t>ge</a:t>
            </a:r>
            <a:r>
              <a:rPr lang="en-US" i="1" dirty="0"/>
              <a:t> </a:t>
            </a:r>
            <a:r>
              <a:rPr lang="en-US" dirty="0"/>
              <a:t>(+count/individual/delimited) + NP (Activity))</a:t>
            </a:r>
            <a:endParaRPr lang="en-GB" dirty="0"/>
          </a:p>
        </p:txBody>
      </p:sp>
      <p:sp>
        <p:nvSpPr>
          <p:cNvPr id="7" name="Content Placeholder 2"/>
          <p:cNvSpPr txBox="1">
            <a:spLocks/>
          </p:cNvSpPr>
          <p:nvPr/>
        </p:nvSpPr>
        <p:spPr>
          <a:xfrm>
            <a:off x="838198" y="5254054"/>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DO (</a:t>
            </a:r>
            <a:r>
              <a:rPr lang="en-US" altLang="zh-CN" dirty="0"/>
              <a:t>Actor) + DONE (Activity) + VP: this Light Verb structure is quite different from head movement as seen in English </a:t>
            </a:r>
            <a:r>
              <a:rPr lang="en-US" altLang="zh-CN" dirty="0" err="1"/>
              <a:t>denominal</a:t>
            </a:r>
            <a:r>
              <a:rPr lang="en-US" altLang="zh-CN" dirty="0"/>
              <a:t> Activity constructions (e.g. </a:t>
            </a:r>
            <a:r>
              <a:rPr lang="en-US" altLang="zh-CN" i="1" dirty="0"/>
              <a:t>to phone </a:t>
            </a:r>
            <a:r>
              <a:rPr lang="en-US" altLang="zh-CN" dirty="0"/>
              <a:t>(N-to-V movement) or Japanese verbal suffix –</a:t>
            </a:r>
            <a:r>
              <a:rPr lang="en-US" altLang="zh-CN" i="1" dirty="0" err="1"/>
              <a:t>suru</a:t>
            </a:r>
            <a:r>
              <a:rPr lang="en-US" altLang="zh-CN" dirty="0"/>
              <a:t> (e.g. </a:t>
            </a:r>
            <a:r>
              <a:rPr lang="en-US" altLang="zh-CN" i="1" dirty="0" err="1"/>
              <a:t>denwa-suru</a:t>
            </a:r>
            <a:r>
              <a:rPr lang="en-US" altLang="zh-CN" dirty="0"/>
              <a:t> ‘to phone’).</a:t>
            </a:r>
            <a:endParaRPr lang="en-GB" dirty="0"/>
          </a:p>
        </p:txBody>
      </p:sp>
    </p:spTree>
    <p:extLst>
      <p:ext uri="{BB962C8B-B14F-4D97-AF65-F5344CB8AC3E}">
        <p14:creationId xmlns:p14="http://schemas.microsoft.com/office/powerpoint/2010/main" val="1882254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Chinese cleft (</a:t>
            </a:r>
            <a:r>
              <a:rPr lang="zh-CN" altLang="en-US" dirty="0"/>
              <a:t>是</a:t>
            </a:r>
            <a:r>
              <a:rPr lang="en-US" altLang="zh-CN" dirty="0"/>
              <a:t>-</a:t>
            </a:r>
            <a:r>
              <a:rPr lang="zh-CN" altLang="en-US" dirty="0"/>
              <a:t>的</a:t>
            </a:r>
            <a:r>
              <a:rPr lang="en-US" altLang="zh-CN" dirty="0"/>
              <a:t>) constructions</a:t>
            </a:r>
            <a:endParaRPr lang="en-GB" dirty="0"/>
          </a:p>
        </p:txBody>
      </p:sp>
      <p:sp>
        <p:nvSpPr>
          <p:cNvPr id="3" name="Content Placeholder 2"/>
          <p:cNvSpPr>
            <a:spLocks noGrp="1"/>
          </p:cNvSpPr>
          <p:nvPr>
            <p:ph idx="1"/>
          </p:nvPr>
        </p:nvSpPr>
        <p:spPr>
          <a:xfrm>
            <a:off x="838200" y="1325563"/>
            <a:ext cx="10515600" cy="4351338"/>
          </a:xfrm>
        </p:spPr>
        <p:txBody>
          <a:bodyPr/>
          <a:lstStyle/>
          <a:p>
            <a:pPr marL="0" indent="0">
              <a:buNone/>
            </a:pPr>
            <a:r>
              <a:rPr lang="en-US" dirty="0"/>
              <a:t>Chinese cleft constructions (</a:t>
            </a:r>
            <a:r>
              <a:rPr lang="en-US" i="1" dirty="0" err="1"/>
              <a:t>shi</a:t>
            </a:r>
            <a:r>
              <a:rPr lang="en-US" dirty="0"/>
              <a:t> (</a:t>
            </a:r>
            <a:r>
              <a:rPr lang="zh-CN" altLang="en-US" dirty="0"/>
              <a:t>是</a:t>
            </a:r>
            <a:r>
              <a:rPr lang="en-US" altLang="zh-CN" dirty="0"/>
              <a:t>) </a:t>
            </a:r>
            <a:r>
              <a:rPr lang="en-US" dirty="0"/>
              <a:t>+ </a:t>
            </a:r>
            <a:r>
              <a:rPr lang="en-US" i="1" dirty="0"/>
              <a:t>de</a:t>
            </a:r>
            <a:r>
              <a:rPr lang="en-US" dirty="0"/>
              <a:t> (</a:t>
            </a:r>
            <a:r>
              <a:rPr lang="zh-CN" altLang="en-US" dirty="0"/>
              <a:t>的</a:t>
            </a:r>
            <a:r>
              <a:rPr lang="en-US" altLang="zh-CN" dirty="0"/>
              <a:t>) </a:t>
            </a:r>
            <a:r>
              <a:rPr lang="en-US" dirty="0"/>
              <a:t>constructions): </a:t>
            </a:r>
          </a:p>
        </p:txBody>
      </p:sp>
      <p:sp>
        <p:nvSpPr>
          <p:cNvPr id="4" name="Rectangle 3"/>
          <p:cNvSpPr/>
          <p:nvPr/>
        </p:nvSpPr>
        <p:spPr>
          <a:xfrm>
            <a:off x="831897" y="5371651"/>
            <a:ext cx="11353800" cy="954107"/>
          </a:xfrm>
          <a:prstGeom prst="rect">
            <a:avLst/>
          </a:prstGeom>
        </p:spPr>
        <p:txBody>
          <a:bodyPr wrap="square">
            <a:spAutoFit/>
          </a:bodyPr>
          <a:lstStyle/>
          <a:p>
            <a:r>
              <a:rPr lang="en-US" sz="2800" dirty="0"/>
              <a:t>Cleft constructions are copular (Zhan and </a:t>
            </a:r>
            <a:r>
              <a:rPr lang="en-US" sz="2800" dirty="0" err="1"/>
              <a:t>Traugott</a:t>
            </a:r>
            <a:r>
              <a:rPr lang="en-US" sz="2800" dirty="0"/>
              <a:t> (2012, 2017), </a:t>
            </a:r>
            <a:r>
              <a:rPr lang="en-US" sz="2800" dirty="0" err="1"/>
              <a:t>cf</a:t>
            </a:r>
            <a:r>
              <a:rPr lang="en-US" sz="2800" dirty="0"/>
              <a:t> Higgins (1979)). </a:t>
            </a:r>
            <a:endParaRPr lang="en-GB" sz="2800" dirty="0"/>
          </a:p>
        </p:txBody>
      </p:sp>
      <p:sp>
        <p:nvSpPr>
          <p:cNvPr id="5" name="Rectangle 4"/>
          <p:cNvSpPr/>
          <p:nvPr/>
        </p:nvSpPr>
        <p:spPr>
          <a:xfrm>
            <a:off x="838200" y="4417544"/>
            <a:ext cx="11353800" cy="954107"/>
          </a:xfrm>
          <a:prstGeom prst="rect">
            <a:avLst/>
          </a:prstGeom>
        </p:spPr>
        <p:txBody>
          <a:bodyPr wrap="square">
            <a:spAutoFit/>
          </a:bodyPr>
          <a:lstStyle/>
          <a:p>
            <a:r>
              <a:rPr lang="en-US" sz="2800" dirty="0"/>
              <a:t>It + COP + focus (relativized element) + presupposition (relative clause) (</a:t>
            </a:r>
            <a:r>
              <a:rPr lang="en-US" sz="2800" dirty="0" err="1"/>
              <a:t>Hedberg</a:t>
            </a:r>
            <a:r>
              <a:rPr lang="en-US" sz="2800" dirty="0"/>
              <a:t> (2000:96))</a:t>
            </a:r>
            <a:endParaRPr lang="en-GB" sz="2800" dirty="0"/>
          </a:p>
        </p:txBody>
      </p:sp>
      <p:sp>
        <p:nvSpPr>
          <p:cNvPr id="7" name="Rectangle 6"/>
          <p:cNvSpPr/>
          <p:nvPr/>
        </p:nvSpPr>
        <p:spPr>
          <a:xfrm>
            <a:off x="838200" y="1772149"/>
            <a:ext cx="11353800" cy="954107"/>
          </a:xfrm>
          <a:prstGeom prst="rect">
            <a:avLst/>
          </a:prstGeom>
        </p:spPr>
        <p:txBody>
          <a:bodyPr wrap="square">
            <a:spAutoFit/>
          </a:bodyPr>
          <a:lstStyle/>
          <a:p>
            <a:r>
              <a:rPr lang="en-US" sz="2800" dirty="0"/>
              <a:t>SUBJECT + COP + focus + presupposition + DE </a:t>
            </a:r>
          </a:p>
          <a:p>
            <a:r>
              <a:rPr lang="en-US" sz="2800" dirty="0"/>
              <a:t>(Lee (2005:133), Paul and Whitman (2008:430), Hole (2011:1710))</a:t>
            </a:r>
            <a:endParaRPr lang="en-GB" sz="2800" dirty="0"/>
          </a:p>
        </p:txBody>
      </p:sp>
      <p:sp>
        <p:nvSpPr>
          <p:cNvPr id="8" name="Rectangle 7"/>
          <p:cNvSpPr/>
          <p:nvPr/>
        </p:nvSpPr>
        <p:spPr>
          <a:xfrm>
            <a:off x="990600" y="3035387"/>
            <a:ext cx="11201400" cy="523220"/>
          </a:xfrm>
          <a:prstGeom prst="rect">
            <a:avLst/>
          </a:prstGeom>
        </p:spPr>
        <p:txBody>
          <a:bodyPr wrap="square">
            <a:spAutoFit/>
          </a:bodyPr>
          <a:lstStyle/>
          <a:p>
            <a:r>
              <a:rPr lang="en-US" sz="2800" dirty="0"/>
              <a:t>COP + </a:t>
            </a:r>
            <a:r>
              <a:rPr lang="en-US" sz="2800" i="1" dirty="0" err="1"/>
              <a:t>VOde</a:t>
            </a:r>
            <a:r>
              <a:rPr lang="en-US" sz="2800" dirty="0"/>
              <a:t> / </a:t>
            </a:r>
            <a:r>
              <a:rPr lang="en-US" sz="2800" i="1" dirty="0" err="1"/>
              <a:t>VdeO</a:t>
            </a:r>
            <a:r>
              <a:rPr lang="en-US" sz="2800" dirty="0"/>
              <a:t> (Long and Xiao (2009, 2011), Zhan (2012), Long (2013))</a:t>
            </a:r>
            <a:endParaRPr lang="en-GB" sz="2800" dirty="0"/>
          </a:p>
        </p:txBody>
      </p:sp>
      <p:sp>
        <p:nvSpPr>
          <p:cNvPr id="9" name="Rectangle 8"/>
          <p:cNvSpPr/>
          <p:nvPr/>
        </p:nvSpPr>
        <p:spPr>
          <a:xfrm>
            <a:off x="1953126" y="3589074"/>
            <a:ext cx="11353800" cy="523220"/>
          </a:xfrm>
          <a:prstGeom prst="rect">
            <a:avLst/>
          </a:prstGeom>
        </p:spPr>
        <p:txBody>
          <a:bodyPr wrap="square">
            <a:spAutoFit/>
          </a:bodyPr>
          <a:lstStyle/>
          <a:p>
            <a:r>
              <a:rPr lang="en-US" sz="2800" i="1" dirty="0" err="1"/>
              <a:t>VOge</a:t>
            </a:r>
            <a:r>
              <a:rPr lang="en-US" sz="2800" dirty="0"/>
              <a:t> / </a:t>
            </a:r>
            <a:r>
              <a:rPr lang="en-US" sz="2800" i="1" dirty="0" err="1"/>
              <a:t>VgeO</a:t>
            </a:r>
            <a:r>
              <a:rPr lang="en-US" sz="2800" dirty="0"/>
              <a:t> (</a:t>
            </a:r>
            <a:r>
              <a:rPr lang="zh-CN" altLang="en-US" sz="2800" dirty="0"/>
              <a:t>李 </a:t>
            </a:r>
            <a:r>
              <a:rPr lang="en-US" altLang="zh-CN" sz="2800" dirty="0"/>
              <a:t>2016)</a:t>
            </a:r>
            <a:endParaRPr lang="en-GB" sz="2800" dirty="0"/>
          </a:p>
        </p:txBody>
      </p:sp>
    </p:spTree>
    <p:extLst>
      <p:ext uri="{BB962C8B-B14F-4D97-AF65-F5344CB8AC3E}">
        <p14:creationId xmlns:p14="http://schemas.microsoft.com/office/powerpoint/2010/main" val="1128217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7" grpId="0"/>
      <p:bldP spid="8" grpId="0"/>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Chinese copula (</a:t>
            </a:r>
            <a:r>
              <a:rPr lang="zh-CN" altLang="en-US" dirty="0"/>
              <a:t>是</a:t>
            </a:r>
            <a:r>
              <a:rPr lang="en-US" altLang="zh-CN" dirty="0"/>
              <a:t>/</a:t>
            </a:r>
            <a:r>
              <a:rPr lang="zh-CN" altLang="en-US" dirty="0"/>
              <a:t>係</a:t>
            </a:r>
            <a:r>
              <a:rPr lang="en-US" altLang="zh-CN" dirty="0"/>
              <a:t>) + relative clause (</a:t>
            </a:r>
            <a:r>
              <a:rPr lang="en-US" altLang="zh-CN" dirty="0" err="1"/>
              <a:t>VOde</a:t>
            </a:r>
            <a:r>
              <a:rPr lang="en-US" altLang="zh-CN" dirty="0"/>
              <a:t>/</a:t>
            </a:r>
            <a:r>
              <a:rPr lang="en-US" altLang="zh-CN" dirty="0" err="1"/>
              <a:t>VOge</a:t>
            </a:r>
            <a:r>
              <a:rPr lang="en-US" altLang="zh-CN" dirty="0"/>
              <a:t>)</a:t>
            </a:r>
            <a:endParaRPr lang="en-GB" dirty="0"/>
          </a:p>
        </p:txBody>
      </p:sp>
      <p:sp>
        <p:nvSpPr>
          <p:cNvPr id="3" name="Content Placeholder 2"/>
          <p:cNvSpPr>
            <a:spLocks noGrp="1"/>
          </p:cNvSpPr>
          <p:nvPr>
            <p:ph idx="1"/>
          </p:nvPr>
        </p:nvSpPr>
        <p:spPr>
          <a:xfrm>
            <a:off x="838200" y="3399449"/>
            <a:ext cx="10515600" cy="4351338"/>
          </a:xfrm>
        </p:spPr>
        <p:txBody>
          <a:bodyPr>
            <a:normAutofit/>
          </a:bodyPr>
          <a:lstStyle/>
          <a:p>
            <a:pPr marL="0" indent="0">
              <a:buNone/>
            </a:pPr>
            <a:r>
              <a:rPr lang="zh-CN" altLang="en-US" sz="2400" dirty="0"/>
              <a:t>師指面前狗子云：“明明個，明明個。”</a:t>
            </a:r>
            <a:endParaRPr lang="en-US" altLang="zh-CN" sz="2400" dirty="0"/>
          </a:p>
          <a:p>
            <a:pPr marL="0" indent="0">
              <a:buNone/>
            </a:pPr>
            <a:r>
              <a:rPr lang="zh-CN" altLang="en-US" sz="2400" dirty="0"/>
              <a:t>僧便問師：”既是明明個，為個摩頭在裏許？</a:t>
            </a:r>
            <a:endParaRPr lang="en-US" altLang="zh-CN" sz="2400" dirty="0"/>
          </a:p>
          <a:p>
            <a:pPr marL="0" indent="0">
              <a:buNone/>
            </a:pPr>
            <a:r>
              <a:rPr lang="en-US" altLang="zh-CN" sz="2400" dirty="0"/>
              <a:t>‘Teacher points at a dog ahead and says, ‘It is bright, bright.’ </a:t>
            </a:r>
          </a:p>
          <a:p>
            <a:pPr marL="0" indent="0">
              <a:buNone/>
            </a:pPr>
            <a:r>
              <a:rPr lang="en-US" altLang="zh-CN" sz="2400" dirty="0"/>
              <a:t>Monk then asks, ‘If it is bright, why is its head inside?’ </a:t>
            </a:r>
          </a:p>
          <a:p>
            <a:pPr marL="0" indent="0">
              <a:buNone/>
            </a:pPr>
            <a:endParaRPr lang="en-GB" sz="2400" dirty="0"/>
          </a:p>
        </p:txBody>
      </p:sp>
      <p:sp>
        <p:nvSpPr>
          <p:cNvPr id="4" name="Content Placeholder 2"/>
          <p:cNvSpPr txBox="1">
            <a:spLocks/>
          </p:cNvSpPr>
          <p:nvPr/>
        </p:nvSpPr>
        <p:spPr>
          <a:xfrm>
            <a:off x="838200" y="1794752"/>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5" name="Content Placeholder 2"/>
          <p:cNvSpPr txBox="1">
            <a:spLocks/>
          </p:cNvSpPr>
          <p:nvPr/>
        </p:nvSpPr>
        <p:spPr>
          <a:xfrm>
            <a:off x="838200" y="1796563"/>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2400" dirty="0"/>
              <a:t>師云：“人人盡有底衣即是。”</a:t>
            </a:r>
            <a:endParaRPr lang="en-US" altLang="zh-CN" sz="2400" dirty="0"/>
          </a:p>
          <a:p>
            <a:pPr marL="0" indent="0">
              <a:buFont typeface="Arial" panose="020B0604020202020204" pitchFamily="34" charset="0"/>
              <a:buNone/>
            </a:pPr>
            <a:r>
              <a:rPr lang="zh-CN" altLang="en-US" sz="2400" dirty="0"/>
              <a:t>僧云：“既是人人盡有底，用被做什摩？</a:t>
            </a:r>
            <a:endParaRPr lang="en-US" altLang="zh-CN" sz="2400" dirty="0"/>
          </a:p>
          <a:p>
            <a:pPr marL="0" indent="0">
              <a:buFont typeface="Arial" panose="020B0604020202020204" pitchFamily="34" charset="0"/>
              <a:buNone/>
            </a:pPr>
            <a:r>
              <a:rPr lang="en-US" sz="2400" dirty="0"/>
              <a:t>Teacher says, ‘The clothes which everyone has then it is.’ Monk says, ‘As it is clothes which everyone has, why use sheets?’ </a:t>
            </a:r>
            <a:endParaRPr lang="en-GB" sz="2400" dirty="0"/>
          </a:p>
        </p:txBody>
      </p:sp>
      <p:sp>
        <p:nvSpPr>
          <p:cNvPr id="6" name="Content Placeholder 2"/>
          <p:cNvSpPr txBox="1">
            <a:spLocks/>
          </p:cNvSpPr>
          <p:nvPr/>
        </p:nvSpPr>
        <p:spPr>
          <a:xfrm>
            <a:off x="838200" y="1365322"/>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COP + </a:t>
            </a:r>
            <a:r>
              <a:rPr lang="en-US" i="1" dirty="0" err="1"/>
              <a:t>VOde</a:t>
            </a:r>
            <a:r>
              <a:rPr lang="en-US" dirty="0"/>
              <a:t> / </a:t>
            </a:r>
            <a:r>
              <a:rPr lang="en-US" i="1" dirty="0" err="1"/>
              <a:t>VOge</a:t>
            </a:r>
            <a:r>
              <a:rPr lang="en-US" dirty="0"/>
              <a:t>:</a:t>
            </a:r>
            <a:endParaRPr lang="en-GB" dirty="0"/>
          </a:p>
        </p:txBody>
      </p:sp>
      <p:sp>
        <p:nvSpPr>
          <p:cNvPr id="13" name="Content Placeholder 2"/>
          <p:cNvSpPr txBox="1">
            <a:spLocks/>
          </p:cNvSpPr>
          <p:nvPr/>
        </p:nvSpPr>
        <p:spPr>
          <a:xfrm>
            <a:off x="3902242" y="1351244"/>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Equational: subject and complement are co-referential</a:t>
            </a:r>
            <a:endParaRPr lang="en-GB" dirty="0"/>
          </a:p>
        </p:txBody>
      </p:sp>
      <p:sp>
        <p:nvSpPr>
          <p:cNvPr id="14" name="Rectangle 13"/>
          <p:cNvSpPr/>
          <p:nvPr/>
        </p:nvSpPr>
        <p:spPr>
          <a:xfrm>
            <a:off x="1202806" y="5394920"/>
            <a:ext cx="7509277" cy="584775"/>
          </a:xfrm>
          <a:prstGeom prst="rect">
            <a:avLst/>
          </a:prstGeom>
        </p:spPr>
        <p:txBody>
          <a:bodyPr wrap="square">
            <a:spAutoFit/>
          </a:bodyPr>
          <a:lstStyle/>
          <a:p>
            <a:r>
              <a:rPr lang="en-US" altLang="zh-TW" sz="3200" i="1" dirty="0" err="1"/>
              <a:t>VOde</a:t>
            </a:r>
            <a:r>
              <a:rPr lang="en-US" altLang="zh-TW" sz="3200" i="1" dirty="0"/>
              <a:t>/</a:t>
            </a:r>
            <a:r>
              <a:rPr lang="en-US" altLang="zh-TW" sz="3200" i="1" dirty="0" err="1"/>
              <a:t>VOge</a:t>
            </a:r>
            <a:r>
              <a:rPr lang="en-US" altLang="zh-TW" sz="3200" dirty="0"/>
              <a:t>: </a:t>
            </a:r>
          </a:p>
        </p:txBody>
      </p:sp>
      <p:sp>
        <p:nvSpPr>
          <p:cNvPr id="15" name="Rectangle 14"/>
          <p:cNvSpPr/>
          <p:nvPr/>
        </p:nvSpPr>
        <p:spPr>
          <a:xfrm>
            <a:off x="4266848" y="5132467"/>
            <a:ext cx="7509277" cy="1569660"/>
          </a:xfrm>
          <a:prstGeom prst="rect">
            <a:avLst/>
          </a:prstGeom>
        </p:spPr>
        <p:txBody>
          <a:bodyPr wrap="square">
            <a:spAutoFit/>
          </a:bodyPr>
          <a:lstStyle/>
          <a:p>
            <a:r>
              <a:rPr lang="en-US" altLang="zh-TW" sz="3200" dirty="0"/>
              <a:t>In sentence-final position where there is no nominal complement, </a:t>
            </a:r>
            <a:r>
              <a:rPr lang="en-US" altLang="zh-TW" sz="3200" i="1" dirty="0"/>
              <a:t>de/</a:t>
            </a:r>
            <a:r>
              <a:rPr lang="en-US" altLang="zh-TW" sz="3200" i="1" dirty="0" err="1"/>
              <a:t>ge</a:t>
            </a:r>
            <a:r>
              <a:rPr lang="en-US" altLang="zh-TW" sz="3200" dirty="0"/>
              <a:t> can be reanalyzed as sentence-final particle (SFP)</a:t>
            </a:r>
          </a:p>
        </p:txBody>
      </p:sp>
      <p:sp>
        <p:nvSpPr>
          <p:cNvPr id="10" name="Content Placeholder 2"/>
          <p:cNvSpPr txBox="1">
            <a:spLocks/>
          </p:cNvSpPr>
          <p:nvPr/>
        </p:nvSpPr>
        <p:spPr>
          <a:xfrm>
            <a:off x="7221563" y="1871174"/>
            <a:ext cx="4343400" cy="13861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dirty="0"/>
              <a:t>Paul (2011), Zhang (2013): </a:t>
            </a:r>
          </a:p>
          <a:p>
            <a:pPr marL="0" indent="0">
              <a:buFont typeface="Arial" panose="020B0604020202020204" pitchFamily="34" charset="0"/>
              <a:buNone/>
            </a:pPr>
            <a:r>
              <a:rPr lang="en-US" altLang="zh-CN" dirty="0"/>
              <a:t>-</a:t>
            </a:r>
            <a:r>
              <a:rPr lang="zh-CN" altLang="en-US" dirty="0"/>
              <a:t>的話</a:t>
            </a:r>
            <a:r>
              <a:rPr lang="en-US" altLang="zh-CN" i="1" dirty="0" err="1"/>
              <a:t>dehua</a:t>
            </a:r>
            <a:r>
              <a:rPr lang="en-US" altLang="zh-CN" dirty="0"/>
              <a:t> conditionals</a:t>
            </a:r>
            <a:endParaRPr lang="en-GB" dirty="0"/>
          </a:p>
        </p:txBody>
      </p:sp>
    </p:spTree>
    <p:extLst>
      <p:ext uri="{BB962C8B-B14F-4D97-AF65-F5344CB8AC3E}">
        <p14:creationId xmlns:p14="http://schemas.microsoft.com/office/powerpoint/2010/main" val="3799119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6" grpId="0"/>
      <p:bldP spid="13" grpId="0"/>
      <p:bldP spid="14" grpId="0"/>
      <p:bldP spid="15" grpId="0"/>
      <p:bldP spid="1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Chinese copula (</a:t>
            </a:r>
            <a:r>
              <a:rPr lang="zh-CN" altLang="en-US" dirty="0"/>
              <a:t>是</a:t>
            </a:r>
            <a:r>
              <a:rPr lang="en-US" altLang="zh-CN" dirty="0"/>
              <a:t>/</a:t>
            </a:r>
            <a:r>
              <a:rPr lang="zh-CN" altLang="en-US" dirty="0"/>
              <a:t>係</a:t>
            </a:r>
            <a:r>
              <a:rPr lang="en-US" altLang="zh-CN" dirty="0"/>
              <a:t>) + relative clause (</a:t>
            </a:r>
            <a:r>
              <a:rPr lang="en-US" altLang="zh-CN" dirty="0" err="1"/>
              <a:t>VdeO</a:t>
            </a:r>
            <a:r>
              <a:rPr lang="en-US" altLang="zh-CN" dirty="0"/>
              <a:t>/</a:t>
            </a:r>
            <a:r>
              <a:rPr lang="en-US" altLang="zh-CN" dirty="0" err="1"/>
              <a:t>VgeO</a:t>
            </a:r>
            <a:r>
              <a:rPr lang="en-US" altLang="zh-CN" dirty="0"/>
              <a:t>)</a:t>
            </a:r>
            <a:endParaRPr lang="en-GB" dirty="0"/>
          </a:p>
        </p:txBody>
      </p:sp>
      <p:sp>
        <p:nvSpPr>
          <p:cNvPr id="3" name="Content Placeholder 2"/>
          <p:cNvSpPr>
            <a:spLocks noGrp="1"/>
          </p:cNvSpPr>
          <p:nvPr>
            <p:ph idx="1"/>
          </p:nvPr>
        </p:nvSpPr>
        <p:spPr>
          <a:xfrm>
            <a:off x="7642492" y="4678362"/>
            <a:ext cx="11353800" cy="4351338"/>
          </a:xfrm>
        </p:spPr>
        <p:txBody>
          <a:bodyPr/>
          <a:lstStyle/>
          <a:p>
            <a:pPr marL="0" indent="0">
              <a:buNone/>
            </a:pPr>
            <a:r>
              <a:rPr lang="en-US" altLang="zh-TW" i="1" dirty="0" err="1"/>
              <a:t>VdeO</a:t>
            </a:r>
            <a:r>
              <a:rPr lang="en-US" altLang="zh-TW" dirty="0"/>
              <a:t>/*</a:t>
            </a:r>
            <a:r>
              <a:rPr lang="en-US" altLang="zh-TW" i="1" dirty="0" err="1"/>
              <a:t>VgeO</a:t>
            </a:r>
            <a:r>
              <a:rPr lang="en-US" altLang="zh-TW" dirty="0"/>
              <a:t>: </a:t>
            </a:r>
            <a:endParaRPr lang="en-GB" dirty="0"/>
          </a:p>
        </p:txBody>
      </p:sp>
      <p:sp>
        <p:nvSpPr>
          <p:cNvPr id="4" name="Content Placeholder 2"/>
          <p:cNvSpPr txBox="1">
            <a:spLocks/>
          </p:cNvSpPr>
          <p:nvPr/>
        </p:nvSpPr>
        <p:spPr>
          <a:xfrm>
            <a:off x="838200" y="1794752"/>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5" name="Content Placeholder 2"/>
          <p:cNvSpPr txBox="1">
            <a:spLocks/>
          </p:cNvSpPr>
          <p:nvPr/>
        </p:nvSpPr>
        <p:spPr>
          <a:xfrm>
            <a:off x="838199" y="169359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TW" altLang="en-US" sz="1800" dirty="0"/>
              <a:t>那兩個人是如此如此這般這般使的手段</a:t>
            </a:r>
            <a:r>
              <a:rPr lang="zh-CN" altLang="en-US" sz="1800" dirty="0"/>
              <a:t>。</a:t>
            </a:r>
            <a:endParaRPr lang="en-US" altLang="zh-CN" sz="1800" dirty="0"/>
          </a:p>
          <a:p>
            <a:pPr marL="0" indent="0">
              <a:buNone/>
            </a:pPr>
            <a:r>
              <a:rPr lang="en-US" sz="1800" dirty="0"/>
              <a:t>‘As for those two people, it was manipulation used in thus </a:t>
            </a:r>
            <a:r>
              <a:rPr lang="en-US" sz="1800" dirty="0" err="1"/>
              <a:t>thus</a:t>
            </a:r>
            <a:r>
              <a:rPr lang="en-US" sz="1800" dirty="0"/>
              <a:t> such </a:t>
            </a:r>
            <a:r>
              <a:rPr lang="en-US" sz="1800" dirty="0" err="1"/>
              <a:t>such</a:t>
            </a:r>
            <a:r>
              <a:rPr lang="en-US" sz="1800" dirty="0"/>
              <a:t> a way’ &gt; ‘It was thus </a:t>
            </a:r>
            <a:r>
              <a:rPr lang="en-US" sz="1800" dirty="0" err="1"/>
              <a:t>thus</a:t>
            </a:r>
            <a:r>
              <a:rPr lang="en-US" sz="1800" dirty="0"/>
              <a:t> so </a:t>
            </a:r>
            <a:r>
              <a:rPr lang="en-US" sz="1800" dirty="0" err="1"/>
              <a:t>so</a:t>
            </a:r>
            <a:r>
              <a:rPr lang="en-US" sz="1800" dirty="0"/>
              <a:t> that those two people manipulated.’ (</a:t>
            </a:r>
            <a:r>
              <a:rPr lang="zh-CN" altLang="en-US" sz="1800" dirty="0"/>
              <a:t>元雜劇</a:t>
            </a:r>
            <a:r>
              <a:rPr lang="en-US" altLang="zh-CN" sz="1800" dirty="0"/>
              <a:t>)</a:t>
            </a:r>
          </a:p>
          <a:p>
            <a:pPr marL="0" indent="0">
              <a:buNone/>
            </a:pPr>
            <a:r>
              <a:rPr lang="zh-TW" altLang="en-US" sz="1800" dirty="0"/>
              <a:t>娘原是氣惱上起的病</a:t>
            </a:r>
            <a:endParaRPr lang="en-US" altLang="zh-TW" sz="1800" dirty="0"/>
          </a:p>
          <a:p>
            <a:pPr marL="0" indent="0">
              <a:buNone/>
            </a:pPr>
            <a:r>
              <a:rPr lang="en-GB" sz="1800" dirty="0"/>
              <a:t>‘As for my mother, it was originally the illness that was contracted by getting angry.’ &gt; ‘it was through anger that mother contracted illness.’ (</a:t>
            </a:r>
            <a:r>
              <a:rPr lang="zh-CN" altLang="en-US" sz="1800" dirty="0"/>
              <a:t>金瓶梅詞話</a:t>
            </a:r>
            <a:r>
              <a:rPr lang="en-GB" sz="1800" dirty="0"/>
              <a:t>)	</a:t>
            </a:r>
          </a:p>
          <a:p>
            <a:pPr marL="0" indent="0">
              <a:buNone/>
            </a:pPr>
            <a:r>
              <a:rPr lang="zh-TW" altLang="en-US" sz="1800" dirty="0"/>
              <a:t>悟空，你是哪世修來的緣法</a:t>
            </a:r>
            <a:r>
              <a:rPr lang="en-US" altLang="zh-TW" sz="1800" dirty="0"/>
              <a:t>? </a:t>
            </a:r>
          </a:p>
          <a:p>
            <a:pPr marL="0" indent="0">
              <a:buNone/>
            </a:pPr>
            <a:r>
              <a:rPr lang="en-GB" sz="1800" dirty="0"/>
              <a:t>‘</a:t>
            </a:r>
            <a:r>
              <a:rPr lang="en-GB" sz="1800" dirty="0" err="1"/>
              <a:t>Wukong</a:t>
            </a:r>
            <a:r>
              <a:rPr lang="en-GB" sz="1800" dirty="0"/>
              <a:t>, as for you, it is the karma of which life that is obtained?’ &gt; ‘In which life did you obtain karma?’ (</a:t>
            </a:r>
            <a:r>
              <a:rPr lang="en-GB" sz="1800" i="1" dirty="0" err="1"/>
              <a:t>Xiyouji</a:t>
            </a:r>
            <a:r>
              <a:rPr lang="en-GB" sz="1800" i="1" dirty="0"/>
              <a:t> </a:t>
            </a:r>
            <a:r>
              <a:rPr lang="zh-TW" altLang="en-US" sz="1800" dirty="0"/>
              <a:t>西游記</a:t>
            </a:r>
            <a:r>
              <a:rPr lang="en-GB" sz="1800" dirty="0"/>
              <a:t>)</a:t>
            </a:r>
          </a:p>
          <a:p>
            <a:pPr marL="0" indent="0">
              <a:buNone/>
            </a:pPr>
            <a:endParaRPr lang="en-GB" sz="1800" dirty="0"/>
          </a:p>
          <a:p>
            <a:pPr marL="0" indent="0">
              <a:buNone/>
            </a:pPr>
            <a:endParaRPr lang="en-GB" sz="1800" dirty="0"/>
          </a:p>
        </p:txBody>
      </p:sp>
      <p:sp>
        <p:nvSpPr>
          <p:cNvPr id="6" name="Content Placeholder 2"/>
          <p:cNvSpPr txBox="1">
            <a:spLocks/>
          </p:cNvSpPr>
          <p:nvPr/>
        </p:nvSpPr>
        <p:spPr>
          <a:xfrm>
            <a:off x="838200" y="1325563"/>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COP + </a:t>
            </a:r>
            <a:r>
              <a:rPr lang="en-US" i="1" dirty="0" err="1"/>
              <a:t>VdeO</a:t>
            </a:r>
            <a:r>
              <a:rPr lang="en-US" i="1" dirty="0"/>
              <a:t> / </a:t>
            </a:r>
            <a:r>
              <a:rPr lang="en-US" i="1" dirty="0" err="1"/>
              <a:t>VgeO</a:t>
            </a:r>
            <a:r>
              <a:rPr lang="en-US" dirty="0"/>
              <a:t>: </a:t>
            </a:r>
            <a:endParaRPr lang="en-GB" dirty="0"/>
          </a:p>
        </p:txBody>
      </p:sp>
      <p:sp>
        <p:nvSpPr>
          <p:cNvPr id="7" name="Content Placeholder 2"/>
          <p:cNvSpPr txBox="1">
            <a:spLocks/>
          </p:cNvSpPr>
          <p:nvPr/>
        </p:nvSpPr>
        <p:spPr>
          <a:xfrm>
            <a:off x="838200" y="4682331"/>
            <a:ext cx="113538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800" dirty="0"/>
              <a:t>须是先说个粗</a:t>
            </a:r>
            <a:endParaRPr lang="en-US" altLang="zh-CN" sz="1800" dirty="0"/>
          </a:p>
          <a:p>
            <a:pPr marL="0" indent="0">
              <a:buNone/>
            </a:pPr>
            <a:r>
              <a:rPr lang="en-US" altLang="zh-CN" sz="1800" dirty="0"/>
              <a:t>‘First one must deal with it.’ (</a:t>
            </a:r>
            <a:r>
              <a:rPr lang="zh-CN" altLang="en-US" sz="1800" dirty="0"/>
              <a:t>朱子語類</a:t>
            </a:r>
            <a:r>
              <a:rPr lang="en-US" altLang="zh-CN" sz="1800" dirty="0"/>
              <a:t>)</a:t>
            </a:r>
          </a:p>
          <a:p>
            <a:pPr marL="0" indent="0">
              <a:buNone/>
            </a:pPr>
            <a:r>
              <a:rPr lang="zh-CN" altLang="en-US" sz="1800" dirty="0"/>
              <a:t>须是把做个题目</a:t>
            </a:r>
            <a:endParaRPr lang="en-US" altLang="zh-CN" sz="1800" dirty="0"/>
          </a:p>
          <a:p>
            <a:pPr marL="0" indent="0">
              <a:buNone/>
            </a:pPr>
            <a:r>
              <a:rPr lang="en-US" altLang="zh-CN" sz="1800" dirty="0"/>
              <a:t>‘First one must create topic.’ (</a:t>
            </a:r>
            <a:r>
              <a:rPr lang="zh-CN" altLang="en-US" sz="1800" dirty="0"/>
              <a:t>同上</a:t>
            </a:r>
            <a:r>
              <a:rPr lang="en-US" altLang="zh-CN" sz="1800" dirty="0"/>
              <a:t>)</a:t>
            </a:r>
          </a:p>
          <a:p>
            <a:pPr marL="0" indent="0">
              <a:buNone/>
            </a:pPr>
            <a:r>
              <a:rPr lang="zh-CN" altLang="en-US" sz="1800" dirty="0"/>
              <a:t>只是寻个是处</a:t>
            </a:r>
            <a:endParaRPr lang="en-US" altLang="zh-CN" sz="1800" dirty="0"/>
          </a:p>
          <a:p>
            <a:pPr marL="0" indent="0">
              <a:buNone/>
            </a:pPr>
            <a:r>
              <a:rPr lang="en-US" sz="1800" dirty="0"/>
              <a:t>‘Only seek a </a:t>
            </a:r>
            <a:r>
              <a:rPr lang="en-US" altLang="zh-CN" sz="1800" dirty="0"/>
              <a:t>point.’ (</a:t>
            </a:r>
            <a:r>
              <a:rPr lang="zh-CN" altLang="en-US" sz="1800" dirty="0"/>
              <a:t>同上</a:t>
            </a:r>
            <a:r>
              <a:rPr lang="en-US" altLang="zh-CN" sz="1800" dirty="0"/>
              <a:t>)</a:t>
            </a:r>
            <a:endParaRPr lang="en-US" sz="1800" dirty="0"/>
          </a:p>
        </p:txBody>
      </p:sp>
      <p:sp>
        <p:nvSpPr>
          <p:cNvPr id="8" name="Content Placeholder 2"/>
          <p:cNvSpPr txBox="1">
            <a:spLocks/>
          </p:cNvSpPr>
          <p:nvPr/>
        </p:nvSpPr>
        <p:spPr>
          <a:xfrm>
            <a:off x="3878179" y="1325563"/>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Non-equational/illogical copulas (Yue (1968))</a:t>
            </a:r>
            <a:endParaRPr lang="en-GB" dirty="0"/>
          </a:p>
        </p:txBody>
      </p:sp>
      <p:sp>
        <p:nvSpPr>
          <p:cNvPr id="9" name="Rectangle 8"/>
          <p:cNvSpPr/>
          <p:nvPr/>
        </p:nvSpPr>
        <p:spPr>
          <a:xfrm>
            <a:off x="5440712" y="5228946"/>
            <a:ext cx="6751288" cy="1569660"/>
          </a:xfrm>
          <a:prstGeom prst="rect">
            <a:avLst/>
          </a:prstGeom>
        </p:spPr>
        <p:txBody>
          <a:bodyPr wrap="square">
            <a:spAutoFit/>
          </a:bodyPr>
          <a:lstStyle/>
          <a:p>
            <a:r>
              <a:rPr lang="en-US" altLang="zh-TW" sz="3200" i="1" dirty="0" err="1"/>
              <a:t>ge</a:t>
            </a:r>
            <a:r>
              <a:rPr lang="en-US" altLang="zh-TW" sz="3200" dirty="0"/>
              <a:t> retains quantificational meaning and tends to modify either the object noun or the event  </a:t>
            </a:r>
          </a:p>
        </p:txBody>
      </p:sp>
    </p:spTree>
    <p:extLst>
      <p:ext uri="{BB962C8B-B14F-4D97-AF65-F5344CB8AC3E}">
        <p14:creationId xmlns:p14="http://schemas.microsoft.com/office/powerpoint/2010/main" val="1069770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6" grpId="0"/>
      <p:bldP spid="7" grpId="0"/>
      <p:bldP spid="8" grpId="0"/>
      <p:bldP spid="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9100" y="0"/>
            <a:ext cx="11353800" cy="1325563"/>
          </a:xfrm>
        </p:spPr>
        <p:txBody>
          <a:bodyPr/>
          <a:lstStyle/>
          <a:p>
            <a:r>
              <a:rPr lang="en-US" dirty="0"/>
              <a:t>Chinese nominal domain in intermediate dialects</a:t>
            </a:r>
            <a:endParaRPr lang="en-GB" dirty="0"/>
          </a:p>
        </p:txBody>
      </p:sp>
      <p:sp>
        <p:nvSpPr>
          <p:cNvPr id="3" name="Content Placeholder 2"/>
          <p:cNvSpPr>
            <a:spLocks noGrp="1"/>
          </p:cNvSpPr>
          <p:nvPr>
            <p:ph idx="1"/>
          </p:nvPr>
        </p:nvSpPr>
        <p:spPr>
          <a:xfrm>
            <a:off x="419100" y="1325563"/>
            <a:ext cx="10515600" cy="4351338"/>
          </a:xfrm>
        </p:spPr>
        <p:txBody>
          <a:bodyPr/>
          <a:lstStyle/>
          <a:p>
            <a:pPr marL="0" indent="0">
              <a:buNone/>
            </a:pPr>
            <a:r>
              <a:rPr lang="en-US" dirty="0"/>
              <a:t>(?)</a:t>
            </a:r>
            <a:r>
              <a:rPr lang="en-US" dirty="0" err="1"/>
              <a:t>VgeO</a:t>
            </a:r>
            <a:r>
              <a:rPr lang="en-US" dirty="0"/>
              <a:t> vs *</a:t>
            </a:r>
            <a:r>
              <a:rPr lang="en-US" dirty="0" err="1"/>
              <a:t>keoi</a:t>
            </a:r>
            <a:r>
              <a:rPr lang="en-US" dirty="0"/>
              <a:t> </a:t>
            </a:r>
            <a:r>
              <a:rPr lang="en-US" dirty="0" err="1"/>
              <a:t>ge</a:t>
            </a:r>
            <a:r>
              <a:rPr lang="en-US" dirty="0"/>
              <a:t> </a:t>
            </a:r>
            <a:r>
              <a:rPr lang="en-US" dirty="0" err="1"/>
              <a:t>lousi</a:t>
            </a:r>
            <a:r>
              <a:rPr lang="en-US" dirty="0"/>
              <a:t> </a:t>
            </a:r>
            <a:endParaRPr lang="en-GB" dirty="0"/>
          </a:p>
        </p:txBody>
      </p:sp>
      <p:sp>
        <p:nvSpPr>
          <p:cNvPr id="4" name="Rectangle 3"/>
          <p:cNvSpPr/>
          <p:nvPr/>
        </p:nvSpPr>
        <p:spPr>
          <a:xfrm>
            <a:off x="419100" y="1700738"/>
            <a:ext cx="11353800" cy="923330"/>
          </a:xfrm>
          <a:prstGeom prst="rect">
            <a:avLst/>
          </a:prstGeom>
        </p:spPr>
        <p:txBody>
          <a:bodyPr wrap="square">
            <a:spAutoFit/>
          </a:bodyPr>
          <a:lstStyle/>
          <a:p>
            <a:r>
              <a:rPr lang="zh-TW" altLang="en-US" dirty="0"/>
              <a:t>吾 是 昨日 買</a:t>
            </a:r>
            <a:r>
              <a:rPr lang="en-US" altLang="zh-TW" dirty="0"/>
              <a:t>-</a:t>
            </a:r>
            <a:r>
              <a:rPr lang="zh-TW" altLang="en-US" dirty="0"/>
              <a:t>個 票 </a:t>
            </a:r>
            <a:r>
              <a:rPr lang="en-US" altLang="zh-TW" dirty="0"/>
              <a:t>/ </a:t>
            </a:r>
            <a:r>
              <a:rPr lang="zh-TW" altLang="en-US" dirty="0"/>
              <a:t>*吾 個 飯 吃</a:t>
            </a:r>
            <a:r>
              <a:rPr lang="en-US" altLang="zh-TW" dirty="0"/>
              <a:t>-</a:t>
            </a:r>
            <a:r>
              <a:rPr lang="zh-TW" altLang="en-US" dirty="0"/>
              <a:t>了 蠻 久</a:t>
            </a:r>
            <a:endParaRPr lang="en-US" altLang="zh-TW" dirty="0"/>
          </a:p>
          <a:p>
            <a:r>
              <a:rPr lang="en-US" altLang="zh-TW" dirty="0"/>
              <a:t>‘It was yesterday that I bought tickets.’ / </a:t>
            </a:r>
            <a:r>
              <a:rPr lang="zh-CN" altLang="en-US" dirty="0"/>
              <a:t>‘</a:t>
            </a:r>
            <a:r>
              <a:rPr lang="en-US" altLang="zh-CN" dirty="0"/>
              <a:t>I ate for quite a long time.’ (Wu) </a:t>
            </a:r>
            <a:endParaRPr lang="en-US" altLang="zh-TW" dirty="0"/>
          </a:p>
          <a:p>
            <a:r>
              <a:rPr lang="en-US" altLang="zh-TW" dirty="0"/>
              <a:t> </a:t>
            </a:r>
          </a:p>
        </p:txBody>
      </p:sp>
      <p:sp>
        <p:nvSpPr>
          <p:cNvPr id="5" name="Rectangle 4"/>
          <p:cNvSpPr/>
          <p:nvPr/>
        </p:nvSpPr>
        <p:spPr>
          <a:xfrm>
            <a:off x="419100" y="2300902"/>
            <a:ext cx="10248900" cy="646331"/>
          </a:xfrm>
          <a:prstGeom prst="rect">
            <a:avLst/>
          </a:prstGeom>
        </p:spPr>
        <p:txBody>
          <a:bodyPr wrap="square">
            <a:spAutoFit/>
          </a:bodyPr>
          <a:lstStyle/>
          <a:p>
            <a:r>
              <a:rPr lang="zh-TW" altLang="en-US" dirty="0"/>
              <a:t>我 是 前年 到</a:t>
            </a:r>
            <a:r>
              <a:rPr lang="en-US" altLang="zh-TW" dirty="0"/>
              <a:t>-</a:t>
            </a:r>
            <a:r>
              <a:rPr lang="zh-TW" altLang="en-US" dirty="0"/>
              <a:t>個 北京</a:t>
            </a:r>
            <a:r>
              <a:rPr lang="en-US" altLang="zh-TW" dirty="0"/>
              <a:t>/(?)</a:t>
            </a:r>
            <a:r>
              <a:rPr lang="zh-TW" altLang="en-US" dirty="0"/>
              <a:t>我 個 籃球 打 得 蠻 好</a:t>
            </a:r>
            <a:endParaRPr lang="en-US" altLang="zh-TW" dirty="0"/>
          </a:p>
          <a:p>
            <a:r>
              <a:rPr lang="en-US" altLang="zh-CN" dirty="0"/>
              <a:t>‘It was two years ago that I went to Beijing.’ / </a:t>
            </a:r>
            <a:r>
              <a:rPr lang="zh-CN" altLang="en-US" dirty="0"/>
              <a:t>‘</a:t>
            </a:r>
            <a:r>
              <a:rPr lang="en-US" altLang="zh-CN" dirty="0"/>
              <a:t>I play basketball quite well.’ (Xinhua, Xi</a:t>
            </a:r>
            <a:r>
              <a:rPr lang="en-US" dirty="0"/>
              <a:t>ang)  </a:t>
            </a:r>
            <a:endParaRPr lang="en-GB" dirty="0"/>
          </a:p>
        </p:txBody>
      </p:sp>
      <p:sp>
        <p:nvSpPr>
          <p:cNvPr id="6" name="Rectangle 5"/>
          <p:cNvSpPr/>
          <p:nvPr/>
        </p:nvSpPr>
        <p:spPr>
          <a:xfrm>
            <a:off x="419100" y="2901066"/>
            <a:ext cx="6096000" cy="646331"/>
          </a:xfrm>
          <a:prstGeom prst="rect">
            <a:avLst/>
          </a:prstGeom>
        </p:spPr>
        <p:txBody>
          <a:bodyPr>
            <a:spAutoFit/>
          </a:bodyPr>
          <a:lstStyle/>
          <a:p>
            <a:r>
              <a:rPr lang="zh-TW" altLang="en-US" dirty="0"/>
              <a:t>我 係 哺</a:t>
            </a:r>
            <a:r>
              <a:rPr lang="zh-CN" altLang="en-US" dirty="0"/>
              <a:t>日</a:t>
            </a:r>
            <a:r>
              <a:rPr lang="zh-TW" altLang="en-US" dirty="0"/>
              <a:t> </a:t>
            </a:r>
            <a:r>
              <a:rPr lang="zh-CN" altLang="en-US" dirty="0"/>
              <a:t>買</a:t>
            </a:r>
            <a:r>
              <a:rPr lang="en-US" altLang="zh-CN" dirty="0"/>
              <a:t>-</a:t>
            </a:r>
            <a:r>
              <a:rPr lang="zh-CN" altLang="en-US" dirty="0"/>
              <a:t>介 票 </a:t>
            </a:r>
            <a:r>
              <a:rPr lang="en-US" altLang="zh-CN" dirty="0"/>
              <a:t>/ </a:t>
            </a:r>
            <a:r>
              <a:rPr lang="zh-CN" altLang="en-US" dirty="0"/>
              <a:t>*我介步跑得好</a:t>
            </a:r>
            <a:endParaRPr lang="en-US" altLang="zh-TW" dirty="0"/>
          </a:p>
          <a:p>
            <a:r>
              <a:rPr lang="en-US" dirty="0"/>
              <a:t>‘It was </a:t>
            </a:r>
            <a:r>
              <a:rPr lang="en-US" altLang="zh-CN" dirty="0"/>
              <a:t>yesterday </a:t>
            </a:r>
            <a:r>
              <a:rPr lang="en-US" dirty="0"/>
              <a:t>that I bought tickets Beijing.’ (</a:t>
            </a:r>
            <a:r>
              <a:rPr lang="en-US" dirty="0" err="1"/>
              <a:t>Kejia</a:t>
            </a:r>
            <a:r>
              <a:rPr lang="en-US" dirty="0"/>
              <a:t>) </a:t>
            </a:r>
            <a:endParaRPr lang="en-GB" dirty="0"/>
          </a:p>
        </p:txBody>
      </p:sp>
      <p:sp>
        <p:nvSpPr>
          <p:cNvPr id="7" name="Content Placeholder 2"/>
          <p:cNvSpPr txBox="1">
            <a:spLocks/>
          </p:cNvSpPr>
          <p:nvPr/>
        </p:nvSpPr>
        <p:spPr>
          <a:xfrm>
            <a:off x="2161673" y="3938882"/>
            <a:ext cx="8773027" cy="326443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i="1" dirty="0" err="1"/>
              <a:t>VgeO</a:t>
            </a:r>
            <a:r>
              <a:rPr lang="en-US" dirty="0"/>
              <a:t> (non-referential) vs *</a:t>
            </a:r>
            <a:r>
              <a:rPr lang="en-US" i="1" dirty="0" err="1"/>
              <a:t>keoi</a:t>
            </a:r>
            <a:r>
              <a:rPr lang="en-US" i="1" dirty="0"/>
              <a:t> </a:t>
            </a:r>
            <a:r>
              <a:rPr lang="en-US" i="1" dirty="0" err="1"/>
              <a:t>ge</a:t>
            </a:r>
            <a:r>
              <a:rPr lang="en-US" i="1" dirty="0"/>
              <a:t> </a:t>
            </a:r>
            <a:r>
              <a:rPr lang="en-US" i="1" dirty="0" err="1"/>
              <a:t>lousi</a:t>
            </a:r>
            <a:r>
              <a:rPr lang="en-US" i="1" dirty="0"/>
              <a:t> </a:t>
            </a:r>
            <a:r>
              <a:rPr lang="en-US" dirty="0"/>
              <a:t>(referential) </a:t>
            </a:r>
            <a:endParaRPr lang="en-GB" dirty="0"/>
          </a:p>
        </p:txBody>
      </p:sp>
      <p:sp>
        <p:nvSpPr>
          <p:cNvPr id="8" name="Content Placeholder 2"/>
          <p:cNvSpPr txBox="1">
            <a:spLocks/>
          </p:cNvSpPr>
          <p:nvPr/>
        </p:nvSpPr>
        <p:spPr>
          <a:xfrm>
            <a:off x="6019571" y="4330367"/>
            <a:ext cx="3542440" cy="326443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Possessive (+D)</a:t>
            </a:r>
            <a:endParaRPr lang="en-GB" dirty="0"/>
          </a:p>
        </p:txBody>
      </p:sp>
    </p:spTree>
    <p:extLst>
      <p:ext uri="{BB962C8B-B14F-4D97-AF65-F5344CB8AC3E}">
        <p14:creationId xmlns:p14="http://schemas.microsoft.com/office/powerpoint/2010/main" val="4233515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7" grpId="0"/>
      <p:bldP spid="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dirty="0"/>
              <a:t>Chinese nominal domain (final)</a:t>
            </a:r>
            <a:endParaRPr lang="en-GB" dirty="0"/>
          </a:p>
        </p:txBody>
      </p:sp>
      <p:sp>
        <p:nvSpPr>
          <p:cNvPr id="3" name="Content Placeholder 2"/>
          <p:cNvSpPr>
            <a:spLocks noGrp="1"/>
          </p:cNvSpPr>
          <p:nvPr>
            <p:ph idx="1"/>
          </p:nvPr>
        </p:nvSpPr>
        <p:spPr>
          <a:xfrm>
            <a:off x="0" y="946484"/>
            <a:ext cx="12192000" cy="5911515"/>
          </a:xfrm>
        </p:spPr>
        <p:txBody>
          <a:bodyPr>
            <a:noAutofit/>
          </a:bodyPr>
          <a:lstStyle/>
          <a:p>
            <a:pPr marL="0" indent="0">
              <a:buNone/>
            </a:pPr>
            <a:r>
              <a:rPr lang="en-US" sz="1800" dirty="0"/>
              <a:t>	DP</a:t>
            </a:r>
          </a:p>
          <a:p>
            <a:pPr marL="0" indent="0">
              <a:buNone/>
            </a:pPr>
            <a:r>
              <a:rPr lang="en-US" sz="1800" dirty="0" err="1"/>
              <a:t>SpecDP</a:t>
            </a:r>
            <a:r>
              <a:rPr lang="en-US" sz="1800" dirty="0"/>
              <a:t>		D’</a:t>
            </a:r>
          </a:p>
          <a:p>
            <a:pPr marL="0" indent="0">
              <a:buNone/>
            </a:pPr>
            <a:r>
              <a:rPr lang="en-US" sz="1800" dirty="0"/>
              <a:t>	D		</a:t>
            </a:r>
            <a:r>
              <a:rPr lang="en-US" sz="1800" dirty="0" err="1"/>
              <a:t>PossP</a:t>
            </a:r>
            <a:endParaRPr lang="en-US" sz="1800" dirty="0"/>
          </a:p>
          <a:p>
            <a:pPr marL="0" indent="0">
              <a:buNone/>
            </a:pPr>
            <a:r>
              <a:rPr lang="en-US" sz="1800" dirty="0"/>
              <a:t>		</a:t>
            </a:r>
            <a:r>
              <a:rPr lang="en-US" sz="1800" dirty="0" err="1"/>
              <a:t>SpecPossP</a:t>
            </a:r>
            <a:r>
              <a:rPr lang="en-US" sz="1800" dirty="0"/>
              <a:t>	</a:t>
            </a:r>
            <a:r>
              <a:rPr lang="en-US" sz="1800" dirty="0" err="1"/>
              <a:t>Poss’</a:t>
            </a:r>
            <a:endParaRPr lang="en-US" sz="1800" dirty="0"/>
          </a:p>
          <a:p>
            <a:pPr marL="0" indent="0">
              <a:buNone/>
            </a:pPr>
            <a:r>
              <a:rPr lang="en-US" sz="1800" dirty="0"/>
              <a:t>			</a:t>
            </a:r>
            <a:r>
              <a:rPr lang="en-US" sz="1800" dirty="0" err="1"/>
              <a:t>Poss</a:t>
            </a:r>
            <a:r>
              <a:rPr lang="en-US" sz="1800" dirty="0"/>
              <a:t>		</a:t>
            </a:r>
            <a:r>
              <a:rPr lang="en-US" sz="1800" dirty="0" err="1"/>
              <a:t>NumP</a:t>
            </a:r>
            <a:endParaRPr lang="en-US" sz="1800" dirty="0"/>
          </a:p>
          <a:p>
            <a:pPr marL="0" indent="0">
              <a:buNone/>
            </a:pPr>
            <a:r>
              <a:rPr lang="en-US" sz="1800" dirty="0"/>
              <a:t>				</a:t>
            </a:r>
            <a:r>
              <a:rPr lang="en-US" sz="1800" dirty="0" err="1"/>
              <a:t>SpecNumP</a:t>
            </a:r>
            <a:r>
              <a:rPr lang="en-US" sz="1800" dirty="0"/>
              <a:t>	</a:t>
            </a:r>
            <a:r>
              <a:rPr lang="en-US" sz="1800" dirty="0" err="1"/>
              <a:t>Num</a:t>
            </a:r>
            <a:r>
              <a:rPr lang="en-US" sz="1800" dirty="0"/>
              <a:t>’</a:t>
            </a:r>
          </a:p>
          <a:p>
            <a:pPr marL="0" indent="0">
              <a:buNone/>
            </a:pPr>
            <a:r>
              <a:rPr lang="en-US" sz="1800" dirty="0"/>
              <a:t>					</a:t>
            </a:r>
            <a:r>
              <a:rPr lang="en-US" sz="1800" dirty="0" err="1"/>
              <a:t>Num</a:t>
            </a:r>
            <a:r>
              <a:rPr lang="en-US" sz="1800" dirty="0"/>
              <a:t>		QP</a:t>
            </a:r>
          </a:p>
          <a:p>
            <a:pPr marL="0" indent="0">
              <a:buNone/>
            </a:pPr>
            <a:r>
              <a:rPr lang="en-US" sz="1800" dirty="0"/>
              <a:t>						</a:t>
            </a:r>
            <a:r>
              <a:rPr lang="en-US" sz="1800" dirty="0" err="1"/>
              <a:t>SpecQP</a:t>
            </a:r>
            <a:r>
              <a:rPr lang="en-US" sz="1800" dirty="0"/>
              <a:t>		Q’</a:t>
            </a:r>
          </a:p>
          <a:p>
            <a:pPr marL="0" indent="0">
              <a:buNone/>
            </a:pPr>
            <a:r>
              <a:rPr lang="en-US" sz="1800" dirty="0"/>
              <a:t>							Q		CLP</a:t>
            </a:r>
          </a:p>
          <a:p>
            <a:pPr marL="0" indent="0">
              <a:buNone/>
            </a:pPr>
            <a:r>
              <a:rPr lang="en-US" sz="1800" dirty="0"/>
              <a:t>								</a:t>
            </a:r>
            <a:r>
              <a:rPr lang="en-US" sz="1800" dirty="0" err="1"/>
              <a:t>SpecCLP</a:t>
            </a:r>
            <a:r>
              <a:rPr lang="en-US" sz="1800" dirty="0"/>
              <a:t>		CL’</a:t>
            </a:r>
          </a:p>
          <a:p>
            <a:pPr marL="0" indent="0">
              <a:buNone/>
            </a:pPr>
            <a:r>
              <a:rPr lang="en-US" sz="1800" dirty="0"/>
              <a:t>									CL		</a:t>
            </a:r>
            <a:r>
              <a:rPr lang="en-US" sz="1800" dirty="0" err="1"/>
              <a:t>ModP</a:t>
            </a:r>
            <a:endParaRPr lang="en-US" sz="1800" dirty="0"/>
          </a:p>
          <a:p>
            <a:pPr marL="0" indent="0">
              <a:buNone/>
            </a:pPr>
            <a:r>
              <a:rPr lang="en-US" sz="1800" dirty="0"/>
              <a:t>										</a:t>
            </a:r>
            <a:r>
              <a:rPr lang="en-US" sz="1800" dirty="0" err="1"/>
              <a:t>SpecModP</a:t>
            </a:r>
            <a:r>
              <a:rPr lang="en-US" sz="1800" dirty="0"/>
              <a:t>	Mod’</a:t>
            </a:r>
          </a:p>
          <a:p>
            <a:pPr marL="0" indent="0">
              <a:buNone/>
            </a:pPr>
            <a:r>
              <a:rPr lang="en-US" sz="1800" dirty="0"/>
              <a:t>											Mod	            </a:t>
            </a:r>
            <a:r>
              <a:rPr lang="en-US" sz="1800" dirty="0" err="1"/>
              <a:t>nP</a:t>
            </a:r>
            <a:endParaRPr lang="en-US" sz="1800" dirty="0"/>
          </a:p>
          <a:p>
            <a:pPr marL="0" indent="0">
              <a:buNone/>
            </a:pPr>
            <a:r>
              <a:rPr lang="en-US" sz="1800" dirty="0"/>
              <a:t>												            NP</a:t>
            </a:r>
          </a:p>
        </p:txBody>
      </p:sp>
      <p:sp>
        <p:nvSpPr>
          <p:cNvPr id="4" name="Rectangle 3"/>
          <p:cNvSpPr/>
          <p:nvPr/>
        </p:nvSpPr>
        <p:spPr>
          <a:xfrm>
            <a:off x="9877552" y="5695825"/>
            <a:ext cx="909416" cy="461665"/>
          </a:xfrm>
          <a:prstGeom prst="rect">
            <a:avLst/>
          </a:prstGeom>
        </p:spPr>
        <p:txBody>
          <a:bodyPr wrap="none">
            <a:spAutoFit/>
          </a:bodyPr>
          <a:lstStyle/>
          <a:p>
            <a:r>
              <a:rPr lang="en-GB" sz="2400" dirty="0"/>
              <a:t>de/</a:t>
            </a:r>
            <a:r>
              <a:rPr lang="en-GB" sz="2400" dirty="0" err="1"/>
              <a:t>ge</a:t>
            </a:r>
            <a:endParaRPr lang="en-GB" sz="2400" dirty="0"/>
          </a:p>
        </p:txBody>
      </p:sp>
      <p:sp>
        <p:nvSpPr>
          <p:cNvPr id="5" name="Rectangle 4"/>
          <p:cNvSpPr/>
          <p:nvPr/>
        </p:nvSpPr>
        <p:spPr>
          <a:xfrm>
            <a:off x="2586415" y="2752099"/>
            <a:ext cx="909416" cy="461665"/>
          </a:xfrm>
          <a:prstGeom prst="rect">
            <a:avLst/>
          </a:prstGeom>
        </p:spPr>
        <p:txBody>
          <a:bodyPr wrap="none">
            <a:spAutoFit/>
          </a:bodyPr>
          <a:lstStyle/>
          <a:p>
            <a:r>
              <a:rPr lang="en-GB" sz="2400" dirty="0"/>
              <a:t>de/</a:t>
            </a:r>
            <a:r>
              <a:rPr lang="en-GB" sz="2400" dirty="0" err="1"/>
              <a:t>ge</a:t>
            </a:r>
            <a:endParaRPr lang="en-GB" sz="2400" dirty="0"/>
          </a:p>
        </p:txBody>
      </p:sp>
      <p:sp>
        <p:nvSpPr>
          <p:cNvPr id="6" name="Rectangle 5"/>
          <p:cNvSpPr/>
          <p:nvPr/>
        </p:nvSpPr>
        <p:spPr>
          <a:xfrm>
            <a:off x="9745176" y="6007421"/>
            <a:ext cx="1174168" cy="369332"/>
          </a:xfrm>
          <a:prstGeom prst="rect">
            <a:avLst/>
          </a:prstGeom>
        </p:spPr>
        <p:txBody>
          <a:bodyPr wrap="none">
            <a:spAutoFit/>
          </a:bodyPr>
          <a:lstStyle/>
          <a:p>
            <a:r>
              <a:rPr lang="en-GB" dirty="0" err="1"/>
              <a:t>ge</a:t>
            </a:r>
            <a:r>
              <a:rPr lang="en-GB" dirty="0"/>
              <a:t>: +count</a:t>
            </a:r>
          </a:p>
        </p:txBody>
      </p:sp>
      <p:sp>
        <p:nvSpPr>
          <p:cNvPr id="7" name="Rectangle 6"/>
          <p:cNvSpPr/>
          <p:nvPr/>
        </p:nvSpPr>
        <p:spPr>
          <a:xfrm>
            <a:off x="2586415" y="3213764"/>
            <a:ext cx="442750" cy="369332"/>
          </a:xfrm>
          <a:prstGeom prst="rect">
            <a:avLst/>
          </a:prstGeom>
        </p:spPr>
        <p:txBody>
          <a:bodyPr wrap="none">
            <a:spAutoFit/>
          </a:bodyPr>
          <a:lstStyle/>
          <a:p>
            <a:r>
              <a:rPr lang="en-US" dirty="0"/>
              <a:t>+D</a:t>
            </a:r>
            <a:endParaRPr lang="en-GB" dirty="0"/>
          </a:p>
        </p:txBody>
      </p:sp>
      <p:sp>
        <p:nvSpPr>
          <p:cNvPr id="8" name="Rectangle 7"/>
          <p:cNvSpPr/>
          <p:nvPr/>
        </p:nvSpPr>
        <p:spPr>
          <a:xfrm>
            <a:off x="7969562" y="6211669"/>
            <a:ext cx="4169475" cy="646331"/>
          </a:xfrm>
          <a:prstGeom prst="rect">
            <a:avLst/>
          </a:prstGeom>
        </p:spPr>
        <p:txBody>
          <a:bodyPr wrap="none">
            <a:spAutoFit/>
          </a:bodyPr>
          <a:lstStyle/>
          <a:p>
            <a:r>
              <a:rPr lang="en-US" dirty="0"/>
              <a:t>+count pre-empts past-time clefts (*</a:t>
            </a:r>
            <a:r>
              <a:rPr lang="en-US" dirty="0" err="1"/>
              <a:t>VgeO</a:t>
            </a:r>
            <a:r>
              <a:rPr lang="en-US" dirty="0"/>
              <a:t>)</a:t>
            </a:r>
          </a:p>
          <a:p>
            <a:r>
              <a:rPr lang="en-US" dirty="0"/>
              <a:t>and Activity </a:t>
            </a:r>
            <a:r>
              <a:rPr lang="en-US" dirty="0" err="1"/>
              <a:t>nominals</a:t>
            </a:r>
            <a:r>
              <a:rPr lang="en-US" dirty="0"/>
              <a:t> (*</a:t>
            </a:r>
            <a:r>
              <a:rPr lang="en-US" dirty="0" err="1"/>
              <a:t>keui</a:t>
            </a:r>
            <a:r>
              <a:rPr lang="en-US" dirty="0"/>
              <a:t> </a:t>
            </a:r>
            <a:r>
              <a:rPr lang="en-US" dirty="0" err="1"/>
              <a:t>ge</a:t>
            </a:r>
            <a:r>
              <a:rPr lang="en-US" dirty="0"/>
              <a:t> </a:t>
            </a:r>
            <a:r>
              <a:rPr lang="en-US" dirty="0" err="1"/>
              <a:t>lousi</a:t>
            </a:r>
            <a:r>
              <a:rPr lang="en-US" dirty="0"/>
              <a:t>)</a:t>
            </a:r>
            <a:endParaRPr lang="en-GB" dirty="0"/>
          </a:p>
        </p:txBody>
      </p:sp>
      <p:sp>
        <p:nvSpPr>
          <p:cNvPr id="9" name="Rectangle 8"/>
          <p:cNvSpPr/>
          <p:nvPr/>
        </p:nvSpPr>
        <p:spPr>
          <a:xfrm>
            <a:off x="1780643" y="3445449"/>
            <a:ext cx="2520960" cy="1200329"/>
          </a:xfrm>
          <a:prstGeom prst="rect">
            <a:avLst/>
          </a:prstGeom>
        </p:spPr>
        <p:txBody>
          <a:bodyPr wrap="square">
            <a:spAutoFit/>
          </a:bodyPr>
          <a:lstStyle/>
          <a:p>
            <a:r>
              <a:rPr lang="en-US" dirty="0"/>
              <a:t>+D pre-empts past-time clefts (*</a:t>
            </a:r>
            <a:r>
              <a:rPr lang="en-US" dirty="0" err="1"/>
              <a:t>VgeO</a:t>
            </a:r>
            <a:r>
              <a:rPr lang="en-US" dirty="0"/>
              <a:t>) and Activity </a:t>
            </a:r>
            <a:r>
              <a:rPr lang="en-US" dirty="0" err="1"/>
              <a:t>nominals</a:t>
            </a:r>
            <a:r>
              <a:rPr lang="en-US" dirty="0"/>
              <a:t> (*</a:t>
            </a:r>
            <a:r>
              <a:rPr lang="en-US" dirty="0" err="1"/>
              <a:t>keui</a:t>
            </a:r>
            <a:r>
              <a:rPr lang="en-US" dirty="0"/>
              <a:t> </a:t>
            </a:r>
            <a:r>
              <a:rPr lang="en-US" dirty="0" err="1"/>
              <a:t>ge</a:t>
            </a:r>
            <a:r>
              <a:rPr lang="en-US" dirty="0"/>
              <a:t> </a:t>
            </a:r>
            <a:r>
              <a:rPr lang="en-US" dirty="0" err="1"/>
              <a:t>lousi</a:t>
            </a:r>
            <a:r>
              <a:rPr lang="en-US" dirty="0"/>
              <a:t>)</a:t>
            </a:r>
            <a:endParaRPr lang="en-GB" dirty="0"/>
          </a:p>
        </p:txBody>
      </p:sp>
    </p:spTree>
    <p:extLst>
      <p:ext uri="{BB962C8B-B14F-4D97-AF65-F5344CB8AC3E}">
        <p14:creationId xmlns:p14="http://schemas.microsoft.com/office/powerpoint/2010/main" val="949528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Conclusions</a:t>
            </a:r>
            <a:endParaRPr lang="en-GB" dirty="0"/>
          </a:p>
        </p:txBody>
      </p:sp>
      <p:sp>
        <p:nvSpPr>
          <p:cNvPr id="4" name="Rectangle 3"/>
          <p:cNvSpPr/>
          <p:nvPr/>
        </p:nvSpPr>
        <p:spPr>
          <a:xfrm>
            <a:off x="0" y="967786"/>
            <a:ext cx="12192000" cy="954107"/>
          </a:xfrm>
          <a:prstGeom prst="rect">
            <a:avLst/>
          </a:prstGeom>
        </p:spPr>
        <p:txBody>
          <a:bodyPr wrap="square">
            <a:spAutoFit/>
          </a:bodyPr>
          <a:lstStyle/>
          <a:p>
            <a:r>
              <a:rPr lang="en-GB" sz="2800" i="1" dirty="0" err="1"/>
              <a:t>ge</a:t>
            </a:r>
            <a:r>
              <a:rPr lang="en-GB" sz="2800" dirty="0"/>
              <a:t> (</a:t>
            </a:r>
            <a:r>
              <a:rPr lang="zh-CN" altLang="en-US" sz="2800" dirty="0"/>
              <a:t>嘅</a:t>
            </a:r>
            <a:r>
              <a:rPr lang="en-US" altLang="zh-CN" sz="2800" dirty="0"/>
              <a:t>) </a:t>
            </a:r>
            <a:r>
              <a:rPr lang="en-GB" sz="2800" dirty="0"/>
              <a:t>and </a:t>
            </a:r>
            <a:r>
              <a:rPr lang="en-GB" sz="2800" i="1" dirty="0"/>
              <a:t>de</a:t>
            </a:r>
            <a:r>
              <a:rPr lang="en-GB" sz="2800" dirty="0"/>
              <a:t> (</a:t>
            </a:r>
            <a:r>
              <a:rPr lang="zh-CN" altLang="en-US" sz="2800" dirty="0"/>
              <a:t>的</a:t>
            </a:r>
            <a:r>
              <a:rPr lang="en-US" altLang="zh-CN" sz="2800" dirty="0"/>
              <a:t>)</a:t>
            </a:r>
            <a:r>
              <a:rPr lang="en-GB" altLang="zh-CN" sz="2800" dirty="0"/>
              <a:t> show discrepancies in past-time clefts (</a:t>
            </a:r>
            <a:r>
              <a:rPr lang="en-GB" altLang="zh-CN" sz="2800" i="1" dirty="0" err="1"/>
              <a:t>VdeO</a:t>
            </a:r>
            <a:r>
              <a:rPr lang="en-GB" altLang="zh-CN" sz="2800" i="1" dirty="0"/>
              <a:t>/</a:t>
            </a:r>
            <a:r>
              <a:rPr lang="en-GB" sz="2800" i="1" dirty="0" err="1"/>
              <a:t>VgeO</a:t>
            </a:r>
            <a:r>
              <a:rPr lang="en-GB" sz="2800" dirty="0"/>
              <a:t>) and Activity </a:t>
            </a:r>
            <a:r>
              <a:rPr lang="en-GB" sz="2800" dirty="0" err="1"/>
              <a:t>nominals</a:t>
            </a:r>
            <a:r>
              <a:rPr lang="en-GB" sz="2800" dirty="0"/>
              <a:t> (</a:t>
            </a:r>
            <a:r>
              <a:rPr lang="en-GB" sz="2800" i="1" dirty="0"/>
              <a:t>ta de </a:t>
            </a:r>
            <a:r>
              <a:rPr lang="en-GB" sz="2800" i="1" dirty="0" err="1"/>
              <a:t>laoshi</a:t>
            </a:r>
            <a:r>
              <a:rPr lang="en-GB" sz="2800" i="1" dirty="0"/>
              <a:t>/</a:t>
            </a:r>
            <a:r>
              <a:rPr lang="en-GB" sz="2800" i="1" dirty="0" err="1"/>
              <a:t>keui</a:t>
            </a:r>
            <a:r>
              <a:rPr lang="en-GB" sz="2800" i="1" dirty="0"/>
              <a:t> </a:t>
            </a:r>
            <a:r>
              <a:rPr lang="en-GB" sz="2800" i="1" dirty="0" err="1"/>
              <a:t>ge</a:t>
            </a:r>
            <a:r>
              <a:rPr lang="en-GB" sz="2800" i="1" dirty="0"/>
              <a:t> </a:t>
            </a:r>
            <a:r>
              <a:rPr lang="en-GB" sz="2800" i="1" dirty="0" err="1"/>
              <a:t>lousi</a:t>
            </a:r>
            <a:r>
              <a:rPr lang="en-GB" sz="2800" dirty="0"/>
              <a:t>):</a:t>
            </a:r>
          </a:p>
        </p:txBody>
      </p:sp>
      <p:sp>
        <p:nvSpPr>
          <p:cNvPr id="6" name="Content Placeholder 2"/>
          <p:cNvSpPr txBox="1">
            <a:spLocks/>
          </p:cNvSpPr>
          <p:nvPr/>
        </p:nvSpPr>
        <p:spPr>
          <a:xfrm>
            <a:off x="838200" y="190578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i="1" dirty="0" err="1"/>
              <a:t>ge</a:t>
            </a:r>
            <a:r>
              <a:rPr lang="en-US" dirty="0"/>
              <a:t> is more marked than </a:t>
            </a:r>
            <a:r>
              <a:rPr lang="en-US" i="1" dirty="0"/>
              <a:t>de</a:t>
            </a:r>
            <a:r>
              <a:rPr lang="en-US" dirty="0"/>
              <a:t> &lt;- </a:t>
            </a:r>
            <a:endParaRPr lang="en-GB" dirty="0"/>
          </a:p>
        </p:txBody>
      </p:sp>
      <p:sp>
        <p:nvSpPr>
          <p:cNvPr id="7" name="Content Placeholder 2"/>
          <p:cNvSpPr txBox="1">
            <a:spLocks/>
          </p:cNvSpPr>
          <p:nvPr/>
        </p:nvSpPr>
        <p:spPr>
          <a:xfrm>
            <a:off x="5386136" y="1892023"/>
            <a:ext cx="680586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classifier </a:t>
            </a:r>
            <a:r>
              <a:rPr lang="en-US" dirty="0" err="1"/>
              <a:t>ge</a:t>
            </a:r>
            <a:r>
              <a:rPr lang="en-US" dirty="0"/>
              <a:t> (</a:t>
            </a:r>
            <a:r>
              <a:rPr lang="zh-CN" altLang="en-US" dirty="0"/>
              <a:t>個</a:t>
            </a:r>
            <a:r>
              <a:rPr lang="en-US" altLang="zh-CN" dirty="0"/>
              <a:t>) (+count/individual/delimit) (</a:t>
            </a:r>
            <a:r>
              <a:rPr lang="en-US" altLang="zh-CN" dirty="0" err="1"/>
              <a:t>Bisang</a:t>
            </a:r>
            <a:r>
              <a:rPr lang="en-US" altLang="zh-CN" dirty="0"/>
              <a:t> and Li (2012), Zhang (2013))</a:t>
            </a:r>
            <a:endParaRPr lang="en-GB" dirty="0"/>
          </a:p>
        </p:txBody>
      </p:sp>
      <p:graphicFrame>
        <p:nvGraphicFramePr>
          <p:cNvPr id="8" name="Table 7"/>
          <p:cNvGraphicFramePr>
            <a:graphicFrameLocks noGrp="1"/>
          </p:cNvGraphicFramePr>
          <p:nvPr/>
        </p:nvGraphicFramePr>
        <p:xfrm>
          <a:off x="838200" y="2846130"/>
          <a:ext cx="8128000" cy="148336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4081821283"/>
                    </a:ext>
                  </a:extLst>
                </a:gridCol>
                <a:gridCol w="4064000">
                  <a:extLst>
                    <a:ext uri="{9D8B030D-6E8A-4147-A177-3AD203B41FA5}">
                      <a16:colId xmlns:a16="http://schemas.microsoft.com/office/drawing/2014/main" val="3910017051"/>
                    </a:ext>
                  </a:extLst>
                </a:gridCol>
              </a:tblGrid>
              <a:tr h="370840">
                <a:tc>
                  <a:txBody>
                    <a:bodyPr/>
                    <a:lstStyle/>
                    <a:p>
                      <a:r>
                        <a:rPr lang="en-US" dirty="0"/>
                        <a:t>Dialect families/areas</a:t>
                      </a:r>
                      <a:endParaRPr lang="en-GB" dirty="0"/>
                    </a:p>
                  </a:txBody>
                  <a:tcPr/>
                </a:tc>
                <a:tc>
                  <a:txBody>
                    <a:bodyPr/>
                    <a:lstStyle/>
                    <a:p>
                      <a:r>
                        <a:rPr lang="en-US" dirty="0" err="1"/>
                        <a:t>Adnominaliser</a:t>
                      </a:r>
                      <a:r>
                        <a:rPr lang="en-US" dirty="0"/>
                        <a:t> (</a:t>
                      </a:r>
                      <a:r>
                        <a:rPr lang="zh-CN" altLang="en-US" dirty="0"/>
                        <a:t>結構助詞）</a:t>
                      </a:r>
                      <a:endParaRPr lang="en-GB" dirty="0"/>
                    </a:p>
                  </a:txBody>
                  <a:tcPr/>
                </a:tc>
                <a:extLst>
                  <a:ext uri="{0D108BD9-81ED-4DB2-BD59-A6C34878D82A}">
                    <a16:rowId xmlns:a16="http://schemas.microsoft.com/office/drawing/2014/main" val="1142539753"/>
                  </a:ext>
                </a:extLst>
              </a:tr>
              <a:tr h="370840">
                <a:tc>
                  <a:txBody>
                    <a:bodyPr/>
                    <a:lstStyle/>
                    <a:p>
                      <a:r>
                        <a:rPr lang="en-US" dirty="0"/>
                        <a:t>North </a:t>
                      </a:r>
                      <a:endParaRPr lang="en-GB" dirty="0"/>
                    </a:p>
                  </a:txBody>
                  <a:tcPr/>
                </a:tc>
                <a:tc>
                  <a:txBody>
                    <a:bodyPr/>
                    <a:lstStyle/>
                    <a:p>
                      <a:r>
                        <a:rPr lang="en-US" dirty="0"/>
                        <a:t>de  (</a:t>
                      </a:r>
                      <a:r>
                        <a:rPr lang="en-US" dirty="0" err="1"/>
                        <a:t>VdeO</a:t>
                      </a:r>
                      <a:r>
                        <a:rPr lang="en-US" dirty="0"/>
                        <a:t>,</a:t>
                      </a:r>
                      <a:r>
                        <a:rPr lang="en-US" baseline="0" dirty="0"/>
                        <a:t> ta de </a:t>
                      </a:r>
                      <a:r>
                        <a:rPr lang="en-US" baseline="0" dirty="0" err="1"/>
                        <a:t>laoshi</a:t>
                      </a:r>
                      <a:r>
                        <a:rPr lang="en-US" baseline="0" dirty="0"/>
                        <a:t>) (-count)</a:t>
                      </a:r>
                      <a:endParaRPr lang="en-GB" dirty="0"/>
                    </a:p>
                  </a:txBody>
                  <a:tcPr/>
                </a:tc>
                <a:extLst>
                  <a:ext uri="{0D108BD9-81ED-4DB2-BD59-A6C34878D82A}">
                    <a16:rowId xmlns:a16="http://schemas.microsoft.com/office/drawing/2014/main" val="3563880290"/>
                  </a:ext>
                </a:extLst>
              </a:tr>
              <a:tr h="370840">
                <a:tc>
                  <a:txBody>
                    <a:bodyPr/>
                    <a:lstStyle/>
                    <a:p>
                      <a:r>
                        <a:rPr lang="en-US" dirty="0"/>
                        <a:t>Intermediate (Wu, Xiang, </a:t>
                      </a:r>
                      <a:r>
                        <a:rPr lang="en-US" dirty="0" err="1"/>
                        <a:t>Kejia</a:t>
                      </a:r>
                      <a:r>
                        <a:rPr lang="en-US" dirty="0"/>
                        <a:t>)</a:t>
                      </a:r>
                      <a:endParaRPr lang="en-GB" dirty="0"/>
                    </a:p>
                  </a:txBody>
                  <a:tcPr/>
                </a:tc>
                <a:tc>
                  <a:txBody>
                    <a:bodyPr/>
                    <a:lstStyle/>
                    <a:p>
                      <a:r>
                        <a:rPr lang="en-US" dirty="0" err="1"/>
                        <a:t>ge</a:t>
                      </a:r>
                      <a:r>
                        <a:rPr lang="en-US" baseline="0" dirty="0"/>
                        <a:t> (</a:t>
                      </a:r>
                      <a:r>
                        <a:rPr lang="en-US" baseline="0" dirty="0" err="1"/>
                        <a:t>VgeO</a:t>
                      </a:r>
                      <a:r>
                        <a:rPr lang="en-US" baseline="0" dirty="0"/>
                        <a:t>, *</a:t>
                      </a:r>
                      <a:r>
                        <a:rPr lang="en-US" baseline="0" dirty="0" err="1"/>
                        <a:t>keoi</a:t>
                      </a:r>
                      <a:r>
                        <a:rPr lang="en-US" baseline="0" dirty="0"/>
                        <a:t> </a:t>
                      </a:r>
                      <a:r>
                        <a:rPr lang="en-US" baseline="0" dirty="0" err="1"/>
                        <a:t>ge</a:t>
                      </a:r>
                      <a:r>
                        <a:rPr lang="en-US" baseline="0" dirty="0"/>
                        <a:t> </a:t>
                      </a:r>
                      <a:r>
                        <a:rPr lang="en-US" baseline="0" dirty="0" err="1"/>
                        <a:t>lousi</a:t>
                      </a:r>
                      <a:r>
                        <a:rPr lang="en-US" baseline="0" dirty="0"/>
                        <a:t>) (+count, +/-D)</a:t>
                      </a:r>
                      <a:endParaRPr lang="en-GB" dirty="0"/>
                    </a:p>
                  </a:txBody>
                  <a:tcPr/>
                </a:tc>
                <a:extLst>
                  <a:ext uri="{0D108BD9-81ED-4DB2-BD59-A6C34878D82A}">
                    <a16:rowId xmlns:a16="http://schemas.microsoft.com/office/drawing/2014/main" val="1399372119"/>
                  </a:ext>
                </a:extLst>
              </a:tr>
              <a:tr h="370840">
                <a:tc>
                  <a:txBody>
                    <a:bodyPr/>
                    <a:lstStyle/>
                    <a:p>
                      <a:r>
                        <a:rPr lang="en-US" dirty="0"/>
                        <a:t>South (Cantonese, Taiwanese Min)</a:t>
                      </a:r>
                      <a:endParaRPr lang="en-GB" dirty="0"/>
                    </a:p>
                  </a:txBody>
                  <a:tcPr/>
                </a:tc>
                <a:tc>
                  <a:txBody>
                    <a:bodyPr/>
                    <a:lstStyle/>
                    <a:p>
                      <a:r>
                        <a:rPr lang="en-US" dirty="0" err="1"/>
                        <a:t>ge</a:t>
                      </a:r>
                      <a:r>
                        <a:rPr lang="en-US" baseline="0" dirty="0"/>
                        <a:t> (*</a:t>
                      </a:r>
                      <a:r>
                        <a:rPr lang="en-US" baseline="0" dirty="0" err="1"/>
                        <a:t>VgeO</a:t>
                      </a:r>
                      <a:r>
                        <a:rPr lang="en-US" baseline="0" dirty="0"/>
                        <a:t>, *</a:t>
                      </a:r>
                      <a:r>
                        <a:rPr lang="en-US" baseline="0" dirty="0" err="1"/>
                        <a:t>keoi</a:t>
                      </a:r>
                      <a:r>
                        <a:rPr lang="en-US" baseline="0" dirty="0"/>
                        <a:t> </a:t>
                      </a:r>
                      <a:r>
                        <a:rPr lang="en-US" baseline="0" dirty="0" err="1"/>
                        <a:t>ge</a:t>
                      </a:r>
                      <a:r>
                        <a:rPr lang="en-US" baseline="0" dirty="0"/>
                        <a:t> </a:t>
                      </a:r>
                      <a:r>
                        <a:rPr lang="en-US" baseline="0" dirty="0" err="1"/>
                        <a:t>lousi</a:t>
                      </a:r>
                      <a:r>
                        <a:rPr lang="en-US" baseline="0" dirty="0"/>
                        <a:t>) (+count, +D)</a:t>
                      </a:r>
                      <a:endParaRPr lang="en-GB" dirty="0"/>
                    </a:p>
                  </a:txBody>
                  <a:tcPr/>
                </a:tc>
                <a:extLst>
                  <a:ext uri="{0D108BD9-81ED-4DB2-BD59-A6C34878D82A}">
                    <a16:rowId xmlns:a16="http://schemas.microsoft.com/office/drawing/2014/main" val="1553735461"/>
                  </a:ext>
                </a:extLst>
              </a:tr>
            </a:tbl>
          </a:graphicData>
        </a:graphic>
      </p:graphicFrame>
      <p:sp>
        <p:nvSpPr>
          <p:cNvPr id="9" name="Rectangle 8"/>
          <p:cNvSpPr/>
          <p:nvPr/>
        </p:nvSpPr>
        <p:spPr>
          <a:xfrm>
            <a:off x="838200" y="4329101"/>
            <a:ext cx="10515600" cy="461665"/>
          </a:xfrm>
          <a:prstGeom prst="rect">
            <a:avLst/>
          </a:prstGeom>
        </p:spPr>
        <p:txBody>
          <a:bodyPr wrap="square">
            <a:spAutoFit/>
          </a:bodyPr>
          <a:lstStyle/>
          <a:p>
            <a:r>
              <a:rPr lang="en-US" sz="2400" dirty="0"/>
              <a:t>Degree of </a:t>
            </a:r>
            <a:r>
              <a:rPr lang="en-US" sz="2400" dirty="0" err="1"/>
              <a:t>nominality</a:t>
            </a:r>
            <a:r>
              <a:rPr lang="en-US" sz="2400" dirty="0"/>
              <a:t>: </a:t>
            </a:r>
            <a:endParaRPr lang="en-GB" sz="2400" dirty="0"/>
          </a:p>
        </p:txBody>
      </p:sp>
      <p:graphicFrame>
        <p:nvGraphicFramePr>
          <p:cNvPr id="12" name="Table 11"/>
          <p:cNvGraphicFramePr>
            <a:graphicFrameLocks noGrp="1"/>
          </p:cNvGraphicFramePr>
          <p:nvPr/>
        </p:nvGraphicFramePr>
        <p:xfrm>
          <a:off x="838200" y="5070781"/>
          <a:ext cx="8128000" cy="148336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4095741850"/>
                    </a:ext>
                  </a:extLst>
                </a:gridCol>
                <a:gridCol w="4064000">
                  <a:extLst>
                    <a:ext uri="{9D8B030D-6E8A-4147-A177-3AD203B41FA5}">
                      <a16:colId xmlns:a16="http://schemas.microsoft.com/office/drawing/2014/main" val="975071347"/>
                    </a:ext>
                  </a:extLst>
                </a:gridCol>
              </a:tblGrid>
              <a:tr h="370840">
                <a:tc>
                  <a:txBody>
                    <a:bodyPr/>
                    <a:lstStyle/>
                    <a:p>
                      <a:r>
                        <a:rPr lang="en-US" dirty="0"/>
                        <a:t>Construction</a:t>
                      </a:r>
                      <a:endParaRPr lang="en-GB" dirty="0"/>
                    </a:p>
                  </a:txBody>
                  <a:tcPr/>
                </a:tc>
                <a:tc>
                  <a:txBody>
                    <a:bodyPr/>
                    <a:lstStyle/>
                    <a:p>
                      <a:r>
                        <a:rPr lang="en-US" dirty="0" err="1"/>
                        <a:t>Featural</a:t>
                      </a:r>
                      <a:r>
                        <a:rPr lang="en-US" dirty="0"/>
                        <a:t> make-up</a:t>
                      </a:r>
                      <a:endParaRPr lang="en-GB" dirty="0"/>
                    </a:p>
                  </a:txBody>
                  <a:tcPr/>
                </a:tc>
                <a:extLst>
                  <a:ext uri="{0D108BD9-81ED-4DB2-BD59-A6C34878D82A}">
                    <a16:rowId xmlns:a16="http://schemas.microsoft.com/office/drawing/2014/main" val="4160025862"/>
                  </a:ext>
                </a:extLst>
              </a:tr>
              <a:tr h="370840">
                <a:tc>
                  <a:txBody>
                    <a:bodyPr/>
                    <a:lstStyle/>
                    <a:p>
                      <a:r>
                        <a:rPr lang="en-US" dirty="0"/>
                        <a:t>Possessives (ta de </a:t>
                      </a:r>
                      <a:r>
                        <a:rPr lang="en-US" dirty="0" err="1"/>
                        <a:t>laoshi</a:t>
                      </a:r>
                      <a:r>
                        <a:rPr lang="en-US" dirty="0"/>
                        <a:t>/</a:t>
                      </a:r>
                      <a:r>
                        <a:rPr lang="en-US" dirty="0" err="1"/>
                        <a:t>keoi</a:t>
                      </a:r>
                      <a:r>
                        <a:rPr lang="en-US" dirty="0"/>
                        <a:t> </a:t>
                      </a:r>
                      <a:r>
                        <a:rPr lang="en-US" dirty="0" err="1"/>
                        <a:t>ge</a:t>
                      </a:r>
                      <a:r>
                        <a:rPr lang="en-US" baseline="0" dirty="0"/>
                        <a:t> </a:t>
                      </a:r>
                      <a:r>
                        <a:rPr lang="en-US" baseline="0" dirty="0" err="1"/>
                        <a:t>lousi</a:t>
                      </a:r>
                      <a:r>
                        <a:rPr lang="en-US" baseline="0" dirty="0"/>
                        <a:t>)</a:t>
                      </a:r>
                      <a:endParaRPr lang="en-GB" dirty="0"/>
                    </a:p>
                  </a:txBody>
                  <a:tcPr/>
                </a:tc>
                <a:tc>
                  <a:txBody>
                    <a:bodyPr/>
                    <a:lstStyle/>
                    <a:p>
                      <a:r>
                        <a:rPr lang="en-US" dirty="0"/>
                        <a:t>POSS</a:t>
                      </a:r>
                      <a:r>
                        <a:rPr lang="en-US" baseline="0" dirty="0"/>
                        <a:t> (+D)</a:t>
                      </a:r>
                      <a:endParaRPr lang="en-GB" dirty="0"/>
                    </a:p>
                  </a:txBody>
                  <a:tcPr/>
                </a:tc>
                <a:extLst>
                  <a:ext uri="{0D108BD9-81ED-4DB2-BD59-A6C34878D82A}">
                    <a16:rowId xmlns:a16="http://schemas.microsoft.com/office/drawing/2014/main" val="3552292974"/>
                  </a:ext>
                </a:extLst>
              </a:tr>
              <a:tr h="370840">
                <a:tc>
                  <a:txBody>
                    <a:bodyPr/>
                    <a:lstStyle/>
                    <a:p>
                      <a:r>
                        <a:rPr lang="en-US" dirty="0"/>
                        <a:t>Relative</a:t>
                      </a:r>
                      <a:r>
                        <a:rPr lang="en-US" baseline="0" dirty="0"/>
                        <a:t> clauses (</a:t>
                      </a:r>
                      <a:r>
                        <a:rPr lang="en-US" baseline="0" dirty="0" err="1"/>
                        <a:t>VgeO</a:t>
                      </a:r>
                      <a:r>
                        <a:rPr lang="en-US" baseline="0" dirty="0"/>
                        <a:t>)</a:t>
                      </a:r>
                      <a:endParaRPr lang="en-GB" dirty="0"/>
                    </a:p>
                  </a:txBody>
                  <a:tcPr/>
                </a:tc>
                <a:tc>
                  <a:txBody>
                    <a:bodyPr/>
                    <a:lstStyle/>
                    <a:p>
                      <a:r>
                        <a:rPr lang="en-US" dirty="0"/>
                        <a:t>Mod (+count,</a:t>
                      </a:r>
                      <a:r>
                        <a:rPr lang="en-US" baseline="0" dirty="0"/>
                        <a:t> </a:t>
                      </a:r>
                      <a:r>
                        <a:rPr lang="en-US" dirty="0"/>
                        <a:t>+/-</a:t>
                      </a:r>
                      <a:r>
                        <a:rPr lang="en-US" baseline="0" dirty="0"/>
                        <a:t>D)</a:t>
                      </a:r>
                      <a:endParaRPr lang="en-GB" dirty="0"/>
                    </a:p>
                  </a:txBody>
                  <a:tcPr/>
                </a:tc>
                <a:extLst>
                  <a:ext uri="{0D108BD9-81ED-4DB2-BD59-A6C34878D82A}">
                    <a16:rowId xmlns:a16="http://schemas.microsoft.com/office/drawing/2014/main" val="2868560436"/>
                  </a:ext>
                </a:extLst>
              </a:tr>
              <a:tr h="370840">
                <a:tc>
                  <a:txBody>
                    <a:bodyPr/>
                    <a:lstStyle/>
                    <a:p>
                      <a:r>
                        <a:rPr lang="en-US" dirty="0"/>
                        <a:t>Relative clauses (</a:t>
                      </a:r>
                      <a:r>
                        <a:rPr lang="en-US" dirty="0" err="1"/>
                        <a:t>VdeO</a:t>
                      </a:r>
                      <a:r>
                        <a:rPr lang="en-US" dirty="0"/>
                        <a:t>)</a:t>
                      </a:r>
                      <a:endParaRPr lang="en-GB" dirty="0"/>
                    </a:p>
                  </a:txBody>
                  <a:tcPr/>
                </a:tc>
                <a:tc>
                  <a:txBody>
                    <a:bodyPr/>
                    <a:lstStyle/>
                    <a:p>
                      <a:r>
                        <a:rPr lang="en-US" dirty="0"/>
                        <a:t>Mod (-count,</a:t>
                      </a:r>
                      <a:r>
                        <a:rPr lang="en-US" baseline="0" dirty="0"/>
                        <a:t> +/-D)</a:t>
                      </a:r>
                      <a:endParaRPr lang="en-GB" dirty="0"/>
                    </a:p>
                  </a:txBody>
                  <a:tcPr/>
                </a:tc>
                <a:extLst>
                  <a:ext uri="{0D108BD9-81ED-4DB2-BD59-A6C34878D82A}">
                    <a16:rowId xmlns:a16="http://schemas.microsoft.com/office/drawing/2014/main" val="441680656"/>
                  </a:ext>
                </a:extLst>
              </a:tr>
            </a:tbl>
          </a:graphicData>
        </a:graphic>
      </p:graphicFrame>
    </p:spTree>
    <p:extLst>
      <p:ext uri="{BB962C8B-B14F-4D97-AF65-F5344CB8AC3E}">
        <p14:creationId xmlns:p14="http://schemas.microsoft.com/office/powerpoint/2010/main" val="3397634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6" y="13194"/>
            <a:ext cx="10515600" cy="1325563"/>
          </a:xfrm>
        </p:spPr>
        <p:txBody>
          <a:bodyPr/>
          <a:lstStyle/>
          <a:p>
            <a:r>
              <a:rPr lang="en-US" altLang="zh-CN" dirty="0"/>
              <a:t>Conclusions and acknowledgements:</a:t>
            </a:r>
            <a:endParaRPr lang="zh-HK" altLang="en-US" dirty="0"/>
          </a:p>
        </p:txBody>
      </p:sp>
      <p:sp>
        <p:nvSpPr>
          <p:cNvPr id="5" name="Content Placeholder 2"/>
          <p:cNvSpPr txBox="1">
            <a:spLocks/>
          </p:cNvSpPr>
          <p:nvPr/>
        </p:nvSpPr>
        <p:spPr>
          <a:xfrm>
            <a:off x="838188" y="298425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HK" altLang="en-US" sz="2400" dirty="0"/>
          </a:p>
        </p:txBody>
      </p:sp>
      <p:sp>
        <p:nvSpPr>
          <p:cNvPr id="10" name="Rectangle 9"/>
          <p:cNvSpPr/>
          <p:nvPr/>
        </p:nvSpPr>
        <p:spPr>
          <a:xfrm>
            <a:off x="5630224" y="5026515"/>
            <a:ext cx="11145255" cy="1963614"/>
          </a:xfrm>
          <a:prstGeom prst="rect">
            <a:avLst/>
          </a:prstGeom>
        </p:spPr>
        <p:txBody>
          <a:bodyPr wrap="square">
            <a:spAutoFit/>
          </a:bodyPr>
          <a:lstStyle/>
          <a:p>
            <a:pPr>
              <a:lnSpc>
                <a:spcPct val="115000"/>
              </a:lnSpc>
              <a:spcAft>
                <a:spcPts val="1000"/>
              </a:spcAft>
            </a:pPr>
            <a:r>
              <a:rPr lang="en-US" altLang="zh-TW" sz="1600" dirty="0">
                <a:latin typeface="Calibri" panose="020F0502020204030204" pitchFamily="34" charset="0"/>
                <a:ea typeface="PMingLiU" panose="02020500000000000000" pitchFamily="18" charset="-120"/>
                <a:cs typeface="Times New Roman" panose="02020603050405020304" pitchFamily="18" charset="0"/>
              </a:rPr>
              <a:t>	CLP							</a:t>
            </a:r>
          </a:p>
          <a:p>
            <a:pPr>
              <a:lnSpc>
                <a:spcPct val="115000"/>
              </a:lnSpc>
              <a:spcAft>
                <a:spcPts val="1000"/>
              </a:spcAft>
            </a:pPr>
            <a:r>
              <a:rPr lang="en-US" altLang="zh-TW" sz="1600" dirty="0">
                <a:latin typeface="Calibri" panose="020F0502020204030204" pitchFamily="34" charset="0"/>
                <a:ea typeface="PMingLiU" panose="02020500000000000000" pitchFamily="18" charset="-120"/>
                <a:cs typeface="Times New Roman" panose="02020603050405020304" pitchFamily="18" charset="0"/>
              </a:rPr>
              <a:t>CL			</a:t>
            </a:r>
            <a:r>
              <a:rPr lang="en-US" altLang="zh-TW" sz="1600" dirty="0" err="1">
                <a:latin typeface="Calibri" panose="020F0502020204030204" pitchFamily="34" charset="0"/>
                <a:ea typeface="PMingLiU" panose="02020500000000000000" pitchFamily="18" charset="-120"/>
                <a:cs typeface="Times New Roman" panose="02020603050405020304" pitchFamily="18" charset="0"/>
              </a:rPr>
              <a:t>ModP</a:t>
            </a:r>
            <a:r>
              <a:rPr lang="en-US" altLang="zh-TW" sz="1600" dirty="0">
                <a:latin typeface="Calibri" panose="020F0502020204030204" pitchFamily="34" charset="0"/>
                <a:ea typeface="PMingLiU" panose="02020500000000000000" pitchFamily="18" charset="-120"/>
                <a:cs typeface="Times New Roman" panose="02020603050405020304" pitchFamily="18" charset="0"/>
              </a:rPr>
              <a:t>					</a:t>
            </a:r>
          </a:p>
          <a:p>
            <a:pPr>
              <a:lnSpc>
                <a:spcPct val="115000"/>
              </a:lnSpc>
              <a:spcAft>
                <a:spcPts val="1000"/>
              </a:spcAft>
            </a:pPr>
            <a:r>
              <a:rPr lang="en-US" altLang="zh-TW" sz="1600" b="1" dirty="0" err="1">
                <a:latin typeface="Calibri" panose="020F0502020204030204" pitchFamily="34" charset="0"/>
                <a:ea typeface="PMingLiU" panose="02020500000000000000" pitchFamily="18" charset="-120"/>
                <a:cs typeface="Times New Roman" panose="02020603050405020304" pitchFamily="18" charset="0"/>
              </a:rPr>
              <a:t>ge</a:t>
            </a:r>
            <a:r>
              <a:rPr lang="en-US" altLang="zh-TW" sz="1600" dirty="0">
                <a:latin typeface="Calibri" panose="020F0502020204030204" pitchFamily="34" charset="0"/>
                <a:ea typeface="PMingLiU" panose="02020500000000000000" pitchFamily="18" charset="-120"/>
                <a:cs typeface="Times New Roman" panose="02020603050405020304" pitchFamily="18" charset="0"/>
              </a:rPr>
              <a:t>		Mod			</a:t>
            </a:r>
            <a:r>
              <a:rPr lang="en-US" altLang="zh-TW" sz="1600" dirty="0" err="1">
                <a:latin typeface="Calibri" panose="020F0502020204030204" pitchFamily="34" charset="0"/>
                <a:ea typeface="PMingLiU" panose="02020500000000000000" pitchFamily="18" charset="-120"/>
                <a:cs typeface="Times New Roman" panose="02020603050405020304" pitchFamily="18" charset="0"/>
              </a:rPr>
              <a:t>nP</a:t>
            </a:r>
            <a:r>
              <a:rPr lang="en-US" altLang="zh-TW" sz="1600" dirty="0">
                <a:latin typeface="Calibri" panose="020F0502020204030204" pitchFamily="34" charset="0"/>
                <a:ea typeface="PMingLiU" panose="02020500000000000000" pitchFamily="18" charset="-120"/>
                <a:cs typeface="Times New Roman" panose="02020603050405020304" pitchFamily="18" charset="0"/>
              </a:rPr>
              <a:t>					</a:t>
            </a:r>
          </a:p>
          <a:p>
            <a:pPr>
              <a:lnSpc>
                <a:spcPct val="115000"/>
              </a:lnSpc>
              <a:spcAft>
                <a:spcPts val="1000"/>
              </a:spcAft>
            </a:pPr>
            <a:r>
              <a:rPr lang="en-US" altLang="zh-TW" sz="1600" dirty="0">
                <a:latin typeface="Calibri" panose="020F0502020204030204" pitchFamily="34" charset="0"/>
                <a:ea typeface="PMingLiU" panose="02020500000000000000" pitchFamily="18" charset="-120"/>
                <a:cs typeface="Times New Roman" panose="02020603050405020304" pitchFamily="18" charset="0"/>
              </a:rPr>
              <a:t>[+D]		</a:t>
            </a:r>
            <a:r>
              <a:rPr lang="en-US" altLang="zh-TW" sz="1600" b="1" dirty="0">
                <a:latin typeface="Calibri" panose="020F0502020204030204" pitchFamily="34" charset="0"/>
                <a:ea typeface="PMingLiU" panose="02020500000000000000" pitchFamily="18" charset="-120"/>
                <a:cs typeface="Times New Roman" panose="02020603050405020304" pitchFamily="18" charset="0"/>
              </a:rPr>
              <a:t>de/</a:t>
            </a:r>
            <a:r>
              <a:rPr lang="en-US" altLang="zh-TW" sz="1600" b="1" dirty="0" err="1">
                <a:latin typeface="Calibri" panose="020F0502020204030204" pitchFamily="34" charset="0"/>
                <a:ea typeface="PMingLiU" panose="02020500000000000000" pitchFamily="18" charset="-120"/>
                <a:cs typeface="Times New Roman" panose="02020603050405020304" pitchFamily="18" charset="0"/>
              </a:rPr>
              <a:t>ge</a:t>
            </a:r>
            <a:r>
              <a:rPr lang="en-US" altLang="zh-TW" sz="1600" dirty="0">
                <a:latin typeface="Calibri" panose="020F0502020204030204" pitchFamily="34" charset="0"/>
                <a:ea typeface="PMingLiU" panose="02020500000000000000" pitchFamily="18" charset="-120"/>
                <a:cs typeface="Times New Roman" panose="02020603050405020304" pitchFamily="18" charset="0"/>
              </a:rPr>
              <a:t>		n		NP									</a:t>
            </a:r>
            <a:r>
              <a:rPr lang="en-US" altLang="zh-TW" sz="1600" b="1" dirty="0">
                <a:latin typeface="Calibri" panose="020F0502020204030204" pitchFamily="34" charset="0"/>
                <a:ea typeface="PMingLiU" panose="02020500000000000000" pitchFamily="18" charset="-120"/>
                <a:cs typeface="Times New Roman" panose="02020603050405020304" pitchFamily="18" charset="0"/>
              </a:rPr>
              <a:t>di</a:t>
            </a:r>
            <a:endParaRPr lang="zh-TW" altLang="zh-HK" sz="1600" b="1" dirty="0">
              <a:latin typeface="Calibri" panose="020F0502020204030204" pitchFamily="34" charset="0"/>
              <a:ea typeface="PMingLiU" panose="02020500000000000000" pitchFamily="18" charset="-120"/>
              <a:cs typeface="Times New Roman" panose="02020603050405020304" pitchFamily="18" charset="0"/>
            </a:endParaRPr>
          </a:p>
        </p:txBody>
      </p:sp>
      <p:cxnSp>
        <p:nvCxnSpPr>
          <p:cNvPr id="9" name="Straight Arrow Connector 8"/>
          <p:cNvCxnSpPr/>
          <p:nvPr/>
        </p:nvCxnSpPr>
        <p:spPr>
          <a:xfrm flipH="1" flipV="1">
            <a:off x="7747001" y="6313646"/>
            <a:ext cx="1676399" cy="27681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p:cNvCxnSpPr/>
          <p:nvPr/>
        </p:nvCxnSpPr>
        <p:spPr>
          <a:xfrm>
            <a:off x="5938156" y="5785519"/>
            <a:ext cx="1654629" cy="4456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Content Placeholder 2"/>
          <p:cNvSpPr txBox="1">
            <a:spLocks/>
          </p:cNvSpPr>
          <p:nvPr/>
        </p:nvSpPr>
        <p:spPr>
          <a:xfrm>
            <a:off x="838184" y="118676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2400" dirty="0"/>
              <a:t>非常感謝你們！</a:t>
            </a:r>
            <a:r>
              <a:rPr lang="en-US" altLang="zh-CN" sz="2400" dirty="0"/>
              <a:t>Thank you all very much!</a:t>
            </a:r>
          </a:p>
          <a:p>
            <a:pPr marL="0" indent="0">
              <a:buFont typeface="Arial" panose="020B0604020202020204" pitchFamily="34" charset="0"/>
              <a:buNone/>
            </a:pPr>
            <a:r>
              <a:rPr lang="zh-CN" altLang="en-US" sz="2400" dirty="0"/>
              <a:t>請保持聯係，多多詳談！</a:t>
            </a:r>
            <a:r>
              <a:rPr lang="en-US" altLang="zh-CN" sz="2400" dirty="0"/>
              <a:t>Please keep in touch!</a:t>
            </a:r>
          </a:p>
          <a:p>
            <a:pPr marL="0" indent="0">
              <a:buFont typeface="Arial" panose="020B0604020202020204" pitchFamily="34" charset="0"/>
              <a:buNone/>
            </a:pPr>
            <a:r>
              <a:rPr lang="en-US" altLang="zh-CN" sz="2400" dirty="0"/>
              <a:t>keith.tse@balliol-oxford.com </a:t>
            </a:r>
            <a:endParaRPr lang="zh-HK" altLang="en-US" sz="2400" dirty="0"/>
          </a:p>
        </p:txBody>
      </p:sp>
      <p:cxnSp>
        <p:nvCxnSpPr>
          <p:cNvPr id="6" name="Straight Connector 5"/>
          <p:cNvCxnSpPr/>
          <p:nvPr/>
        </p:nvCxnSpPr>
        <p:spPr>
          <a:xfrm flipH="1">
            <a:off x="5791200" y="5309937"/>
            <a:ext cx="1010653" cy="160421"/>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p:cNvCxnSpPr/>
          <p:nvPr/>
        </p:nvCxnSpPr>
        <p:spPr>
          <a:xfrm>
            <a:off x="6769768" y="5309937"/>
            <a:ext cx="1892969" cy="276641"/>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p:cNvCxnSpPr/>
          <p:nvPr/>
        </p:nvCxnSpPr>
        <p:spPr>
          <a:xfrm flipH="1">
            <a:off x="7747001" y="5785519"/>
            <a:ext cx="979904" cy="117976"/>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p:cNvCxnSpPr/>
          <p:nvPr/>
        </p:nvCxnSpPr>
        <p:spPr>
          <a:xfrm>
            <a:off x="8662737" y="5785519"/>
            <a:ext cx="1684421" cy="198186"/>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p:cNvCxnSpPr/>
          <p:nvPr/>
        </p:nvCxnSpPr>
        <p:spPr>
          <a:xfrm flipH="1">
            <a:off x="9423400" y="6231125"/>
            <a:ext cx="923758" cy="82521"/>
          </a:xfrm>
          <a:prstGeom prst="line">
            <a:avLst/>
          </a:prstGeom>
        </p:spPr>
        <p:style>
          <a:lnRef idx="1">
            <a:schemeClr val="dk1"/>
          </a:lnRef>
          <a:fillRef idx="0">
            <a:schemeClr val="dk1"/>
          </a:fillRef>
          <a:effectRef idx="0">
            <a:schemeClr val="dk1"/>
          </a:effectRef>
          <a:fontRef idx="minor">
            <a:schemeClr val="tx1"/>
          </a:fontRef>
        </p:style>
      </p:cxnSp>
      <p:cxnSp>
        <p:nvCxnSpPr>
          <p:cNvPr id="22" name="Straight Connector 21"/>
          <p:cNvCxnSpPr/>
          <p:nvPr/>
        </p:nvCxnSpPr>
        <p:spPr>
          <a:xfrm>
            <a:off x="10347158" y="6231125"/>
            <a:ext cx="1006626" cy="82521"/>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65184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nodePh="1">
                                  <p:stCondLst>
                                    <p:cond delay="0"/>
                                  </p:stCondLst>
                                  <p:endCondLst>
                                    <p:cond evt="begin" delay="0">
                                      <p:tn val="17"/>
                                    </p:cond>
                                  </p:end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P spid="12"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TotalTime>
  <Words>6866</Words>
  <Application>Microsoft Office PowerPoint</Application>
  <PresentationFormat>Widescreen</PresentationFormat>
  <Paragraphs>526</Paragraphs>
  <Slides>33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等线</vt:lpstr>
      <vt:lpstr>Arial</vt:lpstr>
      <vt:lpstr>Calibri</vt:lpstr>
      <vt:lpstr>Calibri Light</vt:lpstr>
      <vt:lpstr>Office Theme</vt:lpstr>
      <vt:lpstr>Microvariation in Sinitic nominalization (漢語方言名詞化的構造和參數)</vt:lpstr>
      <vt:lpstr>Nominalisation in Chinese (漢語名詞化)</vt:lpstr>
      <vt:lpstr>Chinese adnominalisers (structural particle 結構助詞)</vt:lpstr>
      <vt:lpstr>Nominalisation in Chinese dialects: microvariation (漢語名詞化的參數)</vt:lpstr>
      <vt:lpstr>Nominalisation in Chinese dialects: microvariation (漢語名詞化的參數) (2)</vt:lpstr>
      <vt:lpstr>Dialectal microvariation (Tang/鄧 (2009, 2010, 2011)</vt:lpstr>
      <vt:lpstr>Chinese dialectal microvariation:  ta de laoshi vs *keoi ge lousi</vt:lpstr>
      <vt:lpstr>Chinese dialectal microvariation: VdeO vs *VgeO</vt:lpstr>
      <vt:lpstr>Chinese nominal microvariation: VgeO vs *keoi ge lousi</vt:lpstr>
      <vt:lpstr>Nominal microvariation (名詞參數)</vt:lpstr>
      <vt:lpstr>Chinese nominal domain (Paul (2005, 2012, 2019))</vt:lpstr>
      <vt:lpstr>Chinese Activity constructions</vt:lpstr>
      <vt:lpstr>黃 (2008): Light Verb DO for Activity Constructions</vt:lpstr>
      <vt:lpstr>鄧/Tang (2009, 2011): nominalization parameter</vt:lpstr>
      <vt:lpstr>鄧 (2009)/Tang(2011): dialectal nominalization parameter</vt:lpstr>
      <vt:lpstr>Chinese Activity constructions  (summary of formal analyses):</vt:lpstr>
      <vt:lpstr>Critical appraisal (黃 (2008), 鄧/Tang (2008 et seq)):</vt:lpstr>
      <vt:lpstr>New formal proposal: alternative solutions</vt:lpstr>
      <vt:lpstr>DO-DONE Light Verb Complex (cf Ramchand (2007))</vt:lpstr>
      <vt:lpstr>New formal derivation: DO + DONE + VP (1)</vt:lpstr>
      <vt:lpstr>New formal derivation: DO + DONE + VP (2)</vt:lpstr>
      <vt:lpstr>Chinese Activity (Light Verbs) </vt:lpstr>
      <vt:lpstr>Chinese Activity nouns  (他的老師 ta de laoshi vs *佢嘅老師 keoi ge lousi)</vt:lpstr>
      <vt:lpstr>Chinese Activity Constructions (Light Verbs) </vt:lpstr>
      <vt:lpstr>Chinese Activity Constructions (DO + DONE + V)</vt:lpstr>
      <vt:lpstr>Chinese Activity Constructions  (summary and conclusions)</vt:lpstr>
      <vt:lpstr>Chinese cleft (是-的) constructions</vt:lpstr>
      <vt:lpstr>Chinese copula (是/係) + relative clause (VOde/VOge)</vt:lpstr>
      <vt:lpstr>Chinese copula (是/係) + relative clause (VdeO/VgeO)</vt:lpstr>
      <vt:lpstr>Chinese nominal domain in intermediate dialects</vt:lpstr>
      <vt:lpstr>Chinese nominal domain (final)</vt:lpstr>
      <vt:lpstr>Conclusions</vt:lpstr>
      <vt:lpstr>Conclusions and acknowledgements: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Microvariation in Sinitic nominalization (漢語方言名詞化的構造和參數)</dc:title>
  <dc:creator>Keith Tse</dc:creator>
  <cp:lastModifiedBy>Keith Tse</cp:lastModifiedBy>
  <cp:revision>32</cp:revision>
  <dcterms:created xsi:type="dcterms:W3CDTF">2021-11-19T14:20:44Z</dcterms:created>
  <dcterms:modified xsi:type="dcterms:W3CDTF">2021-11-19T15:36:00Z</dcterms:modified>
</cp:coreProperties>
</file>